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Schemes addressing them</c:v>
                </c:pt>
              </c:strCache>
            </c:strRef>
          </c:tx>
          <c:spPr>
            <a:solidFill>
              <a:srgbClr val="0373DF"/>
            </a:solidFill>
            <a:effectLst/>
          </c:spPr>
          <c:invertIfNegative val="0"/>
          <c:dLbls>
            <c:numFmt formatCode="#,##0" sourceLinked="0"/>
            <c:txPr>
              <a:bodyPr/>
              <a:lstStyle/>
              <a:p>
                <a:pPr>
                  <a:defRPr b="0" i="0" strike="noStrike" sz="800" u="none">
                    <a:solidFill>
                      <a:srgbClr val="5A6472"/>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Safai Karamcharis / Sanitation Workers</c:v>
                  </c:pt>
                  <c:pt idx="1">
                    <c:v>Transgender Persons</c:v>
                  </c:pt>
                  <c:pt idx="2">
                    <c:v>Senior Citizens</c:v>
                  </c:pt>
                  <c:pt idx="3">
                    <c:v>Persons Affected by Substance Use</c:v>
                  </c:pt>
                  <c:pt idx="4">
                    <c:v>Victims of Atrocities</c:v>
                  </c:pt>
                  <c:pt idx="5">
                    <c:v>Persons with Disabilities</c:v>
                  </c:pt>
                  <c:pt idx="6">
                    <c:v>NGOs / Voluntary Organisations</c:v>
                  </c:pt>
                  <c:pt idx="7">
                    <c:v>Students / Learners</c:v>
                  </c:pt>
                  <c:pt idx="8">
                    <c:v>Entrepreneurs / Self-Employed</c:v>
                  </c:pt>
                  <c:pt idx="9">
                    <c:v>OBC / EBC</c:v>
                  </c:pt>
                  <c:pt idx="10">
                    <c:v>Women and Girls</c:v>
                  </c:pt>
                  <c:pt idx="11">
                    <c:v>Scheduled Castes</c:v>
                  </c:pt>
                  <c:pt idx="12">
                    <c:v>DNT / VJNT / NT-SNT</c:v>
                  </c:pt>
                </c:lvl>
              </c:multiLvlStrCache>
            </c:multiLvlStrRef>
          </c:cat>
          <c:val>
            <c:numRef>
              <c:f>Sheet1!$B$2:$B$14</c:f>
              <c:numCache>
                <c:formatCode>General</c:formatCode>
                <c:ptCount val="13"/>
                <c:pt idx="0">
                  <c:v>19</c:v>
                </c:pt>
                <c:pt idx="1">
                  <c:v>2</c:v>
                </c:pt>
                <c:pt idx="2">
                  <c:v>11</c:v>
                </c:pt>
                <c:pt idx="3">
                  <c:v>3</c:v>
                </c:pt>
                <c:pt idx="4">
                  <c:v>3</c:v>
                </c:pt>
                <c:pt idx="5">
                  <c:v>10</c:v>
                </c:pt>
                <c:pt idx="6">
                  <c:v>12</c:v>
                </c:pt>
                <c:pt idx="7">
                  <c:v>64</c:v>
                </c:pt>
                <c:pt idx="8">
                  <c:v>23</c:v>
                </c:pt>
                <c:pt idx="9">
                  <c:v>24</c:v>
                </c:pt>
                <c:pt idx="10">
                  <c:v>23</c:v>
                </c:pt>
                <c:pt idx="11">
                  <c:v>32</c:v>
                </c:pt>
                <c:pt idx="12">
                  <c:v>43</c:v>
                </c:pt>
              </c:numCache>
            </c:numRef>
          </c:val>
        </c:ser>
        <c:ser>
          <c:idx val="1"/>
          <c:order val="1"/>
          <c:tx>
            <c:strRef>
              <c:f>Sheet1!$C$1</c:f>
              <c:strCache>
                <c:ptCount val="1"/>
                <c:pt idx="0">
                  <c:v>Tagged so the filter finds them</c:v>
                </c:pt>
              </c:strCache>
            </c:strRef>
          </c:tx>
          <c:spPr>
            <a:solidFill>
              <a:srgbClr val="EA580C"/>
            </a:solidFill>
            <a:effectLst/>
          </c:spPr>
          <c:invertIfNegative val="0"/>
          <c:dLbls>
            <c:numFmt formatCode="#,##0" sourceLinked="0"/>
            <c:txPr>
              <a:bodyPr/>
              <a:lstStyle/>
              <a:p>
                <a:pPr>
                  <a:defRPr b="0" i="0" strike="noStrike" sz="800" u="none">
                    <a:solidFill>
                      <a:srgbClr val="5A6472"/>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Safai Karamcharis / Sanitation Workers</c:v>
                  </c:pt>
                  <c:pt idx="1">
                    <c:v>Transgender Persons</c:v>
                  </c:pt>
                  <c:pt idx="2">
                    <c:v>Senior Citizens</c:v>
                  </c:pt>
                  <c:pt idx="3">
                    <c:v>Persons Affected by Substance Use</c:v>
                  </c:pt>
                  <c:pt idx="4">
                    <c:v>Victims of Atrocities</c:v>
                  </c:pt>
                  <c:pt idx="5">
                    <c:v>Persons with Disabilities</c:v>
                  </c:pt>
                  <c:pt idx="6">
                    <c:v>NGOs / Voluntary Organisations</c:v>
                  </c:pt>
                  <c:pt idx="7">
                    <c:v>Students / Learners</c:v>
                  </c:pt>
                  <c:pt idx="8">
                    <c:v>Entrepreneurs / Self-Employed</c:v>
                  </c:pt>
                  <c:pt idx="9">
                    <c:v>OBC / EBC</c:v>
                  </c:pt>
                  <c:pt idx="10">
                    <c:v>Women and Girls</c:v>
                  </c:pt>
                  <c:pt idx="11">
                    <c:v>Scheduled Castes</c:v>
                  </c:pt>
                  <c:pt idx="12">
                    <c:v>DNT / VJNT / NT-SNT</c:v>
                  </c:pt>
                </c:lvl>
              </c:multiLvlStrCache>
            </c:multiLvlStrRef>
          </c:cat>
          <c:val>
            <c:numRef>
              <c:f>Sheet1!$C$2:$C$14</c:f>
              <c:numCache>
                <c:formatCode>General</c:formatCode>
                <c:ptCount val="13"/>
                <c:pt idx="0">
                  <c:v>18</c:v>
                </c:pt>
                <c:pt idx="1">
                  <c:v>0</c:v>
                </c:pt>
                <c:pt idx="2">
                  <c:v>9</c:v>
                </c:pt>
                <c:pt idx="3">
                  <c:v>0</c:v>
                </c:pt>
                <c:pt idx="4">
                  <c:v>0</c:v>
                </c:pt>
                <c:pt idx="5">
                  <c:v>0</c:v>
                </c:pt>
                <c:pt idx="6">
                  <c:v>0</c:v>
                </c:pt>
                <c:pt idx="7">
                  <c:v>51</c:v>
                </c:pt>
                <c:pt idx="8">
                  <c:v>5</c:v>
                </c:pt>
                <c:pt idx="9">
                  <c:v>6</c:v>
                </c:pt>
                <c:pt idx="10">
                  <c:v>0</c:v>
                </c:pt>
                <c:pt idx="11">
                  <c:v>5</c:v>
                </c:pt>
                <c:pt idx="12">
                  <c:v>14</c:v>
                </c:pt>
              </c:numCache>
            </c:numRef>
          </c:val>
        </c:ser>
        <c:dLbls>
          <c:numFmt formatCode="#,##0" sourceLinked="0"/>
          <c:txPr>
            <a:bodyPr/>
            <a:lstStyle/>
            <a:p>
              <a:pPr>
                <a:defRPr b="0" i="0" strike="noStrike" sz="800" u="none">
                  <a:solidFill>
                    <a:srgbClr val="5A6472"/>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A1A1A"/>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6350" cap="flat">
              <a:solidFill>
                <a:srgbClr val="D8DEE7"/>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A6472"/>
                </a:solidFill>
                <a:latin typeface="Calibri"/>
              </a:defRPr>
            </a:pPr>
            <a:endParaRPr lang="en-US"/>
          </a:p>
        </c:txPr>
        <c:crossAx val="2094734554"/>
        <c:crosses val="autoZero"/>
        <c:crossBetween val="between"/>
        <c:majorUnit val="10"/>
      </c:valAx>
      <c:spPr>
        <a:noFill/>
        <a:ln>
          <a:noFill/>
        </a:ln>
        <a:effectLst/>
      </c:spPr>
    </c:plotArea>
    <c:legend>
      <c:legendPos val="t"/>
      <c:overlay val="0"/>
      <c:txPr>
        <a:bodyPr/>
        <a:lstStyle/>
        <a:p>
          <a:pPr>
            <a:defRPr sz="1100">
              <a:solidFill>
                <a:srgbClr val="1A1A1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is sent ahead of the meeting and must read without a presenter. Three decisions are asked for: the homepage surface, the schemes page surface, and whether the chatbot carries the same five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The answer, on the next slide, is no — and the reason is not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line the deck opens on. Every recommendation that follows is a consequence of this single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Placed here because the deck is sent ahead of the meeting. A reader who stops after four slides still knows what is being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chart aloud row by row. Point at the two saffron bars that reach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tagging this needs is the one-time content work that every other option here depends on anyway. It can take the space Our Offerings occupies today rather than adding 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decision can be taken today, take the Phase 1 instruction. The three surface choices can follow; nothing can be built without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66"/>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66928" cy="786384"/>
          </a:xfrm>
          <a:prstGeom prst="rect">
            <a:avLst/>
          </a:prstGeom>
        </p:spPr>
      </p:pic>
      <p:sp>
        <p:nvSpPr>
          <p:cNvPr id="3" name="Text 0"/>
          <p:cNvSpPr txBox="1"/>
          <p:nvPr/>
        </p:nvSpPr>
        <p:spPr>
          <a:xfrm>
            <a:off x="1408176" y="713232"/>
            <a:ext cx="5852160" cy="713232"/>
          </a:xfrm>
          <a:prstGeom prst="rect">
            <a:avLst/>
          </a:prstGeom>
          <a:noFill/>
          <a:ln/>
        </p:spPr>
        <p:txBody>
          <a:bodyPr wrap="square" lIns="0" tIns="0" rIns="0" bIns="0" rtlCol="0" anchor="ctr"/>
          <a:lstStyle/>
          <a:p>
            <a:pPr indent="0" marL="0">
              <a:lnSpc>
                <a:spcPct val="118000"/>
              </a:lnSpc>
              <a:buNone/>
            </a:pPr>
            <a:r>
              <a:rPr lang="en-US" sz="1200" dirty="0">
                <a:solidFill>
                  <a:srgbClr val="9DB4CC"/>
                </a:solidFill>
                <a:latin typeface="Calibri" pitchFamily="34" charset="0"/>
                <a:ea typeface="Calibri" pitchFamily="34" charset="-122"/>
                <a:cs typeface="Calibri" pitchFamily="34" charset="-120"/>
              </a:rPr>
              <a:t>Government of India</a:t>
            </a:r>
            <a:endParaRPr lang="en-US" sz="1200" dirty="0"/>
          </a:p>
          <a:p>
            <a:pPr indent="0" marL="0">
              <a:lnSpc>
                <a:spcPct val="118000"/>
              </a:lnSpc>
              <a:buNone/>
            </a:pPr>
            <a:r>
              <a:rPr lang="en-US" sz="1200" dirty="0">
                <a:solidFill>
                  <a:srgbClr val="9DB4CC"/>
                </a:solidFill>
                <a:latin typeface="Calibri" pitchFamily="34" charset="0"/>
                <a:ea typeface="Calibri" pitchFamily="34" charset="-122"/>
                <a:cs typeface="Calibri" pitchFamily="34" charset="-120"/>
              </a:rPr>
              <a:t>Ministry of Social Justice &amp; Empowerment</a:t>
            </a:r>
            <a:endParaRPr lang="en-US" sz="1200" dirty="0"/>
          </a:p>
          <a:p>
            <a:pPr indent="0" marL="0">
              <a:lnSpc>
                <a:spcPct val="118000"/>
              </a:lnSpc>
              <a:buNone/>
            </a:pPr>
            <a:r>
              <a:rPr lang="en-US" sz="1200" dirty="0">
                <a:solidFill>
                  <a:srgbClr val="9DB4CC"/>
                </a:solidFill>
                <a:latin typeface="Calibri" pitchFamily="34" charset="0"/>
                <a:ea typeface="Calibri" pitchFamily="34" charset="-122"/>
                <a:cs typeface="Calibri" pitchFamily="34" charset="-120"/>
              </a:rPr>
              <a:t>Department of Social Justice &amp; Empowerment</a:t>
            </a:r>
            <a:endParaRPr lang="en-US" sz="1200" dirty="0"/>
          </a:p>
        </p:txBody>
      </p:sp>
      <p:sp>
        <p:nvSpPr>
          <p:cNvPr id="4" name="Text 1"/>
          <p:cNvSpPr txBox="1"/>
          <p:nvPr/>
        </p:nvSpPr>
        <p:spPr>
          <a:xfrm>
            <a:off x="658368" y="2194560"/>
            <a:ext cx="8595360" cy="1737360"/>
          </a:xfrm>
          <a:prstGeom prst="rect">
            <a:avLst/>
          </a:prstGeom>
          <a:noFill/>
          <a:ln/>
        </p:spPr>
        <p:txBody>
          <a:bodyPr wrap="square" lIns="0" tIns="0" rIns="0" bIns="0" rtlCol="0" anchor="ctr"/>
          <a:lstStyle/>
          <a:p>
            <a:pPr indent="0" marL="0">
              <a:lnSpc>
                <a:spcPct val="102000"/>
              </a:lnSpc>
              <a:buNone/>
            </a:pPr>
            <a:r>
              <a:rPr lang="en-US" sz="5200" b="1" dirty="0">
                <a:solidFill>
                  <a:srgbClr val="FFFFFF"/>
                </a:solidFill>
                <a:latin typeface="Cambria" pitchFamily="34" charset="0"/>
                <a:ea typeface="Cambria" pitchFamily="34" charset="-122"/>
                <a:cs typeface="Cambria" pitchFamily="34" charset="-120"/>
              </a:rPr>
              <a:t>Finding What You're</a:t>
            </a:r>
            <a:endParaRPr lang="en-US" sz="5200" dirty="0"/>
          </a:p>
          <a:p>
            <a:pPr indent="0" marL="0">
              <a:lnSpc>
                <a:spcPct val="102000"/>
              </a:lnSpc>
              <a:buNone/>
            </a:pPr>
            <a:r>
              <a:rPr lang="en-US" sz="5200" b="1" dirty="0">
                <a:solidFill>
                  <a:srgbClr val="FFFFFF"/>
                </a:solidFill>
                <a:latin typeface="Cambria" pitchFamily="34" charset="0"/>
                <a:ea typeface="Cambria" pitchFamily="34" charset="-122"/>
                <a:cs typeface="Cambria" pitchFamily="34" charset="-120"/>
              </a:rPr>
              <a:t>Entitled To</a:t>
            </a:r>
            <a:endParaRPr lang="en-US" sz="5200" dirty="0"/>
          </a:p>
        </p:txBody>
      </p:sp>
      <p:sp>
        <p:nvSpPr>
          <p:cNvPr id="5" name="Text 2"/>
          <p:cNvSpPr txBox="1"/>
          <p:nvPr/>
        </p:nvSpPr>
        <p:spPr>
          <a:xfrm>
            <a:off x="658368" y="4041648"/>
            <a:ext cx="8595360" cy="365760"/>
          </a:xfrm>
          <a:prstGeom prst="rect">
            <a:avLst/>
          </a:prstGeom>
          <a:noFill/>
          <a:ln/>
        </p:spPr>
        <p:txBody>
          <a:bodyPr wrap="square" lIns="0" tIns="0" rIns="0" bIns="0" rtlCol="0" anchor="ctr"/>
          <a:lstStyle/>
          <a:p>
            <a:pPr indent="0" marL="0">
              <a:buNone/>
            </a:pPr>
            <a:r>
              <a:rPr lang="en-US" sz="1700" dirty="0">
                <a:solidFill>
                  <a:srgbClr val="9DB4CC"/>
                </a:solidFill>
                <a:latin typeface="Calibri" pitchFamily="34" charset="0"/>
                <a:ea typeface="Calibri" pitchFamily="34" charset="-122"/>
                <a:cs typeface="Calibri" pitchFamily="34" charset="-120"/>
              </a:rPr>
              <a:t>Persona-Based Scheme Discovery — Three Decisions for the Department</a:t>
            </a:r>
            <a:endParaRPr lang="en-US" sz="1700" dirty="0"/>
          </a:p>
        </p:txBody>
      </p:sp>
      <p:sp>
        <p:nvSpPr>
          <p:cNvPr id="6" name="Text 3"/>
          <p:cNvSpPr txBox="1"/>
          <p:nvPr/>
        </p:nvSpPr>
        <p:spPr>
          <a:xfrm>
            <a:off x="9326880" y="2103120"/>
            <a:ext cx="2194560" cy="1298448"/>
          </a:xfrm>
          <a:prstGeom prst="rect">
            <a:avLst/>
          </a:prstGeom>
          <a:noFill/>
          <a:ln/>
        </p:spPr>
        <p:txBody>
          <a:bodyPr wrap="square" lIns="0" tIns="0" rIns="0" bIns="0" rtlCol="0" anchor="ctr"/>
          <a:lstStyle/>
          <a:p>
            <a:pPr algn="r" indent="0" marL="0">
              <a:buNone/>
            </a:pPr>
            <a:r>
              <a:rPr lang="en-US" sz="7600" b="1" dirty="0">
                <a:solidFill>
                  <a:srgbClr val="8CC6FB"/>
                </a:solidFill>
                <a:latin typeface="Cambria" pitchFamily="34" charset="0"/>
                <a:ea typeface="Cambria" pitchFamily="34" charset="-122"/>
                <a:cs typeface="Cambria" pitchFamily="34" charset="-120"/>
              </a:rPr>
              <a:t>141</a:t>
            </a:r>
            <a:endParaRPr lang="en-US" sz="7600" dirty="0"/>
          </a:p>
        </p:txBody>
      </p:sp>
      <p:sp>
        <p:nvSpPr>
          <p:cNvPr id="7" name="Text 4"/>
          <p:cNvSpPr txBox="1"/>
          <p:nvPr/>
        </p:nvSpPr>
        <p:spPr>
          <a:xfrm>
            <a:off x="9326880" y="3456432"/>
            <a:ext cx="2194560" cy="548640"/>
          </a:xfrm>
          <a:prstGeom prst="rect">
            <a:avLst/>
          </a:prstGeom>
          <a:noFill/>
          <a:ln/>
        </p:spPr>
        <p:txBody>
          <a:bodyPr wrap="square" lIns="0" tIns="0" rIns="0" bIns="0" rtlCol="0" anchor="ctr"/>
          <a:lstStyle/>
          <a:p>
            <a:pPr algn="r" indent="0" marL="0">
              <a:lnSpc>
                <a:spcPct val="115000"/>
              </a:lnSpc>
              <a:buNone/>
            </a:pPr>
            <a:r>
              <a:rPr lang="en-US" sz="1200" dirty="0">
                <a:solidFill>
                  <a:srgbClr val="9DB4CC"/>
                </a:solidFill>
                <a:latin typeface="Calibri" pitchFamily="34" charset="0"/>
                <a:ea typeface="Calibri" pitchFamily="34" charset="-122"/>
                <a:cs typeface="Calibri" pitchFamily="34" charset="-120"/>
              </a:rPr>
              <a:t>schemes published</a:t>
            </a:r>
            <a:endParaRPr lang="en-US" sz="1200" dirty="0"/>
          </a:p>
          <a:p>
            <a:pPr algn="r" indent="0" marL="0">
              <a:lnSpc>
                <a:spcPct val="115000"/>
              </a:lnSpc>
              <a:buNone/>
            </a:pPr>
            <a:r>
              <a:rPr lang="en-US" sz="1200" dirty="0">
                <a:solidFill>
                  <a:srgbClr val="9DB4CC"/>
                </a:solidFill>
                <a:latin typeface="Calibri" pitchFamily="34" charset="0"/>
                <a:ea typeface="Calibri" pitchFamily="34" charset="-122"/>
                <a:cs typeface="Calibri" pitchFamily="34" charset="-120"/>
              </a:rPr>
              <a:t>by the Department</a:t>
            </a:r>
            <a:endParaRPr lang="en-US" sz="1200" dirty="0"/>
          </a:p>
        </p:txBody>
      </p:sp>
      <p:sp>
        <p:nvSpPr>
          <p:cNvPr id="8" name="Shape 5"/>
          <p:cNvSpPr/>
          <p:nvPr/>
        </p:nvSpPr>
        <p:spPr>
          <a:xfrm>
            <a:off x="658368" y="5029200"/>
            <a:ext cx="10874959" cy="0"/>
          </a:xfrm>
          <a:prstGeom prst="line">
            <a:avLst/>
          </a:prstGeom>
          <a:noFill/>
          <a:ln w="12700">
            <a:solidFill>
              <a:srgbClr val="0A4179"/>
            </a:solidFill>
            <a:prstDash val="solid"/>
          </a:ln>
        </p:spPr>
      </p:sp>
      <p:sp>
        <p:nvSpPr>
          <p:cNvPr id="9" name="Text 6"/>
          <p:cNvSpPr txBox="1"/>
          <p:nvPr/>
        </p:nvSpPr>
        <p:spPr>
          <a:xfrm>
            <a:off x="658368" y="5248656"/>
            <a:ext cx="7863840" cy="274320"/>
          </a:xfrm>
          <a:prstGeom prst="rect">
            <a:avLst/>
          </a:prstGeom>
          <a:noFill/>
          <a:ln/>
        </p:spPr>
        <p:txBody>
          <a:bodyPr wrap="square" lIns="0" tIns="0" rIns="0" bIns="0" rtlCol="0" anchor="ctr"/>
          <a:lstStyle/>
          <a:p>
            <a:pPr indent="0" marL="0">
              <a:buNone/>
            </a:pPr>
            <a:r>
              <a:rPr lang="en-US" sz="1300" dirty="0">
                <a:solidFill>
                  <a:srgbClr val="9DB4CC"/>
                </a:solidFill>
                <a:latin typeface="Calibri" pitchFamily="34" charset="0"/>
                <a:ea typeface="Calibri" pitchFamily="34" charset="-122"/>
                <a:cs typeface="Calibri" pitchFamily="34" charset="-120"/>
              </a:rPr>
              <a:t>An information-architecture and discoverability review of </a:t>
            </a:r>
            <a:pPr indent="0" marL="0">
              <a:buNone/>
            </a:pPr>
            <a:r>
              <a:rPr lang="en-US" sz="1300" b="1" dirty="0">
                <a:solidFill>
                  <a:srgbClr val="FFFFFF"/>
                </a:solidFill>
                <a:latin typeface="Calibri" pitchFamily="34" charset="0"/>
                <a:ea typeface="Calibri" pitchFamily="34" charset="-122"/>
                <a:cs typeface="Calibri" pitchFamily="34" charset="-120"/>
              </a:rPr>
              <a:t>dosje.gov.in</a:t>
            </a:r>
            <a:pPr indent="0" marL="0">
              <a:buNone/>
            </a:pPr>
            <a:r>
              <a:rPr lang="en-US" sz="1300" dirty="0">
                <a:solidFill>
                  <a:srgbClr val="9DB4CC"/>
                </a:solidFill>
                <a:latin typeface="Calibri" pitchFamily="34" charset="0"/>
                <a:ea typeface="Calibri" pitchFamily="34" charset="-122"/>
                <a:cs typeface="Calibri" pitchFamily="34" charset="-120"/>
              </a:rPr>
              <a:t> and </a:t>
            </a:r>
            <a:pPr indent="0" marL="0">
              <a:buNone/>
            </a:pPr>
            <a:r>
              <a:rPr lang="en-US" sz="1300" b="1" dirty="0">
                <a:solidFill>
                  <a:srgbClr val="FFFFFF"/>
                </a:solidFill>
                <a:latin typeface="Calibri" pitchFamily="34" charset="0"/>
                <a:ea typeface="Calibri" pitchFamily="34" charset="-122"/>
                <a:cs typeface="Calibri" pitchFamily="34" charset="-120"/>
              </a:rPr>
              <a:t>socialjustice.gov.in</a:t>
            </a:r>
            <a:endParaRPr lang="en-US" sz="1300" dirty="0"/>
          </a:p>
        </p:txBody>
      </p:sp>
      <p:sp>
        <p:nvSpPr>
          <p:cNvPr id="10" name="Text 7"/>
          <p:cNvSpPr txBox="1"/>
          <p:nvPr/>
        </p:nvSpPr>
        <p:spPr>
          <a:xfrm>
            <a:off x="658368" y="5559552"/>
            <a:ext cx="7863840" cy="274320"/>
          </a:xfrm>
          <a:prstGeom prst="rect">
            <a:avLst/>
          </a:prstGeom>
          <a:noFill/>
          <a:ln/>
        </p:spPr>
        <p:txBody>
          <a:bodyPr wrap="square" lIns="0" tIns="0" rIns="0" bIns="0" rtlCol="0" anchor="ctr"/>
          <a:lstStyle/>
          <a:p>
            <a:pPr indent="0" marL="0">
              <a:buNone/>
            </a:pPr>
            <a:r>
              <a:rPr lang="en-US" sz="1150" dirty="0">
                <a:solidFill>
                  <a:srgbClr val="9DB4CC"/>
                </a:solidFill>
                <a:latin typeface="Calibri" pitchFamily="34" charset="0"/>
                <a:ea typeface="Calibri" pitchFamily="34" charset="-122"/>
                <a:cs typeface="Calibri" pitchFamily="34" charset="-120"/>
              </a:rPr>
              <a:t>Live analysis 20 August 2026 · Content export 13 June 2026 · MoSJE Design Research</a:t>
            </a:r>
            <a:endParaRPr lang="en-US" sz="1150" dirty="0"/>
          </a:p>
        </p:txBody>
      </p:sp>
      <p:sp>
        <p:nvSpPr>
          <p:cNvPr id="11" name="Text 8"/>
          <p:cNvSpPr txBox="1"/>
          <p:nvPr/>
        </p:nvSpPr>
        <p:spPr>
          <a:xfrm>
            <a:off x="8595360" y="5248656"/>
            <a:ext cx="2926080" cy="566928"/>
          </a:xfrm>
          <a:prstGeom prst="rect">
            <a:avLst/>
          </a:prstGeom>
          <a:noFill/>
          <a:ln/>
        </p:spPr>
        <p:txBody>
          <a:bodyPr wrap="square" lIns="0" tIns="0" rIns="0" bIns="0" rtlCol="0" anchor="ctr"/>
          <a:lstStyle/>
          <a:p>
            <a:pPr algn="r" indent="0" marL="0">
              <a:lnSpc>
                <a:spcPct val="118000"/>
              </a:lnSpc>
              <a:buNone/>
            </a:pPr>
            <a:r>
              <a:rPr lang="en-US" sz="1150" dirty="0">
                <a:solidFill>
                  <a:srgbClr val="9DB4CC"/>
                </a:solidFill>
                <a:latin typeface="Calibri" pitchFamily="34" charset="0"/>
                <a:ea typeface="Calibri" pitchFamily="34" charset="-122"/>
                <a:cs typeface="Calibri" pitchFamily="34" charset="-120"/>
              </a:rPr>
              <a:t>Accompanies the design file</a:t>
            </a:r>
            <a:endParaRPr lang="en-US" sz="1150" dirty="0"/>
          </a:p>
          <a:p>
            <a:pPr algn="r" indent="0" marL="0">
              <a:lnSpc>
                <a:spcPct val="118000"/>
              </a:lnSpc>
              <a:buNone/>
            </a:pPr>
            <a:r>
              <a:rPr lang="en-US" sz="1150" dirty="0">
                <a:solidFill>
                  <a:srgbClr val="9DB4CC"/>
                </a:solidFill>
                <a:latin typeface="Calibri" pitchFamily="34" charset="0"/>
                <a:ea typeface="Calibri" pitchFamily="34" charset="-122"/>
                <a:cs typeface="Calibri" pitchFamily="34" charset="-120"/>
              </a:rPr>
              <a:t>MoSJE (WIP) — Service Discovery</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366"/>
        </a:solidFill>
      </p:bgPr>
    </p:bg>
    <p:spTree>
      <p:nvGrpSpPr>
        <p:cNvPr id="1" name=""/>
        <p:cNvGrpSpPr/>
        <p:nvPr/>
      </p:nvGrpSpPr>
      <p:grpSpPr>
        <a:xfrm>
          <a:off x="0" y="0"/>
          <a:ext cx="0" cy="0"/>
          <a:chOff x="0" y="0"/>
          <a:chExt cx="0" cy="0"/>
        </a:xfrm>
      </p:grpSpPr>
      <p:sp>
        <p:nvSpPr>
          <p:cNvPr id="2" name="Text 0"/>
          <p:cNvSpPr txBox="1"/>
          <p:nvPr/>
        </p:nvSpPr>
        <p:spPr>
          <a:xfrm>
            <a:off x="658368" y="1737360"/>
            <a:ext cx="10874959" cy="219456"/>
          </a:xfrm>
          <a:prstGeom prst="rect">
            <a:avLst/>
          </a:prstGeom>
          <a:noFill/>
          <a:ln/>
        </p:spPr>
        <p:txBody>
          <a:bodyPr wrap="square" lIns="0" tIns="0" rIns="0" bIns="0" rtlCol="0" anchor="ctr"/>
          <a:lstStyle/>
          <a:p>
            <a:pPr indent="0" marL="0">
              <a:buNone/>
            </a:pPr>
            <a:r>
              <a:rPr lang="en-US" sz="1050" b="1" spc="130" kern="0" dirty="0">
                <a:solidFill>
                  <a:srgbClr val="9DB4CC"/>
                </a:solidFill>
                <a:latin typeface="Calibri" pitchFamily="34" charset="0"/>
                <a:ea typeface="Calibri" pitchFamily="34" charset="-122"/>
                <a:cs typeface="Calibri" pitchFamily="34" charset="-120"/>
              </a:rPr>
              <a:t>THE QUESTION THIS REVIEW ASKS</a:t>
            </a:r>
            <a:endParaRPr lang="en-US" sz="1050" dirty="0"/>
          </a:p>
        </p:txBody>
      </p:sp>
      <p:sp>
        <p:nvSpPr>
          <p:cNvPr id="3" name="Text 1"/>
          <p:cNvSpPr txBox="1"/>
          <p:nvPr/>
        </p:nvSpPr>
        <p:spPr>
          <a:xfrm>
            <a:off x="658368" y="2103120"/>
            <a:ext cx="9692640" cy="1828800"/>
          </a:xfrm>
          <a:prstGeom prst="rect">
            <a:avLst/>
          </a:prstGeom>
          <a:noFill/>
          <a:ln/>
        </p:spPr>
        <p:txBody>
          <a:bodyPr wrap="square" lIns="0" tIns="0" rIns="0" bIns="0" rtlCol="0" anchor="ctr"/>
          <a:lstStyle/>
          <a:p>
            <a:pPr indent="0" marL="0">
              <a:lnSpc>
                <a:spcPct val="106000"/>
              </a:lnSpc>
              <a:buNone/>
            </a:pPr>
            <a:r>
              <a:rPr lang="en-US" sz="4600" b="1" dirty="0">
                <a:solidFill>
                  <a:srgbClr val="FFFFFF"/>
                </a:solidFill>
                <a:latin typeface="Cambria" pitchFamily="34" charset="0"/>
                <a:ea typeface="Cambria" pitchFamily="34" charset="-122"/>
                <a:cs typeface="Cambria" pitchFamily="34" charset="-120"/>
              </a:rPr>
              <a:t>Can a citizen find what</a:t>
            </a:r>
            <a:endParaRPr lang="en-US" sz="4600" dirty="0"/>
          </a:p>
          <a:p>
            <a:pPr indent="0" marL="0">
              <a:lnSpc>
                <a:spcPct val="106000"/>
              </a:lnSpc>
              <a:buNone/>
            </a:pPr>
            <a:r>
              <a:rPr lang="en-US" sz="4600" b="1" dirty="0">
                <a:solidFill>
                  <a:srgbClr val="FFFFFF"/>
                </a:solidFill>
                <a:latin typeface="Cambria" pitchFamily="34" charset="0"/>
                <a:ea typeface="Cambria" pitchFamily="34" charset="-122"/>
                <a:cs typeface="Cambria" pitchFamily="34" charset="-120"/>
              </a:rPr>
              <a:t>they are entitled to?</a:t>
            </a:r>
            <a:endParaRPr lang="en-US" sz="4600" dirty="0"/>
          </a:p>
        </p:txBody>
      </p:sp>
      <p:sp>
        <p:nvSpPr>
          <p:cNvPr id="4" name="Text 2"/>
          <p:cNvSpPr txBox="1"/>
          <p:nvPr/>
        </p:nvSpPr>
        <p:spPr>
          <a:xfrm>
            <a:off x="658368" y="4261104"/>
            <a:ext cx="8138160" cy="822960"/>
          </a:xfrm>
          <a:prstGeom prst="rect">
            <a:avLst/>
          </a:prstGeom>
          <a:noFill/>
          <a:ln/>
        </p:spPr>
        <p:txBody>
          <a:bodyPr wrap="square" lIns="0" tIns="0" rIns="0" bIns="0" rtlCol="0" anchor="ctr"/>
          <a:lstStyle/>
          <a:p>
            <a:pPr indent="0" marL="0">
              <a:lnSpc>
                <a:spcPct val="128000"/>
              </a:lnSpc>
              <a:buNone/>
            </a:pPr>
            <a:r>
              <a:rPr lang="en-US" sz="1500" dirty="0">
                <a:solidFill>
                  <a:srgbClr val="9DB4CC"/>
                </a:solidFill>
                <a:latin typeface="Calibri" pitchFamily="34" charset="0"/>
                <a:ea typeface="Calibri" pitchFamily="34" charset="-122"/>
                <a:cs typeface="Calibri" pitchFamily="34" charset="-120"/>
              </a:rPr>
              <a:t>The Department publishes 141 schemes across 18 organisations and thematic portals. This review tested whether the people those schemes exist for can reach them — by browsing, by filtering, and by searching.</a:t>
            </a:r>
            <a:endParaRPr lang="en-US" sz="1500" dirty="0"/>
          </a:p>
        </p:txBody>
      </p:sp>
      <p:sp>
        <p:nvSpPr>
          <p:cNvPr id="5" name="Text 3"/>
          <p:cNvSpPr txBox="1"/>
          <p:nvPr/>
        </p:nvSpPr>
        <p:spPr>
          <a:xfrm>
            <a:off x="658368" y="6382512"/>
            <a:ext cx="10874959" cy="237744"/>
          </a:xfrm>
          <a:prstGeom prst="rect">
            <a:avLst/>
          </a:prstGeom>
          <a:noFill/>
          <a:ln/>
        </p:spPr>
        <p:txBody>
          <a:bodyPr wrap="square" lIns="0" tIns="0" rIns="0" bIns="0" rtlCol="0" anchor="ctr"/>
          <a:lstStyle/>
          <a:p>
            <a:pPr indent="0" marL="0">
              <a:buNone/>
            </a:pP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THE FINDING</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The Filter Works. The Data Behind It Does Not.</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For each group the Department serves, how many of the 141 schemes actually address them — against how many are tagged so the site's own Target Group filter can find them.</a:t>
            </a:r>
            <a:endParaRPr lang="en-US" sz="1300" dirty="0"/>
          </a:p>
        </p:txBody>
      </p:sp>
      <p:sp>
        <p:nvSpPr>
          <p:cNvPr id="5" name="Shape 3"/>
          <p:cNvSpPr/>
          <p:nvPr/>
        </p:nvSpPr>
        <p:spPr>
          <a:xfrm>
            <a:off x="658368" y="1755648"/>
            <a:ext cx="3429914" cy="2432304"/>
          </a:xfrm>
          <a:prstGeom prst="rect">
            <a:avLst/>
          </a:prstGeom>
          <a:solidFill>
            <a:srgbClr val="F5F7FA"/>
          </a:solidFill>
          <a:ln w="9525">
            <a:solidFill>
              <a:srgbClr val="D8DEE7"/>
            </a:solidFill>
            <a:prstDash val="solid"/>
          </a:ln>
        </p:spPr>
      </p:sp>
      <p:sp>
        <p:nvSpPr>
          <p:cNvPr id="6" name="Text 4"/>
          <p:cNvSpPr txBox="1"/>
          <p:nvPr/>
        </p:nvSpPr>
        <p:spPr>
          <a:xfrm>
            <a:off x="969264" y="1975104"/>
            <a:ext cx="2808122" cy="969264"/>
          </a:xfrm>
          <a:prstGeom prst="rect">
            <a:avLst/>
          </a:prstGeom>
          <a:noFill/>
          <a:ln/>
        </p:spPr>
        <p:txBody>
          <a:bodyPr wrap="square" lIns="0" tIns="0" rIns="0" bIns="0" rtlCol="0" anchor="ctr"/>
          <a:lstStyle/>
          <a:p>
            <a:pPr indent="0" marL="0">
              <a:buNone/>
            </a:pPr>
            <a:r>
              <a:rPr lang="en-US" sz="5600" b="1" dirty="0">
                <a:solidFill>
                  <a:srgbClr val="0373DF"/>
                </a:solidFill>
                <a:latin typeface="Cambria" pitchFamily="34" charset="0"/>
                <a:ea typeface="Cambria" pitchFamily="34" charset="-122"/>
                <a:cs typeface="Cambria" pitchFamily="34" charset="-120"/>
              </a:rPr>
              <a:t>32</a:t>
            </a:r>
            <a:pPr indent="0" marL="0">
              <a:buNone/>
            </a:pPr>
            <a:r>
              <a:rPr lang="en-US" sz="2800" b="1" dirty="0">
                <a:solidFill>
                  <a:srgbClr val="5A6472"/>
                </a:solidFill>
                <a:latin typeface="Calibri" pitchFamily="34" charset="0"/>
                <a:ea typeface="Calibri" pitchFamily="34" charset="-122"/>
                <a:cs typeface="Calibri" pitchFamily="34" charset="-120"/>
              </a:rPr>
              <a:t>  →  </a:t>
            </a:r>
            <a:pPr indent="0" marL="0">
              <a:buNone/>
            </a:pPr>
            <a:r>
              <a:rPr lang="en-US" sz="5600" b="1" dirty="0">
                <a:solidFill>
                  <a:srgbClr val="9A3412"/>
                </a:solidFill>
                <a:latin typeface="Cambria" pitchFamily="34" charset="0"/>
                <a:ea typeface="Cambria" pitchFamily="34" charset="-122"/>
                <a:cs typeface="Cambria" pitchFamily="34" charset="-120"/>
              </a:rPr>
              <a:t>5</a:t>
            </a:r>
            <a:endParaRPr lang="en-US" sz="5600" dirty="0"/>
          </a:p>
        </p:txBody>
      </p:sp>
      <p:sp>
        <p:nvSpPr>
          <p:cNvPr id="7" name="Text 5"/>
          <p:cNvSpPr txBox="1"/>
          <p:nvPr/>
        </p:nvSpPr>
        <p:spPr>
          <a:xfrm>
            <a:off x="969264" y="3017520"/>
            <a:ext cx="2808122" cy="29260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Scheduled Castes</a:t>
            </a:r>
            <a:endParaRPr lang="en-US" sz="1450" dirty="0"/>
          </a:p>
        </p:txBody>
      </p:sp>
      <p:sp>
        <p:nvSpPr>
          <p:cNvPr id="8" name="Text 6"/>
          <p:cNvSpPr txBox="1"/>
          <p:nvPr/>
        </p:nvSpPr>
        <p:spPr>
          <a:xfrm>
            <a:off x="969264" y="3364992"/>
            <a:ext cx="2808122" cy="676656"/>
          </a:xfrm>
          <a:prstGeom prst="rect">
            <a:avLst/>
          </a:prstGeom>
          <a:noFill/>
          <a:ln/>
        </p:spPr>
        <p:txBody>
          <a:bodyPr wrap="square" lIns="0" tIns="0" rIns="0" bIns="0" rtlCol="0" anchor="ctr"/>
          <a:lstStyle/>
          <a:p>
            <a:pPr indent="0" marL="0">
              <a:lnSpc>
                <a:spcPct val="120000"/>
              </a:lnSpc>
              <a:buNone/>
            </a:pPr>
            <a:r>
              <a:rPr lang="en-US" sz="1200" dirty="0">
                <a:solidFill>
                  <a:srgbClr val="5A6472"/>
                </a:solidFill>
                <a:latin typeface="Calibri" pitchFamily="34" charset="0"/>
                <a:ea typeface="Calibri" pitchFamily="34" charset="-122"/>
                <a:cs typeface="Calibri" pitchFamily="34" charset="-120"/>
              </a:rPr>
              <a:t>The Department's largest constituency. Not one of the five results is a scholarship.</a:t>
            </a:r>
            <a:endParaRPr lang="en-US" sz="1200" dirty="0"/>
          </a:p>
        </p:txBody>
      </p:sp>
      <p:sp>
        <p:nvSpPr>
          <p:cNvPr id="9" name="Shape 7"/>
          <p:cNvSpPr/>
          <p:nvPr/>
        </p:nvSpPr>
        <p:spPr>
          <a:xfrm>
            <a:off x="4380890" y="1755648"/>
            <a:ext cx="3429914" cy="2432304"/>
          </a:xfrm>
          <a:prstGeom prst="rect">
            <a:avLst/>
          </a:prstGeom>
          <a:solidFill>
            <a:srgbClr val="F5F7FA"/>
          </a:solidFill>
          <a:ln w="9525">
            <a:solidFill>
              <a:srgbClr val="D8DEE7"/>
            </a:solidFill>
            <a:prstDash val="solid"/>
          </a:ln>
        </p:spPr>
      </p:sp>
      <p:sp>
        <p:nvSpPr>
          <p:cNvPr id="10" name="Text 8"/>
          <p:cNvSpPr txBox="1"/>
          <p:nvPr/>
        </p:nvSpPr>
        <p:spPr>
          <a:xfrm>
            <a:off x="4691786" y="1975104"/>
            <a:ext cx="2808122" cy="969264"/>
          </a:xfrm>
          <a:prstGeom prst="rect">
            <a:avLst/>
          </a:prstGeom>
          <a:noFill/>
          <a:ln/>
        </p:spPr>
        <p:txBody>
          <a:bodyPr wrap="square" lIns="0" tIns="0" rIns="0" bIns="0" rtlCol="0" anchor="ctr"/>
          <a:lstStyle/>
          <a:p>
            <a:pPr indent="0" marL="0">
              <a:buNone/>
            </a:pPr>
            <a:r>
              <a:rPr lang="en-US" sz="5600" b="1" dirty="0">
                <a:solidFill>
                  <a:srgbClr val="0373DF"/>
                </a:solidFill>
                <a:latin typeface="Cambria" pitchFamily="34" charset="0"/>
                <a:ea typeface="Cambria" pitchFamily="34" charset="-122"/>
                <a:cs typeface="Cambria" pitchFamily="34" charset="-120"/>
              </a:rPr>
              <a:t>23</a:t>
            </a:r>
            <a:pPr indent="0" marL="0">
              <a:buNone/>
            </a:pPr>
            <a:r>
              <a:rPr lang="en-US" sz="2800" b="1" dirty="0">
                <a:solidFill>
                  <a:srgbClr val="5A6472"/>
                </a:solidFill>
                <a:latin typeface="Calibri" pitchFamily="34" charset="0"/>
                <a:ea typeface="Calibri" pitchFamily="34" charset="-122"/>
                <a:cs typeface="Calibri" pitchFamily="34" charset="-120"/>
              </a:rPr>
              <a:t>  →  </a:t>
            </a:r>
            <a:pPr indent="0" marL="0">
              <a:buNone/>
            </a:pPr>
            <a:r>
              <a:rPr lang="en-US" sz="5600" b="1" dirty="0">
                <a:solidFill>
                  <a:srgbClr val="9A3412"/>
                </a:solidFill>
                <a:latin typeface="Cambria" pitchFamily="34" charset="0"/>
                <a:ea typeface="Cambria" pitchFamily="34" charset="-122"/>
                <a:cs typeface="Cambria" pitchFamily="34" charset="-120"/>
              </a:rPr>
              <a:t>0</a:t>
            </a:r>
            <a:endParaRPr lang="en-US" sz="5600" dirty="0"/>
          </a:p>
        </p:txBody>
      </p:sp>
      <p:sp>
        <p:nvSpPr>
          <p:cNvPr id="11" name="Text 9"/>
          <p:cNvSpPr txBox="1"/>
          <p:nvPr/>
        </p:nvSpPr>
        <p:spPr>
          <a:xfrm>
            <a:off x="4691786" y="3017520"/>
            <a:ext cx="2808122" cy="29260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Women and Girls</a:t>
            </a:r>
            <a:endParaRPr lang="en-US" sz="1450" dirty="0"/>
          </a:p>
        </p:txBody>
      </p:sp>
      <p:sp>
        <p:nvSpPr>
          <p:cNvPr id="12" name="Text 10"/>
          <p:cNvSpPr txBox="1"/>
          <p:nvPr/>
        </p:nvSpPr>
        <p:spPr>
          <a:xfrm>
            <a:off x="4691786" y="3364992"/>
            <a:ext cx="2808122" cy="676656"/>
          </a:xfrm>
          <a:prstGeom prst="rect">
            <a:avLst/>
          </a:prstGeom>
          <a:noFill/>
          <a:ln/>
        </p:spPr>
        <p:txBody>
          <a:bodyPr wrap="square" lIns="0" tIns="0" rIns="0" bIns="0" rtlCol="0" anchor="ctr"/>
          <a:lstStyle/>
          <a:p>
            <a:pPr indent="0" marL="0">
              <a:lnSpc>
                <a:spcPct val="120000"/>
              </a:lnSpc>
              <a:buNone/>
            </a:pPr>
            <a:r>
              <a:rPr lang="en-US" sz="1200" dirty="0">
                <a:solidFill>
                  <a:srgbClr val="5A6472"/>
                </a:solidFill>
                <a:latin typeface="Calibri" pitchFamily="34" charset="0"/>
                <a:ea typeface="Calibri" pitchFamily="34" charset="-122"/>
                <a:cs typeface="Calibri" pitchFamily="34" charset="-120"/>
              </a:rPr>
              <a:t>Twenty-three schemes serve them. The filter offers no way to reach any of them.</a:t>
            </a:r>
            <a:endParaRPr lang="en-US" sz="1200" dirty="0"/>
          </a:p>
        </p:txBody>
      </p:sp>
      <p:sp>
        <p:nvSpPr>
          <p:cNvPr id="13" name="Shape 11"/>
          <p:cNvSpPr/>
          <p:nvPr/>
        </p:nvSpPr>
        <p:spPr>
          <a:xfrm>
            <a:off x="8103413" y="1755648"/>
            <a:ext cx="3429914" cy="2432304"/>
          </a:xfrm>
          <a:prstGeom prst="rect">
            <a:avLst/>
          </a:prstGeom>
          <a:solidFill>
            <a:srgbClr val="F5F7FA"/>
          </a:solidFill>
          <a:ln w="9525">
            <a:solidFill>
              <a:srgbClr val="D8DEE7"/>
            </a:solidFill>
            <a:prstDash val="solid"/>
          </a:ln>
        </p:spPr>
      </p:sp>
      <p:sp>
        <p:nvSpPr>
          <p:cNvPr id="14" name="Text 12"/>
          <p:cNvSpPr txBox="1"/>
          <p:nvPr/>
        </p:nvSpPr>
        <p:spPr>
          <a:xfrm>
            <a:off x="8414309" y="1975104"/>
            <a:ext cx="2808122" cy="969264"/>
          </a:xfrm>
          <a:prstGeom prst="rect">
            <a:avLst/>
          </a:prstGeom>
          <a:noFill/>
          <a:ln/>
        </p:spPr>
        <p:txBody>
          <a:bodyPr wrap="square" lIns="0" tIns="0" rIns="0" bIns="0" rtlCol="0" anchor="ctr"/>
          <a:lstStyle/>
          <a:p>
            <a:pPr indent="0" marL="0">
              <a:buNone/>
            </a:pPr>
            <a:r>
              <a:rPr lang="en-US" sz="5600" b="1" dirty="0">
                <a:solidFill>
                  <a:srgbClr val="9A3412"/>
                </a:solidFill>
                <a:latin typeface="Cambria" pitchFamily="34" charset="0"/>
                <a:ea typeface="Cambria" pitchFamily="34" charset="-122"/>
                <a:cs typeface="Cambria" pitchFamily="34" charset="-120"/>
              </a:rPr>
              <a:t>27</a:t>
            </a:r>
            <a:endParaRPr lang="en-US" sz="5600" dirty="0"/>
          </a:p>
        </p:txBody>
      </p:sp>
      <p:sp>
        <p:nvSpPr>
          <p:cNvPr id="15" name="Text 13"/>
          <p:cNvSpPr txBox="1"/>
          <p:nvPr/>
        </p:nvSpPr>
        <p:spPr>
          <a:xfrm>
            <a:off x="8414309" y="3017520"/>
            <a:ext cx="2808122" cy="292608"/>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Records Carry No Target Group</a:t>
            </a:r>
            <a:endParaRPr lang="en-US" sz="1450" dirty="0"/>
          </a:p>
        </p:txBody>
      </p:sp>
      <p:sp>
        <p:nvSpPr>
          <p:cNvPr id="16" name="Text 14"/>
          <p:cNvSpPr txBox="1"/>
          <p:nvPr/>
        </p:nvSpPr>
        <p:spPr>
          <a:xfrm>
            <a:off x="8414309" y="3364992"/>
            <a:ext cx="2808122" cy="676656"/>
          </a:xfrm>
          <a:prstGeom prst="rect">
            <a:avLst/>
          </a:prstGeom>
          <a:noFill/>
          <a:ln/>
        </p:spPr>
        <p:txBody>
          <a:bodyPr wrap="square" lIns="0" tIns="0" rIns="0" bIns="0" rtlCol="0" anchor="ctr"/>
          <a:lstStyle/>
          <a:p>
            <a:pPr indent="0" marL="0">
              <a:lnSpc>
                <a:spcPct val="120000"/>
              </a:lnSpc>
              <a:buNone/>
            </a:pPr>
            <a:r>
              <a:rPr lang="en-US" sz="1200" dirty="0">
                <a:solidFill>
                  <a:srgbClr val="5A6472"/>
                </a:solidFill>
                <a:latin typeface="Calibri" pitchFamily="34" charset="0"/>
                <a:ea typeface="Calibri" pitchFamily="34" charset="-122"/>
                <a:cs typeface="Calibri" pitchFamily="34" charset="-120"/>
              </a:rPr>
              <a:t>Thirteen carry neither a target group nor a category, and are reachable only by URL.</a:t>
            </a:r>
            <a:endParaRPr lang="en-US" sz="1200" dirty="0"/>
          </a:p>
        </p:txBody>
      </p:sp>
      <p:sp>
        <p:nvSpPr>
          <p:cNvPr id="17" name="Shape 15"/>
          <p:cNvSpPr/>
          <p:nvPr/>
        </p:nvSpPr>
        <p:spPr>
          <a:xfrm>
            <a:off x="658368" y="4334256"/>
            <a:ext cx="10874959" cy="1078992"/>
          </a:xfrm>
          <a:prstGeom prst="rect">
            <a:avLst/>
          </a:prstGeom>
          <a:solidFill>
            <a:srgbClr val="003366"/>
          </a:solidFill>
          <a:ln w="12700">
            <a:solidFill>
              <a:srgbClr val="003366"/>
            </a:solidFill>
            <a:prstDash val="solid"/>
          </a:ln>
        </p:spPr>
      </p:sp>
      <p:sp>
        <p:nvSpPr>
          <p:cNvPr id="18" name="Text 16"/>
          <p:cNvSpPr txBox="1"/>
          <p:nvPr/>
        </p:nvSpPr>
        <p:spPr>
          <a:xfrm>
            <a:off x="1042416" y="4443984"/>
            <a:ext cx="10106863"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filter is not broken. The data behind it was never populated.</a:t>
            </a:r>
            <a:endParaRPr lang="en-US" sz="2400" dirty="0"/>
          </a:p>
        </p:txBody>
      </p:sp>
      <p:sp>
        <p:nvSpPr>
          <p:cNvPr id="19" name="Text 17"/>
          <p:cNvSpPr txBox="1"/>
          <p:nvPr/>
        </p:nvSpPr>
        <p:spPr>
          <a:xfrm>
            <a:off x="1042416" y="4882896"/>
            <a:ext cx="10106863" cy="402336"/>
          </a:xfrm>
          <a:prstGeom prst="rect">
            <a:avLst/>
          </a:prstGeom>
          <a:noFill/>
          <a:ln/>
        </p:spPr>
        <p:txBody>
          <a:bodyPr wrap="square" lIns="0" tIns="0" rIns="0" bIns="0" rtlCol="0" anchor="ctr"/>
          <a:lstStyle/>
          <a:p>
            <a:pPr indent="0" marL="0">
              <a:lnSpc>
                <a:spcPct val="115000"/>
              </a:lnSpc>
              <a:buNone/>
            </a:pPr>
            <a:r>
              <a:rPr lang="en-US" sz="1250" dirty="0">
                <a:solidFill>
                  <a:srgbClr val="9DB4CC"/>
                </a:solidFill>
                <a:latin typeface="Calibri" pitchFamily="34" charset="0"/>
                <a:ea typeface="Calibri" pitchFamily="34" charset="-122"/>
                <a:cs typeface="Calibri" pitchFamily="34" charset="-120"/>
              </a:rPr>
              <a:t>Only 2 of the 141 records carry more than one target group. The taxonomy is single-valued where the world is multi-dimensional — so an SC student must choose between filtering by caste and filtering by education, and cannot do both.</a:t>
            </a:r>
            <a:endParaRPr lang="en-US" sz="1250" dirty="0"/>
          </a:p>
        </p:txBody>
      </p:sp>
      <p:sp>
        <p:nvSpPr>
          <p:cNvPr id="20" name="Text 18"/>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content export generated 13 June 2026, 141 scheme records. Live behaviour re-verified 20 August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WHAT WE ARE ASKING FOR</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Three Decisions, and One Instruction</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Stated here so it is not missed, and set out in full at the end with who decides. The slides between the two make the case for each.</a:t>
            </a:r>
            <a:endParaRPr lang="en-US" sz="1300" dirty="0"/>
          </a:p>
        </p:txBody>
      </p:sp>
      <p:sp>
        <p:nvSpPr>
          <p:cNvPr id="5" name="Shape 3"/>
          <p:cNvSpPr/>
          <p:nvPr/>
        </p:nvSpPr>
        <p:spPr>
          <a:xfrm>
            <a:off x="658368" y="1755648"/>
            <a:ext cx="3429914" cy="1920240"/>
          </a:xfrm>
          <a:prstGeom prst="rect">
            <a:avLst/>
          </a:prstGeom>
          <a:solidFill>
            <a:srgbClr val="FFFFFF"/>
          </a:solidFill>
          <a:ln w="9525">
            <a:solidFill>
              <a:srgbClr val="D8DEE7"/>
            </a:solidFill>
            <a:prstDash val="solid"/>
          </a:ln>
        </p:spPr>
      </p:sp>
      <p:sp>
        <p:nvSpPr>
          <p:cNvPr id="6" name="Text 4"/>
          <p:cNvSpPr txBox="1"/>
          <p:nvPr/>
        </p:nvSpPr>
        <p:spPr>
          <a:xfrm>
            <a:off x="969264" y="1993392"/>
            <a:ext cx="2808122" cy="457200"/>
          </a:xfrm>
          <a:prstGeom prst="rect">
            <a:avLst/>
          </a:prstGeom>
          <a:noFill/>
          <a:ln/>
        </p:spPr>
        <p:txBody>
          <a:bodyPr wrap="square" lIns="0" tIns="0" rIns="0" bIns="0" rtlCol="0" anchor="ctr"/>
          <a:lstStyle/>
          <a:p>
            <a:pPr indent="0" marL="0">
              <a:buNone/>
            </a:pPr>
            <a:r>
              <a:rPr lang="en-US" sz="3000" b="1" dirty="0">
                <a:solidFill>
                  <a:srgbClr val="0257A8"/>
                </a:solidFill>
                <a:latin typeface="Cambria" pitchFamily="34" charset="0"/>
                <a:ea typeface="Cambria" pitchFamily="34" charset="-122"/>
                <a:cs typeface="Cambria" pitchFamily="34" charset="-120"/>
              </a:rPr>
              <a:t>01</a:t>
            </a:r>
            <a:endParaRPr lang="en-US" sz="3000" dirty="0"/>
          </a:p>
        </p:txBody>
      </p:sp>
      <p:sp>
        <p:nvSpPr>
          <p:cNvPr id="7" name="Text 5"/>
          <p:cNvSpPr txBox="1"/>
          <p:nvPr/>
        </p:nvSpPr>
        <p:spPr>
          <a:xfrm>
            <a:off x="969264" y="2487168"/>
            <a:ext cx="2808122" cy="310896"/>
          </a:xfrm>
          <a:prstGeom prst="rect">
            <a:avLst/>
          </a:prstGeom>
          <a:noFill/>
          <a:ln/>
        </p:spPr>
        <p:txBody>
          <a:bodyPr wrap="square" lIns="0" tIns="0" rIns="0" bIns="0" rtlCol="0" anchor="ctr"/>
          <a:lstStyle/>
          <a:p>
            <a:pPr indent="0" marL="0">
              <a:buNone/>
            </a:pPr>
            <a:r>
              <a:rPr lang="en-US" sz="1900" b="1" dirty="0">
                <a:solidFill>
                  <a:srgbClr val="003366"/>
                </a:solidFill>
                <a:latin typeface="Cambria" pitchFamily="34" charset="0"/>
                <a:ea typeface="Cambria" pitchFamily="34" charset="-122"/>
                <a:cs typeface="Cambria" pitchFamily="34" charset="-120"/>
              </a:rPr>
              <a:t>The Homepage</a:t>
            </a:r>
            <a:endParaRPr lang="en-US" sz="1900" dirty="0"/>
          </a:p>
        </p:txBody>
      </p:sp>
      <p:sp>
        <p:nvSpPr>
          <p:cNvPr id="8" name="Text 6"/>
          <p:cNvSpPr txBox="1"/>
          <p:nvPr/>
        </p:nvSpPr>
        <p:spPr>
          <a:xfrm>
            <a:off x="969264" y="2852928"/>
            <a:ext cx="2808122" cy="457200"/>
          </a:xfrm>
          <a:prstGeom prst="rect">
            <a:avLst/>
          </a:prstGeom>
          <a:noFill/>
          <a:ln/>
        </p:spPr>
        <p:txBody>
          <a:bodyPr wrap="square" lIns="0" tIns="0" rIns="0" bIns="0" rtlCol="0" anchor="ctr"/>
          <a:lstStyle/>
          <a:p>
            <a:pPr indent="0" marL="0">
              <a:lnSpc>
                <a:spcPct val="114000"/>
              </a:lnSpc>
              <a:buNone/>
            </a:pPr>
            <a:r>
              <a:rPr lang="en-US" sz="1300" b="1" dirty="0">
                <a:solidFill>
                  <a:srgbClr val="0257A8"/>
                </a:solidFill>
                <a:latin typeface="Calibri" pitchFamily="34" charset="0"/>
                <a:ea typeface="Calibri" pitchFamily="34" charset="-122"/>
                <a:cs typeface="Calibri" pitchFamily="34" charset="-120"/>
              </a:rPr>
              <a:t>Option B — the five-question finder</a:t>
            </a:r>
            <a:endParaRPr lang="en-US" sz="1300" dirty="0"/>
          </a:p>
        </p:txBody>
      </p:sp>
      <p:sp>
        <p:nvSpPr>
          <p:cNvPr id="9" name="Text 7"/>
          <p:cNvSpPr txBox="1"/>
          <p:nvPr/>
        </p:nvSpPr>
        <p:spPr>
          <a:xfrm>
            <a:off x="969264" y="3328416"/>
            <a:ext cx="2808122" cy="219456"/>
          </a:xfrm>
          <a:prstGeom prst="rect">
            <a:avLst/>
          </a:prstGeom>
          <a:noFill/>
          <a:ln/>
        </p:spPr>
        <p:txBody>
          <a:bodyPr wrap="square" lIns="0" tIns="0" rIns="0" bIns="0" rtlCol="0" anchor="ctr"/>
          <a:lstStyle/>
          <a:p>
            <a:pPr indent="0" marL="0">
              <a:buNone/>
            </a:pPr>
            <a:r>
              <a:rPr lang="en-US" sz="950" b="1" spc="110" kern="0" dirty="0">
                <a:solidFill>
                  <a:srgbClr val="5A6472"/>
                </a:solidFill>
                <a:latin typeface="Calibri" pitchFamily="34" charset="0"/>
                <a:ea typeface="Calibri" pitchFamily="34" charset="-122"/>
                <a:cs typeface="Calibri" pitchFamily="34" charset="-120"/>
              </a:rPr>
              <a:t>SEE DECISION 01</a:t>
            </a:r>
            <a:endParaRPr lang="en-US" sz="950" dirty="0"/>
          </a:p>
        </p:txBody>
      </p:sp>
      <p:sp>
        <p:nvSpPr>
          <p:cNvPr id="10" name="Shape 8"/>
          <p:cNvSpPr/>
          <p:nvPr/>
        </p:nvSpPr>
        <p:spPr>
          <a:xfrm>
            <a:off x="4380890" y="1755648"/>
            <a:ext cx="3429914" cy="1920240"/>
          </a:xfrm>
          <a:prstGeom prst="rect">
            <a:avLst/>
          </a:prstGeom>
          <a:solidFill>
            <a:srgbClr val="FFFFFF"/>
          </a:solidFill>
          <a:ln w="9525">
            <a:solidFill>
              <a:srgbClr val="D8DEE7"/>
            </a:solidFill>
            <a:prstDash val="solid"/>
          </a:ln>
        </p:spPr>
      </p:sp>
      <p:sp>
        <p:nvSpPr>
          <p:cNvPr id="11" name="Text 9"/>
          <p:cNvSpPr txBox="1"/>
          <p:nvPr/>
        </p:nvSpPr>
        <p:spPr>
          <a:xfrm>
            <a:off x="4691786" y="1993392"/>
            <a:ext cx="2808122" cy="457200"/>
          </a:xfrm>
          <a:prstGeom prst="rect">
            <a:avLst/>
          </a:prstGeom>
          <a:noFill/>
          <a:ln/>
        </p:spPr>
        <p:txBody>
          <a:bodyPr wrap="square" lIns="0" tIns="0" rIns="0" bIns="0" rtlCol="0" anchor="ctr"/>
          <a:lstStyle/>
          <a:p>
            <a:pPr indent="0" marL="0">
              <a:buNone/>
            </a:pPr>
            <a:r>
              <a:rPr lang="en-US" sz="3000" b="1" dirty="0">
                <a:solidFill>
                  <a:srgbClr val="0257A8"/>
                </a:solidFill>
                <a:latin typeface="Cambria" pitchFamily="34" charset="0"/>
                <a:ea typeface="Cambria" pitchFamily="34" charset="-122"/>
                <a:cs typeface="Cambria" pitchFamily="34" charset="-120"/>
              </a:rPr>
              <a:t>02</a:t>
            </a:r>
            <a:endParaRPr lang="en-US" sz="3000" dirty="0"/>
          </a:p>
        </p:txBody>
      </p:sp>
      <p:sp>
        <p:nvSpPr>
          <p:cNvPr id="12" name="Text 10"/>
          <p:cNvSpPr txBox="1"/>
          <p:nvPr/>
        </p:nvSpPr>
        <p:spPr>
          <a:xfrm>
            <a:off x="4691786" y="2487168"/>
            <a:ext cx="2808122" cy="310896"/>
          </a:xfrm>
          <a:prstGeom prst="rect">
            <a:avLst/>
          </a:prstGeom>
          <a:noFill/>
          <a:ln/>
        </p:spPr>
        <p:txBody>
          <a:bodyPr wrap="square" lIns="0" tIns="0" rIns="0" bIns="0" rtlCol="0" anchor="ctr"/>
          <a:lstStyle/>
          <a:p>
            <a:pPr indent="0" marL="0">
              <a:buNone/>
            </a:pPr>
            <a:r>
              <a:rPr lang="en-US" sz="1900" b="1" dirty="0">
                <a:solidFill>
                  <a:srgbClr val="003366"/>
                </a:solidFill>
                <a:latin typeface="Cambria" pitchFamily="34" charset="0"/>
                <a:ea typeface="Cambria" pitchFamily="34" charset="-122"/>
                <a:cs typeface="Cambria" pitchFamily="34" charset="-120"/>
              </a:rPr>
              <a:t>The Schemes Page</a:t>
            </a:r>
            <a:endParaRPr lang="en-US" sz="1900" dirty="0"/>
          </a:p>
        </p:txBody>
      </p:sp>
      <p:sp>
        <p:nvSpPr>
          <p:cNvPr id="13" name="Text 11"/>
          <p:cNvSpPr txBox="1"/>
          <p:nvPr/>
        </p:nvSpPr>
        <p:spPr>
          <a:xfrm>
            <a:off x="4691786" y="2852928"/>
            <a:ext cx="2808122" cy="457200"/>
          </a:xfrm>
          <a:prstGeom prst="rect">
            <a:avLst/>
          </a:prstGeom>
          <a:noFill/>
          <a:ln/>
        </p:spPr>
        <p:txBody>
          <a:bodyPr wrap="square" lIns="0" tIns="0" rIns="0" bIns="0" rtlCol="0" anchor="ctr"/>
          <a:lstStyle/>
          <a:p>
            <a:pPr indent="0" marL="0">
              <a:lnSpc>
                <a:spcPct val="114000"/>
              </a:lnSpc>
              <a:buNone/>
            </a:pPr>
            <a:r>
              <a:rPr lang="en-US" sz="1300" b="1" dirty="0">
                <a:solidFill>
                  <a:srgbClr val="0257A8"/>
                </a:solidFill>
                <a:latin typeface="Calibri" pitchFamily="34" charset="0"/>
                <a:ea typeface="Calibri" pitchFamily="34" charset="-122"/>
                <a:cs typeface="Calibri" pitchFamily="34" charset="-120"/>
              </a:rPr>
              <a:t>Option B — the filter panel and table</a:t>
            </a:r>
            <a:endParaRPr lang="en-US" sz="1300" dirty="0"/>
          </a:p>
        </p:txBody>
      </p:sp>
      <p:sp>
        <p:nvSpPr>
          <p:cNvPr id="14" name="Text 12"/>
          <p:cNvSpPr txBox="1"/>
          <p:nvPr/>
        </p:nvSpPr>
        <p:spPr>
          <a:xfrm>
            <a:off x="4691786" y="3328416"/>
            <a:ext cx="2808122" cy="219456"/>
          </a:xfrm>
          <a:prstGeom prst="rect">
            <a:avLst/>
          </a:prstGeom>
          <a:noFill/>
          <a:ln/>
        </p:spPr>
        <p:txBody>
          <a:bodyPr wrap="square" lIns="0" tIns="0" rIns="0" bIns="0" rtlCol="0" anchor="ctr"/>
          <a:lstStyle/>
          <a:p>
            <a:pPr indent="0" marL="0">
              <a:buNone/>
            </a:pPr>
            <a:r>
              <a:rPr lang="en-US" sz="950" b="1" spc="110" kern="0" dirty="0">
                <a:solidFill>
                  <a:srgbClr val="5A6472"/>
                </a:solidFill>
                <a:latin typeface="Calibri" pitchFamily="34" charset="0"/>
                <a:ea typeface="Calibri" pitchFamily="34" charset="-122"/>
                <a:cs typeface="Calibri" pitchFamily="34" charset="-120"/>
              </a:rPr>
              <a:t>SEE DECISION 02</a:t>
            </a:r>
            <a:endParaRPr lang="en-US" sz="950" dirty="0"/>
          </a:p>
        </p:txBody>
      </p:sp>
      <p:sp>
        <p:nvSpPr>
          <p:cNvPr id="15" name="Shape 13"/>
          <p:cNvSpPr/>
          <p:nvPr/>
        </p:nvSpPr>
        <p:spPr>
          <a:xfrm>
            <a:off x="8103413" y="1755648"/>
            <a:ext cx="3429914" cy="1920240"/>
          </a:xfrm>
          <a:prstGeom prst="rect">
            <a:avLst/>
          </a:prstGeom>
          <a:solidFill>
            <a:srgbClr val="FFFFFF"/>
          </a:solidFill>
          <a:ln w="9525">
            <a:solidFill>
              <a:srgbClr val="D8DEE7"/>
            </a:solidFill>
            <a:prstDash val="solid"/>
          </a:ln>
        </p:spPr>
      </p:sp>
      <p:sp>
        <p:nvSpPr>
          <p:cNvPr id="16" name="Text 14"/>
          <p:cNvSpPr txBox="1"/>
          <p:nvPr/>
        </p:nvSpPr>
        <p:spPr>
          <a:xfrm>
            <a:off x="8414309" y="1993392"/>
            <a:ext cx="2808122" cy="457200"/>
          </a:xfrm>
          <a:prstGeom prst="rect">
            <a:avLst/>
          </a:prstGeom>
          <a:noFill/>
          <a:ln/>
        </p:spPr>
        <p:txBody>
          <a:bodyPr wrap="square" lIns="0" tIns="0" rIns="0" bIns="0" rtlCol="0" anchor="ctr"/>
          <a:lstStyle/>
          <a:p>
            <a:pPr indent="0" marL="0">
              <a:buNone/>
            </a:pPr>
            <a:r>
              <a:rPr lang="en-US" sz="3000" b="1" dirty="0">
                <a:solidFill>
                  <a:srgbClr val="0257A8"/>
                </a:solidFill>
                <a:latin typeface="Cambria" pitchFamily="34" charset="0"/>
                <a:ea typeface="Cambria" pitchFamily="34" charset="-122"/>
                <a:cs typeface="Cambria" pitchFamily="34" charset="-120"/>
              </a:rPr>
              <a:t>03</a:t>
            </a:r>
            <a:endParaRPr lang="en-US" sz="3000" dirty="0"/>
          </a:p>
        </p:txBody>
      </p:sp>
      <p:sp>
        <p:nvSpPr>
          <p:cNvPr id="17" name="Text 15"/>
          <p:cNvSpPr txBox="1"/>
          <p:nvPr/>
        </p:nvSpPr>
        <p:spPr>
          <a:xfrm>
            <a:off x="8414309" y="2487168"/>
            <a:ext cx="2808122" cy="310896"/>
          </a:xfrm>
          <a:prstGeom prst="rect">
            <a:avLst/>
          </a:prstGeom>
          <a:noFill/>
          <a:ln/>
        </p:spPr>
        <p:txBody>
          <a:bodyPr wrap="square" lIns="0" tIns="0" rIns="0" bIns="0" rtlCol="0" anchor="ctr"/>
          <a:lstStyle/>
          <a:p>
            <a:pPr indent="0" marL="0">
              <a:buNone/>
            </a:pPr>
            <a:r>
              <a:rPr lang="en-US" sz="1900" b="1" dirty="0">
                <a:solidFill>
                  <a:srgbClr val="003366"/>
                </a:solidFill>
                <a:latin typeface="Cambria" pitchFamily="34" charset="0"/>
                <a:ea typeface="Cambria" pitchFamily="34" charset="-122"/>
                <a:cs typeface="Cambria" pitchFamily="34" charset="-120"/>
              </a:rPr>
              <a:t>The Chatbot</a:t>
            </a:r>
            <a:endParaRPr lang="en-US" sz="1900" dirty="0"/>
          </a:p>
        </p:txBody>
      </p:sp>
      <p:sp>
        <p:nvSpPr>
          <p:cNvPr id="18" name="Text 16"/>
          <p:cNvSpPr txBox="1"/>
          <p:nvPr/>
        </p:nvSpPr>
        <p:spPr>
          <a:xfrm>
            <a:off x="8414309" y="2852928"/>
            <a:ext cx="2808122" cy="457200"/>
          </a:xfrm>
          <a:prstGeom prst="rect">
            <a:avLst/>
          </a:prstGeom>
          <a:noFill/>
          <a:ln/>
        </p:spPr>
        <p:txBody>
          <a:bodyPr wrap="square" lIns="0" tIns="0" rIns="0" bIns="0" rtlCol="0" anchor="ctr"/>
          <a:lstStyle/>
          <a:p>
            <a:pPr indent="0" marL="0">
              <a:lnSpc>
                <a:spcPct val="114000"/>
              </a:lnSpc>
              <a:buNone/>
            </a:pPr>
            <a:r>
              <a:rPr lang="en-US" sz="1300" b="1" dirty="0">
                <a:solidFill>
                  <a:srgbClr val="0257A8"/>
                </a:solidFill>
                <a:latin typeface="Calibri" pitchFamily="34" charset="0"/>
                <a:ea typeface="Calibri" pitchFamily="34" charset="-122"/>
                <a:cs typeface="Calibri" pitchFamily="34" charset="-120"/>
              </a:rPr>
              <a:t>Carry the same five questions</a:t>
            </a:r>
            <a:endParaRPr lang="en-US" sz="1300" dirty="0"/>
          </a:p>
        </p:txBody>
      </p:sp>
      <p:sp>
        <p:nvSpPr>
          <p:cNvPr id="19" name="Text 17"/>
          <p:cNvSpPr txBox="1"/>
          <p:nvPr/>
        </p:nvSpPr>
        <p:spPr>
          <a:xfrm>
            <a:off x="8414309" y="3328416"/>
            <a:ext cx="2808122" cy="219456"/>
          </a:xfrm>
          <a:prstGeom prst="rect">
            <a:avLst/>
          </a:prstGeom>
          <a:noFill/>
          <a:ln/>
        </p:spPr>
        <p:txBody>
          <a:bodyPr wrap="square" lIns="0" tIns="0" rIns="0" bIns="0" rtlCol="0" anchor="ctr"/>
          <a:lstStyle/>
          <a:p>
            <a:pPr indent="0" marL="0">
              <a:buNone/>
            </a:pPr>
            <a:r>
              <a:rPr lang="en-US" sz="950" b="1" spc="110" kern="0" dirty="0">
                <a:solidFill>
                  <a:srgbClr val="5A6472"/>
                </a:solidFill>
                <a:latin typeface="Calibri" pitchFamily="34" charset="0"/>
                <a:ea typeface="Calibri" pitchFamily="34" charset="-122"/>
                <a:cs typeface="Calibri" pitchFamily="34" charset="-120"/>
              </a:rPr>
              <a:t>SEE DECISION 03</a:t>
            </a:r>
            <a:endParaRPr lang="en-US" sz="950" dirty="0"/>
          </a:p>
        </p:txBody>
      </p:sp>
      <p:sp>
        <p:nvSpPr>
          <p:cNvPr id="20" name="Shape 18"/>
          <p:cNvSpPr/>
          <p:nvPr/>
        </p:nvSpPr>
        <p:spPr>
          <a:xfrm>
            <a:off x="658368" y="3968496"/>
            <a:ext cx="10874959" cy="1371600"/>
          </a:xfrm>
          <a:prstGeom prst="rect">
            <a:avLst/>
          </a:prstGeom>
          <a:solidFill>
            <a:srgbClr val="003366"/>
          </a:solidFill>
          <a:ln w="12700">
            <a:solidFill>
              <a:srgbClr val="003366"/>
            </a:solidFill>
            <a:prstDash val="solid"/>
          </a:ln>
        </p:spPr>
      </p:sp>
      <p:sp>
        <p:nvSpPr>
          <p:cNvPr id="21" name="Text 19"/>
          <p:cNvSpPr txBox="1"/>
          <p:nvPr/>
        </p:nvSpPr>
        <p:spPr>
          <a:xfrm>
            <a:off x="1042416" y="4133088"/>
            <a:ext cx="10106863"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And one instruction: authorise Phase 1.</a:t>
            </a:r>
            <a:endParaRPr lang="en-US" sz="2400" dirty="0"/>
          </a:p>
        </p:txBody>
      </p:sp>
      <p:sp>
        <p:nvSpPr>
          <p:cNvPr id="22" name="Text 20"/>
          <p:cNvSpPr txBox="1"/>
          <p:nvPr/>
        </p:nvSpPr>
        <p:spPr>
          <a:xfrm>
            <a:off x="1042416" y="4572000"/>
            <a:ext cx="10106863" cy="566928"/>
          </a:xfrm>
          <a:prstGeom prst="rect">
            <a:avLst/>
          </a:prstGeom>
          <a:noFill/>
          <a:ln/>
        </p:spPr>
        <p:txBody>
          <a:bodyPr wrap="square" lIns="0" tIns="0" rIns="0" bIns="0" rtlCol="0" anchor="ctr"/>
          <a:lstStyle/>
          <a:p>
            <a:pPr indent="0" marL="0">
              <a:lnSpc>
                <a:spcPct val="120000"/>
              </a:lnSpc>
              <a:buNone/>
            </a:pPr>
            <a:r>
              <a:rPr lang="en-US" sz="1300" dirty="0">
                <a:solidFill>
                  <a:srgbClr val="9DB4CC"/>
                </a:solidFill>
                <a:latin typeface="Calibri" pitchFamily="34" charset="0"/>
                <a:ea typeface="Calibri" pitchFamily="34" charset="-122"/>
                <a:cs typeface="Calibri" pitchFamily="34" charset="-120"/>
              </a:rPr>
              <a:t>Populating the eligibility model across all 141 scheme records is the one-time content work that every option above depends on. Whichever surfaces are chosen, this has to start first — and it is the piece only the Department can do.</a:t>
            </a:r>
            <a:endParaRPr lang="en-US" sz="1300" dirty="0"/>
          </a:p>
        </p:txBody>
      </p:sp>
      <p:sp>
        <p:nvSpPr>
          <p:cNvPr id="23" name="Text 21"/>
          <p:cNvSpPr txBox="1"/>
          <p:nvPr/>
        </p:nvSpPr>
        <p:spPr>
          <a:xfrm>
            <a:off x="658368" y="5541264"/>
            <a:ext cx="10874959"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Each recommendation is set out with the alternatives, their strengths and their limitations, on the slides that follow.</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THE EVIDENCE</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Coverage Against Tagging, by Group</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Ordered by the size of the gap. Together, 55 schemes serve Scheduled Castes and women and girls; the filter reaches five of them.</a:t>
            </a:r>
            <a:endParaRPr lang="en-US" sz="1300" dirty="0"/>
          </a:p>
        </p:txBody>
      </p:sp>
      <p:graphicFrame>
        <p:nvGraphicFramePr>
          <p:cNvPr id="5" name="Chart 0" descr=""/>
          <p:cNvGraphicFramePr/>
          <p:nvPr/>
        </p:nvGraphicFramePr>
        <p:xfrm>
          <a:off x="658368" y="1737360"/>
          <a:ext cx="10874959" cy="4443984"/>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§1.3, coverage matrix. Keyword classification over each record's title and body — an order-of-magnitude measure that over-counts, so these gaps are, if anything, understated.</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DIAGNOSIS</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Five Reasons a Citizen Does Not Get Through</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Each is drawn from the numbered diagnoses in the review. All five are live today.</a:t>
            </a:r>
            <a:endParaRPr lang="en-US" sz="1300" dirty="0"/>
          </a:p>
        </p:txBody>
      </p:sp>
      <p:sp>
        <p:nvSpPr>
          <p:cNvPr id="5" name="Shape 3"/>
          <p:cNvSpPr/>
          <p:nvPr/>
        </p:nvSpPr>
        <p:spPr>
          <a:xfrm>
            <a:off x="658368" y="1810512"/>
            <a:ext cx="566928" cy="384048"/>
          </a:xfrm>
          <a:prstGeom prst="roundRect">
            <a:avLst>
              <a:gd name="adj" fmla="val 19048"/>
            </a:avLst>
          </a:prstGeom>
          <a:solidFill>
            <a:srgbClr val="003366"/>
          </a:solidFill>
          <a:ln w="12700">
            <a:solidFill>
              <a:srgbClr val="003366"/>
            </a:solidFill>
            <a:prstDash val="solid"/>
          </a:ln>
        </p:spPr>
      </p:sp>
      <p:sp>
        <p:nvSpPr>
          <p:cNvPr id="6" name="Text 4"/>
          <p:cNvSpPr txBox="1"/>
          <p:nvPr/>
        </p:nvSpPr>
        <p:spPr>
          <a:xfrm>
            <a:off x="658368" y="1810512"/>
            <a:ext cx="5669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D1</a:t>
            </a:r>
            <a:endParaRPr lang="en-US" sz="1250" dirty="0"/>
          </a:p>
        </p:txBody>
      </p:sp>
      <p:sp>
        <p:nvSpPr>
          <p:cNvPr id="7" name="Text 5"/>
          <p:cNvSpPr txBox="1"/>
          <p:nvPr/>
        </p:nvSpPr>
        <p:spPr>
          <a:xfrm>
            <a:off x="1444752" y="1773936"/>
            <a:ext cx="10088575" cy="274320"/>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Two Live Ministry Websites, with Different Taxonomies</a:t>
            </a:r>
            <a:endParaRPr lang="en-US" sz="1450" dirty="0"/>
          </a:p>
        </p:txBody>
      </p:sp>
      <p:sp>
        <p:nvSpPr>
          <p:cNvPr id="8" name="Text 6"/>
          <p:cNvSpPr txBox="1"/>
          <p:nvPr/>
        </p:nvSpPr>
        <p:spPr>
          <a:xfrm>
            <a:off x="1444752" y="2066544"/>
            <a:ext cx="10088575" cy="384048"/>
          </a:xfrm>
          <a:prstGeom prst="rect">
            <a:avLst/>
          </a:prstGeom>
          <a:noFill/>
          <a:ln/>
        </p:spPr>
        <p:txBody>
          <a:bodyPr wrap="square" lIns="0" tIns="0" rIns="0" bIns="0" rtlCol="0" anchor="ctr"/>
          <a:lstStyle/>
          <a:p>
            <a:pPr indent="0" marL="0">
              <a:lnSpc>
                <a:spcPct val="116000"/>
              </a:lnSpc>
              <a:buNone/>
            </a:pPr>
            <a:r>
              <a:rPr lang="en-US" sz="1200" dirty="0">
                <a:solidFill>
                  <a:srgbClr val="5A6472"/>
                </a:solidFill>
                <a:latin typeface="Calibri" pitchFamily="34" charset="0"/>
                <a:ea typeface="Calibri" pitchFamily="34" charset="-122"/>
                <a:cs typeface="Calibri" pitchFamily="34" charset="-120"/>
              </a:rPr>
              <a:t>socialjustice.gov.in lists PM-SURAJ among its major schemes. A search for SURAJ on dosje.gov.in returns ten results and none of them is PM-SURAJ.</a:t>
            </a:r>
            <a:endParaRPr lang="en-US" sz="1200" dirty="0"/>
          </a:p>
        </p:txBody>
      </p:sp>
      <p:sp>
        <p:nvSpPr>
          <p:cNvPr id="9" name="Shape 7"/>
          <p:cNvSpPr/>
          <p:nvPr/>
        </p:nvSpPr>
        <p:spPr>
          <a:xfrm>
            <a:off x="658368" y="2505456"/>
            <a:ext cx="10874959" cy="0"/>
          </a:xfrm>
          <a:prstGeom prst="line">
            <a:avLst/>
          </a:prstGeom>
          <a:noFill/>
          <a:ln w="9525">
            <a:solidFill>
              <a:srgbClr val="D8DEE7"/>
            </a:solidFill>
            <a:prstDash val="solid"/>
          </a:ln>
        </p:spPr>
      </p:sp>
      <p:sp>
        <p:nvSpPr>
          <p:cNvPr id="10" name="Shape 8"/>
          <p:cNvSpPr/>
          <p:nvPr/>
        </p:nvSpPr>
        <p:spPr>
          <a:xfrm>
            <a:off x="658368" y="2670048"/>
            <a:ext cx="566928" cy="384048"/>
          </a:xfrm>
          <a:prstGeom prst="roundRect">
            <a:avLst>
              <a:gd name="adj" fmla="val 19048"/>
            </a:avLst>
          </a:prstGeom>
          <a:solidFill>
            <a:srgbClr val="003366"/>
          </a:solidFill>
          <a:ln w="12700">
            <a:solidFill>
              <a:srgbClr val="003366"/>
            </a:solidFill>
            <a:prstDash val="solid"/>
          </a:ln>
        </p:spPr>
      </p:sp>
      <p:sp>
        <p:nvSpPr>
          <p:cNvPr id="11" name="Text 9"/>
          <p:cNvSpPr txBox="1"/>
          <p:nvPr/>
        </p:nvSpPr>
        <p:spPr>
          <a:xfrm>
            <a:off x="658368" y="2670048"/>
            <a:ext cx="5669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D3</a:t>
            </a:r>
            <a:endParaRPr lang="en-US" sz="1250" dirty="0"/>
          </a:p>
        </p:txBody>
      </p:sp>
      <p:sp>
        <p:nvSpPr>
          <p:cNvPr id="12" name="Text 10"/>
          <p:cNvSpPr txBox="1"/>
          <p:nvPr/>
        </p:nvSpPr>
        <p:spPr>
          <a:xfrm>
            <a:off x="1444752" y="2633472"/>
            <a:ext cx="10088575" cy="274320"/>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The Filters Are Real; the Data Behind Them Is Not</a:t>
            </a:r>
            <a:endParaRPr lang="en-US" sz="1450" dirty="0"/>
          </a:p>
        </p:txBody>
      </p:sp>
      <p:sp>
        <p:nvSpPr>
          <p:cNvPr id="13" name="Text 11"/>
          <p:cNvSpPr txBox="1"/>
          <p:nvPr/>
        </p:nvSpPr>
        <p:spPr>
          <a:xfrm>
            <a:off x="1444752" y="2926080"/>
            <a:ext cx="10088575" cy="384048"/>
          </a:xfrm>
          <a:prstGeom prst="rect">
            <a:avLst/>
          </a:prstGeom>
          <a:noFill/>
          <a:ln/>
        </p:spPr>
        <p:txBody>
          <a:bodyPr wrap="square" lIns="0" tIns="0" rIns="0" bIns="0" rtlCol="0" anchor="ctr"/>
          <a:lstStyle/>
          <a:p>
            <a:pPr indent="0" marL="0">
              <a:lnSpc>
                <a:spcPct val="116000"/>
              </a:lnSpc>
              <a:buNone/>
            </a:pPr>
            <a:r>
              <a:rPr lang="en-US" sz="1200" dirty="0">
                <a:solidFill>
                  <a:srgbClr val="5A6472"/>
                </a:solidFill>
                <a:latin typeface="Calibri" pitchFamily="34" charset="0"/>
                <a:ea typeface="Calibri" pitchFamily="34" charset="-122"/>
                <a:cs typeface="Calibri" pitchFamily="34" charset="-120"/>
              </a:rPr>
              <a:t>The category vocabulary carries MICRO FINANCE and TERM LOAN in capitals, leaked from two scheme titles, and Homeowners as a target group.</a:t>
            </a:r>
            <a:endParaRPr lang="en-US" sz="1200" dirty="0"/>
          </a:p>
        </p:txBody>
      </p:sp>
      <p:sp>
        <p:nvSpPr>
          <p:cNvPr id="14" name="Shape 12"/>
          <p:cNvSpPr/>
          <p:nvPr/>
        </p:nvSpPr>
        <p:spPr>
          <a:xfrm>
            <a:off x="658368" y="3364992"/>
            <a:ext cx="10874959" cy="0"/>
          </a:xfrm>
          <a:prstGeom prst="line">
            <a:avLst/>
          </a:prstGeom>
          <a:noFill/>
          <a:ln w="9525">
            <a:solidFill>
              <a:srgbClr val="D8DEE7"/>
            </a:solidFill>
            <a:prstDash val="solid"/>
          </a:ln>
        </p:spPr>
      </p:sp>
      <p:sp>
        <p:nvSpPr>
          <p:cNvPr id="15" name="Shape 13"/>
          <p:cNvSpPr/>
          <p:nvPr/>
        </p:nvSpPr>
        <p:spPr>
          <a:xfrm>
            <a:off x="658368" y="3529584"/>
            <a:ext cx="566928" cy="384048"/>
          </a:xfrm>
          <a:prstGeom prst="roundRect">
            <a:avLst>
              <a:gd name="adj" fmla="val 19048"/>
            </a:avLst>
          </a:prstGeom>
          <a:solidFill>
            <a:srgbClr val="003366"/>
          </a:solidFill>
          <a:ln w="12700">
            <a:solidFill>
              <a:srgbClr val="003366"/>
            </a:solidFill>
            <a:prstDash val="solid"/>
          </a:ln>
        </p:spPr>
      </p:sp>
      <p:sp>
        <p:nvSpPr>
          <p:cNvPr id="16" name="Text 14"/>
          <p:cNvSpPr txBox="1"/>
          <p:nvPr/>
        </p:nvSpPr>
        <p:spPr>
          <a:xfrm>
            <a:off x="658368" y="3529584"/>
            <a:ext cx="5669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D4</a:t>
            </a:r>
            <a:endParaRPr lang="en-US" sz="1250" dirty="0"/>
          </a:p>
        </p:txBody>
      </p:sp>
      <p:sp>
        <p:nvSpPr>
          <p:cNvPr id="17" name="Text 15"/>
          <p:cNvSpPr txBox="1"/>
          <p:nvPr/>
        </p:nvSpPr>
        <p:spPr>
          <a:xfrm>
            <a:off x="1444752" y="3493008"/>
            <a:ext cx="10088575" cy="274320"/>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Everything Is Named the Way the File Is Named Inside the Ministry</a:t>
            </a:r>
            <a:endParaRPr lang="en-US" sz="1450" dirty="0"/>
          </a:p>
        </p:txBody>
      </p:sp>
      <p:sp>
        <p:nvSpPr>
          <p:cNvPr id="18" name="Text 16"/>
          <p:cNvSpPr txBox="1"/>
          <p:nvPr/>
        </p:nvSpPr>
        <p:spPr>
          <a:xfrm>
            <a:off x="1444752" y="3785616"/>
            <a:ext cx="10088575" cy="384048"/>
          </a:xfrm>
          <a:prstGeom prst="rect">
            <a:avLst/>
          </a:prstGeom>
          <a:noFill/>
          <a:ln/>
        </p:spPr>
        <p:txBody>
          <a:bodyPr wrap="square" lIns="0" tIns="0" rIns="0" bIns="0" rtlCol="0" anchor="ctr"/>
          <a:lstStyle/>
          <a:p>
            <a:pPr indent="0" marL="0">
              <a:lnSpc>
                <a:spcPct val="116000"/>
              </a:lnSpc>
              <a:buNone/>
            </a:pPr>
            <a:r>
              <a:rPr lang="en-US" sz="1200" dirty="0">
                <a:solidFill>
                  <a:srgbClr val="5A6472"/>
                </a:solidFill>
                <a:latin typeface="Calibri" pitchFamily="34" charset="0"/>
                <a:ea typeface="Calibri" pitchFamily="34" charset="-122"/>
                <a:cs typeface="Calibri" pitchFamily="34" charset="-120"/>
              </a:rPr>
              <a:t>Eighteen organisations shown as acronyms. The longest scheme title runs to 168 characters. A senior citizen does not know she is a Social Defence matter.</a:t>
            </a:r>
            <a:endParaRPr lang="en-US" sz="1200" dirty="0"/>
          </a:p>
        </p:txBody>
      </p:sp>
      <p:sp>
        <p:nvSpPr>
          <p:cNvPr id="19" name="Shape 17"/>
          <p:cNvSpPr/>
          <p:nvPr/>
        </p:nvSpPr>
        <p:spPr>
          <a:xfrm>
            <a:off x="658368" y="4224528"/>
            <a:ext cx="10874959" cy="0"/>
          </a:xfrm>
          <a:prstGeom prst="line">
            <a:avLst/>
          </a:prstGeom>
          <a:noFill/>
          <a:ln w="9525">
            <a:solidFill>
              <a:srgbClr val="D8DEE7"/>
            </a:solidFill>
            <a:prstDash val="solid"/>
          </a:ln>
        </p:spPr>
      </p:sp>
      <p:sp>
        <p:nvSpPr>
          <p:cNvPr id="20" name="Shape 18"/>
          <p:cNvSpPr/>
          <p:nvPr/>
        </p:nvSpPr>
        <p:spPr>
          <a:xfrm>
            <a:off x="658368" y="4389120"/>
            <a:ext cx="566928" cy="384048"/>
          </a:xfrm>
          <a:prstGeom prst="roundRect">
            <a:avLst>
              <a:gd name="adj" fmla="val 19048"/>
            </a:avLst>
          </a:prstGeom>
          <a:solidFill>
            <a:srgbClr val="003366"/>
          </a:solidFill>
          <a:ln w="12700">
            <a:solidFill>
              <a:srgbClr val="003366"/>
            </a:solidFill>
            <a:prstDash val="solid"/>
          </a:ln>
        </p:spPr>
      </p:sp>
      <p:sp>
        <p:nvSpPr>
          <p:cNvPr id="21" name="Text 19"/>
          <p:cNvSpPr txBox="1"/>
          <p:nvPr/>
        </p:nvSpPr>
        <p:spPr>
          <a:xfrm>
            <a:off x="658368" y="4389120"/>
            <a:ext cx="5669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D6</a:t>
            </a:r>
            <a:endParaRPr lang="en-US" sz="1250" dirty="0"/>
          </a:p>
        </p:txBody>
      </p:sp>
      <p:sp>
        <p:nvSpPr>
          <p:cNvPr id="22" name="Text 20"/>
          <p:cNvSpPr txBox="1"/>
          <p:nvPr/>
        </p:nvSpPr>
        <p:spPr>
          <a:xfrm>
            <a:off x="1444752" y="4352544"/>
            <a:ext cx="10088575" cy="274320"/>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There Is an Entry Point for Every Artefact and None for Any Need</a:t>
            </a:r>
            <a:endParaRPr lang="en-US" sz="1450" dirty="0"/>
          </a:p>
        </p:txBody>
      </p:sp>
      <p:sp>
        <p:nvSpPr>
          <p:cNvPr id="23" name="Text 21"/>
          <p:cNvSpPr txBox="1"/>
          <p:nvPr/>
        </p:nvSpPr>
        <p:spPr>
          <a:xfrm>
            <a:off x="1444752" y="4645152"/>
            <a:ext cx="10088575" cy="384048"/>
          </a:xfrm>
          <a:prstGeom prst="rect">
            <a:avLst/>
          </a:prstGeom>
          <a:noFill/>
          <a:ln/>
        </p:spPr>
        <p:txBody>
          <a:bodyPr wrap="square" lIns="0" tIns="0" rIns="0" bIns="0" rtlCol="0" anchor="ctr"/>
          <a:lstStyle/>
          <a:p>
            <a:pPr indent="0" marL="0">
              <a:lnSpc>
                <a:spcPct val="116000"/>
              </a:lnSpc>
              <a:buNone/>
            </a:pPr>
            <a:r>
              <a:rPr lang="en-US" sz="1200" dirty="0">
                <a:solidFill>
                  <a:srgbClr val="5A6472"/>
                </a:solidFill>
                <a:latin typeface="Calibri" pitchFamily="34" charset="0"/>
                <a:ea typeface="Calibri" pitchFamily="34" charset="-122"/>
                <a:cs typeface="Calibri" pitchFamily="34" charset="-120"/>
              </a:rPr>
              <a:t>Six of the seven top-level menus name things the Department has. Nothing answers am I eligible, how do I apply, or where is my application.</a:t>
            </a:r>
            <a:endParaRPr lang="en-US" sz="1200" dirty="0"/>
          </a:p>
        </p:txBody>
      </p:sp>
      <p:sp>
        <p:nvSpPr>
          <p:cNvPr id="24" name="Shape 22"/>
          <p:cNvSpPr/>
          <p:nvPr/>
        </p:nvSpPr>
        <p:spPr>
          <a:xfrm>
            <a:off x="658368" y="5084064"/>
            <a:ext cx="10874959" cy="0"/>
          </a:xfrm>
          <a:prstGeom prst="line">
            <a:avLst/>
          </a:prstGeom>
          <a:noFill/>
          <a:ln w="9525">
            <a:solidFill>
              <a:srgbClr val="D8DEE7"/>
            </a:solidFill>
            <a:prstDash val="solid"/>
          </a:ln>
        </p:spPr>
      </p:sp>
      <p:sp>
        <p:nvSpPr>
          <p:cNvPr id="25" name="Shape 23"/>
          <p:cNvSpPr/>
          <p:nvPr/>
        </p:nvSpPr>
        <p:spPr>
          <a:xfrm>
            <a:off x="658368" y="5248656"/>
            <a:ext cx="566928" cy="384048"/>
          </a:xfrm>
          <a:prstGeom prst="roundRect">
            <a:avLst>
              <a:gd name="adj" fmla="val 19048"/>
            </a:avLst>
          </a:prstGeom>
          <a:solidFill>
            <a:srgbClr val="003366"/>
          </a:solidFill>
          <a:ln w="12700">
            <a:solidFill>
              <a:srgbClr val="003366"/>
            </a:solidFill>
            <a:prstDash val="solid"/>
          </a:ln>
        </p:spPr>
      </p:sp>
      <p:sp>
        <p:nvSpPr>
          <p:cNvPr id="26" name="Text 24"/>
          <p:cNvSpPr txBox="1"/>
          <p:nvPr/>
        </p:nvSpPr>
        <p:spPr>
          <a:xfrm>
            <a:off x="658368" y="5248656"/>
            <a:ext cx="56692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D7</a:t>
            </a:r>
            <a:endParaRPr lang="en-US" sz="1250" dirty="0"/>
          </a:p>
        </p:txBody>
      </p:sp>
      <p:sp>
        <p:nvSpPr>
          <p:cNvPr id="27" name="Text 25"/>
          <p:cNvSpPr txBox="1"/>
          <p:nvPr/>
        </p:nvSpPr>
        <p:spPr>
          <a:xfrm>
            <a:off x="1444752" y="5212080"/>
            <a:ext cx="10088575" cy="274320"/>
          </a:xfrm>
          <a:prstGeom prst="rect">
            <a:avLst/>
          </a:prstGeom>
          <a:noFill/>
          <a:ln/>
        </p:spPr>
        <p:txBody>
          <a:bodyPr wrap="square" lIns="0" tIns="0" rIns="0" bIns="0" rtlCol="0" anchor="ctr"/>
          <a:lstStyle/>
          <a:p>
            <a:pPr indent="0" marL="0">
              <a:buNone/>
            </a:pPr>
            <a:r>
              <a:rPr lang="en-US" sz="1450" b="1" dirty="0">
                <a:solidFill>
                  <a:srgbClr val="003366"/>
                </a:solidFill>
                <a:latin typeface="Calibri" pitchFamily="34" charset="0"/>
                <a:ea typeface="Calibri" pitchFamily="34" charset="-122"/>
                <a:cs typeface="Calibri" pitchFamily="34" charset="-120"/>
              </a:rPr>
              <a:t>Search Retrieves by Tag Substring, and the Tags Are Noise</a:t>
            </a:r>
            <a:endParaRPr lang="en-US" sz="1450" dirty="0"/>
          </a:p>
        </p:txBody>
      </p:sp>
      <p:sp>
        <p:nvSpPr>
          <p:cNvPr id="28" name="Text 26"/>
          <p:cNvSpPr txBox="1"/>
          <p:nvPr/>
        </p:nvSpPr>
        <p:spPr>
          <a:xfrm>
            <a:off x="1444752" y="5504688"/>
            <a:ext cx="10088575" cy="384048"/>
          </a:xfrm>
          <a:prstGeom prst="rect">
            <a:avLst/>
          </a:prstGeom>
          <a:noFill/>
          <a:ln/>
        </p:spPr>
        <p:txBody>
          <a:bodyPr wrap="square" lIns="0" tIns="0" rIns="0" bIns="0" rtlCol="0" anchor="ctr"/>
          <a:lstStyle/>
          <a:p>
            <a:pPr indent="0" marL="0">
              <a:lnSpc>
                <a:spcPct val="116000"/>
              </a:lnSpc>
              <a:buNone/>
            </a:pPr>
            <a:r>
              <a:rPr lang="en-US" sz="1200" dirty="0">
                <a:solidFill>
                  <a:srgbClr val="5A6472"/>
                </a:solidFill>
                <a:latin typeface="Calibri" pitchFamily="34" charset="0"/>
                <a:ea typeface="Calibri" pitchFamily="34" charset="-122"/>
                <a:cs typeface="Calibri" pitchFamily="34" charset="-120"/>
              </a:rPr>
              <a:t>A search for disability returns 19 results, one of which is a scheme — and it is an elderly-persons scheme. Nothing points to the sibling department.</a:t>
            </a:r>
            <a:endParaRPr lang="en-US" sz="1200" dirty="0"/>
          </a:p>
        </p:txBody>
      </p:sp>
      <p:sp>
        <p:nvSpPr>
          <p:cNvPr id="29" name="Text 27"/>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§3, diagnoses D1–D9. Four further diagnoses — D2, D5, D8, D9 — are set out in the full review.</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THREE JOURNEYS</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Three People, on the Site as It Stands Today</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Traced against the live site on 20 August 2026. Each figure is the one the review recorded for that person.</a:t>
            </a:r>
            <a:endParaRPr lang="en-US" sz="1300" dirty="0"/>
          </a:p>
        </p:txBody>
      </p:sp>
      <p:sp>
        <p:nvSpPr>
          <p:cNvPr id="5" name="Shape 3"/>
          <p:cNvSpPr/>
          <p:nvPr/>
        </p:nvSpPr>
        <p:spPr>
          <a:xfrm>
            <a:off x="658368" y="1755648"/>
            <a:ext cx="3429914" cy="4334256"/>
          </a:xfrm>
          <a:prstGeom prst="rect">
            <a:avLst/>
          </a:prstGeom>
          <a:solidFill>
            <a:srgbClr val="FFFFFF"/>
          </a:solidFill>
          <a:ln w="9525">
            <a:solidFill>
              <a:srgbClr val="D8DEE7"/>
            </a:solidFill>
            <a:prstDash val="solid"/>
          </a:ln>
        </p:spPr>
      </p:sp>
      <p:sp>
        <p:nvSpPr>
          <p:cNvPr id="6" name="Text 4"/>
          <p:cNvSpPr txBox="1"/>
          <p:nvPr/>
        </p:nvSpPr>
        <p:spPr>
          <a:xfrm>
            <a:off x="932688" y="1993392"/>
            <a:ext cx="2881274" cy="310896"/>
          </a:xfrm>
          <a:prstGeom prst="rect">
            <a:avLst/>
          </a:prstGeom>
          <a:noFill/>
          <a:ln/>
        </p:spPr>
        <p:txBody>
          <a:bodyPr wrap="square" lIns="0" tIns="0" rIns="0" bIns="0" rtlCol="0" anchor="ctr"/>
          <a:lstStyle/>
          <a:p>
            <a:pPr indent="0" marL="0">
              <a:buNone/>
            </a:pPr>
            <a:r>
              <a:rPr lang="en-US" sz="2000" b="1" dirty="0">
                <a:solidFill>
                  <a:srgbClr val="003366"/>
                </a:solidFill>
                <a:latin typeface="Cambria" pitchFamily="34" charset="0"/>
                <a:ea typeface="Cambria" pitchFamily="34" charset="-122"/>
                <a:cs typeface="Cambria" pitchFamily="34" charset="-120"/>
              </a:rPr>
              <a:t>Meena, 17</a:t>
            </a:r>
            <a:endParaRPr lang="en-US" sz="2000" dirty="0"/>
          </a:p>
        </p:txBody>
      </p:sp>
      <p:sp>
        <p:nvSpPr>
          <p:cNvPr id="7" name="Text 5"/>
          <p:cNvSpPr txBox="1"/>
          <p:nvPr/>
        </p:nvSpPr>
        <p:spPr>
          <a:xfrm>
            <a:off x="932688" y="2322576"/>
            <a:ext cx="2881274" cy="292608"/>
          </a:xfrm>
          <a:prstGeom prst="rect">
            <a:avLst/>
          </a:prstGeom>
          <a:noFill/>
          <a:ln/>
        </p:spPr>
        <p:txBody>
          <a:bodyPr wrap="square" lIns="0" tIns="0" rIns="0" bIns="0" rtlCol="0" anchor="ctr"/>
          <a:lstStyle/>
          <a:p>
            <a:pPr indent="0" marL="0">
              <a:lnSpc>
                <a:spcPct val="110000"/>
              </a:lnSpc>
              <a:buNone/>
            </a:pPr>
            <a:r>
              <a:rPr lang="en-US" sz="1150" dirty="0">
                <a:solidFill>
                  <a:srgbClr val="5A6472"/>
                </a:solidFill>
                <a:latin typeface="Calibri" pitchFamily="34" charset="0"/>
                <a:ea typeface="Calibri" pitchFamily="34" charset="-122"/>
                <a:cs typeface="Calibri" pitchFamily="34" charset="-120"/>
              </a:rPr>
              <a:t>Scheduled Caste, class 12, small town</a:t>
            </a:r>
            <a:endParaRPr lang="en-US" sz="1150" dirty="0"/>
          </a:p>
        </p:txBody>
      </p:sp>
      <p:sp>
        <p:nvSpPr>
          <p:cNvPr id="8" name="Shape 6"/>
          <p:cNvSpPr/>
          <p:nvPr/>
        </p:nvSpPr>
        <p:spPr>
          <a:xfrm>
            <a:off x="932688" y="2688336"/>
            <a:ext cx="2881274" cy="0"/>
          </a:xfrm>
          <a:prstGeom prst="line">
            <a:avLst/>
          </a:prstGeom>
          <a:noFill/>
          <a:ln w="9525">
            <a:solidFill>
              <a:srgbClr val="D8DEE7"/>
            </a:solidFill>
            <a:prstDash val="solid"/>
          </a:ln>
        </p:spPr>
      </p:sp>
      <p:sp>
        <p:nvSpPr>
          <p:cNvPr id="9" name="Text 7"/>
          <p:cNvSpPr txBox="1"/>
          <p:nvPr/>
        </p:nvSpPr>
        <p:spPr>
          <a:xfrm>
            <a:off x="932688" y="2779776"/>
            <a:ext cx="2881274" cy="603504"/>
          </a:xfrm>
          <a:prstGeom prst="rect">
            <a:avLst/>
          </a:prstGeom>
          <a:noFill/>
          <a:ln/>
        </p:spPr>
        <p:txBody>
          <a:bodyPr wrap="square" lIns="0" tIns="0" rIns="0" bIns="0" rtlCol="0" anchor="ctr"/>
          <a:lstStyle/>
          <a:p>
            <a:pPr indent="0" marL="0">
              <a:buNone/>
            </a:pPr>
            <a:r>
              <a:rPr lang="en-US" sz="3800" b="1" dirty="0">
                <a:solidFill>
                  <a:srgbClr val="9A3412"/>
                </a:solidFill>
                <a:latin typeface="Cambria" pitchFamily="34" charset="0"/>
                <a:ea typeface="Cambria" pitchFamily="34" charset="-122"/>
                <a:cs typeface="Cambria" pitchFamily="34" charset="-120"/>
              </a:rPr>
              <a:t>8</a:t>
            </a:r>
            <a:endParaRPr lang="en-US" sz="3800" dirty="0"/>
          </a:p>
        </p:txBody>
      </p:sp>
      <p:sp>
        <p:nvSpPr>
          <p:cNvPr id="10" name="Text 8"/>
          <p:cNvSpPr txBox="1"/>
          <p:nvPr/>
        </p:nvSpPr>
        <p:spPr>
          <a:xfrm>
            <a:off x="932688" y="3364992"/>
            <a:ext cx="2881274"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steps, and two dead ends</a:t>
            </a:r>
            <a:endParaRPr lang="en-US" sz="1200" dirty="0"/>
          </a:p>
        </p:txBody>
      </p:sp>
      <p:sp>
        <p:nvSpPr>
          <p:cNvPr id="11" name="Text 9"/>
          <p:cNvSpPr txBox="1"/>
          <p:nvPr/>
        </p:nvSpPr>
        <p:spPr>
          <a:xfrm>
            <a:off x="932688" y="3712464"/>
            <a:ext cx="2881274" cy="1517904"/>
          </a:xfrm>
          <a:prstGeom prst="rect">
            <a:avLst/>
          </a:prstGeom>
          <a:noFill/>
          <a:ln/>
        </p:spPr>
        <p:txBody>
          <a:bodyPr wrap="square" lIns="0" tIns="0" rIns="0" bIns="0" rtlCol="0" anchor="ctr"/>
          <a:lstStyle/>
          <a:p>
            <a:pPr indent="0" marL="0">
              <a:lnSpc>
                <a:spcPct val="122000"/>
              </a:lnSpc>
              <a:buNone/>
            </a:pPr>
            <a:r>
              <a:rPr lang="en-US" sz="1150" dirty="0">
                <a:solidFill>
                  <a:srgbClr val="1A1A1A"/>
                </a:solidFill>
                <a:latin typeface="Calibri" pitchFamily="34" charset="0"/>
                <a:ea typeface="Calibri" pitchFamily="34" charset="-122"/>
                <a:cs typeface="Calibri" pitchFamily="34" charset="-120"/>
              </a:rPr>
              <a:t>Filters Target Group = Scheduled Castes and gets five results, none of them a scholarship. Filters Students instead and gets 51, central and state mixed, unsorted. Opens Post-Matric Scholarship and finds administrative prose with no apply button.</a:t>
            </a:r>
            <a:endParaRPr lang="en-US" sz="1150" dirty="0"/>
          </a:p>
        </p:txBody>
      </p:sp>
      <p:sp>
        <p:nvSpPr>
          <p:cNvPr id="12" name="Shape 10"/>
          <p:cNvSpPr/>
          <p:nvPr/>
        </p:nvSpPr>
        <p:spPr>
          <a:xfrm>
            <a:off x="932688" y="5285232"/>
            <a:ext cx="2881274" cy="0"/>
          </a:xfrm>
          <a:prstGeom prst="line">
            <a:avLst/>
          </a:prstGeom>
          <a:noFill/>
          <a:ln w="9525">
            <a:solidFill>
              <a:srgbClr val="D8DEE7"/>
            </a:solidFill>
            <a:prstDash val="solid"/>
          </a:ln>
        </p:spPr>
      </p:sp>
      <p:sp>
        <p:nvSpPr>
          <p:cNvPr id="13" name="Text 11"/>
          <p:cNvSpPr txBox="1"/>
          <p:nvPr/>
        </p:nvSpPr>
        <p:spPr>
          <a:xfrm>
            <a:off x="932688" y="5358384"/>
            <a:ext cx="2881274" cy="182880"/>
          </a:xfrm>
          <a:prstGeom prst="rect">
            <a:avLst/>
          </a:prstGeom>
          <a:noFill/>
          <a:ln/>
        </p:spPr>
        <p:txBody>
          <a:bodyPr wrap="square" lIns="0" tIns="0" rIns="0" bIns="0" rtlCol="0" anchor="ctr"/>
          <a:lstStyle/>
          <a:p>
            <a:pPr indent="0" marL="0">
              <a:buNone/>
            </a:pPr>
            <a:r>
              <a:rPr lang="en-US" sz="900" b="1" spc="110" kern="0" dirty="0">
                <a:solidFill>
                  <a:srgbClr val="5A6472"/>
                </a:solidFill>
                <a:latin typeface="Calibri" pitchFamily="34" charset="0"/>
                <a:ea typeface="Calibri" pitchFamily="34" charset="-122"/>
                <a:cs typeface="Calibri" pitchFamily="34" charset="-120"/>
              </a:rPr>
              <a:t>OUTCOME</a:t>
            </a:r>
            <a:endParaRPr lang="en-US" sz="900" dirty="0"/>
          </a:p>
        </p:txBody>
      </p:sp>
      <p:sp>
        <p:nvSpPr>
          <p:cNvPr id="14" name="Text 12"/>
          <p:cNvSpPr txBox="1"/>
          <p:nvPr/>
        </p:nvSpPr>
        <p:spPr>
          <a:xfrm>
            <a:off x="932688" y="5541264"/>
            <a:ext cx="2881274" cy="347472"/>
          </a:xfrm>
          <a:prstGeom prst="rect">
            <a:avLst/>
          </a:prstGeom>
          <a:noFill/>
          <a:ln/>
        </p:spPr>
        <p:txBody>
          <a:bodyPr wrap="square" lIns="0" tIns="0" rIns="0" bIns="0" rtlCol="0" anchor="ctr"/>
          <a:lstStyle/>
          <a:p>
            <a:pPr indent="0" marL="0">
              <a:lnSpc>
                <a:spcPct val="110000"/>
              </a:lnSpc>
              <a:buNone/>
            </a:pPr>
            <a:r>
              <a:rPr lang="en-US" sz="1250" b="1" dirty="0">
                <a:solidFill>
                  <a:srgbClr val="9A3412"/>
                </a:solidFill>
                <a:latin typeface="Calibri" pitchFamily="34" charset="0"/>
                <a:ea typeface="Calibri" pitchFamily="34" charset="-122"/>
                <a:cs typeface="Calibri" pitchFamily="34" charset="-120"/>
              </a:rPr>
              <a:t>Abandons; asks the cyber-café operator</a:t>
            </a:r>
            <a:endParaRPr lang="en-US" sz="1250" dirty="0"/>
          </a:p>
        </p:txBody>
      </p:sp>
      <p:sp>
        <p:nvSpPr>
          <p:cNvPr id="15" name="Shape 13"/>
          <p:cNvSpPr/>
          <p:nvPr/>
        </p:nvSpPr>
        <p:spPr>
          <a:xfrm>
            <a:off x="4380890" y="1755648"/>
            <a:ext cx="3429914" cy="4334256"/>
          </a:xfrm>
          <a:prstGeom prst="rect">
            <a:avLst/>
          </a:prstGeom>
          <a:solidFill>
            <a:srgbClr val="FFFFFF"/>
          </a:solidFill>
          <a:ln w="9525">
            <a:solidFill>
              <a:srgbClr val="D8DEE7"/>
            </a:solidFill>
            <a:prstDash val="solid"/>
          </a:ln>
        </p:spPr>
      </p:sp>
      <p:sp>
        <p:nvSpPr>
          <p:cNvPr id="16" name="Text 14"/>
          <p:cNvSpPr txBox="1"/>
          <p:nvPr/>
        </p:nvSpPr>
        <p:spPr>
          <a:xfrm>
            <a:off x="4655210" y="1993392"/>
            <a:ext cx="2881274" cy="310896"/>
          </a:xfrm>
          <a:prstGeom prst="rect">
            <a:avLst/>
          </a:prstGeom>
          <a:noFill/>
          <a:ln/>
        </p:spPr>
        <p:txBody>
          <a:bodyPr wrap="square" lIns="0" tIns="0" rIns="0" bIns="0" rtlCol="0" anchor="ctr"/>
          <a:lstStyle/>
          <a:p>
            <a:pPr indent="0" marL="0">
              <a:buNone/>
            </a:pPr>
            <a:r>
              <a:rPr lang="en-US" sz="2000" b="1" dirty="0">
                <a:solidFill>
                  <a:srgbClr val="003366"/>
                </a:solidFill>
                <a:latin typeface="Cambria" pitchFamily="34" charset="0"/>
                <a:ea typeface="Cambria" pitchFamily="34" charset="-122"/>
                <a:cs typeface="Cambria" pitchFamily="34" charset="-120"/>
              </a:rPr>
              <a:t>Ramesh, 42</a:t>
            </a:r>
            <a:endParaRPr lang="en-US" sz="2000" dirty="0"/>
          </a:p>
        </p:txBody>
      </p:sp>
      <p:sp>
        <p:nvSpPr>
          <p:cNvPr id="17" name="Text 15"/>
          <p:cNvSpPr txBox="1"/>
          <p:nvPr/>
        </p:nvSpPr>
        <p:spPr>
          <a:xfrm>
            <a:off x="4655210" y="2322576"/>
            <a:ext cx="2881274" cy="292608"/>
          </a:xfrm>
          <a:prstGeom prst="rect">
            <a:avLst/>
          </a:prstGeom>
          <a:noFill/>
          <a:ln/>
        </p:spPr>
        <p:txBody>
          <a:bodyPr wrap="square" lIns="0" tIns="0" rIns="0" bIns="0" rtlCol="0" anchor="ctr"/>
          <a:lstStyle/>
          <a:p>
            <a:pPr indent="0" marL="0">
              <a:lnSpc>
                <a:spcPct val="110000"/>
              </a:lnSpc>
              <a:buNone/>
            </a:pPr>
            <a:r>
              <a:rPr lang="en-US" sz="1150" dirty="0">
                <a:solidFill>
                  <a:srgbClr val="5A6472"/>
                </a:solidFill>
                <a:latin typeface="Calibri" pitchFamily="34" charset="0"/>
                <a:ea typeface="Calibri" pitchFamily="34" charset="-122"/>
                <a:cs typeface="Calibri" pitchFamily="34" charset="-120"/>
              </a:rPr>
              <a:t>Sewer worker seeking rehabilitation finance</a:t>
            </a:r>
            <a:endParaRPr lang="en-US" sz="1150" dirty="0"/>
          </a:p>
        </p:txBody>
      </p:sp>
      <p:sp>
        <p:nvSpPr>
          <p:cNvPr id="18" name="Shape 16"/>
          <p:cNvSpPr/>
          <p:nvPr/>
        </p:nvSpPr>
        <p:spPr>
          <a:xfrm>
            <a:off x="4655210" y="2688336"/>
            <a:ext cx="2881274" cy="0"/>
          </a:xfrm>
          <a:prstGeom prst="line">
            <a:avLst/>
          </a:prstGeom>
          <a:noFill/>
          <a:ln w="9525">
            <a:solidFill>
              <a:srgbClr val="D8DEE7"/>
            </a:solidFill>
            <a:prstDash val="solid"/>
          </a:ln>
        </p:spPr>
      </p:sp>
      <p:sp>
        <p:nvSpPr>
          <p:cNvPr id="19" name="Text 17"/>
          <p:cNvSpPr txBox="1"/>
          <p:nvPr/>
        </p:nvSpPr>
        <p:spPr>
          <a:xfrm>
            <a:off x="4655210" y="2779776"/>
            <a:ext cx="2881274" cy="603504"/>
          </a:xfrm>
          <a:prstGeom prst="rect">
            <a:avLst/>
          </a:prstGeom>
          <a:noFill/>
          <a:ln/>
        </p:spPr>
        <p:txBody>
          <a:bodyPr wrap="square" lIns="0" tIns="0" rIns="0" bIns="0" rtlCol="0" anchor="ctr"/>
          <a:lstStyle/>
          <a:p>
            <a:pPr indent="0" marL="0">
              <a:buNone/>
            </a:pPr>
            <a:r>
              <a:rPr lang="en-US" sz="3800" b="1" dirty="0">
                <a:solidFill>
                  <a:srgbClr val="9A3412"/>
                </a:solidFill>
                <a:latin typeface="Cambria" pitchFamily="34" charset="0"/>
                <a:ea typeface="Cambria" pitchFamily="34" charset="-122"/>
                <a:cs typeface="Cambria" pitchFamily="34" charset="-120"/>
              </a:rPr>
              <a:t>0</a:t>
            </a:r>
            <a:endParaRPr lang="en-US" sz="3800" dirty="0"/>
          </a:p>
        </p:txBody>
      </p:sp>
      <p:sp>
        <p:nvSpPr>
          <p:cNvPr id="20" name="Text 18"/>
          <p:cNvSpPr txBox="1"/>
          <p:nvPr/>
        </p:nvSpPr>
        <p:spPr>
          <a:xfrm>
            <a:off x="4655210" y="3364992"/>
            <a:ext cx="2881274"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facets describe him</a:t>
            </a:r>
            <a:endParaRPr lang="en-US" sz="1200" dirty="0"/>
          </a:p>
        </p:txBody>
      </p:sp>
      <p:sp>
        <p:nvSpPr>
          <p:cNvPr id="21" name="Text 19"/>
          <p:cNvSpPr txBox="1"/>
          <p:nvPr/>
        </p:nvSpPr>
        <p:spPr>
          <a:xfrm>
            <a:off x="4655210" y="3712464"/>
            <a:ext cx="2881274" cy="1517904"/>
          </a:xfrm>
          <a:prstGeom prst="rect">
            <a:avLst/>
          </a:prstGeom>
          <a:noFill/>
          <a:ln/>
        </p:spPr>
        <p:txBody>
          <a:bodyPr wrap="square" lIns="0" tIns="0" rIns="0" bIns="0" rtlCol="0" anchor="ctr"/>
          <a:lstStyle/>
          <a:p>
            <a:pPr indent="0" marL="0">
              <a:lnSpc>
                <a:spcPct val="122000"/>
              </a:lnSpc>
              <a:buNone/>
            </a:pPr>
            <a:r>
              <a:rPr lang="en-US" sz="1150" dirty="0">
                <a:solidFill>
                  <a:srgbClr val="1A1A1A"/>
                </a:solidFill>
                <a:latin typeface="Calibri" pitchFamily="34" charset="0"/>
                <a:ea typeface="Calibri" pitchFamily="34" charset="-122"/>
                <a:cs typeface="Calibri" pitchFamily="34" charset="-120"/>
              </a:rPr>
              <a:t>Sanitation Workers is the closest facet and returns 18 results, including a status page frozen at 30 April 2018 and three duplicate NAMASTE guideline records. The NSKFDC loan route is described inside an organisation page reachable only from the organisations menu.</a:t>
            </a:r>
            <a:endParaRPr lang="en-US" sz="1150" dirty="0"/>
          </a:p>
        </p:txBody>
      </p:sp>
      <p:sp>
        <p:nvSpPr>
          <p:cNvPr id="22" name="Shape 20"/>
          <p:cNvSpPr/>
          <p:nvPr/>
        </p:nvSpPr>
        <p:spPr>
          <a:xfrm>
            <a:off x="4655210" y="5285232"/>
            <a:ext cx="2881274" cy="0"/>
          </a:xfrm>
          <a:prstGeom prst="line">
            <a:avLst/>
          </a:prstGeom>
          <a:noFill/>
          <a:ln w="9525">
            <a:solidFill>
              <a:srgbClr val="D8DEE7"/>
            </a:solidFill>
            <a:prstDash val="solid"/>
          </a:ln>
        </p:spPr>
      </p:sp>
      <p:sp>
        <p:nvSpPr>
          <p:cNvPr id="23" name="Text 21"/>
          <p:cNvSpPr txBox="1"/>
          <p:nvPr/>
        </p:nvSpPr>
        <p:spPr>
          <a:xfrm>
            <a:off x="4655210" y="5358384"/>
            <a:ext cx="2881274" cy="182880"/>
          </a:xfrm>
          <a:prstGeom prst="rect">
            <a:avLst/>
          </a:prstGeom>
          <a:noFill/>
          <a:ln/>
        </p:spPr>
        <p:txBody>
          <a:bodyPr wrap="square" lIns="0" tIns="0" rIns="0" bIns="0" rtlCol="0" anchor="ctr"/>
          <a:lstStyle/>
          <a:p>
            <a:pPr indent="0" marL="0">
              <a:buNone/>
            </a:pPr>
            <a:r>
              <a:rPr lang="en-US" sz="900" b="1" spc="110" kern="0" dirty="0">
                <a:solidFill>
                  <a:srgbClr val="5A6472"/>
                </a:solidFill>
                <a:latin typeface="Calibri" pitchFamily="34" charset="0"/>
                <a:ea typeface="Calibri" pitchFamily="34" charset="-122"/>
                <a:cs typeface="Calibri" pitchFamily="34" charset="-120"/>
              </a:rPr>
              <a:t>OUTCOME</a:t>
            </a:r>
            <a:endParaRPr lang="en-US" sz="900" dirty="0"/>
          </a:p>
        </p:txBody>
      </p:sp>
      <p:sp>
        <p:nvSpPr>
          <p:cNvPr id="24" name="Text 22"/>
          <p:cNvSpPr txBox="1"/>
          <p:nvPr/>
        </p:nvSpPr>
        <p:spPr>
          <a:xfrm>
            <a:off x="4655210" y="5541264"/>
            <a:ext cx="2881274" cy="347472"/>
          </a:xfrm>
          <a:prstGeom prst="rect">
            <a:avLst/>
          </a:prstGeom>
          <a:noFill/>
          <a:ln/>
        </p:spPr>
        <p:txBody>
          <a:bodyPr wrap="square" lIns="0" tIns="0" rIns="0" bIns="0" rtlCol="0" anchor="ctr"/>
          <a:lstStyle/>
          <a:p>
            <a:pPr indent="0" marL="0">
              <a:lnSpc>
                <a:spcPct val="110000"/>
              </a:lnSpc>
              <a:buNone/>
            </a:pPr>
            <a:r>
              <a:rPr lang="en-US" sz="1250" b="1" dirty="0">
                <a:solidFill>
                  <a:srgbClr val="9A3412"/>
                </a:solidFill>
                <a:latin typeface="Calibri" pitchFamily="34" charset="0"/>
                <a:ea typeface="Calibri" pitchFamily="34" charset="-122"/>
                <a:cs typeface="Calibri" pitchFamily="34" charset="-120"/>
              </a:rPr>
              <a:t>The loan route is unreachable</a:t>
            </a:r>
            <a:endParaRPr lang="en-US" sz="1250" dirty="0"/>
          </a:p>
        </p:txBody>
      </p:sp>
      <p:sp>
        <p:nvSpPr>
          <p:cNvPr id="25" name="Shape 23"/>
          <p:cNvSpPr/>
          <p:nvPr/>
        </p:nvSpPr>
        <p:spPr>
          <a:xfrm>
            <a:off x="8103413" y="1755648"/>
            <a:ext cx="3429914" cy="4334256"/>
          </a:xfrm>
          <a:prstGeom prst="rect">
            <a:avLst/>
          </a:prstGeom>
          <a:solidFill>
            <a:srgbClr val="FFFFFF"/>
          </a:solidFill>
          <a:ln w="9525">
            <a:solidFill>
              <a:srgbClr val="D8DEE7"/>
            </a:solidFill>
            <a:prstDash val="solid"/>
          </a:ln>
        </p:spPr>
      </p:sp>
      <p:sp>
        <p:nvSpPr>
          <p:cNvPr id="26" name="Text 24"/>
          <p:cNvSpPr txBox="1"/>
          <p:nvPr/>
        </p:nvSpPr>
        <p:spPr>
          <a:xfrm>
            <a:off x="8377733" y="1993392"/>
            <a:ext cx="2881274" cy="310896"/>
          </a:xfrm>
          <a:prstGeom prst="rect">
            <a:avLst/>
          </a:prstGeom>
          <a:noFill/>
          <a:ln/>
        </p:spPr>
        <p:txBody>
          <a:bodyPr wrap="square" lIns="0" tIns="0" rIns="0" bIns="0" rtlCol="0" anchor="ctr"/>
          <a:lstStyle/>
          <a:p>
            <a:pPr indent="0" marL="0">
              <a:buNone/>
            </a:pPr>
            <a:r>
              <a:rPr lang="en-US" sz="2000" b="1" dirty="0">
                <a:solidFill>
                  <a:srgbClr val="003366"/>
                </a:solidFill>
                <a:latin typeface="Cambria" pitchFamily="34" charset="0"/>
                <a:ea typeface="Cambria" pitchFamily="34" charset="-122"/>
                <a:cs typeface="Cambria" pitchFamily="34" charset="-120"/>
              </a:rPr>
              <a:t>Lata, 34</a:t>
            </a:r>
            <a:endParaRPr lang="en-US" sz="2000" dirty="0"/>
          </a:p>
        </p:txBody>
      </p:sp>
      <p:sp>
        <p:nvSpPr>
          <p:cNvPr id="27" name="Text 25"/>
          <p:cNvSpPr txBox="1"/>
          <p:nvPr/>
        </p:nvSpPr>
        <p:spPr>
          <a:xfrm>
            <a:off x="8377733" y="2322576"/>
            <a:ext cx="2881274" cy="292608"/>
          </a:xfrm>
          <a:prstGeom prst="rect">
            <a:avLst/>
          </a:prstGeom>
          <a:noFill/>
          <a:ln/>
        </p:spPr>
        <p:txBody>
          <a:bodyPr wrap="square" lIns="0" tIns="0" rIns="0" bIns="0" rtlCol="0" anchor="ctr"/>
          <a:lstStyle/>
          <a:p>
            <a:pPr indent="0" marL="0">
              <a:lnSpc>
                <a:spcPct val="110000"/>
              </a:lnSpc>
              <a:buNone/>
            </a:pPr>
            <a:r>
              <a:rPr lang="en-US" sz="1150" dirty="0">
                <a:solidFill>
                  <a:srgbClr val="5A6472"/>
                </a:solidFill>
                <a:latin typeface="Calibri" pitchFamily="34" charset="0"/>
                <a:ea typeface="Calibri" pitchFamily="34" charset="-122"/>
                <a:cs typeface="Calibri" pitchFamily="34" charset="-120"/>
              </a:rPr>
              <a:t>Caring for her mother, aged 71</a:t>
            </a:r>
            <a:endParaRPr lang="en-US" sz="1150" dirty="0"/>
          </a:p>
        </p:txBody>
      </p:sp>
      <p:sp>
        <p:nvSpPr>
          <p:cNvPr id="28" name="Shape 26"/>
          <p:cNvSpPr/>
          <p:nvPr/>
        </p:nvSpPr>
        <p:spPr>
          <a:xfrm>
            <a:off x="8377733" y="2688336"/>
            <a:ext cx="2881274" cy="0"/>
          </a:xfrm>
          <a:prstGeom prst="line">
            <a:avLst/>
          </a:prstGeom>
          <a:noFill/>
          <a:ln w="9525">
            <a:solidFill>
              <a:srgbClr val="D8DEE7"/>
            </a:solidFill>
            <a:prstDash val="solid"/>
          </a:ln>
        </p:spPr>
      </p:sp>
      <p:sp>
        <p:nvSpPr>
          <p:cNvPr id="29" name="Text 27"/>
          <p:cNvSpPr txBox="1"/>
          <p:nvPr/>
        </p:nvSpPr>
        <p:spPr>
          <a:xfrm>
            <a:off x="8377733" y="2779776"/>
            <a:ext cx="2881274" cy="603504"/>
          </a:xfrm>
          <a:prstGeom prst="rect">
            <a:avLst/>
          </a:prstGeom>
          <a:noFill/>
          <a:ln/>
        </p:spPr>
        <p:txBody>
          <a:bodyPr wrap="square" lIns="0" tIns="0" rIns="0" bIns="0" rtlCol="0" anchor="ctr"/>
          <a:lstStyle/>
          <a:p>
            <a:pPr indent="0" marL="0">
              <a:buNone/>
            </a:pPr>
            <a:r>
              <a:rPr lang="en-US" sz="3800" b="1" dirty="0">
                <a:solidFill>
                  <a:srgbClr val="9A3412"/>
                </a:solidFill>
                <a:latin typeface="Cambria" pitchFamily="34" charset="0"/>
                <a:ea typeface="Cambria" pitchFamily="34" charset="-122"/>
                <a:cs typeface="Cambria" pitchFamily="34" charset="-120"/>
              </a:rPr>
              <a:t>0</a:t>
            </a:r>
            <a:endParaRPr lang="en-US" sz="3800" dirty="0"/>
          </a:p>
        </p:txBody>
      </p:sp>
      <p:sp>
        <p:nvSpPr>
          <p:cNvPr id="30" name="Text 28"/>
          <p:cNvSpPr txBox="1"/>
          <p:nvPr/>
        </p:nvSpPr>
        <p:spPr>
          <a:xfrm>
            <a:off x="8377733" y="3364992"/>
            <a:ext cx="2881274"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mentions of senior in the navigation</a:t>
            </a:r>
            <a:endParaRPr lang="en-US" sz="1200" dirty="0"/>
          </a:p>
        </p:txBody>
      </p:sp>
      <p:sp>
        <p:nvSpPr>
          <p:cNvPr id="31" name="Text 29"/>
          <p:cNvSpPr txBox="1"/>
          <p:nvPr/>
        </p:nvSpPr>
        <p:spPr>
          <a:xfrm>
            <a:off x="8377733" y="3712464"/>
            <a:ext cx="2881274" cy="1517904"/>
          </a:xfrm>
          <a:prstGeom prst="rect">
            <a:avLst/>
          </a:prstGeom>
          <a:noFill/>
          <a:ln/>
        </p:spPr>
        <p:txBody>
          <a:bodyPr wrap="square" lIns="0" tIns="0" rIns="0" bIns="0" rtlCol="0" anchor="ctr"/>
          <a:lstStyle/>
          <a:p>
            <a:pPr indent="0" marL="0">
              <a:lnSpc>
                <a:spcPct val="122000"/>
              </a:lnSpc>
              <a:buNone/>
            </a:pPr>
            <a:r>
              <a:rPr lang="en-US" sz="1150" dirty="0">
                <a:solidFill>
                  <a:srgbClr val="1A1A1A"/>
                </a:solidFill>
                <a:latin typeface="Calibri" pitchFamily="34" charset="0"/>
                <a:ea typeface="Calibri" pitchFamily="34" charset="-122"/>
                <a:cs typeface="Calibri" pitchFamily="34" charset="-120"/>
              </a:rPr>
              <a:t>Her mother's schemes sit under Social Defence in the footer and under the acronym SCW in the organisations menu. Elderline is a scheme record, not a telephone number on any page she will reach.</a:t>
            </a:r>
            <a:endParaRPr lang="en-US" sz="1150" dirty="0"/>
          </a:p>
        </p:txBody>
      </p:sp>
      <p:sp>
        <p:nvSpPr>
          <p:cNvPr id="32" name="Shape 30"/>
          <p:cNvSpPr/>
          <p:nvPr/>
        </p:nvSpPr>
        <p:spPr>
          <a:xfrm>
            <a:off x="8377733" y="5285232"/>
            <a:ext cx="2881274" cy="0"/>
          </a:xfrm>
          <a:prstGeom prst="line">
            <a:avLst/>
          </a:prstGeom>
          <a:noFill/>
          <a:ln w="9525">
            <a:solidFill>
              <a:srgbClr val="D8DEE7"/>
            </a:solidFill>
            <a:prstDash val="solid"/>
          </a:ln>
        </p:spPr>
      </p:sp>
      <p:sp>
        <p:nvSpPr>
          <p:cNvPr id="33" name="Text 31"/>
          <p:cNvSpPr txBox="1"/>
          <p:nvPr/>
        </p:nvSpPr>
        <p:spPr>
          <a:xfrm>
            <a:off x="8377733" y="5358384"/>
            <a:ext cx="2881274" cy="182880"/>
          </a:xfrm>
          <a:prstGeom prst="rect">
            <a:avLst/>
          </a:prstGeom>
          <a:noFill/>
          <a:ln/>
        </p:spPr>
        <p:txBody>
          <a:bodyPr wrap="square" lIns="0" tIns="0" rIns="0" bIns="0" rtlCol="0" anchor="ctr"/>
          <a:lstStyle/>
          <a:p>
            <a:pPr indent="0" marL="0">
              <a:buNone/>
            </a:pPr>
            <a:r>
              <a:rPr lang="en-US" sz="900" b="1" spc="110" kern="0" dirty="0">
                <a:solidFill>
                  <a:srgbClr val="5A6472"/>
                </a:solidFill>
                <a:latin typeface="Calibri" pitchFamily="34" charset="0"/>
                <a:ea typeface="Calibri" pitchFamily="34" charset="-122"/>
                <a:cs typeface="Calibri" pitchFamily="34" charset="-120"/>
              </a:rPr>
              <a:t>OUTCOME</a:t>
            </a:r>
            <a:endParaRPr lang="en-US" sz="900" dirty="0"/>
          </a:p>
        </p:txBody>
      </p:sp>
      <p:sp>
        <p:nvSpPr>
          <p:cNvPr id="34" name="Text 32"/>
          <p:cNvSpPr txBox="1"/>
          <p:nvPr/>
        </p:nvSpPr>
        <p:spPr>
          <a:xfrm>
            <a:off x="8377733" y="5541264"/>
            <a:ext cx="2881274" cy="347472"/>
          </a:xfrm>
          <a:prstGeom prst="rect">
            <a:avLst/>
          </a:prstGeom>
          <a:noFill/>
          <a:ln/>
        </p:spPr>
        <p:txBody>
          <a:bodyPr wrap="square" lIns="0" tIns="0" rIns="0" bIns="0" rtlCol="0" anchor="ctr"/>
          <a:lstStyle/>
          <a:p>
            <a:pPr indent="0" marL="0">
              <a:lnSpc>
                <a:spcPct val="110000"/>
              </a:lnSpc>
              <a:buNone/>
            </a:pPr>
            <a:r>
              <a:rPr lang="en-US" sz="1250" b="1" dirty="0">
                <a:solidFill>
                  <a:srgbClr val="9A3412"/>
                </a:solidFill>
                <a:latin typeface="Calibri" pitchFamily="34" charset="0"/>
                <a:ea typeface="Calibri" pitchFamily="34" charset="-122"/>
                <a:cs typeface="Calibri" pitchFamily="34" charset="-120"/>
              </a:rPr>
              <a:t>Never reaches Elderline</a:t>
            </a:r>
            <a:endParaRPr lang="en-US" sz="1250" dirty="0"/>
          </a:p>
        </p:txBody>
      </p:sp>
      <p:sp>
        <p:nvSpPr>
          <p:cNvPr id="35" name="Text 33"/>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§4.1 and §3. Step counts are recorded in the review for Meena only; the other two figures are the ones §4.1 and D4 state for them.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3366"/>
        </a:solidFill>
      </p:bgPr>
    </p:bg>
    <p:spTree>
      <p:nvGrpSpPr>
        <p:cNvPr id="1" name=""/>
        <p:cNvGrpSpPr/>
        <p:nvPr/>
      </p:nvGrpSpPr>
      <p:grpSpPr>
        <a:xfrm>
          <a:off x="0" y="0"/>
          <a:ext cx="0" cy="0"/>
          <a:chOff x="0" y="0"/>
          <a:chExt cx="0" cy="0"/>
        </a:xfrm>
      </p:grpSpPr>
      <p:sp>
        <p:nvSpPr>
          <p:cNvPr id="2" name="Text 0"/>
          <p:cNvSpPr txBox="1"/>
          <p:nvPr/>
        </p:nvSpPr>
        <p:spPr>
          <a:xfrm>
            <a:off x="658368" y="822960"/>
            <a:ext cx="10874959" cy="237744"/>
          </a:xfrm>
          <a:prstGeom prst="rect">
            <a:avLst/>
          </a:prstGeom>
          <a:noFill/>
          <a:ln/>
        </p:spPr>
        <p:txBody>
          <a:bodyPr wrap="square" lIns="0" tIns="0" rIns="0" bIns="0" rtlCol="0" anchor="ctr"/>
          <a:lstStyle/>
          <a:p>
            <a:pPr indent="0" marL="0">
              <a:buNone/>
            </a:pPr>
            <a:r>
              <a:rPr lang="en-US" sz="1050" b="1" spc="130" kern="0" dirty="0">
                <a:solidFill>
                  <a:srgbClr val="9DB4CC"/>
                </a:solidFill>
                <a:latin typeface="Calibri" pitchFamily="34" charset="0"/>
                <a:ea typeface="Calibri" pitchFamily="34" charset="-122"/>
                <a:cs typeface="Calibri" pitchFamily="34" charset="-120"/>
              </a:rPr>
              <a:t>WHAT IS BEING DECIDED</a:t>
            </a:r>
            <a:endParaRPr lang="en-US" sz="1050" dirty="0"/>
          </a:p>
        </p:txBody>
      </p:sp>
      <p:sp>
        <p:nvSpPr>
          <p:cNvPr id="3" name="Text 1"/>
          <p:cNvSpPr txBox="1"/>
          <p:nvPr/>
        </p:nvSpPr>
        <p:spPr>
          <a:xfrm>
            <a:off x="658368" y="1133856"/>
            <a:ext cx="10874959"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Three Surfaces. Three Decisions.</a:t>
            </a:r>
            <a:endParaRPr lang="en-US" sz="4000" dirty="0"/>
          </a:p>
        </p:txBody>
      </p:sp>
      <p:sp>
        <p:nvSpPr>
          <p:cNvPr id="4" name="Text 2"/>
          <p:cNvSpPr txBox="1"/>
          <p:nvPr/>
        </p:nvSpPr>
        <p:spPr>
          <a:xfrm>
            <a:off x="658368" y="1883664"/>
            <a:ext cx="8778240" cy="457200"/>
          </a:xfrm>
          <a:prstGeom prst="rect">
            <a:avLst/>
          </a:prstGeom>
          <a:noFill/>
          <a:ln/>
        </p:spPr>
        <p:txBody>
          <a:bodyPr wrap="square" lIns="0" tIns="0" rIns="0" bIns="0" rtlCol="0" anchor="ctr"/>
          <a:lstStyle/>
          <a:p>
            <a:pPr indent="0" marL="0">
              <a:lnSpc>
                <a:spcPct val="120000"/>
              </a:lnSpc>
              <a:buNone/>
            </a:pPr>
            <a:r>
              <a:rPr lang="en-US" sz="1400" dirty="0">
                <a:solidFill>
                  <a:srgbClr val="9DB4CC"/>
                </a:solidFill>
                <a:latin typeface="Calibri" pitchFamily="34" charset="0"/>
                <a:ea typeface="Calibri" pitchFamily="34" charset="-122"/>
                <a:cs typeface="Calibri" pitchFamily="34" charset="-120"/>
              </a:rPr>
              <a:t>The design work has been taken to finished screens on each of the three places a citizen begins. Each surface is decided on its own; a choice on one does not settle the others.</a:t>
            </a:r>
            <a:endParaRPr lang="en-US" sz="1400" dirty="0"/>
          </a:p>
        </p:txBody>
      </p:sp>
      <p:sp>
        <p:nvSpPr>
          <p:cNvPr id="5" name="Shape 3"/>
          <p:cNvSpPr/>
          <p:nvPr/>
        </p:nvSpPr>
        <p:spPr>
          <a:xfrm>
            <a:off x="658368" y="2798064"/>
            <a:ext cx="3429914" cy="2798064"/>
          </a:xfrm>
          <a:prstGeom prst="rect">
            <a:avLst/>
          </a:prstGeom>
          <a:solidFill>
            <a:srgbClr val="0A4179"/>
          </a:solidFill>
          <a:ln w="12700">
            <a:solidFill>
              <a:srgbClr val="0A4179"/>
            </a:solidFill>
            <a:prstDash val="solid"/>
          </a:ln>
        </p:spPr>
      </p:sp>
      <p:sp>
        <p:nvSpPr>
          <p:cNvPr id="6" name="Text 4"/>
          <p:cNvSpPr txBox="1"/>
          <p:nvPr/>
        </p:nvSpPr>
        <p:spPr>
          <a:xfrm>
            <a:off x="987552" y="3017520"/>
            <a:ext cx="2771546" cy="676656"/>
          </a:xfrm>
          <a:prstGeom prst="rect">
            <a:avLst/>
          </a:prstGeom>
          <a:noFill/>
          <a:ln/>
        </p:spPr>
        <p:txBody>
          <a:bodyPr wrap="square" lIns="0" tIns="0" rIns="0" bIns="0" rtlCol="0" anchor="ctr"/>
          <a:lstStyle/>
          <a:p>
            <a:pPr indent="0" marL="0">
              <a:buNone/>
            </a:pPr>
            <a:r>
              <a:rPr lang="en-US" sz="4600" b="1" dirty="0">
                <a:solidFill>
                  <a:srgbClr val="8CC6FB"/>
                </a:solidFill>
                <a:latin typeface="Cambria" pitchFamily="34" charset="0"/>
                <a:ea typeface="Cambria" pitchFamily="34" charset="-122"/>
                <a:cs typeface="Cambria" pitchFamily="34" charset="-120"/>
              </a:rPr>
              <a:t>01</a:t>
            </a:r>
            <a:endParaRPr lang="en-US" sz="4600" dirty="0"/>
          </a:p>
        </p:txBody>
      </p:sp>
      <p:sp>
        <p:nvSpPr>
          <p:cNvPr id="7" name="Text 5"/>
          <p:cNvSpPr txBox="1"/>
          <p:nvPr/>
        </p:nvSpPr>
        <p:spPr>
          <a:xfrm>
            <a:off x="987552" y="3767328"/>
            <a:ext cx="2771546" cy="329184"/>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The Homepage</a:t>
            </a:r>
            <a:endParaRPr lang="en-US" sz="2100" dirty="0"/>
          </a:p>
        </p:txBody>
      </p:sp>
      <p:sp>
        <p:nvSpPr>
          <p:cNvPr id="8" name="Text 6"/>
          <p:cNvSpPr txBox="1"/>
          <p:nvPr/>
        </p:nvSpPr>
        <p:spPr>
          <a:xfrm>
            <a:off x="987552" y="4133088"/>
            <a:ext cx="2771546" cy="219456"/>
          </a:xfrm>
          <a:prstGeom prst="rect">
            <a:avLst/>
          </a:prstGeom>
          <a:noFill/>
          <a:ln/>
        </p:spPr>
        <p:txBody>
          <a:bodyPr wrap="square" lIns="0" tIns="0" rIns="0" bIns="0" rtlCol="0" anchor="ctr"/>
          <a:lstStyle/>
          <a:p>
            <a:pPr indent="0" marL="0">
              <a:buNone/>
            </a:pPr>
            <a:r>
              <a:rPr lang="en-US" sz="1000" b="1" spc="110" kern="0" dirty="0">
                <a:solidFill>
                  <a:srgbClr val="8CC6FB"/>
                </a:solidFill>
                <a:latin typeface="Calibri" pitchFamily="34" charset="0"/>
                <a:ea typeface="Calibri" pitchFamily="34" charset="-122"/>
                <a:cs typeface="Calibri" pitchFamily="34" charset="-120"/>
              </a:rPr>
              <a:t>THREE OPTIONS</a:t>
            </a:r>
            <a:endParaRPr lang="en-US" sz="1000" dirty="0"/>
          </a:p>
        </p:txBody>
      </p:sp>
      <p:sp>
        <p:nvSpPr>
          <p:cNvPr id="9" name="Text 7"/>
          <p:cNvSpPr txBox="1"/>
          <p:nvPr/>
        </p:nvSpPr>
        <p:spPr>
          <a:xfrm>
            <a:off x="987552" y="4443984"/>
            <a:ext cx="2771546" cy="932688"/>
          </a:xfrm>
          <a:prstGeom prst="rect">
            <a:avLst/>
          </a:prstGeom>
          <a:noFill/>
          <a:ln/>
        </p:spPr>
        <p:txBody>
          <a:bodyPr wrap="square" lIns="0" tIns="0" rIns="0" bIns="0" rtlCol="0" anchor="ctr"/>
          <a:lstStyle/>
          <a:p>
            <a:pPr indent="0" marL="0">
              <a:lnSpc>
                <a:spcPct val="120000"/>
              </a:lnSpc>
              <a:buNone/>
            </a:pPr>
            <a:r>
              <a:rPr lang="en-US" sz="1200" dirty="0">
                <a:solidFill>
                  <a:srgbClr val="9DB4CC"/>
                </a:solidFill>
                <a:latin typeface="Calibri" pitchFamily="34" charset="0"/>
                <a:ea typeface="Calibri" pitchFamily="34" charset="-122"/>
                <a:cs typeface="Calibri" pitchFamily="34" charset="-120"/>
              </a:rPr>
              <a:t>Where most first-time visitors arrive. The choice is between recognising yourself, answering five questions, or one tap.</a:t>
            </a:r>
            <a:endParaRPr lang="en-US" sz="1200" dirty="0"/>
          </a:p>
        </p:txBody>
      </p:sp>
      <p:sp>
        <p:nvSpPr>
          <p:cNvPr id="10" name="Shape 8"/>
          <p:cNvSpPr/>
          <p:nvPr/>
        </p:nvSpPr>
        <p:spPr>
          <a:xfrm>
            <a:off x="4380890" y="2798064"/>
            <a:ext cx="3429914" cy="2798064"/>
          </a:xfrm>
          <a:prstGeom prst="rect">
            <a:avLst/>
          </a:prstGeom>
          <a:solidFill>
            <a:srgbClr val="0A4179"/>
          </a:solidFill>
          <a:ln w="12700">
            <a:solidFill>
              <a:srgbClr val="0A4179"/>
            </a:solidFill>
            <a:prstDash val="solid"/>
          </a:ln>
        </p:spPr>
      </p:sp>
      <p:sp>
        <p:nvSpPr>
          <p:cNvPr id="11" name="Text 9"/>
          <p:cNvSpPr txBox="1"/>
          <p:nvPr/>
        </p:nvSpPr>
        <p:spPr>
          <a:xfrm>
            <a:off x="4710074" y="3017520"/>
            <a:ext cx="2771546" cy="676656"/>
          </a:xfrm>
          <a:prstGeom prst="rect">
            <a:avLst/>
          </a:prstGeom>
          <a:noFill/>
          <a:ln/>
        </p:spPr>
        <p:txBody>
          <a:bodyPr wrap="square" lIns="0" tIns="0" rIns="0" bIns="0" rtlCol="0" anchor="ctr"/>
          <a:lstStyle/>
          <a:p>
            <a:pPr indent="0" marL="0">
              <a:buNone/>
            </a:pPr>
            <a:r>
              <a:rPr lang="en-US" sz="4600" b="1" dirty="0">
                <a:solidFill>
                  <a:srgbClr val="8CC6FB"/>
                </a:solidFill>
                <a:latin typeface="Cambria" pitchFamily="34" charset="0"/>
                <a:ea typeface="Cambria" pitchFamily="34" charset="-122"/>
                <a:cs typeface="Cambria" pitchFamily="34" charset="-120"/>
              </a:rPr>
              <a:t>02</a:t>
            </a:r>
            <a:endParaRPr lang="en-US" sz="4600" dirty="0"/>
          </a:p>
        </p:txBody>
      </p:sp>
      <p:sp>
        <p:nvSpPr>
          <p:cNvPr id="12" name="Text 10"/>
          <p:cNvSpPr txBox="1"/>
          <p:nvPr/>
        </p:nvSpPr>
        <p:spPr>
          <a:xfrm>
            <a:off x="4710074" y="3767328"/>
            <a:ext cx="2771546" cy="329184"/>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The Schemes Page</a:t>
            </a:r>
            <a:endParaRPr lang="en-US" sz="2100" dirty="0"/>
          </a:p>
        </p:txBody>
      </p:sp>
      <p:sp>
        <p:nvSpPr>
          <p:cNvPr id="13" name="Text 11"/>
          <p:cNvSpPr txBox="1"/>
          <p:nvPr/>
        </p:nvSpPr>
        <p:spPr>
          <a:xfrm>
            <a:off x="4710074" y="4133088"/>
            <a:ext cx="2771546" cy="219456"/>
          </a:xfrm>
          <a:prstGeom prst="rect">
            <a:avLst/>
          </a:prstGeom>
          <a:noFill/>
          <a:ln/>
        </p:spPr>
        <p:txBody>
          <a:bodyPr wrap="square" lIns="0" tIns="0" rIns="0" bIns="0" rtlCol="0" anchor="ctr"/>
          <a:lstStyle/>
          <a:p>
            <a:pPr indent="0" marL="0">
              <a:buNone/>
            </a:pPr>
            <a:r>
              <a:rPr lang="en-US" sz="1000" b="1" spc="110" kern="0" dirty="0">
                <a:solidFill>
                  <a:srgbClr val="8CC6FB"/>
                </a:solidFill>
                <a:latin typeface="Calibri" pitchFamily="34" charset="0"/>
                <a:ea typeface="Calibri" pitchFamily="34" charset="-122"/>
                <a:cs typeface="Calibri" pitchFamily="34" charset="-120"/>
              </a:rPr>
              <a:t>TWO OPTIONS</a:t>
            </a:r>
            <a:endParaRPr lang="en-US" sz="1000" dirty="0"/>
          </a:p>
        </p:txBody>
      </p:sp>
      <p:sp>
        <p:nvSpPr>
          <p:cNvPr id="14" name="Text 12"/>
          <p:cNvSpPr txBox="1"/>
          <p:nvPr/>
        </p:nvSpPr>
        <p:spPr>
          <a:xfrm>
            <a:off x="4710074" y="4443984"/>
            <a:ext cx="2771546" cy="932688"/>
          </a:xfrm>
          <a:prstGeom prst="rect">
            <a:avLst/>
          </a:prstGeom>
          <a:noFill/>
          <a:ln/>
        </p:spPr>
        <p:txBody>
          <a:bodyPr wrap="square" lIns="0" tIns="0" rIns="0" bIns="0" rtlCol="0" anchor="ctr"/>
          <a:lstStyle/>
          <a:p>
            <a:pPr indent="0" marL="0">
              <a:lnSpc>
                <a:spcPct val="120000"/>
              </a:lnSpc>
              <a:buNone/>
            </a:pPr>
            <a:r>
              <a:rPr lang="en-US" sz="1200" dirty="0">
                <a:solidFill>
                  <a:srgbClr val="9DB4CC"/>
                </a:solidFill>
                <a:latin typeface="Calibri" pitchFamily="34" charset="0"/>
                <a:ea typeface="Calibri" pitchFamily="34" charset="-122"/>
                <a:cs typeface="Calibri" pitchFamily="34" charset="-120"/>
              </a:rPr>
              <a:t>Where a decision gets made and where officers, NGOs and helpline staff work. The choice is between welcome and comparison.</a:t>
            </a:r>
            <a:endParaRPr lang="en-US" sz="1200" dirty="0"/>
          </a:p>
        </p:txBody>
      </p:sp>
      <p:sp>
        <p:nvSpPr>
          <p:cNvPr id="15" name="Shape 13"/>
          <p:cNvSpPr/>
          <p:nvPr/>
        </p:nvSpPr>
        <p:spPr>
          <a:xfrm>
            <a:off x="8103413" y="2798064"/>
            <a:ext cx="3429914" cy="2798064"/>
          </a:xfrm>
          <a:prstGeom prst="rect">
            <a:avLst/>
          </a:prstGeom>
          <a:solidFill>
            <a:srgbClr val="0A4179"/>
          </a:solidFill>
          <a:ln w="12700">
            <a:solidFill>
              <a:srgbClr val="0A4179"/>
            </a:solidFill>
            <a:prstDash val="solid"/>
          </a:ln>
        </p:spPr>
      </p:sp>
      <p:sp>
        <p:nvSpPr>
          <p:cNvPr id="16" name="Text 14"/>
          <p:cNvSpPr txBox="1"/>
          <p:nvPr/>
        </p:nvSpPr>
        <p:spPr>
          <a:xfrm>
            <a:off x="8432597" y="3017520"/>
            <a:ext cx="2771546" cy="676656"/>
          </a:xfrm>
          <a:prstGeom prst="rect">
            <a:avLst/>
          </a:prstGeom>
          <a:noFill/>
          <a:ln/>
        </p:spPr>
        <p:txBody>
          <a:bodyPr wrap="square" lIns="0" tIns="0" rIns="0" bIns="0" rtlCol="0" anchor="ctr"/>
          <a:lstStyle/>
          <a:p>
            <a:pPr indent="0" marL="0">
              <a:buNone/>
            </a:pPr>
            <a:r>
              <a:rPr lang="en-US" sz="4600" b="1" dirty="0">
                <a:solidFill>
                  <a:srgbClr val="8CC6FB"/>
                </a:solidFill>
                <a:latin typeface="Cambria" pitchFamily="34" charset="0"/>
                <a:ea typeface="Cambria" pitchFamily="34" charset="-122"/>
                <a:cs typeface="Cambria" pitchFamily="34" charset="-120"/>
              </a:rPr>
              <a:t>03</a:t>
            </a:r>
            <a:endParaRPr lang="en-US" sz="4600" dirty="0"/>
          </a:p>
        </p:txBody>
      </p:sp>
      <p:sp>
        <p:nvSpPr>
          <p:cNvPr id="17" name="Text 15"/>
          <p:cNvSpPr txBox="1"/>
          <p:nvPr/>
        </p:nvSpPr>
        <p:spPr>
          <a:xfrm>
            <a:off x="8432597" y="3767328"/>
            <a:ext cx="2771546" cy="329184"/>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The Chatbot</a:t>
            </a:r>
            <a:endParaRPr lang="en-US" sz="2100" dirty="0"/>
          </a:p>
        </p:txBody>
      </p:sp>
      <p:sp>
        <p:nvSpPr>
          <p:cNvPr id="18" name="Text 16"/>
          <p:cNvSpPr txBox="1"/>
          <p:nvPr/>
        </p:nvSpPr>
        <p:spPr>
          <a:xfrm>
            <a:off x="8432597" y="4133088"/>
            <a:ext cx="2771546" cy="219456"/>
          </a:xfrm>
          <a:prstGeom prst="rect">
            <a:avLst/>
          </a:prstGeom>
          <a:noFill/>
          <a:ln/>
        </p:spPr>
        <p:txBody>
          <a:bodyPr wrap="square" lIns="0" tIns="0" rIns="0" bIns="0" rtlCol="0" anchor="ctr"/>
          <a:lstStyle/>
          <a:p>
            <a:pPr indent="0" marL="0">
              <a:buNone/>
            </a:pPr>
            <a:r>
              <a:rPr lang="en-US" sz="1000" b="1" spc="110" kern="0" dirty="0">
                <a:solidFill>
                  <a:srgbClr val="8CC6FB"/>
                </a:solidFill>
                <a:latin typeface="Calibri" pitchFamily="34" charset="0"/>
                <a:ea typeface="Calibri" pitchFamily="34" charset="-122"/>
                <a:cs typeface="Calibri" pitchFamily="34" charset="-120"/>
              </a:rPr>
              <a:t>ONE OPTION</a:t>
            </a:r>
            <a:endParaRPr lang="en-US" sz="1000" dirty="0"/>
          </a:p>
        </p:txBody>
      </p:sp>
      <p:sp>
        <p:nvSpPr>
          <p:cNvPr id="19" name="Text 17"/>
          <p:cNvSpPr txBox="1"/>
          <p:nvPr/>
        </p:nvSpPr>
        <p:spPr>
          <a:xfrm>
            <a:off x="8432597" y="4443984"/>
            <a:ext cx="2771546" cy="932688"/>
          </a:xfrm>
          <a:prstGeom prst="rect">
            <a:avLst/>
          </a:prstGeom>
          <a:noFill/>
          <a:ln/>
        </p:spPr>
        <p:txBody>
          <a:bodyPr wrap="square" lIns="0" tIns="0" rIns="0" bIns="0" rtlCol="0" anchor="ctr"/>
          <a:lstStyle/>
          <a:p>
            <a:pPr indent="0" marL="0">
              <a:lnSpc>
                <a:spcPct val="120000"/>
              </a:lnSpc>
              <a:buNone/>
            </a:pPr>
            <a:r>
              <a:rPr lang="en-US" sz="1200" dirty="0">
                <a:solidFill>
                  <a:srgbClr val="9DB4CC"/>
                </a:solidFill>
                <a:latin typeface="Calibri" pitchFamily="34" charset="0"/>
                <a:ea typeface="Calibri" pitchFamily="34" charset="-122"/>
                <a:cs typeface="Calibri" pitchFamily="34" charset="-120"/>
              </a:rPr>
              <a:t>Reachable from every page, including the dead ends. The choice is whether it carries the same five questions.</a:t>
            </a:r>
            <a:endParaRPr lang="en-US" sz="1200" dirty="0"/>
          </a:p>
        </p:txBody>
      </p:sp>
      <p:sp>
        <p:nvSpPr>
          <p:cNvPr id="20" name="Text 18"/>
          <p:cNvSpPr txBox="1"/>
          <p:nvPr/>
        </p:nvSpPr>
        <p:spPr>
          <a:xfrm>
            <a:off x="658368" y="5888736"/>
            <a:ext cx="10874959" cy="274320"/>
          </a:xfrm>
          <a:prstGeom prst="rect">
            <a:avLst/>
          </a:prstGeom>
          <a:noFill/>
          <a:ln/>
        </p:spPr>
        <p:txBody>
          <a:bodyPr wrap="square" lIns="0" tIns="0" rIns="0" bIns="0" rtlCol="0" anchor="ctr"/>
          <a:lstStyle/>
          <a:p>
            <a:pPr indent="0" marL="0">
              <a:buNone/>
            </a:pPr>
            <a:r>
              <a:rPr lang="en-US" sz="1100" dirty="0">
                <a:solidFill>
                  <a:srgbClr val="9DB4CC"/>
                </a:solidFill>
                <a:latin typeface="Calibri" pitchFamily="34" charset="0"/>
                <a:ea typeface="Calibri" pitchFamily="34" charset="-122"/>
                <a:cs typeface="Calibri" pitchFamily="34" charset="-120"/>
              </a:rPr>
              <a:t>Each option below is mapped to the recommendation it delivers: the finder is R3, the audience landings are R4, the faceted catalogue is R5. All four depend on R1, the eligibility model.</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DECISION 01 · THE HOMEPAGE</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Three Ways to Begin</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All three have been drawn as finished screens. Option A is what the site carries today.</a:t>
            </a:r>
            <a:endParaRPr lang="en-US" sz="1300" dirty="0"/>
          </a:p>
        </p:txBody>
      </p:sp>
      <p:sp>
        <p:nvSpPr>
          <p:cNvPr id="5" name="Shape 3"/>
          <p:cNvSpPr/>
          <p:nvPr/>
        </p:nvSpPr>
        <p:spPr>
          <a:xfrm>
            <a:off x="658368" y="1755648"/>
            <a:ext cx="3429914" cy="4023360"/>
          </a:xfrm>
          <a:prstGeom prst="rect">
            <a:avLst/>
          </a:prstGeom>
          <a:solidFill>
            <a:srgbClr val="FFFFFF"/>
          </a:solidFill>
          <a:ln w="9525">
            <a:solidFill>
              <a:srgbClr val="D8DEE7"/>
            </a:solidFill>
            <a:prstDash val="solid"/>
          </a:ln>
        </p:spPr>
      </p:sp>
      <p:sp>
        <p:nvSpPr>
          <p:cNvPr id="6" name="Text 4"/>
          <p:cNvSpPr txBox="1"/>
          <p:nvPr/>
        </p:nvSpPr>
        <p:spPr>
          <a:xfrm>
            <a:off x="950976" y="2029968"/>
            <a:ext cx="2844698"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OPTION A</a:t>
            </a:r>
            <a:endParaRPr lang="en-US" sz="1000" dirty="0"/>
          </a:p>
        </p:txBody>
      </p:sp>
      <p:sp>
        <p:nvSpPr>
          <p:cNvPr id="7" name="Text 5"/>
          <p:cNvSpPr txBox="1"/>
          <p:nvPr/>
        </p:nvSpPr>
        <p:spPr>
          <a:xfrm>
            <a:off x="950976" y="2286000"/>
            <a:ext cx="2844698" cy="566928"/>
          </a:xfrm>
          <a:prstGeom prst="rect">
            <a:avLst/>
          </a:prstGeom>
          <a:noFill/>
          <a:ln/>
        </p:spPr>
        <p:txBody>
          <a:bodyPr wrap="square" lIns="0" tIns="0" rIns="0" bIns="0" rtlCol="0" anchor="ctr"/>
          <a:lstStyle/>
          <a:p>
            <a:pPr indent="0" marL="0">
              <a:lnSpc>
                <a:spcPct val="104000"/>
              </a:lnSpc>
              <a:buNone/>
            </a:pPr>
            <a:r>
              <a:rPr lang="en-US" sz="2000" b="1" dirty="0">
                <a:solidFill>
                  <a:srgbClr val="003366"/>
                </a:solidFill>
                <a:latin typeface="Cambria" pitchFamily="34" charset="0"/>
                <a:ea typeface="Cambria" pitchFamily="34" charset="-122"/>
                <a:cs typeface="Cambria" pitchFamily="34" charset="-120"/>
              </a:rPr>
              <a:t>Explore User Personas</a:t>
            </a:r>
            <a:endParaRPr lang="en-US" sz="2000" dirty="0"/>
          </a:p>
        </p:txBody>
      </p:sp>
      <p:sp>
        <p:nvSpPr>
          <p:cNvPr id="8" name="Text 6"/>
          <p:cNvSpPr txBox="1"/>
          <p:nvPr/>
        </p:nvSpPr>
        <p:spPr>
          <a:xfrm>
            <a:off x="950976" y="2907792"/>
            <a:ext cx="2844698" cy="256032"/>
          </a:xfrm>
          <a:prstGeom prst="rect">
            <a:avLst/>
          </a:prstGeom>
          <a:noFill/>
          <a:ln/>
        </p:spPr>
        <p:txBody>
          <a:bodyPr wrap="square" lIns="0" tIns="0" rIns="0" bIns="0" rtlCol="0" anchor="ctr"/>
          <a:lstStyle/>
          <a:p>
            <a:pPr indent="0" marL="0">
              <a:buNone/>
            </a:pPr>
            <a:r>
              <a:rPr lang="en-US" sz="1150" b="1" dirty="0">
                <a:solidFill>
                  <a:srgbClr val="0257A8"/>
                </a:solidFill>
                <a:latin typeface="Calibri" pitchFamily="34" charset="0"/>
                <a:ea typeface="Calibri" pitchFamily="34" charset="-122"/>
                <a:cs typeface="Calibri" pitchFamily="34" charset="-120"/>
              </a:rPr>
              <a:t>Live on the site today</a:t>
            </a:r>
            <a:endParaRPr lang="en-US" sz="1150" dirty="0"/>
          </a:p>
        </p:txBody>
      </p:sp>
      <p:sp>
        <p:nvSpPr>
          <p:cNvPr id="9" name="Shape 7"/>
          <p:cNvSpPr/>
          <p:nvPr/>
        </p:nvSpPr>
        <p:spPr>
          <a:xfrm>
            <a:off x="950976" y="3236976"/>
            <a:ext cx="2844698" cy="0"/>
          </a:xfrm>
          <a:prstGeom prst="line">
            <a:avLst/>
          </a:prstGeom>
          <a:noFill/>
          <a:ln w="9525">
            <a:solidFill>
              <a:srgbClr val="D8DEE7"/>
            </a:solidFill>
            <a:prstDash val="solid"/>
          </a:ln>
        </p:spPr>
      </p:sp>
      <p:sp>
        <p:nvSpPr>
          <p:cNvPr id="10" name="Text 8"/>
          <p:cNvSpPr txBox="1"/>
          <p:nvPr/>
        </p:nvSpPr>
        <p:spPr>
          <a:xfrm>
            <a:off x="950976" y="3383280"/>
            <a:ext cx="2844698" cy="1298448"/>
          </a:xfrm>
          <a:prstGeom prst="rect">
            <a:avLst/>
          </a:prstGeom>
          <a:noFill/>
          <a:ln/>
        </p:spPr>
        <p:txBody>
          <a:bodyPr wrap="square" lIns="0" tIns="0" rIns="0" bIns="0" rtlCol="0" anchor="ctr"/>
          <a:lstStyle/>
          <a:p>
            <a:pPr indent="0" marL="0">
              <a:lnSpc>
                <a:spcPct val="122000"/>
              </a:lnSpc>
              <a:buNone/>
            </a:pPr>
            <a:r>
              <a:rPr lang="en-US" sz="1200" dirty="0">
                <a:solidFill>
                  <a:srgbClr val="1A1A1A"/>
                </a:solidFill>
                <a:latin typeface="Calibri" pitchFamily="34" charset="0"/>
                <a:ea typeface="Calibri" pitchFamily="34" charset="-122"/>
                <a:cs typeface="Calibri" pitchFamily="34" charset="-120"/>
              </a:rPr>
              <a:t>An illustrated card cycles through the groups behind arrows. Choosing one takes the reader to the schemes page.</a:t>
            </a:r>
            <a:endParaRPr lang="en-US" sz="1200" dirty="0"/>
          </a:p>
        </p:txBody>
      </p:sp>
      <p:sp>
        <p:nvSpPr>
          <p:cNvPr id="11" name="Text 9"/>
          <p:cNvSpPr txBox="1"/>
          <p:nvPr/>
        </p:nvSpPr>
        <p:spPr>
          <a:xfrm>
            <a:off x="950976" y="4754880"/>
            <a:ext cx="2844698" cy="658368"/>
          </a:xfrm>
          <a:prstGeom prst="rect">
            <a:avLst/>
          </a:prstGeom>
          <a:noFill/>
          <a:ln/>
        </p:spPr>
        <p:txBody>
          <a:bodyPr wrap="square" lIns="0" tIns="0" rIns="0" bIns="0" rtlCol="0" anchor="ctr"/>
          <a:lstStyle/>
          <a:p>
            <a:pPr indent="0" marL="0">
              <a:lnSpc>
                <a:spcPct val="120000"/>
              </a:lnSpc>
              <a:buNone/>
            </a:pPr>
            <a:r>
              <a:rPr lang="en-US" sz="1000" b="1" spc="100" kern="0" dirty="0">
                <a:solidFill>
                  <a:srgbClr val="5A6472"/>
                </a:solidFill>
                <a:latin typeface="Calibri" pitchFamily="34" charset="0"/>
                <a:ea typeface="Calibri" pitchFamily="34" charset="-122"/>
                <a:cs typeface="Calibri" pitchFamily="34" charset="-120"/>
              </a:rPr>
              <a:t>BEST SUITED TO
</a:t>
            </a:r>
            <a:pPr indent="0" marL="0">
              <a:lnSpc>
                <a:spcPct val="120000"/>
              </a:lnSpc>
              <a:buNone/>
            </a:pPr>
            <a:r>
              <a:rPr lang="en-US" sz="1200" dirty="0">
                <a:solidFill>
                  <a:srgbClr val="1A1A1A"/>
                </a:solidFill>
                <a:latin typeface="Calibri" pitchFamily="34" charset="0"/>
                <a:ea typeface="Calibri" pitchFamily="34" charset="-122"/>
                <a:cs typeface="Calibri" pitchFamily="34" charset="-120"/>
              </a:rPr>
              <a:t>Returning visitors who already identify with one group.</a:t>
            </a:r>
            <a:endParaRPr lang="en-US" sz="1000" dirty="0"/>
          </a:p>
        </p:txBody>
      </p:sp>
      <p:sp>
        <p:nvSpPr>
          <p:cNvPr id="12" name="Shape 10"/>
          <p:cNvSpPr/>
          <p:nvPr/>
        </p:nvSpPr>
        <p:spPr>
          <a:xfrm>
            <a:off x="4380890" y="1755648"/>
            <a:ext cx="3429914" cy="4023360"/>
          </a:xfrm>
          <a:prstGeom prst="rect">
            <a:avLst/>
          </a:prstGeom>
          <a:solidFill>
            <a:srgbClr val="F5F7FA"/>
          </a:solidFill>
          <a:ln w="19050">
            <a:solidFill>
              <a:srgbClr val="0373DF"/>
            </a:solidFill>
            <a:prstDash val="solid"/>
          </a:ln>
        </p:spPr>
      </p:sp>
      <p:sp>
        <p:nvSpPr>
          <p:cNvPr id="13" name="Text 11"/>
          <p:cNvSpPr txBox="1"/>
          <p:nvPr/>
        </p:nvSpPr>
        <p:spPr>
          <a:xfrm>
            <a:off x="4673498" y="2029968"/>
            <a:ext cx="2844698"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OPTION B</a:t>
            </a:r>
            <a:endParaRPr lang="en-US" sz="1000" dirty="0"/>
          </a:p>
        </p:txBody>
      </p:sp>
      <p:sp>
        <p:nvSpPr>
          <p:cNvPr id="14" name="Text 12"/>
          <p:cNvSpPr txBox="1"/>
          <p:nvPr/>
        </p:nvSpPr>
        <p:spPr>
          <a:xfrm>
            <a:off x="4673498" y="2286000"/>
            <a:ext cx="2844698" cy="566928"/>
          </a:xfrm>
          <a:prstGeom prst="rect">
            <a:avLst/>
          </a:prstGeom>
          <a:noFill/>
          <a:ln/>
        </p:spPr>
        <p:txBody>
          <a:bodyPr wrap="square" lIns="0" tIns="0" rIns="0" bIns="0" rtlCol="0" anchor="ctr"/>
          <a:lstStyle/>
          <a:p>
            <a:pPr indent="0" marL="0">
              <a:lnSpc>
                <a:spcPct val="104000"/>
              </a:lnSpc>
              <a:buNone/>
            </a:pPr>
            <a:r>
              <a:rPr lang="en-US" sz="2000" b="1" dirty="0">
                <a:solidFill>
                  <a:srgbClr val="003366"/>
                </a:solidFill>
                <a:latin typeface="Cambria" pitchFamily="34" charset="0"/>
                <a:ea typeface="Cambria" pitchFamily="34" charset="-122"/>
                <a:cs typeface="Cambria" pitchFamily="34" charset="-120"/>
              </a:rPr>
              <a:t>Find Schemes for You</a:t>
            </a:r>
            <a:endParaRPr lang="en-US" sz="2000" dirty="0"/>
          </a:p>
        </p:txBody>
      </p:sp>
      <p:sp>
        <p:nvSpPr>
          <p:cNvPr id="15" name="Text 13"/>
          <p:cNvSpPr txBox="1"/>
          <p:nvPr/>
        </p:nvSpPr>
        <p:spPr>
          <a:xfrm>
            <a:off x="4673498" y="2907792"/>
            <a:ext cx="2844698" cy="256032"/>
          </a:xfrm>
          <a:prstGeom prst="rect">
            <a:avLst/>
          </a:prstGeom>
          <a:noFill/>
          <a:ln/>
        </p:spPr>
        <p:txBody>
          <a:bodyPr wrap="square" lIns="0" tIns="0" rIns="0" bIns="0" rtlCol="0" anchor="ctr"/>
          <a:lstStyle/>
          <a:p>
            <a:pPr indent="0" marL="0">
              <a:buNone/>
            </a:pPr>
            <a:r>
              <a:rPr lang="en-US" sz="1150" b="1" dirty="0">
                <a:solidFill>
                  <a:srgbClr val="0257A8"/>
                </a:solidFill>
                <a:latin typeface="Calibri" pitchFamily="34" charset="0"/>
                <a:ea typeface="Calibri" pitchFamily="34" charset="-122"/>
                <a:cs typeface="Calibri" pitchFamily="34" charset="-120"/>
              </a:rPr>
              <a:t>Five short questions, all skippable</a:t>
            </a:r>
            <a:endParaRPr lang="en-US" sz="1150" dirty="0"/>
          </a:p>
        </p:txBody>
      </p:sp>
      <p:sp>
        <p:nvSpPr>
          <p:cNvPr id="16" name="Shape 14"/>
          <p:cNvSpPr/>
          <p:nvPr/>
        </p:nvSpPr>
        <p:spPr>
          <a:xfrm>
            <a:off x="4673498" y="3236976"/>
            <a:ext cx="2844698" cy="0"/>
          </a:xfrm>
          <a:prstGeom prst="line">
            <a:avLst/>
          </a:prstGeom>
          <a:noFill/>
          <a:ln w="9525">
            <a:solidFill>
              <a:srgbClr val="D8DEE7"/>
            </a:solidFill>
            <a:prstDash val="solid"/>
          </a:ln>
        </p:spPr>
      </p:sp>
      <p:sp>
        <p:nvSpPr>
          <p:cNvPr id="17" name="Text 15"/>
          <p:cNvSpPr txBox="1"/>
          <p:nvPr/>
        </p:nvSpPr>
        <p:spPr>
          <a:xfrm>
            <a:off x="4673498" y="3383280"/>
            <a:ext cx="2844698" cy="1298448"/>
          </a:xfrm>
          <a:prstGeom prst="rect">
            <a:avLst/>
          </a:prstGeom>
          <a:noFill/>
          <a:ln/>
        </p:spPr>
        <p:txBody>
          <a:bodyPr wrap="square" lIns="0" tIns="0" rIns="0" bIns="0" rtlCol="0" anchor="ctr"/>
          <a:lstStyle/>
          <a:p>
            <a:pPr indent="0" marL="0">
              <a:lnSpc>
                <a:spcPct val="122000"/>
              </a:lnSpc>
              <a:buNone/>
            </a:pPr>
            <a:r>
              <a:rPr lang="en-US" sz="1200" dirty="0">
                <a:solidFill>
                  <a:srgbClr val="1A1A1A"/>
                </a:solidFill>
                <a:latin typeface="Calibri" pitchFamily="34" charset="0"/>
                <a:ea typeface="Calibri" pitchFamily="34" charset="-122"/>
                <a:cs typeface="Calibri" pitchFamily="34" charset="-120"/>
              </a:rPr>
              <a:t>Narrows 141 schemes to the handful that fit, reading community, life stage, need and State together, with a live count as the reader answers.</a:t>
            </a:r>
            <a:endParaRPr lang="en-US" sz="1200" dirty="0"/>
          </a:p>
        </p:txBody>
      </p:sp>
      <p:sp>
        <p:nvSpPr>
          <p:cNvPr id="18" name="Text 16"/>
          <p:cNvSpPr txBox="1"/>
          <p:nvPr/>
        </p:nvSpPr>
        <p:spPr>
          <a:xfrm>
            <a:off x="4673498" y="4754880"/>
            <a:ext cx="2844698" cy="658368"/>
          </a:xfrm>
          <a:prstGeom prst="rect">
            <a:avLst/>
          </a:prstGeom>
          <a:noFill/>
          <a:ln/>
        </p:spPr>
        <p:txBody>
          <a:bodyPr wrap="square" lIns="0" tIns="0" rIns="0" bIns="0" rtlCol="0" anchor="ctr"/>
          <a:lstStyle/>
          <a:p>
            <a:pPr indent="0" marL="0">
              <a:lnSpc>
                <a:spcPct val="120000"/>
              </a:lnSpc>
              <a:buNone/>
            </a:pPr>
            <a:r>
              <a:rPr lang="en-US" sz="1000" b="1" spc="100" kern="0" dirty="0">
                <a:solidFill>
                  <a:srgbClr val="5A6472"/>
                </a:solidFill>
                <a:latin typeface="Calibri" pitchFamily="34" charset="0"/>
                <a:ea typeface="Calibri" pitchFamily="34" charset="-122"/>
                <a:cs typeface="Calibri" pitchFamily="34" charset="-120"/>
              </a:rPr>
              <a:t>BEST SUITED TO
</a:t>
            </a:r>
            <a:pPr indent="0" marL="0">
              <a:lnSpc>
                <a:spcPct val="120000"/>
              </a:lnSpc>
              <a:buNone/>
            </a:pPr>
            <a:r>
              <a:rPr lang="en-US" sz="1200" dirty="0">
                <a:solidFill>
                  <a:srgbClr val="1A1A1A"/>
                </a:solidFill>
                <a:latin typeface="Calibri" pitchFamily="34" charset="0"/>
                <a:ea typeface="Calibri" pitchFamily="34" charset="-122"/>
                <a:cs typeface="Calibri" pitchFamily="34" charset="-120"/>
              </a:rPr>
              <a:t>First-time visitors, who are most visitors.</a:t>
            </a:r>
            <a:endParaRPr lang="en-US" sz="1000" dirty="0"/>
          </a:p>
        </p:txBody>
      </p:sp>
      <p:sp>
        <p:nvSpPr>
          <p:cNvPr id="19" name="Shape 17"/>
          <p:cNvSpPr/>
          <p:nvPr/>
        </p:nvSpPr>
        <p:spPr>
          <a:xfrm>
            <a:off x="4673498" y="5358384"/>
            <a:ext cx="1371600" cy="256032"/>
          </a:xfrm>
          <a:prstGeom prst="roundRect">
            <a:avLst>
              <a:gd name="adj" fmla="val 50000"/>
            </a:avLst>
          </a:prstGeom>
          <a:solidFill>
            <a:srgbClr val="0257A8"/>
          </a:solidFill>
          <a:ln w="12700">
            <a:solidFill>
              <a:srgbClr val="0257A8"/>
            </a:solidFill>
            <a:prstDash val="solid"/>
          </a:ln>
        </p:spPr>
      </p:sp>
      <p:sp>
        <p:nvSpPr>
          <p:cNvPr id="20" name="Text 18"/>
          <p:cNvSpPr txBox="1"/>
          <p:nvPr/>
        </p:nvSpPr>
        <p:spPr>
          <a:xfrm>
            <a:off x="4673498" y="5358384"/>
            <a:ext cx="137160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RECOMMENDED</a:t>
            </a:r>
            <a:endParaRPr lang="en-US" sz="900" dirty="0"/>
          </a:p>
        </p:txBody>
      </p:sp>
      <p:sp>
        <p:nvSpPr>
          <p:cNvPr id="21" name="Shape 19"/>
          <p:cNvSpPr/>
          <p:nvPr/>
        </p:nvSpPr>
        <p:spPr>
          <a:xfrm>
            <a:off x="8103413" y="1755648"/>
            <a:ext cx="3429914" cy="4023360"/>
          </a:xfrm>
          <a:prstGeom prst="rect">
            <a:avLst/>
          </a:prstGeom>
          <a:solidFill>
            <a:srgbClr val="FFFFFF"/>
          </a:solidFill>
          <a:ln w="9525">
            <a:solidFill>
              <a:srgbClr val="D8DEE7"/>
            </a:solidFill>
            <a:prstDash val="solid"/>
          </a:ln>
        </p:spPr>
      </p:sp>
      <p:sp>
        <p:nvSpPr>
          <p:cNvPr id="22" name="Text 20"/>
          <p:cNvSpPr txBox="1"/>
          <p:nvPr/>
        </p:nvSpPr>
        <p:spPr>
          <a:xfrm>
            <a:off x="8396021" y="2029968"/>
            <a:ext cx="2844698"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OPTION C</a:t>
            </a:r>
            <a:endParaRPr lang="en-US" sz="1000" dirty="0"/>
          </a:p>
        </p:txBody>
      </p:sp>
      <p:sp>
        <p:nvSpPr>
          <p:cNvPr id="23" name="Text 21"/>
          <p:cNvSpPr txBox="1"/>
          <p:nvPr/>
        </p:nvSpPr>
        <p:spPr>
          <a:xfrm>
            <a:off x="8396021" y="2286000"/>
            <a:ext cx="2844698" cy="566928"/>
          </a:xfrm>
          <a:prstGeom prst="rect">
            <a:avLst/>
          </a:prstGeom>
          <a:noFill/>
          <a:ln/>
        </p:spPr>
        <p:txBody>
          <a:bodyPr wrap="square" lIns="0" tIns="0" rIns="0" bIns="0" rtlCol="0" anchor="ctr"/>
          <a:lstStyle/>
          <a:p>
            <a:pPr indent="0" marL="0">
              <a:lnSpc>
                <a:spcPct val="104000"/>
              </a:lnSpc>
              <a:buNone/>
            </a:pPr>
            <a:r>
              <a:rPr lang="en-US" sz="2000" b="1" dirty="0">
                <a:solidFill>
                  <a:srgbClr val="003366"/>
                </a:solidFill>
                <a:latin typeface="Cambria" pitchFamily="34" charset="0"/>
                <a:ea typeface="Cambria" pitchFamily="34" charset="-122"/>
                <a:cs typeface="Cambria" pitchFamily="34" charset="-120"/>
              </a:rPr>
              <a:t>Find Offerings for You</a:t>
            </a:r>
            <a:endParaRPr lang="en-US" sz="2000" dirty="0"/>
          </a:p>
        </p:txBody>
      </p:sp>
      <p:sp>
        <p:nvSpPr>
          <p:cNvPr id="24" name="Text 22"/>
          <p:cNvSpPr txBox="1"/>
          <p:nvPr/>
        </p:nvSpPr>
        <p:spPr>
          <a:xfrm>
            <a:off x="8396021" y="2907792"/>
            <a:ext cx="2844698" cy="256032"/>
          </a:xfrm>
          <a:prstGeom prst="rect">
            <a:avLst/>
          </a:prstGeom>
          <a:noFill/>
          <a:ln/>
        </p:spPr>
        <p:txBody>
          <a:bodyPr wrap="square" lIns="0" tIns="0" rIns="0" bIns="0" rtlCol="0" anchor="ctr"/>
          <a:lstStyle/>
          <a:p>
            <a:pPr indent="0" marL="0">
              <a:buNone/>
            </a:pPr>
            <a:r>
              <a:rPr lang="en-US" sz="1150" b="1" dirty="0">
                <a:solidFill>
                  <a:srgbClr val="0257A8"/>
                </a:solidFill>
                <a:latin typeface="Calibri" pitchFamily="34" charset="0"/>
                <a:ea typeface="Calibri" pitchFamily="34" charset="-122"/>
                <a:cs typeface="Calibri" pitchFamily="34" charset="-120"/>
              </a:rPr>
              <a:t>One tap, no questions</a:t>
            </a:r>
            <a:endParaRPr lang="en-US" sz="1150" dirty="0"/>
          </a:p>
        </p:txBody>
      </p:sp>
      <p:sp>
        <p:nvSpPr>
          <p:cNvPr id="25" name="Shape 23"/>
          <p:cNvSpPr/>
          <p:nvPr/>
        </p:nvSpPr>
        <p:spPr>
          <a:xfrm>
            <a:off x="8396021" y="3236976"/>
            <a:ext cx="2844698" cy="0"/>
          </a:xfrm>
          <a:prstGeom prst="line">
            <a:avLst/>
          </a:prstGeom>
          <a:noFill/>
          <a:ln w="9525">
            <a:solidFill>
              <a:srgbClr val="D8DEE7"/>
            </a:solidFill>
            <a:prstDash val="solid"/>
          </a:ln>
        </p:spPr>
      </p:sp>
      <p:sp>
        <p:nvSpPr>
          <p:cNvPr id="26" name="Text 24"/>
          <p:cNvSpPr txBox="1"/>
          <p:nvPr/>
        </p:nvSpPr>
        <p:spPr>
          <a:xfrm>
            <a:off x="8396021" y="3383280"/>
            <a:ext cx="2844698" cy="1298448"/>
          </a:xfrm>
          <a:prstGeom prst="rect">
            <a:avLst/>
          </a:prstGeom>
          <a:noFill/>
          <a:ln/>
        </p:spPr>
        <p:txBody>
          <a:bodyPr wrap="square" lIns="0" tIns="0" rIns="0" bIns="0" rtlCol="0" anchor="ctr"/>
          <a:lstStyle/>
          <a:p>
            <a:pPr indent="0" marL="0">
              <a:lnSpc>
                <a:spcPct val="122000"/>
              </a:lnSpc>
              <a:buNone/>
            </a:pPr>
            <a:r>
              <a:rPr lang="en-US" sz="1200" dirty="0">
                <a:solidFill>
                  <a:srgbClr val="1A1A1A"/>
                </a:solidFill>
                <a:latin typeface="Calibri" pitchFamily="34" charset="0"/>
                <a:ea typeface="Calibri" pitchFamily="34" charset="-122"/>
                <a:cs typeface="Calibri" pitchFamily="34" charset="-120"/>
              </a:rPr>
              <a:t>A row of groups. Tapping one returns the portal, the scheme and the grievance route for that situation, each ending on Apply Now.</a:t>
            </a:r>
            <a:endParaRPr lang="en-US" sz="1200" dirty="0"/>
          </a:p>
        </p:txBody>
      </p:sp>
      <p:sp>
        <p:nvSpPr>
          <p:cNvPr id="27" name="Text 25"/>
          <p:cNvSpPr txBox="1"/>
          <p:nvPr/>
        </p:nvSpPr>
        <p:spPr>
          <a:xfrm>
            <a:off x="8396021" y="4754880"/>
            <a:ext cx="2844698" cy="658368"/>
          </a:xfrm>
          <a:prstGeom prst="rect">
            <a:avLst/>
          </a:prstGeom>
          <a:noFill/>
          <a:ln/>
        </p:spPr>
        <p:txBody>
          <a:bodyPr wrap="square" lIns="0" tIns="0" rIns="0" bIns="0" rtlCol="0" anchor="ctr"/>
          <a:lstStyle/>
          <a:p>
            <a:pPr indent="0" marL="0">
              <a:lnSpc>
                <a:spcPct val="120000"/>
              </a:lnSpc>
              <a:buNone/>
            </a:pPr>
            <a:r>
              <a:rPr lang="en-US" sz="1000" b="1" spc="100" kern="0" dirty="0">
                <a:solidFill>
                  <a:srgbClr val="5A6472"/>
                </a:solidFill>
                <a:latin typeface="Calibri" pitchFamily="34" charset="0"/>
                <a:ea typeface="Calibri" pitchFamily="34" charset="-122"/>
                <a:cs typeface="Calibri" pitchFamily="34" charset="-120"/>
              </a:rPr>
              <a:t>BEST SUITED TO
</a:t>
            </a:r>
            <a:pPr indent="0" marL="0">
              <a:lnSpc>
                <a:spcPct val="120000"/>
              </a:lnSpc>
              <a:buNone/>
            </a:pPr>
            <a:r>
              <a:rPr lang="en-US" sz="1200" dirty="0">
                <a:solidFill>
                  <a:srgbClr val="1A1A1A"/>
                </a:solidFill>
                <a:latin typeface="Calibri" pitchFamily="34" charset="0"/>
                <a:ea typeface="Calibri" pitchFamily="34" charset="-122"/>
                <a:cs typeface="Calibri" pitchFamily="34" charset="-120"/>
              </a:rPr>
              <a:t>The visitor who will not answer questions.</a:t>
            </a:r>
            <a:endParaRPr lang="en-US" sz="1000" dirty="0"/>
          </a:p>
        </p:txBody>
      </p:sp>
      <p:sp>
        <p:nvSpPr>
          <p:cNvPr id="28" name="Text 26"/>
          <p:cNvSpPr txBox="1"/>
          <p:nvPr/>
        </p:nvSpPr>
        <p:spPr>
          <a:xfrm>
            <a:off x="658368" y="5888736"/>
            <a:ext cx="10874959" cy="457200"/>
          </a:xfrm>
          <a:prstGeom prst="rect">
            <a:avLst/>
          </a:prstGeom>
          <a:noFill/>
          <a:ln/>
        </p:spPr>
        <p:txBody>
          <a:bodyPr wrap="square" lIns="0" tIns="0" rIns="0" bIns="0" rtlCol="0" anchor="ctr"/>
          <a:lstStyle/>
          <a:p>
            <a:pPr indent="0" marL="0">
              <a:lnSpc>
                <a:spcPct val="116000"/>
              </a:lnSpc>
              <a:buNone/>
            </a:pPr>
            <a:r>
              <a:rPr lang="en-US" sz="1250" b="1" dirty="0">
                <a:solidFill>
                  <a:srgbClr val="003366"/>
                </a:solidFill>
                <a:latin typeface="Calibri" pitchFamily="34" charset="0"/>
                <a:ea typeface="Calibri" pitchFamily="34" charset="-122"/>
                <a:cs typeface="Calibri" pitchFamily="34" charset="-120"/>
              </a:rPr>
              <a:t>Recommended: Option B. It is the only one of the three that reads life stage, need and State as well as community — which is the arithmetic problem on slide 3 — and it ends on Apply rather than on a page of prose.</a:t>
            </a:r>
            <a:endParaRPr lang="en-US" sz="1250" dirty="0"/>
          </a:p>
        </p:txBody>
      </p:sp>
      <p:sp>
        <p:nvSpPr>
          <p:cNvPr id="29" name="Text 27"/>
          <p:cNvSpPr txBox="1"/>
          <p:nvPr/>
        </p:nvSpPr>
        <p:spPr>
          <a:xfrm>
            <a:off x="658368" y="6382512"/>
            <a:ext cx="10874959" cy="237744"/>
          </a:xfrm>
          <a:prstGeom prst="rect">
            <a:avLst/>
          </a:prstGeom>
          <a:noFill/>
          <a:ln/>
        </p:spPr>
        <p:txBody>
          <a:bodyPr wrap="square" lIns="0" tIns="0" rIns="0" bIns="0" rtlCol="0" anchor="ctr"/>
          <a:lstStyle/>
          <a:p>
            <a:pPr indent="0" marL="0">
              <a:buNone/>
            </a:pP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DECISION 01 · OPTION A</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Explore User Personas — What the Site Carries Today</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An illustrated persona card sits beside Recent Documents. The reader moves through the groups with arrows.</a:t>
            </a:r>
            <a:endParaRPr lang="en-US" sz="1300" dirty="0"/>
          </a:p>
        </p:txBody>
      </p:sp>
      <p:sp>
        <p:nvSpPr>
          <p:cNvPr id="5" name="Shape 3"/>
          <p:cNvSpPr/>
          <p:nvPr/>
        </p:nvSpPr>
        <p:spPr>
          <a:xfrm>
            <a:off x="630936" y="1728216"/>
            <a:ext cx="6912864" cy="3064764"/>
          </a:xfrm>
          <a:prstGeom prst="rect">
            <a:avLst/>
          </a:prstGeom>
          <a:solidFill>
            <a:srgbClr val="FFFFFF"/>
          </a:solidFill>
          <a:ln w="9525">
            <a:solidFill>
              <a:srgbClr val="D8DEE7"/>
            </a:solidFill>
            <a:prstDash val="solid"/>
          </a:ln>
        </p:spPr>
      </p:sp>
      <p:pic>
        <p:nvPicPr>
          <p:cNvPr id="6" name="Image 0" descr="assets/home-optA.png">    </p:cNvPr>
          <p:cNvPicPr>
            <a:picLocks noChangeAspect="1"/>
          </p:cNvPicPr>
          <p:nvPr/>
        </p:nvPicPr>
        <p:blipFill>
          <a:blip r:embed="rId1"/>
          <a:stretch>
            <a:fillRect/>
          </a:stretch>
        </p:blipFill>
        <p:spPr>
          <a:xfrm>
            <a:off x="658368" y="1755648"/>
            <a:ext cx="6858000" cy="3009900"/>
          </a:xfrm>
          <a:prstGeom prst="rect">
            <a:avLst/>
          </a:prstGeom>
        </p:spPr>
      </p:pic>
      <p:sp>
        <p:nvSpPr>
          <p:cNvPr id="7" name="Text 4"/>
          <p:cNvSpPr txBox="1"/>
          <p:nvPr/>
        </p:nvSpPr>
        <p:spPr>
          <a:xfrm>
            <a:off x="658368" y="4948428"/>
            <a:ext cx="6858000" cy="274320"/>
          </a:xfrm>
          <a:prstGeom prst="rect">
            <a:avLst/>
          </a:prstGeom>
          <a:noFill/>
          <a:ln/>
        </p:spPr>
        <p:txBody>
          <a:bodyPr wrap="square" lIns="0" tIns="0" rIns="0" bIns="0" rtlCol="0" anchor="ctr"/>
          <a:lstStyle/>
          <a:p>
            <a:pPr indent="0" marL="0">
              <a:lnSpc>
                <a:spcPct val="105000"/>
              </a:lnSpc>
              <a:buNone/>
            </a:pPr>
            <a:r>
              <a:rPr lang="en-US" sz="1000" dirty="0">
                <a:solidFill>
                  <a:srgbClr val="5A6472"/>
                </a:solidFill>
                <a:latin typeface="Calibri" pitchFamily="34" charset="0"/>
                <a:ea typeface="Calibri" pitchFamily="34" charset="-122"/>
                <a:cs typeface="Calibri" pitchFamily="34" charset="-120"/>
              </a:rPr>
              <a:t>Homepage, Option A — the persona panel as it renders today, beside Recent Documents.</a:t>
            </a:r>
            <a:endParaRPr lang="en-US" sz="1000" dirty="0"/>
          </a:p>
        </p:txBody>
      </p:sp>
      <p:sp>
        <p:nvSpPr>
          <p:cNvPr id="8" name="Text 5"/>
          <p:cNvSpPr txBox="1"/>
          <p:nvPr/>
        </p:nvSpPr>
        <p:spPr>
          <a:xfrm>
            <a:off x="7973568" y="1755648"/>
            <a:ext cx="3559759" cy="182880"/>
          </a:xfrm>
          <a:prstGeom prst="rect">
            <a:avLst/>
          </a:prstGeom>
          <a:noFill/>
          <a:ln/>
        </p:spPr>
        <p:txBody>
          <a:bodyPr wrap="square" lIns="0" tIns="0" rIns="0" bIns="0" rtlCol="0" anchor="ctr"/>
          <a:lstStyle/>
          <a:p>
            <a:pPr indent="0" marL="0">
              <a:buNone/>
            </a:pPr>
            <a:r>
              <a:rPr lang="en-US" sz="1000" b="1" spc="110" kern="0" dirty="0">
                <a:solidFill>
                  <a:srgbClr val="0257A8"/>
                </a:solidFill>
                <a:latin typeface="Calibri" pitchFamily="34" charset="0"/>
                <a:ea typeface="Calibri" pitchFamily="34" charset="-122"/>
                <a:cs typeface="Calibri" pitchFamily="34" charset="-120"/>
              </a:rPr>
              <a:t>STRENGTHS</a:t>
            </a:r>
            <a:endParaRPr lang="en-US" sz="1000" dirty="0"/>
          </a:p>
        </p:txBody>
      </p:sp>
      <p:sp>
        <p:nvSpPr>
          <p:cNvPr id="9" name="Text 6"/>
          <p:cNvSpPr txBox="1"/>
          <p:nvPr/>
        </p:nvSpPr>
        <p:spPr>
          <a:xfrm>
            <a:off x="7973568" y="1975104"/>
            <a:ext cx="3559759" cy="935736"/>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Already on the page, so it costs no extra height</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Illustrations help people who read slowly</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Recognising yourself beats describing yourself</a:t>
            </a:r>
            <a:endParaRPr lang="en-US" sz="1200" dirty="0"/>
          </a:p>
        </p:txBody>
      </p:sp>
      <p:sp>
        <p:nvSpPr>
          <p:cNvPr id="10" name="Text 7"/>
          <p:cNvSpPr txBox="1"/>
          <p:nvPr/>
        </p:nvSpPr>
        <p:spPr>
          <a:xfrm>
            <a:off x="7973568" y="3075432"/>
            <a:ext cx="3559759" cy="182880"/>
          </a:xfrm>
          <a:prstGeom prst="rect">
            <a:avLst/>
          </a:prstGeom>
          <a:noFill/>
          <a:ln/>
        </p:spPr>
        <p:txBody>
          <a:bodyPr wrap="square" lIns="0" tIns="0" rIns="0" bIns="0" rtlCol="0" anchor="ctr"/>
          <a:lstStyle/>
          <a:p>
            <a:pPr indent="0" marL="0">
              <a:buNone/>
            </a:pPr>
            <a:r>
              <a:rPr lang="en-US" sz="1000" b="1" spc="110" kern="0" dirty="0">
                <a:solidFill>
                  <a:srgbClr val="9A3412"/>
                </a:solidFill>
                <a:latin typeface="Calibri" pitchFamily="34" charset="0"/>
                <a:ea typeface="Calibri" pitchFamily="34" charset="-122"/>
                <a:cs typeface="Calibri" pitchFamily="34" charset="-120"/>
              </a:rPr>
              <a:t>LIMITATIONS</a:t>
            </a:r>
            <a:endParaRPr lang="en-US" sz="1000" dirty="0"/>
          </a:p>
        </p:txBody>
      </p:sp>
      <p:sp>
        <p:nvSpPr>
          <p:cNvPr id="11" name="Text 8"/>
          <p:cNvSpPr txBox="1"/>
          <p:nvPr/>
        </p:nvSpPr>
        <p:spPr>
          <a:xfrm>
            <a:off x="7973568" y="3294888"/>
            <a:ext cx="3559759" cy="935736"/>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Shows one persona at a time, behind arrows</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Narrows by group alone, not stage or need</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Choosing a persona must open the schemes page already filtered — today it does not</a:t>
            </a:r>
            <a:endParaRPr lang="en-US" sz="1200" dirty="0"/>
          </a:p>
        </p:txBody>
      </p:sp>
      <p:sp>
        <p:nvSpPr>
          <p:cNvPr id="12" name="Text 9"/>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Design file: MoSJE (WIP) — Service Discovery, Mode 1 Website / Homepage / Option 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DECISION 01 · OPTION B</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Find Schemes for You — Five Short Questions</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Every question is skippable, and skipping widens the answer instead of stopping it. No sign-in, no Aadhaar, nothing stored.</a:t>
            </a:r>
            <a:endParaRPr lang="en-US" sz="1300" dirty="0"/>
          </a:p>
        </p:txBody>
      </p:sp>
      <p:sp>
        <p:nvSpPr>
          <p:cNvPr id="5" name="Shape 3"/>
          <p:cNvSpPr/>
          <p:nvPr/>
        </p:nvSpPr>
        <p:spPr>
          <a:xfrm>
            <a:off x="10161727" y="658368"/>
            <a:ext cx="1371600" cy="256032"/>
          </a:xfrm>
          <a:prstGeom prst="roundRect">
            <a:avLst>
              <a:gd name="adj" fmla="val 50000"/>
            </a:avLst>
          </a:prstGeom>
          <a:solidFill>
            <a:srgbClr val="0257A8"/>
          </a:solidFill>
          <a:ln w="12700">
            <a:solidFill>
              <a:srgbClr val="0257A8"/>
            </a:solidFill>
            <a:prstDash val="solid"/>
          </a:ln>
        </p:spPr>
      </p:sp>
      <p:sp>
        <p:nvSpPr>
          <p:cNvPr id="6" name="Text 4"/>
          <p:cNvSpPr txBox="1"/>
          <p:nvPr/>
        </p:nvSpPr>
        <p:spPr>
          <a:xfrm>
            <a:off x="10161727" y="658368"/>
            <a:ext cx="137160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RECOMMENDED</a:t>
            </a:r>
            <a:endParaRPr lang="en-US" sz="900" dirty="0"/>
          </a:p>
        </p:txBody>
      </p:sp>
      <p:sp>
        <p:nvSpPr>
          <p:cNvPr id="7" name="Shape 5"/>
          <p:cNvSpPr/>
          <p:nvPr/>
        </p:nvSpPr>
        <p:spPr>
          <a:xfrm>
            <a:off x="630936" y="1728216"/>
            <a:ext cx="4901184" cy="2760726"/>
          </a:xfrm>
          <a:prstGeom prst="rect">
            <a:avLst/>
          </a:prstGeom>
          <a:solidFill>
            <a:srgbClr val="FFFFFF"/>
          </a:solidFill>
          <a:ln w="9525">
            <a:solidFill>
              <a:srgbClr val="D8DEE7"/>
            </a:solidFill>
            <a:prstDash val="solid"/>
          </a:ln>
        </p:spPr>
      </p:sp>
      <p:pic>
        <p:nvPicPr>
          <p:cNvPr id="8" name="Image 0" descr="assets/home-optB-question.png">    </p:cNvPr>
          <p:cNvPicPr>
            <a:picLocks noChangeAspect="1"/>
          </p:cNvPicPr>
          <p:nvPr/>
        </p:nvPicPr>
        <p:blipFill>
          <a:blip r:embed="rId1"/>
          <a:stretch>
            <a:fillRect/>
          </a:stretch>
        </p:blipFill>
        <p:spPr>
          <a:xfrm>
            <a:off x="658368" y="1755648"/>
            <a:ext cx="4846320" cy="2705862"/>
          </a:xfrm>
          <a:prstGeom prst="rect">
            <a:avLst/>
          </a:prstGeom>
        </p:spPr>
      </p:pic>
      <p:sp>
        <p:nvSpPr>
          <p:cNvPr id="9" name="Text 6"/>
          <p:cNvSpPr txBox="1"/>
          <p:nvPr/>
        </p:nvSpPr>
        <p:spPr>
          <a:xfrm>
            <a:off x="658368" y="4607814"/>
            <a:ext cx="4846320" cy="274320"/>
          </a:xfrm>
          <a:prstGeom prst="rect">
            <a:avLst/>
          </a:prstGeom>
          <a:noFill/>
          <a:ln/>
        </p:spPr>
        <p:txBody>
          <a:bodyPr wrap="square" lIns="0" tIns="0" rIns="0" bIns="0" rtlCol="0" anchor="ctr"/>
          <a:lstStyle/>
          <a:p>
            <a:pPr indent="0" marL="0">
              <a:lnSpc>
                <a:spcPct val="105000"/>
              </a:lnSpc>
              <a:buNone/>
            </a:pPr>
            <a:r>
              <a:rPr lang="en-US" sz="1000" dirty="0">
                <a:solidFill>
                  <a:srgbClr val="5A6472"/>
                </a:solidFill>
                <a:latin typeface="Calibri" pitchFamily="34" charset="0"/>
                <a:ea typeface="Calibri" pitchFamily="34" charset="-122"/>
                <a:cs typeface="Calibri" pitchFamily="34" charset="-120"/>
              </a:rPr>
              <a:t>Question 2 of 5. The count of schemes still matching is held in the corner throughout.</a:t>
            </a:r>
            <a:endParaRPr lang="en-US" sz="1000" dirty="0"/>
          </a:p>
        </p:txBody>
      </p:sp>
      <p:sp>
        <p:nvSpPr>
          <p:cNvPr id="10" name="Shape 7"/>
          <p:cNvSpPr/>
          <p:nvPr/>
        </p:nvSpPr>
        <p:spPr>
          <a:xfrm>
            <a:off x="5934456" y="1728216"/>
            <a:ext cx="4901184" cy="2787650"/>
          </a:xfrm>
          <a:prstGeom prst="rect">
            <a:avLst/>
          </a:prstGeom>
          <a:solidFill>
            <a:srgbClr val="FFFFFF"/>
          </a:solidFill>
          <a:ln w="9525">
            <a:solidFill>
              <a:srgbClr val="D8DEE7"/>
            </a:solidFill>
            <a:prstDash val="solid"/>
          </a:ln>
        </p:spPr>
      </p:sp>
      <p:pic>
        <p:nvPicPr>
          <p:cNvPr id="11" name="Image 1" descr="assets/home-optB-results-crop.png">    </p:cNvPr>
          <p:cNvPicPr>
            <a:picLocks noChangeAspect="1"/>
          </p:cNvPicPr>
          <p:nvPr/>
        </p:nvPicPr>
        <p:blipFill>
          <a:blip r:embed="rId2"/>
          <a:stretch>
            <a:fillRect/>
          </a:stretch>
        </p:blipFill>
        <p:spPr>
          <a:xfrm>
            <a:off x="5961888" y="1755648"/>
            <a:ext cx="4846320" cy="2732786"/>
          </a:xfrm>
          <a:prstGeom prst="rect">
            <a:avLst/>
          </a:prstGeom>
        </p:spPr>
      </p:pic>
      <p:sp>
        <p:nvSpPr>
          <p:cNvPr id="12" name="Text 8"/>
          <p:cNvSpPr txBox="1"/>
          <p:nvPr/>
        </p:nvSpPr>
        <p:spPr>
          <a:xfrm>
            <a:off x="5961888" y="4607814"/>
            <a:ext cx="4846320" cy="274320"/>
          </a:xfrm>
          <a:prstGeom prst="rect">
            <a:avLst/>
          </a:prstGeom>
          <a:noFill/>
          <a:ln/>
        </p:spPr>
        <p:txBody>
          <a:bodyPr wrap="square" lIns="0" tIns="0" rIns="0" bIns="0" rtlCol="0" anchor="ctr"/>
          <a:lstStyle/>
          <a:p>
            <a:pPr indent="0" marL="0">
              <a:lnSpc>
                <a:spcPct val="105000"/>
              </a:lnSpc>
              <a:buNone/>
            </a:pPr>
            <a:r>
              <a:rPr lang="en-US" sz="1000" dirty="0">
                <a:solidFill>
                  <a:srgbClr val="5A6472"/>
                </a:solidFill>
                <a:latin typeface="Calibri" pitchFamily="34" charset="0"/>
                <a:ea typeface="Calibri" pitchFamily="34" charset="-122"/>
                <a:cs typeface="Calibri" pitchFamily="34" charset="-120"/>
              </a:rPr>
              <a:t>The answer: six schemes, each ending in a real place to apply. Cropped below the third card.</a:t>
            </a:r>
            <a:endParaRPr lang="en-US" sz="1000" dirty="0"/>
          </a:p>
        </p:txBody>
      </p:sp>
      <p:sp>
        <p:nvSpPr>
          <p:cNvPr id="13" name="Text 9"/>
          <p:cNvSpPr txBox="1"/>
          <p:nvPr/>
        </p:nvSpPr>
        <p:spPr>
          <a:xfrm>
            <a:off x="658368" y="4936998"/>
            <a:ext cx="5208880" cy="182880"/>
          </a:xfrm>
          <a:prstGeom prst="rect">
            <a:avLst/>
          </a:prstGeom>
          <a:noFill/>
          <a:ln/>
        </p:spPr>
        <p:txBody>
          <a:bodyPr wrap="square" lIns="0" tIns="0" rIns="0" bIns="0" rtlCol="0" anchor="ctr"/>
          <a:lstStyle/>
          <a:p>
            <a:pPr indent="0" marL="0">
              <a:buNone/>
            </a:pPr>
            <a:r>
              <a:rPr lang="en-US" sz="1000" b="1" spc="110" kern="0" dirty="0">
                <a:solidFill>
                  <a:srgbClr val="0257A8"/>
                </a:solidFill>
                <a:latin typeface="Calibri" pitchFamily="34" charset="0"/>
                <a:ea typeface="Calibri" pitchFamily="34" charset="-122"/>
                <a:cs typeface="Calibri" pitchFamily="34" charset="-120"/>
              </a:rPr>
              <a:t>STRENGTHS</a:t>
            </a:r>
            <a:endParaRPr lang="en-US" sz="1000" dirty="0"/>
          </a:p>
        </p:txBody>
      </p:sp>
      <p:sp>
        <p:nvSpPr>
          <p:cNvPr id="14" name="Text 10"/>
          <p:cNvSpPr txBox="1"/>
          <p:nvPr/>
        </p:nvSpPr>
        <p:spPr>
          <a:xfrm>
            <a:off x="658368" y="5156454"/>
            <a:ext cx="5208880" cy="1213104"/>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Turns 141 schemes into the six that fit</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The only option reading stage, need and State as well as community</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No sign-in, no Aadhaar, nothing stored</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A live count proves it is working as they answer</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Ends on Apply, not on a page of prose</a:t>
            </a:r>
            <a:endParaRPr lang="en-US" sz="1200" dirty="0"/>
          </a:p>
        </p:txBody>
      </p:sp>
      <p:sp>
        <p:nvSpPr>
          <p:cNvPr id="15" name="Text 11"/>
          <p:cNvSpPr txBox="1"/>
          <p:nvPr/>
        </p:nvSpPr>
        <p:spPr>
          <a:xfrm>
            <a:off x="6324448" y="4936998"/>
            <a:ext cx="5208880" cy="182880"/>
          </a:xfrm>
          <a:prstGeom prst="rect">
            <a:avLst/>
          </a:prstGeom>
          <a:noFill/>
          <a:ln/>
        </p:spPr>
        <p:txBody>
          <a:bodyPr wrap="square" lIns="0" tIns="0" rIns="0" bIns="0" rtlCol="0" anchor="ctr"/>
          <a:lstStyle/>
          <a:p>
            <a:pPr indent="0" marL="0">
              <a:buNone/>
            </a:pPr>
            <a:r>
              <a:rPr lang="en-US" sz="1000" b="1" spc="110" kern="0" dirty="0">
                <a:solidFill>
                  <a:srgbClr val="9A3412"/>
                </a:solidFill>
                <a:latin typeface="Calibri" pitchFamily="34" charset="0"/>
                <a:ea typeface="Calibri" pitchFamily="34" charset="-122"/>
                <a:cs typeface="Calibri" pitchFamily="34" charset="-120"/>
              </a:rPr>
              <a:t>LIMITATIONS</a:t>
            </a:r>
            <a:endParaRPr lang="en-US" sz="1000" dirty="0"/>
          </a:p>
        </p:txBody>
      </p:sp>
      <p:sp>
        <p:nvSpPr>
          <p:cNvPr id="16" name="Text 12"/>
          <p:cNvSpPr txBox="1"/>
          <p:nvPr/>
        </p:nvSpPr>
        <p:spPr>
          <a:xfrm>
            <a:off x="6324448" y="5156454"/>
            <a:ext cx="5208880" cy="749808"/>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Content must be remapped first — one-time work</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Needs space, unless it replaces Our Offerings</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Caste wording needs Ministry approval</a:t>
            </a:r>
            <a:endParaRPr lang="en-US" sz="1200" dirty="0"/>
          </a:p>
        </p:txBody>
      </p:sp>
      <p:sp>
        <p:nvSpPr>
          <p:cNvPr id="17" name="Text 13"/>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Design file: Mode 1 Website / Homepage / Option B. Delivers recommendation R3 of the review.</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DECISION 01 · OPTION C</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Find Offerings for You — One Tap, No Questions</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A row of groups. Tapping one returns a portal, a scheme and a grievance route for that situation, on the homepage itself.</a:t>
            </a:r>
            <a:endParaRPr lang="en-US" sz="1300" dirty="0"/>
          </a:p>
        </p:txBody>
      </p:sp>
      <p:sp>
        <p:nvSpPr>
          <p:cNvPr id="5" name="Shape 3"/>
          <p:cNvSpPr/>
          <p:nvPr/>
        </p:nvSpPr>
        <p:spPr>
          <a:xfrm>
            <a:off x="630936" y="1728216"/>
            <a:ext cx="6912864" cy="3950589"/>
          </a:xfrm>
          <a:prstGeom prst="rect">
            <a:avLst/>
          </a:prstGeom>
          <a:solidFill>
            <a:srgbClr val="FFFFFF"/>
          </a:solidFill>
          <a:ln w="9525">
            <a:solidFill>
              <a:srgbClr val="D8DEE7"/>
            </a:solidFill>
            <a:prstDash val="solid"/>
          </a:ln>
        </p:spPr>
      </p:sp>
      <p:pic>
        <p:nvPicPr>
          <p:cNvPr id="6" name="Image 0" descr="assets/home-optC.png">    </p:cNvPr>
          <p:cNvPicPr>
            <a:picLocks noChangeAspect="1"/>
          </p:cNvPicPr>
          <p:nvPr/>
        </p:nvPicPr>
        <p:blipFill>
          <a:blip r:embed="rId1"/>
          <a:stretch>
            <a:fillRect/>
          </a:stretch>
        </p:blipFill>
        <p:spPr>
          <a:xfrm>
            <a:off x="658368" y="1755648"/>
            <a:ext cx="6858000" cy="3895725"/>
          </a:xfrm>
          <a:prstGeom prst="rect">
            <a:avLst/>
          </a:prstGeom>
        </p:spPr>
      </p:pic>
      <p:sp>
        <p:nvSpPr>
          <p:cNvPr id="7" name="Text 4"/>
          <p:cNvSpPr txBox="1"/>
          <p:nvPr/>
        </p:nvSpPr>
        <p:spPr>
          <a:xfrm>
            <a:off x="658368" y="5834253"/>
            <a:ext cx="6858000" cy="274320"/>
          </a:xfrm>
          <a:prstGeom prst="rect">
            <a:avLst/>
          </a:prstGeom>
          <a:noFill/>
          <a:ln/>
        </p:spPr>
        <p:txBody>
          <a:bodyPr wrap="square" lIns="0" tIns="0" rIns="0" bIns="0" rtlCol="0" anchor="ctr"/>
          <a:lstStyle/>
          <a:p>
            <a:pPr indent="0" marL="0">
              <a:lnSpc>
                <a:spcPct val="105000"/>
              </a:lnSpc>
              <a:buNone/>
            </a:pPr>
            <a:r>
              <a:rPr lang="en-US" sz="1000" dirty="0">
                <a:solidFill>
                  <a:srgbClr val="5A6472"/>
                </a:solidFill>
                <a:latin typeface="Calibri" pitchFamily="34" charset="0"/>
                <a:ea typeface="Calibri" pitchFamily="34" charset="-122"/>
                <a:cs typeface="Calibri" pitchFamily="34" charset="-120"/>
              </a:rPr>
              <a:t>Homepage, Option C — Transgender Person selected, showing the three rows returned.</a:t>
            </a:r>
            <a:endParaRPr lang="en-US" sz="1000" dirty="0"/>
          </a:p>
        </p:txBody>
      </p:sp>
      <p:sp>
        <p:nvSpPr>
          <p:cNvPr id="8" name="Text 5"/>
          <p:cNvSpPr txBox="1"/>
          <p:nvPr/>
        </p:nvSpPr>
        <p:spPr>
          <a:xfrm>
            <a:off x="7973568" y="1755648"/>
            <a:ext cx="3559759" cy="182880"/>
          </a:xfrm>
          <a:prstGeom prst="rect">
            <a:avLst/>
          </a:prstGeom>
          <a:noFill/>
          <a:ln/>
        </p:spPr>
        <p:txBody>
          <a:bodyPr wrap="square" lIns="0" tIns="0" rIns="0" bIns="0" rtlCol="0" anchor="ctr"/>
          <a:lstStyle/>
          <a:p>
            <a:pPr indent="0" marL="0">
              <a:buNone/>
            </a:pPr>
            <a:r>
              <a:rPr lang="en-US" sz="1000" b="1" spc="110" kern="0" dirty="0">
                <a:solidFill>
                  <a:srgbClr val="0257A8"/>
                </a:solidFill>
                <a:latin typeface="Calibri" pitchFamily="34" charset="0"/>
                <a:ea typeface="Calibri" pitchFamily="34" charset="-122"/>
                <a:cs typeface="Calibri" pitchFamily="34" charset="-120"/>
              </a:rPr>
              <a:t>STRENGTHS</a:t>
            </a:r>
            <a:endParaRPr lang="en-US" sz="1000" dirty="0"/>
          </a:p>
        </p:txBody>
      </p:sp>
      <p:sp>
        <p:nvSpPr>
          <p:cNvPr id="9" name="Text 6"/>
          <p:cNvSpPr txBox="1"/>
          <p:nvPr/>
        </p:nvSpPr>
        <p:spPr>
          <a:xfrm>
            <a:off x="7973568" y="1975104"/>
            <a:ext cx="3559759" cy="1213104"/>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One tap, no questions asked</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Returns portals, schemes and grievance routes</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Ends on Apply Now, on the card itself</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Puts the SAMAVESH promise on page one</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Compact: one strip and three rows</a:t>
            </a:r>
            <a:endParaRPr lang="en-US" sz="1200" dirty="0"/>
          </a:p>
        </p:txBody>
      </p:sp>
      <p:sp>
        <p:nvSpPr>
          <p:cNvPr id="10" name="Text 7"/>
          <p:cNvSpPr txBox="1"/>
          <p:nvPr/>
        </p:nvSpPr>
        <p:spPr>
          <a:xfrm>
            <a:off x="7973568" y="3352800"/>
            <a:ext cx="3559759" cy="182880"/>
          </a:xfrm>
          <a:prstGeom prst="rect">
            <a:avLst/>
          </a:prstGeom>
          <a:noFill/>
          <a:ln/>
        </p:spPr>
        <p:txBody>
          <a:bodyPr wrap="square" lIns="0" tIns="0" rIns="0" bIns="0" rtlCol="0" anchor="ctr"/>
          <a:lstStyle/>
          <a:p>
            <a:pPr indent="0" marL="0">
              <a:buNone/>
            </a:pPr>
            <a:r>
              <a:rPr lang="en-US" sz="1000" b="1" spc="110" kern="0" dirty="0">
                <a:solidFill>
                  <a:srgbClr val="9A3412"/>
                </a:solidFill>
                <a:latin typeface="Calibri" pitchFamily="34" charset="0"/>
                <a:ea typeface="Calibri" pitchFamily="34" charset="-122"/>
                <a:cs typeface="Calibri" pitchFamily="34" charset="-120"/>
              </a:rPr>
              <a:t>LIMITATIONS</a:t>
            </a:r>
            <a:endParaRPr lang="en-US" sz="1000" dirty="0"/>
          </a:p>
        </p:txBody>
      </p:sp>
      <p:sp>
        <p:nvSpPr>
          <p:cNvPr id="11" name="Text 8"/>
          <p:cNvSpPr txBox="1"/>
          <p:nvPr/>
        </p:nvSpPr>
        <p:spPr>
          <a:xfrm>
            <a:off x="7973568" y="3572256"/>
            <a:ext cx="3559759" cy="935736"/>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Content must be remapped first — one-time work</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Needs space, unless it replaces Our Offerings</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Less precise than five questions, so pair with B</a:t>
            </a:r>
            <a:endParaRPr lang="en-US" sz="1200" dirty="0"/>
          </a:p>
        </p:txBody>
      </p:sp>
      <p:sp>
        <p:nvSpPr>
          <p:cNvPr id="12" name="Text 9"/>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Design file: Mode 1 Website / Homepage / Option C. Delivers recommendation R4 of the review.</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DECISION 02 · THE SCHEMES PAGE</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Welcome, or Compare</a:t>
            </a:r>
            <a:endParaRPr lang="en-US" sz="3000" dirty="0"/>
          </a:p>
        </p:txBody>
      </p:sp>
      <p:sp>
        <p:nvSpPr>
          <p:cNvPr id="4" name="Text 2"/>
          <p:cNvSpPr txBox="1"/>
          <p:nvPr/>
        </p:nvSpPr>
        <p:spPr>
          <a:xfrm>
            <a:off x="658368" y="1170432"/>
            <a:ext cx="10874959" cy="27432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The same data, two ways. </a:t>
            </a:r>
            <a:pPr indent="0" marL="0">
              <a:buNone/>
            </a:pPr>
            <a:r>
              <a:rPr lang="en-US" sz="1300" b="1" dirty="0">
                <a:solidFill>
                  <a:srgbClr val="003366"/>
                </a:solidFill>
                <a:latin typeface="Calibri" pitchFamily="34" charset="0"/>
                <a:ea typeface="Calibri" pitchFamily="34" charset="-122"/>
                <a:cs typeface="Calibri" pitchFamily="34" charset="-120"/>
              </a:rPr>
              <a:t>Option B is recommended</a:t>
            </a:r>
            <a:pPr indent="0" marL="0">
              <a:buNone/>
            </a:pPr>
            <a:r>
              <a:rPr lang="en-US" sz="1300" dirty="0">
                <a:solidFill>
                  <a:srgbClr val="5A6472"/>
                </a:solidFill>
                <a:latin typeface="Calibri" pitchFamily="34" charset="0"/>
                <a:ea typeface="Calibri" pitchFamily="34" charset="-122"/>
                <a:cs typeface="Calibri" pitchFamily="34" charset="-120"/>
              </a:rPr>
              <a:t>: this is where a decision gets made, and where officers and NGOs work.</a:t>
            </a:r>
            <a:endParaRPr lang="en-US" sz="1300" dirty="0"/>
          </a:p>
        </p:txBody>
      </p:sp>
      <p:sp>
        <p:nvSpPr>
          <p:cNvPr id="5" name="Text 3"/>
          <p:cNvSpPr txBox="1"/>
          <p:nvPr/>
        </p:nvSpPr>
        <p:spPr>
          <a:xfrm>
            <a:off x="658368" y="1517904"/>
            <a:ext cx="5208880" cy="219456"/>
          </a:xfrm>
          <a:prstGeom prst="rect">
            <a:avLst/>
          </a:prstGeom>
          <a:noFill/>
          <a:ln/>
        </p:spPr>
        <p:txBody>
          <a:bodyPr wrap="square" lIns="0" tIns="0" rIns="0" bIns="0" rtlCol="0" anchor="ctr"/>
          <a:lstStyle/>
          <a:p>
            <a:pPr indent="0" marL="0">
              <a:buNone/>
            </a:pPr>
            <a:r>
              <a:rPr lang="en-US" sz="1000" b="1" spc="110" kern="0" dirty="0">
                <a:solidFill>
                  <a:srgbClr val="5A6472"/>
                </a:solidFill>
                <a:latin typeface="Calibri" pitchFamily="34" charset="0"/>
                <a:ea typeface="Calibri" pitchFamily="34" charset="-122"/>
                <a:cs typeface="Calibri" pitchFamily="34" charset="-120"/>
              </a:rPr>
              <a:t>OPTION A · ILLUSTRATED PERSONA CARDS</a:t>
            </a:r>
            <a:endParaRPr lang="en-US" sz="1000" dirty="0"/>
          </a:p>
        </p:txBody>
      </p:sp>
      <p:sp>
        <p:nvSpPr>
          <p:cNvPr id="6" name="Shape 4"/>
          <p:cNvSpPr/>
          <p:nvPr/>
        </p:nvSpPr>
        <p:spPr>
          <a:xfrm>
            <a:off x="630936" y="1764792"/>
            <a:ext cx="4992624" cy="3226098"/>
          </a:xfrm>
          <a:prstGeom prst="rect">
            <a:avLst/>
          </a:prstGeom>
          <a:solidFill>
            <a:srgbClr val="FFFFFF"/>
          </a:solidFill>
          <a:ln w="9525">
            <a:solidFill>
              <a:srgbClr val="D8DEE7"/>
            </a:solidFill>
            <a:prstDash val="solid"/>
          </a:ln>
        </p:spPr>
      </p:sp>
      <p:pic>
        <p:nvPicPr>
          <p:cNvPr id="7" name="Image 0" descr="assets/scheme-optA-crop3.png">    </p:cNvPr>
          <p:cNvPicPr>
            <a:picLocks noChangeAspect="1"/>
          </p:cNvPicPr>
          <p:nvPr/>
        </p:nvPicPr>
        <p:blipFill>
          <a:blip r:embed="rId1"/>
          <a:stretch>
            <a:fillRect/>
          </a:stretch>
        </p:blipFill>
        <p:spPr>
          <a:xfrm>
            <a:off x="658368" y="1792224"/>
            <a:ext cx="4937760" cy="3171234"/>
          </a:xfrm>
          <a:prstGeom prst="rect">
            <a:avLst/>
          </a:prstGeom>
        </p:spPr>
      </p:pic>
      <p:sp>
        <p:nvSpPr>
          <p:cNvPr id="8" name="Text 5"/>
          <p:cNvSpPr txBox="1"/>
          <p:nvPr/>
        </p:nvSpPr>
        <p:spPr>
          <a:xfrm>
            <a:off x="6324448" y="1517904"/>
            <a:ext cx="3654400" cy="219456"/>
          </a:xfrm>
          <a:prstGeom prst="rect">
            <a:avLst/>
          </a:prstGeom>
          <a:noFill/>
          <a:ln/>
        </p:spPr>
        <p:txBody>
          <a:bodyPr wrap="square" lIns="0" tIns="0" rIns="0" bIns="0" rtlCol="0" anchor="ctr"/>
          <a:lstStyle/>
          <a:p>
            <a:pPr indent="0" marL="0">
              <a:buNone/>
            </a:pPr>
            <a:r>
              <a:rPr lang="en-US" sz="1000" b="1" spc="110" kern="0" dirty="0">
                <a:solidFill>
                  <a:srgbClr val="0257A8"/>
                </a:solidFill>
                <a:latin typeface="Calibri" pitchFamily="34" charset="0"/>
                <a:ea typeface="Calibri" pitchFamily="34" charset="-122"/>
                <a:cs typeface="Calibri" pitchFamily="34" charset="-120"/>
              </a:rPr>
              <a:t>OPTION B · FILTER PANEL AND COMPARISON TABLE</a:t>
            </a:r>
            <a:endParaRPr lang="en-US" sz="1000" dirty="0"/>
          </a:p>
        </p:txBody>
      </p:sp>
      <p:sp>
        <p:nvSpPr>
          <p:cNvPr id="9" name="Shape 6"/>
          <p:cNvSpPr/>
          <p:nvPr/>
        </p:nvSpPr>
        <p:spPr>
          <a:xfrm>
            <a:off x="10161727" y="1481328"/>
            <a:ext cx="1371600" cy="256032"/>
          </a:xfrm>
          <a:prstGeom prst="roundRect">
            <a:avLst>
              <a:gd name="adj" fmla="val 50000"/>
            </a:avLst>
          </a:prstGeom>
          <a:solidFill>
            <a:srgbClr val="0257A8"/>
          </a:solidFill>
          <a:ln w="12700">
            <a:solidFill>
              <a:srgbClr val="0257A8"/>
            </a:solidFill>
            <a:prstDash val="solid"/>
          </a:ln>
        </p:spPr>
      </p:sp>
      <p:sp>
        <p:nvSpPr>
          <p:cNvPr id="10" name="Text 7"/>
          <p:cNvSpPr txBox="1"/>
          <p:nvPr/>
        </p:nvSpPr>
        <p:spPr>
          <a:xfrm>
            <a:off x="10161727" y="1481328"/>
            <a:ext cx="137160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RECOMMENDED</a:t>
            </a:r>
            <a:endParaRPr lang="en-US" sz="900" dirty="0"/>
          </a:p>
        </p:txBody>
      </p:sp>
      <p:sp>
        <p:nvSpPr>
          <p:cNvPr id="11" name="Shape 8"/>
          <p:cNvSpPr/>
          <p:nvPr/>
        </p:nvSpPr>
        <p:spPr>
          <a:xfrm>
            <a:off x="6297016" y="1764792"/>
            <a:ext cx="4992624" cy="3423289"/>
          </a:xfrm>
          <a:prstGeom prst="rect">
            <a:avLst/>
          </a:prstGeom>
          <a:solidFill>
            <a:srgbClr val="FFFFFF"/>
          </a:solidFill>
          <a:ln w="9525">
            <a:solidFill>
              <a:srgbClr val="D8DEE7"/>
            </a:solidFill>
            <a:prstDash val="solid"/>
          </a:ln>
        </p:spPr>
      </p:sp>
      <p:pic>
        <p:nvPicPr>
          <p:cNvPr id="12" name="Image 1" descr="assets/scheme-optB-crop.png">    </p:cNvPr>
          <p:cNvPicPr>
            <a:picLocks noChangeAspect="1"/>
          </p:cNvPicPr>
          <p:nvPr/>
        </p:nvPicPr>
        <p:blipFill>
          <a:blip r:embed="rId2"/>
          <a:stretch>
            <a:fillRect/>
          </a:stretch>
        </p:blipFill>
        <p:spPr>
          <a:xfrm>
            <a:off x="6324448" y="1792224"/>
            <a:ext cx="4937760" cy="3368425"/>
          </a:xfrm>
          <a:prstGeom prst="rect">
            <a:avLst/>
          </a:prstGeom>
        </p:spPr>
      </p:pic>
      <p:sp>
        <p:nvSpPr>
          <p:cNvPr id="13" name="Text 9"/>
          <p:cNvSpPr txBox="1"/>
          <p:nvPr/>
        </p:nvSpPr>
        <p:spPr>
          <a:xfrm>
            <a:off x="658368" y="5361817"/>
            <a:ext cx="5208880" cy="914400"/>
          </a:xfrm>
          <a:prstGeom prst="rect">
            <a:avLst/>
          </a:prstGeom>
          <a:noFill/>
          <a:ln/>
        </p:spPr>
        <p:txBody>
          <a:bodyPr wrap="square" lIns="0" tIns="0" rIns="0" bIns="0" rtlCol="0" anchor="ctr"/>
          <a:lstStyle/>
          <a:p>
            <a:pPr indent="0" marL="0">
              <a:lnSpc>
                <a:spcPct val="118000"/>
              </a:lnSpc>
              <a:buNone/>
            </a:pPr>
            <a:r>
              <a:rPr lang="en-US" sz="1150" b="1" dirty="0">
                <a:solidFill>
                  <a:srgbClr val="0257A8"/>
                </a:solidFill>
                <a:latin typeface="Calibri" pitchFamily="34" charset="0"/>
                <a:ea typeface="Calibri" pitchFamily="34" charset="-122"/>
                <a:cs typeface="Calibri" pitchFamily="34" charset="-120"/>
              </a:rPr>
              <a:t>Strengths  </a:t>
            </a:r>
            <a:pPr indent="0" marL="0">
              <a:lnSpc>
                <a:spcPct val="118000"/>
              </a:lnSpc>
              <a:buNone/>
            </a:pPr>
            <a:r>
              <a:rPr lang="en-US" sz="1150" dirty="0">
                <a:solidFill>
                  <a:srgbClr val="1A1A1A"/>
                </a:solidFill>
                <a:latin typeface="Calibri" pitchFamily="34" charset="0"/>
                <a:ea typeface="Calibri" pitchFamily="34" charset="-122"/>
                <a:cs typeface="Calibri" pitchFamily="34" charset="-120"/>
              </a:rPr>
              <a:t>All nine groups visible at once · illustrations cross languages and literacy · cards feel welcoming, not administrative.
</a:t>
            </a:r>
            <a:pPr indent="0" marL="0">
              <a:lnSpc>
                <a:spcPct val="118000"/>
              </a:lnSpc>
              <a:buNone/>
            </a:pPr>
            <a:r>
              <a:rPr lang="en-US" sz="1150" b="1" dirty="0">
                <a:solidFill>
                  <a:srgbClr val="9A3412"/>
                </a:solidFill>
                <a:latin typeface="Calibri" pitchFamily="34" charset="0"/>
                <a:ea typeface="Calibri" pitchFamily="34" charset="-122"/>
                <a:cs typeface="Calibri" pitchFamily="34" charset="-120"/>
              </a:rPr>
              <a:t>Limitations  </a:t>
            </a:r>
            <a:pPr indent="0" marL="0">
              <a:lnSpc>
                <a:spcPct val="118000"/>
              </a:lnSpc>
              <a:buNone/>
            </a:pPr>
            <a:r>
              <a:rPr lang="en-US" sz="1150" dirty="0">
                <a:solidFill>
                  <a:srgbClr val="1A1A1A"/>
                </a:solidFill>
                <a:latin typeface="Calibri" pitchFamily="34" charset="0"/>
                <a:ea typeface="Calibri" pitchFamily="34" charset="-122"/>
                <a:cs typeface="Calibri" pitchFamily="34" charset="-120"/>
              </a:rPr>
              <a:t>Far fewer schemes fit on a screen · no room for who runs it, or central versus State · two schemes cannot be compared.</a:t>
            </a:r>
            <a:endParaRPr lang="en-US" sz="1150" dirty="0"/>
          </a:p>
        </p:txBody>
      </p:sp>
      <p:sp>
        <p:nvSpPr>
          <p:cNvPr id="14" name="Text 10"/>
          <p:cNvSpPr txBox="1"/>
          <p:nvPr/>
        </p:nvSpPr>
        <p:spPr>
          <a:xfrm>
            <a:off x="6324448" y="5361817"/>
            <a:ext cx="5208880" cy="914400"/>
          </a:xfrm>
          <a:prstGeom prst="rect">
            <a:avLst/>
          </a:prstGeom>
          <a:noFill/>
          <a:ln/>
        </p:spPr>
        <p:txBody>
          <a:bodyPr wrap="square" lIns="0" tIns="0" rIns="0" bIns="0" rtlCol="0" anchor="ctr"/>
          <a:lstStyle/>
          <a:p>
            <a:pPr indent="0" marL="0">
              <a:lnSpc>
                <a:spcPct val="118000"/>
              </a:lnSpc>
              <a:buNone/>
            </a:pPr>
            <a:r>
              <a:rPr lang="en-US" sz="1150" b="1" dirty="0">
                <a:solidFill>
                  <a:srgbClr val="0257A8"/>
                </a:solidFill>
                <a:latin typeface="Calibri" pitchFamily="34" charset="0"/>
                <a:ea typeface="Calibri" pitchFamily="34" charset="-122"/>
                <a:cs typeface="Calibri" pitchFamily="34" charset="-120"/>
              </a:rPr>
              <a:t>Strengths  </a:t>
            </a:r>
            <a:pPr indent="0" marL="0">
              <a:lnSpc>
                <a:spcPct val="118000"/>
              </a:lnSpc>
              <a:buNone/>
            </a:pPr>
            <a:r>
              <a:rPr lang="en-US" sz="1150" dirty="0">
                <a:solidFill>
                  <a:srgbClr val="1A1A1A"/>
                </a:solidFill>
                <a:latin typeface="Calibri" pitchFamily="34" charset="0"/>
                <a:ea typeface="Calibri" pitchFamily="34" charset="-122"/>
                <a:cs typeface="Calibri" pitchFamily="34" charset="-120"/>
              </a:rPr>
              <a:t>Filters combine group, stage and need · shows jurisdiction · many more schemes visible and comparable · a count per filter warns of an empty result.
</a:t>
            </a:r>
            <a:pPr indent="0" marL="0">
              <a:lnSpc>
                <a:spcPct val="118000"/>
              </a:lnSpc>
              <a:buNone/>
            </a:pPr>
            <a:r>
              <a:rPr lang="en-US" sz="1150" b="1" dirty="0">
                <a:solidFill>
                  <a:srgbClr val="9A3412"/>
                </a:solidFill>
                <a:latin typeface="Calibri" pitchFamily="34" charset="0"/>
                <a:ea typeface="Calibri" pitchFamily="34" charset="-122"/>
                <a:cs typeface="Calibri" pitchFamily="34" charset="-120"/>
              </a:rPr>
              <a:t>Limitations  </a:t>
            </a:r>
            <a:pPr indent="0" marL="0">
              <a:lnSpc>
                <a:spcPct val="118000"/>
              </a:lnSpc>
              <a:buNone/>
            </a:pPr>
            <a:r>
              <a:rPr lang="en-US" sz="1150" dirty="0">
                <a:solidFill>
                  <a:srgbClr val="1A1A1A"/>
                </a:solidFill>
                <a:latin typeface="Calibri" pitchFamily="34" charset="0"/>
                <a:ea typeface="Calibri" pitchFamily="34" charset="-122"/>
                <a:cs typeface="Calibri" pitchFamily="34" charset="-120"/>
              </a:rPr>
              <a:t>A table reads as a record, not an invitation · uses the site's vocabulary · needs care on a small screen.</a:t>
            </a:r>
            <a:endParaRPr lang="en-US" sz="1150" dirty="0"/>
          </a:p>
        </p:txBody>
      </p:sp>
      <p:sp>
        <p:nvSpPr>
          <p:cNvPr id="15" name="Text 11"/>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Both screens cropped below the masthead and hero. Option A's illustrations can sit above Option B's panel if the Department wishes to keep them. Design file: Mode 1 Website / Scheme.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DECISION 03 · THE CHATBOT</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Samajik Sahayak — the Same Five Questions, in Chat</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Already built and reachable from every page. The decision is whether it carries the scheme branch, so the same five questions work in conversation.</a:t>
            </a:r>
            <a:endParaRPr lang="en-US" sz="1300" dirty="0"/>
          </a:p>
        </p:txBody>
      </p:sp>
      <p:sp>
        <p:nvSpPr>
          <p:cNvPr id="5" name="Shape 3"/>
          <p:cNvSpPr/>
          <p:nvPr/>
        </p:nvSpPr>
        <p:spPr>
          <a:xfrm>
            <a:off x="630936" y="1728216"/>
            <a:ext cx="6912864" cy="3594477"/>
          </a:xfrm>
          <a:prstGeom prst="rect">
            <a:avLst/>
          </a:prstGeom>
          <a:solidFill>
            <a:srgbClr val="FFFFFF"/>
          </a:solidFill>
          <a:ln w="9525">
            <a:solidFill>
              <a:srgbClr val="D8DEE7"/>
            </a:solidFill>
            <a:prstDash val="solid"/>
          </a:ln>
        </p:spPr>
      </p:sp>
      <p:pic>
        <p:nvPicPr>
          <p:cNvPr id="6" name="Image 0" descr="assets/chatbot-3up.png">    </p:cNvPr>
          <p:cNvPicPr>
            <a:picLocks noChangeAspect="1"/>
          </p:cNvPicPr>
          <p:nvPr/>
        </p:nvPicPr>
        <p:blipFill>
          <a:blip r:embed="rId1"/>
          <a:stretch>
            <a:fillRect/>
          </a:stretch>
        </p:blipFill>
        <p:spPr>
          <a:xfrm>
            <a:off x="658368" y="1755648"/>
            <a:ext cx="6858000" cy="3539613"/>
          </a:xfrm>
          <a:prstGeom prst="rect">
            <a:avLst/>
          </a:prstGeom>
        </p:spPr>
      </p:pic>
      <p:sp>
        <p:nvSpPr>
          <p:cNvPr id="7" name="Text 4"/>
          <p:cNvSpPr txBox="1"/>
          <p:nvPr/>
        </p:nvSpPr>
        <p:spPr>
          <a:xfrm>
            <a:off x="658368" y="5478141"/>
            <a:ext cx="6858000" cy="274320"/>
          </a:xfrm>
          <a:prstGeom prst="rect">
            <a:avLst/>
          </a:prstGeom>
          <a:noFill/>
          <a:ln/>
        </p:spPr>
        <p:txBody>
          <a:bodyPr wrap="square" lIns="0" tIns="0" rIns="0" bIns="0" rtlCol="0" anchor="ctr"/>
          <a:lstStyle/>
          <a:p>
            <a:pPr indent="0" marL="0">
              <a:lnSpc>
                <a:spcPct val="105000"/>
              </a:lnSpc>
              <a:buNone/>
            </a:pPr>
            <a:r>
              <a:rPr lang="en-US" sz="1000" dirty="0">
                <a:solidFill>
                  <a:srgbClr val="5A6472"/>
                </a:solidFill>
                <a:latin typeface="Calibri" pitchFamily="34" charset="0"/>
                <a:ea typeface="Calibri" pitchFamily="34" charset="-122"/>
                <a:cs typeface="Calibri" pitchFamily="34" charset="-120"/>
              </a:rPr>
              <a:t>Three of the six states drawn: the opening, the branch for an organisation, and the answer with schemes to open. It states plainly that it cannot decide or change an application.</a:t>
            </a:r>
            <a:endParaRPr lang="en-US" sz="1000" dirty="0"/>
          </a:p>
        </p:txBody>
      </p:sp>
      <p:sp>
        <p:nvSpPr>
          <p:cNvPr id="8" name="Text 5"/>
          <p:cNvSpPr txBox="1"/>
          <p:nvPr/>
        </p:nvSpPr>
        <p:spPr>
          <a:xfrm>
            <a:off x="7973568" y="1755648"/>
            <a:ext cx="3559759" cy="182880"/>
          </a:xfrm>
          <a:prstGeom prst="rect">
            <a:avLst/>
          </a:prstGeom>
          <a:noFill/>
          <a:ln/>
        </p:spPr>
        <p:txBody>
          <a:bodyPr wrap="square" lIns="0" tIns="0" rIns="0" bIns="0" rtlCol="0" anchor="ctr"/>
          <a:lstStyle/>
          <a:p>
            <a:pPr indent="0" marL="0">
              <a:buNone/>
            </a:pPr>
            <a:r>
              <a:rPr lang="en-US" sz="1000" b="1" spc="110" kern="0" dirty="0">
                <a:solidFill>
                  <a:srgbClr val="0257A8"/>
                </a:solidFill>
                <a:latin typeface="Calibri" pitchFamily="34" charset="0"/>
                <a:ea typeface="Calibri" pitchFamily="34" charset="-122"/>
                <a:cs typeface="Calibri" pitchFamily="34" charset="-120"/>
              </a:rPr>
              <a:t>STRENGTHS</a:t>
            </a:r>
            <a:endParaRPr lang="en-US" sz="1000" dirty="0"/>
          </a:p>
        </p:txBody>
      </p:sp>
      <p:sp>
        <p:nvSpPr>
          <p:cNvPr id="9" name="Text 6"/>
          <p:cNvSpPr txBox="1"/>
          <p:nvPr/>
        </p:nvSpPr>
        <p:spPr>
          <a:xfrm>
            <a:off x="7973568" y="1975104"/>
            <a:ext cx="3559759" cy="981456"/>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Reachable from every page, including dead ends</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One question per screen suits a mobile phone</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Works in Hindi without a second layout</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Already built; only the scheme branch is new</a:t>
            </a:r>
            <a:endParaRPr lang="en-US" sz="1200" dirty="0"/>
          </a:p>
        </p:txBody>
      </p:sp>
      <p:sp>
        <p:nvSpPr>
          <p:cNvPr id="10" name="Text 7"/>
          <p:cNvSpPr txBox="1"/>
          <p:nvPr/>
        </p:nvSpPr>
        <p:spPr>
          <a:xfrm>
            <a:off x="7973568" y="3121152"/>
            <a:ext cx="3559759" cy="182880"/>
          </a:xfrm>
          <a:prstGeom prst="rect">
            <a:avLst/>
          </a:prstGeom>
          <a:noFill/>
          <a:ln/>
        </p:spPr>
        <p:txBody>
          <a:bodyPr wrap="square" lIns="0" tIns="0" rIns="0" bIns="0" rtlCol="0" anchor="ctr"/>
          <a:lstStyle/>
          <a:p>
            <a:pPr indent="0" marL="0">
              <a:buNone/>
            </a:pPr>
            <a:r>
              <a:rPr lang="en-US" sz="1000" b="1" spc="110" kern="0" dirty="0">
                <a:solidFill>
                  <a:srgbClr val="9A3412"/>
                </a:solidFill>
                <a:latin typeface="Calibri" pitchFamily="34" charset="0"/>
                <a:ea typeface="Calibri" pitchFamily="34" charset="-122"/>
                <a:cs typeface="Calibri" pitchFamily="34" charset="-120"/>
              </a:rPr>
              <a:t>LIMITATIONS</a:t>
            </a:r>
            <a:endParaRPr lang="en-US" sz="1000" dirty="0"/>
          </a:p>
        </p:txBody>
      </p:sp>
      <p:sp>
        <p:nvSpPr>
          <p:cNvPr id="11" name="Text 8"/>
          <p:cNvSpPr txBox="1"/>
          <p:nvPr/>
        </p:nvSpPr>
        <p:spPr>
          <a:xfrm>
            <a:off x="7973568" y="3340608"/>
            <a:ext cx="3559759" cy="749808"/>
          </a:xfrm>
          <a:prstGeom prst="rect">
            <a:avLst/>
          </a:prstGeom>
          <a:noFill/>
          <a:ln/>
        </p:spPr>
        <p:txBody>
          <a:bodyPr wrap="square" lIns="0" tIns="0" rIns="0" bIns="0" rtlCol="0" anchor="ctr"/>
          <a:lstStyle/>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A corner button is found only by those looking</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Covers the page on a small screen</a:t>
            </a:r>
            <a:endParaRPr lang="en-US" sz="1200" dirty="0"/>
          </a:p>
          <a:p>
            <a:pPr marL="342900" indent="-342900">
              <a:lnSpc>
                <a:spcPct val="114000"/>
              </a:lnSpc>
              <a:spcAft>
                <a:spcPts val="300"/>
              </a:spcAft>
              <a:buSzPct val="100000"/>
              <a:buChar char="•"/>
            </a:pPr>
            <a:r>
              <a:rPr lang="en-US" sz="1200" dirty="0">
                <a:solidFill>
                  <a:srgbClr val="1A1A1A"/>
                </a:solidFill>
                <a:latin typeface="Calibri" pitchFamily="34" charset="0"/>
                <a:ea typeface="Calibri" pitchFamily="34" charset="-122"/>
                <a:cs typeface="Calibri" pitchFamily="34" charset="-120"/>
              </a:rPr>
              <a:t>Harder to review with a screen reader</a:t>
            </a:r>
            <a:endParaRPr lang="en-US" sz="1200" dirty="0"/>
          </a:p>
        </p:txBody>
      </p:sp>
      <p:sp>
        <p:nvSpPr>
          <p:cNvPr id="12" name="Text 9"/>
          <p:cNvSpPr txBox="1"/>
          <p:nvPr/>
        </p:nvSpPr>
        <p:spPr>
          <a:xfrm>
            <a:off x="658368" y="5943600"/>
            <a:ext cx="10874959" cy="274320"/>
          </a:xfrm>
          <a:prstGeom prst="rect">
            <a:avLst/>
          </a:prstGeom>
          <a:noFill/>
          <a:ln/>
        </p:spPr>
        <p:txBody>
          <a:bodyPr wrap="square" lIns="0" tIns="0" rIns="0" bIns="0" rtlCol="0" anchor="ctr"/>
          <a:lstStyle/>
          <a:p>
            <a:pPr indent="0" marL="0">
              <a:buNone/>
            </a:pPr>
            <a:r>
              <a:rPr lang="en-US" sz="1250" b="1" dirty="0">
                <a:solidFill>
                  <a:srgbClr val="003366"/>
                </a:solidFill>
                <a:latin typeface="Calibri" pitchFamily="34" charset="0"/>
                <a:ea typeface="Calibri" pitchFamily="34" charset="-122"/>
                <a:cs typeface="Calibri" pitchFamily="34" charset="-120"/>
              </a:rPr>
              <a:t>The chatbot is a companion, not a substitute. It reaches the citizen who is already lost on a page; it does not replace a route from the homepage.</a:t>
            </a:r>
            <a:endParaRPr lang="en-US" sz="1250" dirty="0"/>
          </a:p>
        </p:txBody>
      </p:sp>
      <p:sp>
        <p:nvSpPr>
          <p:cNvPr id="13" name="Text 10"/>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Design file: Mode 2 Chatbot / Option A.</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THE SAME THREE JOURNEYS</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The Same Three People, After the Change</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Same three people, same order, same layout as the earlier slide. Every one now ends somewhere they can act.</a:t>
            </a:r>
            <a:endParaRPr lang="en-US" sz="1300" dirty="0"/>
          </a:p>
        </p:txBody>
      </p:sp>
      <p:sp>
        <p:nvSpPr>
          <p:cNvPr id="5" name="Shape 3"/>
          <p:cNvSpPr/>
          <p:nvPr/>
        </p:nvSpPr>
        <p:spPr>
          <a:xfrm>
            <a:off x="658368" y="1755648"/>
            <a:ext cx="3429914" cy="4334256"/>
          </a:xfrm>
          <a:prstGeom prst="rect">
            <a:avLst/>
          </a:prstGeom>
          <a:solidFill>
            <a:srgbClr val="F5F7FA"/>
          </a:solidFill>
          <a:ln w="9525">
            <a:solidFill>
              <a:srgbClr val="D8DEE7"/>
            </a:solidFill>
            <a:prstDash val="solid"/>
          </a:ln>
        </p:spPr>
      </p:sp>
      <p:sp>
        <p:nvSpPr>
          <p:cNvPr id="6" name="Text 4"/>
          <p:cNvSpPr txBox="1"/>
          <p:nvPr/>
        </p:nvSpPr>
        <p:spPr>
          <a:xfrm>
            <a:off x="932688" y="1993392"/>
            <a:ext cx="2881274" cy="310896"/>
          </a:xfrm>
          <a:prstGeom prst="rect">
            <a:avLst/>
          </a:prstGeom>
          <a:noFill/>
          <a:ln/>
        </p:spPr>
        <p:txBody>
          <a:bodyPr wrap="square" lIns="0" tIns="0" rIns="0" bIns="0" rtlCol="0" anchor="ctr"/>
          <a:lstStyle/>
          <a:p>
            <a:pPr indent="0" marL="0">
              <a:buNone/>
            </a:pPr>
            <a:r>
              <a:rPr lang="en-US" sz="2000" b="1" dirty="0">
                <a:solidFill>
                  <a:srgbClr val="003366"/>
                </a:solidFill>
                <a:latin typeface="Cambria" pitchFamily="34" charset="0"/>
                <a:ea typeface="Cambria" pitchFamily="34" charset="-122"/>
                <a:cs typeface="Cambria" pitchFamily="34" charset="-120"/>
              </a:rPr>
              <a:t>Meena, 17</a:t>
            </a:r>
            <a:endParaRPr lang="en-US" sz="2000" dirty="0"/>
          </a:p>
        </p:txBody>
      </p:sp>
      <p:sp>
        <p:nvSpPr>
          <p:cNvPr id="7" name="Text 5"/>
          <p:cNvSpPr txBox="1"/>
          <p:nvPr/>
        </p:nvSpPr>
        <p:spPr>
          <a:xfrm>
            <a:off x="932688" y="2322576"/>
            <a:ext cx="2881274" cy="292608"/>
          </a:xfrm>
          <a:prstGeom prst="rect">
            <a:avLst/>
          </a:prstGeom>
          <a:noFill/>
          <a:ln/>
        </p:spPr>
        <p:txBody>
          <a:bodyPr wrap="square" lIns="0" tIns="0" rIns="0" bIns="0" rtlCol="0" anchor="ctr"/>
          <a:lstStyle/>
          <a:p>
            <a:pPr indent="0" marL="0">
              <a:lnSpc>
                <a:spcPct val="110000"/>
              </a:lnSpc>
              <a:buNone/>
            </a:pPr>
            <a:r>
              <a:rPr lang="en-US" sz="1150" dirty="0">
                <a:solidFill>
                  <a:srgbClr val="5A6472"/>
                </a:solidFill>
                <a:latin typeface="Calibri" pitchFamily="34" charset="0"/>
                <a:ea typeface="Calibri" pitchFamily="34" charset="-122"/>
                <a:cs typeface="Calibri" pitchFamily="34" charset="-120"/>
              </a:rPr>
              <a:t>Scheduled Caste, class 12, small town</a:t>
            </a:r>
            <a:endParaRPr lang="en-US" sz="1150" dirty="0"/>
          </a:p>
        </p:txBody>
      </p:sp>
      <p:sp>
        <p:nvSpPr>
          <p:cNvPr id="8" name="Shape 6"/>
          <p:cNvSpPr/>
          <p:nvPr/>
        </p:nvSpPr>
        <p:spPr>
          <a:xfrm>
            <a:off x="932688" y="2688336"/>
            <a:ext cx="2881274" cy="0"/>
          </a:xfrm>
          <a:prstGeom prst="line">
            <a:avLst/>
          </a:prstGeom>
          <a:noFill/>
          <a:ln w="9525">
            <a:solidFill>
              <a:srgbClr val="D8DEE7"/>
            </a:solidFill>
            <a:prstDash val="solid"/>
          </a:ln>
        </p:spPr>
      </p:sp>
      <p:sp>
        <p:nvSpPr>
          <p:cNvPr id="9" name="Text 7"/>
          <p:cNvSpPr txBox="1"/>
          <p:nvPr/>
        </p:nvSpPr>
        <p:spPr>
          <a:xfrm>
            <a:off x="932688" y="2779776"/>
            <a:ext cx="2881274" cy="603504"/>
          </a:xfrm>
          <a:prstGeom prst="rect">
            <a:avLst/>
          </a:prstGeom>
          <a:noFill/>
          <a:ln/>
        </p:spPr>
        <p:txBody>
          <a:bodyPr wrap="square" lIns="0" tIns="0" rIns="0" bIns="0" rtlCol="0" anchor="ctr"/>
          <a:lstStyle/>
          <a:p>
            <a:pPr indent="0" marL="0">
              <a:buNone/>
            </a:pPr>
            <a:r>
              <a:rPr lang="en-US" sz="3800" b="1" dirty="0">
                <a:solidFill>
                  <a:srgbClr val="0257A8"/>
                </a:solidFill>
                <a:latin typeface="Cambria" pitchFamily="34" charset="0"/>
                <a:ea typeface="Cambria" pitchFamily="34" charset="-122"/>
                <a:cs typeface="Cambria" pitchFamily="34" charset="-120"/>
              </a:rPr>
              <a:t>4</a:t>
            </a:r>
            <a:endParaRPr lang="en-US" sz="3800" dirty="0"/>
          </a:p>
        </p:txBody>
      </p:sp>
      <p:sp>
        <p:nvSpPr>
          <p:cNvPr id="10" name="Text 8"/>
          <p:cNvSpPr txBox="1"/>
          <p:nvPr/>
        </p:nvSpPr>
        <p:spPr>
          <a:xfrm>
            <a:off x="932688" y="3364992"/>
            <a:ext cx="2881274"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steps, and no dead ends</a:t>
            </a:r>
            <a:endParaRPr lang="en-US" sz="1200" dirty="0"/>
          </a:p>
        </p:txBody>
      </p:sp>
      <p:sp>
        <p:nvSpPr>
          <p:cNvPr id="11" name="Text 9"/>
          <p:cNvSpPr txBox="1"/>
          <p:nvPr/>
        </p:nvSpPr>
        <p:spPr>
          <a:xfrm>
            <a:off x="932688" y="3712464"/>
            <a:ext cx="2881274" cy="1517904"/>
          </a:xfrm>
          <a:prstGeom prst="rect">
            <a:avLst/>
          </a:prstGeom>
          <a:noFill/>
          <a:ln/>
        </p:spPr>
        <p:txBody>
          <a:bodyPr wrap="square" lIns="0" tIns="0" rIns="0" bIns="0" rtlCol="0" anchor="ctr"/>
          <a:lstStyle/>
          <a:p>
            <a:pPr indent="0" marL="0">
              <a:lnSpc>
                <a:spcPct val="122000"/>
              </a:lnSpc>
              <a:buNone/>
            </a:pPr>
            <a:r>
              <a:rPr lang="en-US" sz="1150" dirty="0">
                <a:solidFill>
                  <a:srgbClr val="1A1A1A"/>
                </a:solidFill>
                <a:latin typeface="Calibri" pitchFamily="34" charset="0"/>
                <a:ea typeface="Calibri" pitchFamily="34" charset="-122"/>
                <a:cs typeface="Calibri" pitchFamily="34" charset="-120"/>
              </a:rPr>
              <a:t>Answers five questions — myself, Scheduled Caste, in school, education and fees, Bihar — and gets four matched schemes with Post-Matric first, each stating what you get, who can apply and what you will need, ending on Apply on National Scholarship Portal.</a:t>
            </a:r>
            <a:endParaRPr lang="en-US" sz="1150" dirty="0"/>
          </a:p>
        </p:txBody>
      </p:sp>
      <p:sp>
        <p:nvSpPr>
          <p:cNvPr id="12" name="Shape 10"/>
          <p:cNvSpPr/>
          <p:nvPr/>
        </p:nvSpPr>
        <p:spPr>
          <a:xfrm>
            <a:off x="932688" y="5285232"/>
            <a:ext cx="2881274" cy="0"/>
          </a:xfrm>
          <a:prstGeom prst="line">
            <a:avLst/>
          </a:prstGeom>
          <a:noFill/>
          <a:ln w="9525">
            <a:solidFill>
              <a:srgbClr val="D8DEE7"/>
            </a:solidFill>
            <a:prstDash val="solid"/>
          </a:ln>
        </p:spPr>
      </p:sp>
      <p:sp>
        <p:nvSpPr>
          <p:cNvPr id="13" name="Text 11"/>
          <p:cNvSpPr txBox="1"/>
          <p:nvPr/>
        </p:nvSpPr>
        <p:spPr>
          <a:xfrm>
            <a:off x="932688" y="5358384"/>
            <a:ext cx="2881274" cy="182880"/>
          </a:xfrm>
          <a:prstGeom prst="rect">
            <a:avLst/>
          </a:prstGeom>
          <a:noFill/>
          <a:ln/>
        </p:spPr>
        <p:txBody>
          <a:bodyPr wrap="square" lIns="0" tIns="0" rIns="0" bIns="0" rtlCol="0" anchor="ctr"/>
          <a:lstStyle/>
          <a:p>
            <a:pPr indent="0" marL="0">
              <a:buNone/>
            </a:pPr>
            <a:r>
              <a:rPr lang="en-US" sz="900" b="1" spc="110" kern="0" dirty="0">
                <a:solidFill>
                  <a:srgbClr val="5A6472"/>
                </a:solidFill>
                <a:latin typeface="Calibri" pitchFamily="34" charset="0"/>
                <a:ea typeface="Calibri" pitchFamily="34" charset="-122"/>
                <a:cs typeface="Calibri" pitchFamily="34" charset="-120"/>
              </a:rPr>
              <a:t>OUTCOME</a:t>
            </a:r>
            <a:endParaRPr lang="en-US" sz="900" dirty="0"/>
          </a:p>
        </p:txBody>
      </p:sp>
      <p:sp>
        <p:nvSpPr>
          <p:cNvPr id="14" name="Text 12"/>
          <p:cNvSpPr txBox="1"/>
          <p:nvPr/>
        </p:nvSpPr>
        <p:spPr>
          <a:xfrm>
            <a:off x="932688" y="5541264"/>
            <a:ext cx="2881274" cy="347472"/>
          </a:xfrm>
          <a:prstGeom prst="rect">
            <a:avLst/>
          </a:prstGeom>
          <a:noFill/>
          <a:ln/>
        </p:spPr>
        <p:txBody>
          <a:bodyPr wrap="square" lIns="0" tIns="0" rIns="0" bIns="0" rtlCol="0" anchor="ctr"/>
          <a:lstStyle/>
          <a:p>
            <a:pPr indent="0" marL="0">
              <a:lnSpc>
                <a:spcPct val="110000"/>
              </a:lnSpc>
              <a:buNone/>
            </a:pPr>
            <a:r>
              <a:rPr lang="en-US" sz="1250" b="1" dirty="0">
                <a:solidFill>
                  <a:srgbClr val="0257A8"/>
                </a:solidFill>
                <a:latin typeface="Calibri" pitchFamily="34" charset="0"/>
                <a:ea typeface="Calibri" pitchFamily="34" charset="-122"/>
                <a:cs typeface="Calibri" pitchFamily="34" charset="-120"/>
              </a:rPr>
              <a:t>Application started</a:t>
            </a:r>
            <a:endParaRPr lang="en-US" sz="1250" dirty="0"/>
          </a:p>
        </p:txBody>
      </p:sp>
      <p:sp>
        <p:nvSpPr>
          <p:cNvPr id="15" name="Shape 13"/>
          <p:cNvSpPr/>
          <p:nvPr/>
        </p:nvSpPr>
        <p:spPr>
          <a:xfrm>
            <a:off x="4380890" y="1755648"/>
            <a:ext cx="3429914" cy="4334256"/>
          </a:xfrm>
          <a:prstGeom prst="rect">
            <a:avLst/>
          </a:prstGeom>
          <a:solidFill>
            <a:srgbClr val="F5F7FA"/>
          </a:solidFill>
          <a:ln w="9525">
            <a:solidFill>
              <a:srgbClr val="D8DEE7"/>
            </a:solidFill>
            <a:prstDash val="solid"/>
          </a:ln>
        </p:spPr>
      </p:sp>
      <p:sp>
        <p:nvSpPr>
          <p:cNvPr id="16" name="Text 14"/>
          <p:cNvSpPr txBox="1"/>
          <p:nvPr/>
        </p:nvSpPr>
        <p:spPr>
          <a:xfrm>
            <a:off x="4655210" y="1993392"/>
            <a:ext cx="2881274" cy="310896"/>
          </a:xfrm>
          <a:prstGeom prst="rect">
            <a:avLst/>
          </a:prstGeom>
          <a:noFill/>
          <a:ln/>
        </p:spPr>
        <p:txBody>
          <a:bodyPr wrap="square" lIns="0" tIns="0" rIns="0" bIns="0" rtlCol="0" anchor="ctr"/>
          <a:lstStyle/>
          <a:p>
            <a:pPr indent="0" marL="0">
              <a:buNone/>
            </a:pPr>
            <a:r>
              <a:rPr lang="en-US" sz="2000" b="1" dirty="0">
                <a:solidFill>
                  <a:srgbClr val="003366"/>
                </a:solidFill>
                <a:latin typeface="Cambria" pitchFamily="34" charset="0"/>
                <a:ea typeface="Cambria" pitchFamily="34" charset="-122"/>
                <a:cs typeface="Cambria" pitchFamily="34" charset="-120"/>
              </a:rPr>
              <a:t>Ramesh, 42</a:t>
            </a:r>
            <a:endParaRPr lang="en-US" sz="2000" dirty="0"/>
          </a:p>
        </p:txBody>
      </p:sp>
      <p:sp>
        <p:nvSpPr>
          <p:cNvPr id="17" name="Text 15"/>
          <p:cNvSpPr txBox="1"/>
          <p:nvPr/>
        </p:nvSpPr>
        <p:spPr>
          <a:xfrm>
            <a:off x="4655210" y="2322576"/>
            <a:ext cx="2881274" cy="292608"/>
          </a:xfrm>
          <a:prstGeom prst="rect">
            <a:avLst/>
          </a:prstGeom>
          <a:noFill/>
          <a:ln/>
        </p:spPr>
        <p:txBody>
          <a:bodyPr wrap="square" lIns="0" tIns="0" rIns="0" bIns="0" rtlCol="0" anchor="ctr"/>
          <a:lstStyle/>
          <a:p>
            <a:pPr indent="0" marL="0">
              <a:lnSpc>
                <a:spcPct val="110000"/>
              </a:lnSpc>
              <a:buNone/>
            </a:pPr>
            <a:r>
              <a:rPr lang="en-US" sz="1150" dirty="0">
                <a:solidFill>
                  <a:srgbClr val="5A6472"/>
                </a:solidFill>
                <a:latin typeface="Calibri" pitchFamily="34" charset="0"/>
                <a:ea typeface="Calibri" pitchFamily="34" charset="-122"/>
                <a:cs typeface="Calibri" pitchFamily="34" charset="-120"/>
              </a:rPr>
              <a:t>Sewer worker seeking rehabilitation finance</a:t>
            </a:r>
            <a:endParaRPr lang="en-US" sz="1150" dirty="0"/>
          </a:p>
        </p:txBody>
      </p:sp>
      <p:sp>
        <p:nvSpPr>
          <p:cNvPr id="18" name="Shape 16"/>
          <p:cNvSpPr/>
          <p:nvPr/>
        </p:nvSpPr>
        <p:spPr>
          <a:xfrm>
            <a:off x="4655210" y="2688336"/>
            <a:ext cx="2881274" cy="0"/>
          </a:xfrm>
          <a:prstGeom prst="line">
            <a:avLst/>
          </a:prstGeom>
          <a:noFill/>
          <a:ln w="9525">
            <a:solidFill>
              <a:srgbClr val="D8DEE7"/>
            </a:solidFill>
            <a:prstDash val="solid"/>
          </a:ln>
        </p:spPr>
      </p:sp>
      <p:sp>
        <p:nvSpPr>
          <p:cNvPr id="19" name="Text 17"/>
          <p:cNvSpPr txBox="1"/>
          <p:nvPr/>
        </p:nvSpPr>
        <p:spPr>
          <a:xfrm>
            <a:off x="4655210" y="2779776"/>
            <a:ext cx="2881274" cy="603504"/>
          </a:xfrm>
          <a:prstGeom prst="rect">
            <a:avLst/>
          </a:prstGeom>
          <a:noFill/>
          <a:ln/>
        </p:spPr>
        <p:txBody>
          <a:bodyPr wrap="square" lIns="0" tIns="0" rIns="0" bIns="0" rtlCol="0" anchor="ctr"/>
          <a:lstStyle/>
          <a:p>
            <a:pPr indent="0" marL="0">
              <a:buNone/>
            </a:pPr>
            <a:r>
              <a:rPr lang="en-US" sz="3800" b="1" dirty="0">
                <a:solidFill>
                  <a:srgbClr val="0257A8"/>
                </a:solidFill>
                <a:latin typeface="Cambria" pitchFamily="34" charset="0"/>
                <a:ea typeface="Cambria" pitchFamily="34" charset="-122"/>
                <a:cs typeface="Cambria" pitchFamily="34" charset="-120"/>
              </a:rPr>
              <a:t>3</a:t>
            </a:r>
            <a:endParaRPr lang="en-US" sz="3800" dirty="0"/>
          </a:p>
        </p:txBody>
      </p:sp>
      <p:sp>
        <p:nvSpPr>
          <p:cNvPr id="20" name="Text 18"/>
          <p:cNvSpPr txBox="1"/>
          <p:nvPr/>
        </p:nvSpPr>
        <p:spPr>
          <a:xfrm>
            <a:off x="4655210" y="3364992"/>
            <a:ext cx="2881274"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schemes, then a phone number</a:t>
            </a:r>
            <a:endParaRPr lang="en-US" sz="1200" dirty="0"/>
          </a:p>
        </p:txBody>
      </p:sp>
      <p:sp>
        <p:nvSpPr>
          <p:cNvPr id="21" name="Text 19"/>
          <p:cNvSpPr txBox="1"/>
          <p:nvPr/>
        </p:nvSpPr>
        <p:spPr>
          <a:xfrm>
            <a:off x="4655210" y="3712464"/>
            <a:ext cx="2881274" cy="1517904"/>
          </a:xfrm>
          <a:prstGeom prst="rect">
            <a:avLst/>
          </a:prstGeom>
          <a:noFill/>
          <a:ln/>
        </p:spPr>
        <p:txBody>
          <a:bodyPr wrap="square" lIns="0" tIns="0" rIns="0" bIns="0" rtlCol="0" anchor="ctr"/>
          <a:lstStyle/>
          <a:p>
            <a:pPr indent="0" marL="0">
              <a:lnSpc>
                <a:spcPct val="122000"/>
              </a:lnSpc>
              <a:buNone/>
            </a:pPr>
            <a:r>
              <a:rPr lang="en-US" sz="1150" dirty="0">
                <a:solidFill>
                  <a:srgbClr val="1A1A1A"/>
                </a:solidFill>
                <a:latin typeface="Calibri" pitchFamily="34" charset="0"/>
                <a:ea typeface="Calibri" pitchFamily="34" charset="-122"/>
                <a:cs typeface="Calibri" pitchFamily="34" charset="-120"/>
              </a:rPr>
              <a:t>The safai karamcharis and sanitation workers landing opens on NAMASTE, SRMS through NSKFDC and Swachhta Udyami Yojana, then Where to apply near you gives him his State Channelising Agency, with a telephone number.</a:t>
            </a:r>
            <a:endParaRPr lang="en-US" sz="1150" dirty="0"/>
          </a:p>
        </p:txBody>
      </p:sp>
      <p:sp>
        <p:nvSpPr>
          <p:cNvPr id="22" name="Shape 20"/>
          <p:cNvSpPr/>
          <p:nvPr/>
        </p:nvSpPr>
        <p:spPr>
          <a:xfrm>
            <a:off x="4655210" y="5285232"/>
            <a:ext cx="2881274" cy="0"/>
          </a:xfrm>
          <a:prstGeom prst="line">
            <a:avLst/>
          </a:prstGeom>
          <a:noFill/>
          <a:ln w="9525">
            <a:solidFill>
              <a:srgbClr val="D8DEE7"/>
            </a:solidFill>
            <a:prstDash val="solid"/>
          </a:ln>
        </p:spPr>
      </p:sp>
      <p:sp>
        <p:nvSpPr>
          <p:cNvPr id="23" name="Text 21"/>
          <p:cNvSpPr txBox="1"/>
          <p:nvPr/>
        </p:nvSpPr>
        <p:spPr>
          <a:xfrm>
            <a:off x="4655210" y="5358384"/>
            <a:ext cx="2881274" cy="182880"/>
          </a:xfrm>
          <a:prstGeom prst="rect">
            <a:avLst/>
          </a:prstGeom>
          <a:noFill/>
          <a:ln/>
        </p:spPr>
        <p:txBody>
          <a:bodyPr wrap="square" lIns="0" tIns="0" rIns="0" bIns="0" rtlCol="0" anchor="ctr"/>
          <a:lstStyle/>
          <a:p>
            <a:pPr indent="0" marL="0">
              <a:buNone/>
            </a:pPr>
            <a:r>
              <a:rPr lang="en-US" sz="900" b="1" spc="110" kern="0" dirty="0">
                <a:solidFill>
                  <a:srgbClr val="5A6472"/>
                </a:solidFill>
                <a:latin typeface="Calibri" pitchFamily="34" charset="0"/>
                <a:ea typeface="Calibri" pitchFamily="34" charset="-122"/>
                <a:cs typeface="Calibri" pitchFamily="34" charset="-120"/>
              </a:rPr>
              <a:t>OUTCOME</a:t>
            </a:r>
            <a:endParaRPr lang="en-US" sz="900" dirty="0"/>
          </a:p>
        </p:txBody>
      </p:sp>
      <p:sp>
        <p:nvSpPr>
          <p:cNvPr id="24" name="Text 22"/>
          <p:cNvSpPr txBox="1"/>
          <p:nvPr/>
        </p:nvSpPr>
        <p:spPr>
          <a:xfrm>
            <a:off x="4655210" y="5541264"/>
            <a:ext cx="2881274" cy="347472"/>
          </a:xfrm>
          <a:prstGeom prst="rect">
            <a:avLst/>
          </a:prstGeom>
          <a:noFill/>
          <a:ln/>
        </p:spPr>
        <p:txBody>
          <a:bodyPr wrap="square" lIns="0" tIns="0" rIns="0" bIns="0" rtlCol="0" anchor="ctr"/>
          <a:lstStyle/>
          <a:p>
            <a:pPr indent="0" marL="0">
              <a:lnSpc>
                <a:spcPct val="110000"/>
              </a:lnSpc>
              <a:buNone/>
            </a:pPr>
            <a:r>
              <a:rPr lang="en-US" sz="1250" b="1" dirty="0">
                <a:solidFill>
                  <a:srgbClr val="0257A8"/>
                </a:solidFill>
                <a:latin typeface="Calibri" pitchFamily="34" charset="0"/>
                <a:ea typeface="Calibri" pitchFamily="34" charset="-122"/>
                <a:cs typeface="Calibri" pitchFamily="34" charset="-120"/>
              </a:rPr>
              <a:t>Sent to his State agency</a:t>
            </a:r>
            <a:endParaRPr lang="en-US" sz="1250" dirty="0"/>
          </a:p>
        </p:txBody>
      </p:sp>
      <p:sp>
        <p:nvSpPr>
          <p:cNvPr id="25" name="Shape 23"/>
          <p:cNvSpPr/>
          <p:nvPr/>
        </p:nvSpPr>
        <p:spPr>
          <a:xfrm>
            <a:off x="8103413" y="1755648"/>
            <a:ext cx="3429914" cy="4334256"/>
          </a:xfrm>
          <a:prstGeom prst="rect">
            <a:avLst/>
          </a:prstGeom>
          <a:solidFill>
            <a:srgbClr val="F5F7FA"/>
          </a:solidFill>
          <a:ln w="9525">
            <a:solidFill>
              <a:srgbClr val="D8DEE7"/>
            </a:solidFill>
            <a:prstDash val="solid"/>
          </a:ln>
        </p:spPr>
      </p:sp>
      <p:sp>
        <p:nvSpPr>
          <p:cNvPr id="26" name="Text 24"/>
          <p:cNvSpPr txBox="1"/>
          <p:nvPr/>
        </p:nvSpPr>
        <p:spPr>
          <a:xfrm>
            <a:off x="8377733" y="1993392"/>
            <a:ext cx="2881274" cy="310896"/>
          </a:xfrm>
          <a:prstGeom prst="rect">
            <a:avLst/>
          </a:prstGeom>
          <a:noFill/>
          <a:ln/>
        </p:spPr>
        <p:txBody>
          <a:bodyPr wrap="square" lIns="0" tIns="0" rIns="0" bIns="0" rtlCol="0" anchor="ctr"/>
          <a:lstStyle/>
          <a:p>
            <a:pPr indent="0" marL="0">
              <a:buNone/>
            </a:pPr>
            <a:r>
              <a:rPr lang="en-US" sz="2000" b="1" dirty="0">
                <a:solidFill>
                  <a:srgbClr val="003366"/>
                </a:solidFill>
                <a:latin typeface="Cambria" pitchFamily="34" charset="0"/>
                <a:ea typeface="Cambria" pitchFamily="34" charset="-122"/>
                <a:cs typeface="Cambria" pitchFamily="34" charset="-120"/>
              </a:rPr>
              <a:t>Lata, 34</a:t>
            </a:r>
            <a:endParaRPr lang="en-US" sz="2000" dirty="0"/>
          </a:p>
        </p:txBody>
      </p:sp>
      <p:sp>
        <p:nvSpPr>
          <p:cNvPr id="27" name="Text 25"/>
          <p:cNvSpPr txBox="1"/>
          <p:nvPr/>
        </p:nvSpPr>
        <p:spPr>
          <a:xfrm>
            <a:off x="8377733" y="2322576"/>
            <a:ext cx="2881274" cy="292608"/>
          </a:xfrm>
          <a:prstGeom prst="rect">
            <a:avLst/>
          </a:prstGeom>
          <a:noFill/>
          <a:ln/>
        </p:spPr>
        <p:txBody>
          <a:bodyPr wrap="square" lIns="0" tIns="0" rIns="0" bIns="0" rtlCol="0" anchor="ctr"/>
          <a:lstStyle/>
          <a:p>
            <a:pPr indent="0" marL="0">
              <a:lnSpc>
                <a:spcPct val="110000"/>
              </a:lnSpc>
              <a:buNone/>
            </a:pPr>
            <a:r>
              <a:rPr lang="en-US" sz="1150" dirty="0">
                <a:solidFill>
                  <a:srgbClr val="5A6472"/>
                </a:solidFill>
                <a:latin typeface="Calibri" pitchFamily="34" charset="0"/>
                <a:ea typeface="Calibri" pitchFamily="34" charset="-122"/>
                <a:cs typeface="Calibri" pitchFamily="34" charset="-120"/>
              </a:rPr>
              <a:t>Caring for her mother, aged 71</a:t>
            </a:r>
            <a:endParaRPr lang="en-US" sz="1150" dirty="0"/>
          </a:p>
        </p:txBody>
      </p:sp>
      <p:sp>
        <p:nvSpPr>
          <p:cNvPr id="28" name="Shape 26"/>
          <p:cNvSpPr/>
          <p:nvPr/>
        </p:nvSpPr>
        <p:spPr>
          <a:xfrm>
            <a:off x="8377733" y="2688336"/>
            <a:ext cx="2881274" cy="0"/>
          </a:xfrm>
          <a:prstGeom prst="line">
            <a:avLst/>
          </a:prstGeom>
          <a:noFill/>
          <a:ln w="9525">
            <a:solidFill>
              <a:srgbClr val="D8DEE7"/>
            </a:solidFill>
            <a:prstDash val="solid"/>
          </a:ln>
        </p:spPr>
      </p:sp>
      <p:sp>
        <p:nvSpPr>
          <p:cNvPr id="29" name="Text 27"/>
          <p:cNvSpPr txBox="1"/>
          <p:nvPr/>
        </p:nvSpPr>
        <p:spPr>
          <a:xfrm>
            <a:off x="8377733" y="2779776"/>
            <a:ext cx="2881274" cy="603504"/>
          </a:xfrm>
          <a:prstGeom prst="rect">
            <a:avLst/>
          </a:prstGeom>
          <a:noFill/>
          <a:ln/>
        </p:spPr>
        <p:txBody>
          <a:bodyPr wrap="square" lIns="0" tIns="0" rIns="0" bIns="0" rtlCol="0" anchor="ctr"/>
          <a:lstStyle/>
          <a:p>
            <a:pPr indent="0" marL="0">
              <a:buNone/>
            </a:pPr>
            <a:r>
              <a:rPr lang="en-US" sz="3800" b="1" dirty="0">
                <a:solidFill>
                  <a:srgbClr val="0257A8"/>
                </a:solidFill>
                <a:latin typeface="Cambria" pitchFamily="34" charset="0"/>
                <a:ea typeface="Cambria" pitchFamily="34" charset="-122"/>
                <a:cs typeface="Cambria" pitchFamily="34" charset="-120"/>
              </a:rPr>
              <a:t>14567</a:t>
            </a:r>
            <a:endParaRPr lang="en-US" sz="3800" dirty="0"/>
          </a:p>
        </p:txBody>
      </p:sp>
      <p:sp>
        <p:nvSpPr>
          <p:cNvPr id="30" name="Text 28"/>
          <p:cNvSpPr txBox="1"/>
          <p:nvPr/>
        </p:nvSpPr>
        <p:spPr>
          <a:xfrm>
            <a:off x="8377733" y="3364992"/>
            <a:ext cx="2881274" cy="274320"/>
          </a:xfrm>
          <a:prstGeom prst="rect">
            <a:avLst/>
          </a:prstGeom>
          <a:noFill/>
          <a:ln/>
        </p:spPr>
        <p:txBody>
          <a:bodyPr wrap="square" lIns="0" tIns="0" rIns="0" bIns="0" rtlCol="0" anchor="ctr"/>
          <a:lstStyle/>
          <a:p>
            <a:pPr indent="0" marL="0">
              <a:buNone/>
            </a:pPr>
            <a:r>
              <a:rPr lang="en-US" sz="1200" dirty="0">
                <a:solidFill>
                  <a:srgbClr val="5A6472"/>
                </a:solidFill>
                <a:latin typeface="Calibri" pitchFamily="34" charset="0"/>
                <a:ea typeface="Calibri" pitchFamily="34" charset="-122"/>
                <a:cs typeface="Calibri" pitchFamily="34" charset="-120"/>
              </a:rPr>
              <a:t>Elderline, in the page header</a:t>
            </a:r>
            <a:endParaRPr lang="en-US" sz="1200" dirty="0"/>
          </a:p>
        </p:txBody>
      </p:sp>
      <p:sp>
        <p:nvSpPr>
          <p:cNvPr id="31" name="Text 29"/>
          <p:cNvSpPr txBox="1"/>
          <p:nvPr/>
        </p:nvSpPr>
        <p:spPr>
          <a:xfrm>
            <a:off x="8377733" y="3712464"/>
            <a:ext cx="2881274" cy="1517904"/>
          </a:xfrm>
          <a:prstGeom prst="rect">
            <a:avLst/>
          </a:prstGeom>
          <a:noFill/>
          <a:ln/>
        </p:spPr>
        <p:txBody>
          <a:bodyPr wrap="square" lIns="0" tIns="0" rIns="0" bIns="0" rtlCol="0" anchor="ctr"/>
          <a:lstStyle/>
          <a:p>
            <a:pPr indent="0" marL="0">
              <a:lnSpc>
                <a:spcPct val="122000"/>
              </a:lnSpc>
              <a:buNone/>
            </a:pPr>
            <a:r>
              <a:rPr lang="en-US" sz="1150" dirty="0">
                <a:solidFill>
                  <a:srgbClr val="1A1A1A"/>
                </a:solidFill>
                <a:latin typeface="Calibri" pitchFamily="34" charset="0"/>
                <a:ea typeface="Calibri" pitchFamily="34" charset="-122"/>
                <a:cs typeface="Calibri" pitchFamily="34" charset="-120"/>
              </a:rPr>
              <a:t>The senior citizens and carers landing carries Elderline 14567 in the page header, then AVYAY, Rashtriya Vayoshri Yojana, IPSrC and geriatric caregiver training — with the finder's someone in my family path preserved throughout.</a:t>
            </a:r>
            <a:endParaRPr lang="en-US" sz="1150" dirty="0"/>
          </a:p>
        </p:txBody>
      </p:sp>
      <p:sp>
        <p:nvSpPr>
          <p:cNvPr id="32" name="Shape 30"/>
          <p:cNvSpPr/>
          <p:nvPr/>
        </p:nvSpPr>
        <p:spPr>
          <a:xfrm>
            <a:off x="8377733" y="5285232"/>
            <a:ext cx="2881274" cy="0"/>
          </a:xfrm>
          <a:prstGeom prst="line">
            <a:avLst/>
          </a:prstGeom>
          <a:noFill/>
          <a:ln w="9525">
            <a:solidFill>
              <a:srgbClr val="D8DEE7"/>
            </a:solidFill>
            <a:prstDash val="solid"/>
          </a:ln>
        </p:spPr>
      </p:sp>
      <p:sp>
        <p:nvSpPr>
          <p:cNvPr id="33" name="Text 31"/>
          <p:cNvSpPr txBox="1"/>
          <p:nvPr/>
        </p:nvSpPr>
        <p:spPr>
          <a:xfrm>
            <a:off x="8377733" y="5358384"/>
            <a:ext cx="2881274" cy="182880"/>
          </a:xfrm>
          <a:prstGeom prst="rect">
            <a:avLst/>
          </a:prstGeom>
          <a:noFill/>
          <a:ln/>
        </p:spPr>
        <p:txBody>
          <a:bodyPr wrap="square" lIns="0" tIns="0" rIns="0" bIns="0" rtlCol="0" anchor="ctr"/>
          <a:lstStyle/>
          <a:p>
            <a:pPr indent="0" marL="0">
              <a:buNone/>
            </a:pPr>
            <a:r>
              <a:rPr lang="en-US" sz="900" b="1" spc="110" kern="0" dirty="0">
                <a:solidFill>
                  <a:srgbClr val="5A6472"/>
                </a:solidFill>
                <a:latin typeface="Calibri" pitchFamily="34" charset="0"/>
                <a:ea typeface="Calibri" pitchFamily="34" charset="-122"/>
                <a:cs typeface="Calibri" pitchFamily="34" charset="-120"/>
              </a:rPr>
              <a:t>OUTCOME</a:t>
            </a:r>
            <a:endParaRPr lang="en-US" sz="900" dirty="0"/>
          </a:p>
        </p:txBody>
      </p:sp>
      <p:sp>
        <p:nvSpPr>
          <p:cNvPr id="34" name="Text 32"/>
          <p:cNvSpPr txBox="1"/>
          <p:nvPr/>
        </p:nvSpPr>
        <p:spPr>
          <a:xfrm>
            <a:off x="8377733" y="5541264"/>
            <a:ext cx="2881274" cy="347472"/>
          </a:xfrm>
          <a:prstGeom prst="rect">
            <a:avLst/>
          </a:prstGeom>
          <a:noFill/>
          <a:ln/>
        </p:spPr>
        <p:txBody>
          <a:bodyPr wrap="square" lIns="0" tIns="0" rIns="0" bIns="0" rtlCol="0" anchor="ctr"/>
          <a:lstStyle/>
          <a:p>
            <a:pPr indent="0" marL="0">
              <a:lnSpc>
                <a:spcPct val="110000"/>
              </a:lnSpc>
              <a:buNone/>
            </a:pPr>
            <a:r>
              <a:rPr lang="en-US" sz="1250" b="1" dirty="0">
                <a:solidFill>
                  <a:srgbClr val="0257A8"/>
                </a:solidFill>
                <a:latin typeface="Calibri" pitchFamily="34" charset="0"/>
                <a:ea typeface="Calibri" pitchFamily="34" charset="-122"/>
                <a:cs typeface="Calibri" pitchFamily="34" charset="-120"/>
              </a:rPr>
              <a:t>Reaches the helpline first</a:t>
            </a:r>
            <a:endParaRPr lang="en-US" sz="1250" dirty="0"/>
          </a:p>
        </p:txBody>
      </p:sp>
      <p:sp>
        <p:nvSpPr>
          <p:cNvPr id="35" name="Text 33"/>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§4.1, redesigned journeys. Step counts describe the designed flow, not a measured session.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SEQUENCING</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Phase 1 Is the Constraint</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The finder, the landings, the facets and the search are all views over one eligibility model. Building any surface before that model is populated reproduces the present failure exactly.</a:t>
            </a:r>
            <a:endParaRPr lang="en-US" sz="1300" dirty="0"/>
          </a:p>
        </p:txBody>
      </p:sp>
      <p:sp>
        <p:nvSpPr>
          <p:cNvPr id="5" name="Shape 3"/>
          <p:cNvSpPr/>
          <p:nvPr/>
        </p:nvSpPr>
        <p:spPr>
          <a:xfrm>
            <a:off x="658368" y="1755648"/>
            <a:ext cx="2014057" cy="3346704"/>
          </a:xfrm>
          <a:prstGeom prst="rect">
            <a:avLst/>
          </a:prstGeom>
          <a:solidFill>
            <a:srgbClr val="F5F7FA"/>
          </a:solidFill>
          <a:ln w="9525">
            <a:solidFill>
              <a:srgbClr val="D8DEE7"/>
            </a:solidFill>
            <a:prstDash val="solid"/>
          </a:ln>
        </p:spPr>
      </p:sp>
      <p:sp>
        <p:nvSpPr>
          <p:cNvPr id="6" name="Text 4"/>
          <p:cNvSpPr txBox="1"/>
          <p:nvPr/>
        </p:nvSpPr>
        <p:spPr>
          <a:xfrm>
            <a:off x="877824" y="1993392"/>
            <a:ext cx="1575145"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PHASE 0</a:t>
            </a:r>
            <a:endParaRPr lang="en-US" sz="1000" dirty="0"/>
          </a:p>
        </p:txBody>
      </p:sp>
      <p:sp>
        <p:nvSpPr>
          <p:cNvPr id="7" name="Text 5"/>
          <p:cNvSpPr txBox="1"/>
          <p:nvPr/>
        </p:nvSpPr>
        <p:spPr>
          <a:xfrm>
            <a:off x="877824" y="2249424"/>
            <a:ext cx="1575145" cy="548640"/>
          </a:xfrm>
          <a:prstGeom prst="rect">
            <a:avLst/>
          </a:prstGeom>
          <a:noFill/>
          <a:ln/>
        </p:spPr>
        <p:txBody>
          <a:bodyPr wrap="square" lIns="0" tIns="0" rIns="0" bIns="0" rtlCol="0" anchor="ctr"/>
          <a:lstStyle/>
          <a:p>
            <a:pPr indent="0" marL="0">
              <a:buNone/>
            </a:pPr>
            <a:r>
              <a:rPr lang="en-US" sz="1700" b="1" dirty="0">
                <a:solidFill>
                  <a:srgbClr val="003366"/>
                </a:solidFill>
                <a:latin typeface="Cambria" pitchFamily="34" charset="0"/>
                <a:ea typeface="Cambria" pitchFamily="34" charset="-122"/>
                <a:cs typeface="Cambria" pitchFamily="34" charset="-120"/>
              </a:rPr>
              <a:t>Stop the Bleeding</a:t>
            </a:r>
            <a:endParaRPr lang="en-US" sz="1700" dirty="0"/>
          </a:p>
        </p:txBody>
      </p:sp>
      <p:sp>
        <p:nvSpPr>
          <p:cNvPr id="8" name="Text 6"/>
          <p:cNvSpPr txBox="1"/>
          <p:nvPr/>
        </p:nvSpPr>
        <p:spPr>
          <a:xfrm>
            <a:off x="877824" y="2816352"/>
            <a:ext cx="1575145" cy="237744"/>
          </a:xfrm>
          <a:prstGeom prst="rect">
            <a:avLst/>
          </a:prstGeom>
          <a:noFill/>
          <a:ln/>
        </p:spPr>
        <p:txBody>
          <a:bodyPr wrap="square" lIns="0" tIns="0" rIns="0" bIns="0" rtlCol="0" anchor="ctr"/>
          <a:lstStyle/>
          <a:p>
            <a:pPr indent="0" marL="0">
              <a:buNone/>
            </a:pPr>
            <a:r>
              <a:rPr lang="en-US" sz="1250" b="1" dirty="0">
                <a:solidFill>
                  <a:srgbClr val="003366"/>
                </a:solidFill>
                <a:latin typeface="Calibri" pitchFamily="34" charset="0"/>
                <a:ea typeface="Calibri" pitchFamily="34" charset="-122"/>
                <a:cs typeface="Calibri" pitchFamily="34" charset="-120"/>
              </a:rPr>
              <a:t>2–3 weeks</a:t>
            </a:r>
            <a:endParaRPr lang="en-US" sz="1250" dirty="0"/>
          </a:p>
        </p:txBody>
      </p:sp>
      <p:sp>
        <p:nvSpPr>
          <p:cNvPr id="9" name="Text 7"/>
          <p:cNvSpPr txBox="1"/>
          <p:nvPr/>
        </p:nvSpPr>
        <p:spPr>
          <a:xfrm>
            <a:off x="877824" y="3072384"/>
            <a:ext cx="1575145" cy="329184"/>
          </a:xfrm>
          <a:prstGeom prst="rect">
            <a:avLst/>
          </a:prstGeom>
          <a:noFill/>
          <a:ln/>
        </p:spPr>
        <p:txBody>
          <a:bodyPr wrap="square" lIns="0" tIns="0" rIns="0" bIns="0" rtlCol="0" anchor="ctr"/>
          <a:lstStyle/>
          <a:p>
            <a:pPr indent="0" marL="0">
              <a:lnSpc>
                <a:spcPct val="112000"/>
              </a:lnSpc>
              <a:buNone/>
            </a:pPr>
            <a:r>
              <a:rPr lang="en-US" sz="1050" dirty="0">
                <a:solidFill>
                  <a:srgbClr val="5A6472"/>
                </a:solidFill>
                <a:latin typeface="Calibri" pitchFamily="34" charset="0"/>
                <a:ea typeface="Calibri" pitchFamily="34" charset="-122"/>
                <a:cs typeface="Calibri" pitchFamily="34" charset="-120"/>
              </a:rPr>
              <a:t>Low effort · medium impact</a:t>
            </a:r>
            <a:endParaRPr lang="en-US" sz="1050" dirty="0"/>
          </a:p>
        </p:txBody>
      </p:sp>
      <p:sp>
        <p:nvSpPr>
          <p:cNvPr id="10" name="Text 8"/>
          <p:cNvSpPr txBox="1"/>
          <p:nvPr/>
        </p:nvSpPr>
        <p:spPr>
          <a:xfrm>
            <a:off x="877824" y="3493008"/>
            <a:ext cx="1575145" cy="1463040"/>
          </a:xfrm>
          <a:prstGeom prst="rect">
            <a:avLst/>
          </a:prstGeom>
          <a:noFill/>
          <a:ln/>
        </p:spPr>
        <p:txBody>
          <a:bodyPr wrap="square" lIns="0" tIns="0" rIns="0" bIns="0" rtlCol="0" anchor="ctr"/>
          <a:lstStyle/>
          <a:p>
            <a:pPr indent="0" marL="0">
              <a:lnSpc>
                <a:spcPct val="120000"/>
              </a:lnSpc>
              <a:buNone/>
            </a:pPr>
            <a:r>
              <a:rPr lang="en-US" sz="1100" dirty="0">
                <a:solidFill>
                  <a:srgbClr val="1A1A1A"/>
                </a:solidFill>
                <a:latin typeface="Calibri" pitchFamily="34" charset="0"/>
                <a:ea typeface="Calibri" pitchFamily="34" charset="-122"/>
                <a:cs typeface="Calibri" pitchFamily="34" charset="-120"/>
              </a:rPr>
              <a:t>Remove the Bootstrap placeholder from the footer, fix the two typos, return real 404 codes, restore the accessibility page, de-list the 24 empty scheme pages.</a:t>
            </a:r>
            <a:endParaRPr lang="en-US" sz="1100" dirty="0"/>
          </a:p>
        </p:txBody>
      </p:sp>
      <p:sp>
        <p:nvSpPr>
          <p:cNvPr id="11" name="Shape 9"/>
          <p:cNvSpPr/>
          <p:nvPr/>
        </p:nvSpPr>
        <p:spPr>
          <a:xfrm>
            <a:off x="2873593" y="1755648"/>
            <a:ext cx="2014057" cy="3346704"/>
          </a:xfrm>
          <a:prstGeom prst="rect">
            <a:avLst/>
          </a:prstGeom>
          <a:solidFill>
            <a:srgbClr val="003366"/>
          </a:solidFill>
          <a:ln w="9525">
            <a:solidFill>
              <a:srgbClr val="003366"/>
            </a:solidFill>
            <a:prstDash val="solid"/>
          </a:ln>
        </p:spPr>
      </p:sp>
      <p:sp>
        <p:nvSpPr>
          <p:cNvPr id="12" name="Text 10"/>
          <p:cNvSpPr txBox="1"/>
          <p:nvPr/>
        </p:nvSpPr>
        <p:spPr>
          <a:xfrm>
            <a:off x="3093049" y="1993392"/>
            <a:ext cx="1575145" cy="219456"/>
          </a:xfrm>
          <a:prstGeom prst="rect">
            <a:avLst/>
          </a:prstGeom>
          <a:noFill/>
          <a:ln/>
        </p:spPr>
        <p:txBody>
          <a:bodyPr wrap="square" lIns="0" tIns="0" rIns="0" bIns="0" rtlCol="0" anchor="ctr"/>
          <a:lstStyle/>
          <a:p>
            <a:pPr indent="0" marL="0">
              <a:buNone/>
            </a:pPr>
            <a:r>
              <a:rPr lang="en-US" sz="1000" b="1" spc="120" kern="0" dirty="0">
                <a:solidFill>
                  <a:srgbClr val="FDBA74"/>
                </a:solidFill>
                <a:latin typeface="Calibri" pitchFamily="34" charset="0"/>
                <a:ea typeface="Calibri" pitchFamily="34" charset="-122"/>
                <a:cs typeface="Calibri" pitchFamily="34" charset="-120"/>
              </a:rPr>
              <a:t>PHASE 1</a:t>
            </a:r>
            <a:endParaRPr lang="en-US" sz="1000" dirty="0"/>
          </a:p>
        </p:txBody>
      </p:sp>
      <p:sp>
        <p:nvSpPr>
          <p:cNvPr id="13" name="Text 11"/>
          <p:cNvSpPr txBox="1"/>
          <p:nvPr/>
        </p:nvSpPr>
        <p:spPr>
          <a:xfrm>
            <a:off x="3093049" y="2249424"/>
            <a:ext cx="1575145" cy="54864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Populate the Model</a:t>
            </a:r>
            <a:endParaRPr lang="en-US" sz="1700" dirty="0"/>
          </a:p>
        </p:txBody>
      </p:sp>
      <p:sp>
        <p:nvSpPr>
          <p:cNvPr id="14" name="Text 12"/>
          <p:cNvSpPr txBox="1"/>
          <p:nvPr/>
        </p:nvSpPr>
        <p:spPr>
          <a:xfrm>
            <a:off x="3093049" y="2816352"/>
            <a:ext cx="1575145" cy="237744"/>
          </a:xfrm>
          <a:prstGeom prst="rect">
            <a:avLst/>
          </a:prstGeom>
          <a:noFill/>
          <a:ln/>
        </p:spPr>
        <p:txBody>
          <a:bodyPr wrap="square" lIns="0" tIns="0" rIns="0" bIns="0" rtlCol="0" anchor="ctr"/>
          <a:lstStyle/>
          <a:p>
            <a:pPr indent="0" marL="0">
              <a:buNone/>
            </a:pPr>
            <a:r>
              <a:rPr lang="en-US" sz="1250" b="1" dirty="0">
                <a:solidFill>
                  <a:srgbClr val="8CC6FB"/>
                </a:solidFill>
                <a:latin typeface="Calibri" pitchFamily="34" charset="0"/>
                <a:ea typeface="Calibri" pitchFamily="34" charset="-122"/>
                <a:cs typeface="Calibri" pitchFamily="34" charset="-120"/>
              </a:rPr>
              <a:t>4–8 weeks</a:t>
            </a:r>
            <a:endParaRPr lang="en-US" sz="1250" dirty="0"/>
          </a:p>
        </p:txBody>
      </p:sp>
      <p:sp>
        <p:nvSpPr>
          <p:cNvPr id="15" name="Text 13"/>
          <p:cNvSpPr txBox="1"/>
          <p:nvPr/>
        </p:nvSpPr>
        <p:spPr>
          <a:xfrm>
            <a:off x="3093049" y="3072384"/>
            <a:ext cx="1575145" cy="329184"/>
          </a:xfrm>
          <a:prstGeom prst="rect">
            <a:avLst/>
          </a:prstGeom>
          <a:noFill/>
          <a:ln/>
        </p:spPr>
        <p:txBody>
          <a:bodyPr wrap="square" lIns="0" tIns="0" rIns="0" bIns="0" rtlCol="0" anchor="ctr"/>
          <a:lstStyle/>
          <a:p>
            <a:pPr indent="0" marL="0">
              <a:lnSpc>
                <a:spcPct val="112000"/>
              </a:lnSpc>
              <a:buNone/>
            </a:pPr>
            <a:r>
              <a:rPr lang="en-US" sz="1050" dirty="0">
                <a:solidFill>
                  <a:srgbClr val="9DB4CC"/>
                </a:solidFill>
                <a:latin typeface="Calibri" pitchFamily="34" charset="0"/>
                <a:ea typeface="Calibri" pitchFamily="34" charset="-122"/>
                <a:cs typeface="Calibri" pitchFamily="34" charset="-120"/>
              </a:rPr>
              <a:t>High effort · very high impact</a:t>
            </a:r>
            <a:endParaRPr lang="en-US" sz="1050" dirty="0"/>
          </a:p>
        </p:txBody>
      </p:sp>
      <p:sp>
        <p:nvSpPr>
          <p:cNvPr id="16" name="Text 14"/>
          <p:cNvSpPr txBox="1"/>
          <p:nvPr/>
        </p:nvSpPr>
        <p:spPr>
          <a:xfrm>
            <a:off x="3093049" y="3493008"/>
            <a:ext cx="1575145" cy="1463040"/>
          </a:xfrm>
          <a:prstGeom prst="rect">
            <a:avLst/>
          </a:prstGeom>
          <a:noFill/>
          <a:ln/>
        </p:spPr>
        <p:txBody>
          <a:bodyPr wrap="square" lIns="0" tIns="0" rIns="0" bIns="0" rtlCol="0" anchor="ctr"/>
          <a:lstStyle/>
          <a:p>
            <a:pPr indent="0" marL="0">
              <a:lnSpc>
                <a:spcPct val="120000"/>
              </a:lnSpc>
              <a:buNone/>
            </a:pPr>
            <a:r>
              <a:rPr lang="en-US" sz="1100" dirty="0">
                <a:solidFill>
                  <a:srgbClr val="9DB4CC"/>
                </a:solidFill>
                <a:latin typeface="Calibri" pitchFamily="34" charset="0"/>
                <a:ea typeface="Calibri" pitchFamily="34" charset="-122"/>
                <a:cs typeface="Calibri" pitchFamily="34" charset="-120"/>
              </a:rPr>
              <a:t>Define the eligibility schema and backfill all 141 records. Reconcile the seven flagship schemes missing from dosje. Rewrite the category and target-group vocabularies.</a:t>
            </a:r>
            <a:endParaRPr lang="en-US" sz="1100" dirty="0"/>
          </a:p>
        </p:txBody>
      </p:sp>
      <p:sp>
        <p:nvSpPr>
          <p:cNvPr id="17" name="Shape 15"/>
          <p:cNvSpPr/>
          <p:nvPr/>
        </p:nvSpPr>
        <p:spPr>
          <a:xfrm>
            <a:off x="5088819" y="1755648"/>
            <a:ext cx="2014057" cy="3346704"/>
          </a:xfrm>
          <a:prstGeom prst="rect">
            <a:avLst/>
          </a:prstGeom>
          <a:solidFill>
            <a:srgbClr val="F5F7FA"/>
          </a:solidFill>
          <a:ln w="9525">
            <a:solidFill>
              <a:srgbClr val="D8DEE7"/>
            </a:solidFill>
            <a:prstDash val="solid"/>
          </a:ln>
        </p:spPr>
      </p:sp>
      <p:sp>
        <p:nvSpPr>
          <p:cNvPr id="18" name="Text 16"/>
          <p:cNvSpPr txBox="1"/>
          <p:nvPr/>
        </p:nvSpPr>
        <p:spPr>
          <a:xfrm>
            <a:off x="5308275" y="1993392"/>
            <a:ext cx="1575145"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PHASE 2</a:t>
            </a:r>
            <a:endParaRPr lang="en-US" sz="1000" dirty="0"/>
          </a:p>
        </p:txBody>
      </p:sp>
      <p:sp>
        <p:nvSpPr>
          <p:cNvPr id="19" name="Text 17"/>
          <p:cNvSpPr txBox="1"/>
          <p:nvPr/>
        </p:nvSpPr>
        <p:spPr>
          <a:xfrm>
            <a:off x="5308275" y="2249424"/>
            <a:ext cx="1575145" cy="548640"/>
          </a:xfrm>
          <a:prstGeom prst="rect">
            <a:avLst/>
          </a:prstGeom>
          <a:noFill/>
          <a:ln/>
        </p:spPr>
        <p:txBody>
          <a:bodyPr wrap="square" lIns="0" tIns="0" rIns="0" bIns="0" rtlCol="0" anchor="ctr"/>
          <a:lstStyle/>
          <a:p>
            <a:pPr indent="0" marL="0">
              <a:buNone/>
            </a:pPr>
            <a:r>
              <a:rPr lang="en-US" sz="1700" b="1" dirty="0">
                <a:solidFill>
                  <a:srgbClr val="003366"/>
                </a:solidFill>
                <a:latin typeface="Cambria" pitchFamily="34" charset="0"/>
                <a:ea typeface="Cambria" pitchFamily="34" charset="-122"/>
                <a:cs typeface="Cambria" pitchFamily="34" charset="-120"/>
              </a:rPr>
              <a:t>Surfaces</a:t>
            </a:r>
            <a:endParaRPr lang="en-US" sz="1700" dirty="0"/>
          </a:p>
        </p:txBody>
      </p:sp>
      <p:sp>
        <p:nvSpPr>
          <p:cNvPr id="20" name="Text 18"/>
          <p:cNvSpPr txBox="1"/>
          <p:nvPr/>
        </p:nvSpPr>
        <p:spPr>
          <a:xfrm>
            <a:off x="5308275" y="2816352"/>
            <a:ext cx="1575145" cy="237744"/>
          </a:xfrm>
          <a:prstGeom prst="rect">
            <a:avLst/>
          </a:prstGeom>
          <a:noFill/>
          <a:ln/>
        </p:spPr>
        <p:txBody>
          <a:bodyPr wrap="square" lIns="0" tIns="0" rIns="0" bIns="0" rtlCol="0" anchor="ctr"/>
          <a:lstStyle/>
          <a:p>
            <a:pPr indent="0" marL="0">
              <a:buNone/>
            </a:pPr>
            <a:r>
              <a:rPr lang="en-US" sz="1250" b="1" dirty="0">
                <a:solidFill>
                  <a:srgbClr val="003366"/>
                </a:solidFill>
                <a:latin typeface="Calibri" pitchFamily="34" charset="0"/>
                <a:ea typeface="Calibri" pitchFamily="34" charset="-122"/>
                <a:cs typeface="Calibri" pitchFamily="34" charset="-120"/>
              </a:rPr>
              <a:t>6–10 weeks</a:t>
            </a:r>
            <a:endParaRPr lang="en-US" sz="1250" dirty="0"/>
          </a:p>
        </p:txBody>
      </p:sp>
      <p:sp>
        <p:nvSpPr>
          <p:cNvPr id="21" name="Text 19"/>
          <p:cNvSpPr txBox="1"/>
          <p:nvPr/>
        </p:nvSpPr>
        <p:spPr>
          <a:xfrm>
            <a:off x="5308275" y="3072384"/>
            <a:ext cx="1575145" cy="329184"/>
          </a:xfrm>
          <a:prstGeom prst="rect">
            <a:avLst/>
          </a:prstGeom>
          <a:noFill/>
          <a:ln/>
        </p:spPr>
        <p:txBody>
          <a:bodyPr wrap="square" lIns="0" tIns="0" rIns="0" bIns="0" rtlCol="0" anchor="ctr"/>
          <a:lstStyle/>
          <a:p>
            <a:pPr indent="0" marL="0">
              <a:lnSpc>
                <a:spcPct val="112000"/>
              </a:lnSpc>
              <a:buNone/>
            </a:pPr>
            <a:r>
              <a:rPr lang="en-US" sz="1050" dirty="0">
                <a:solidFill>
                  <a:srgbClr val="5A6472"/>
                </a:solidFill>
                <a:latin typeface="Calibri" pitchFamily="34" charset="0"/>
                <a:ea typeface="Calibri" pitchFamily="34" charset="-122"/>
                <a:cs typeface="Calibri" pitchFamily="34" charset="-120"/>
              </a:rPr>
              <a:t>Medium-high · very high impact</a:t>
            </a:r>
            <a:endParaRPr lang="en-US" sz="1050" dirty="0"/>
          </a:p>
        </p:txBody>
      </p:sp>
      <p:sp>
        <p:nvSpPr>
          <p:cNvPr id="22" name="Text 20"/>
          <p:cNvSpPr txBox="1"/>
          <p:nvPr/>
        </p:nvSpPr>
        <p:spPr>
          <a:xfrm>
            <a:off x="5308275" y="3493008"/>
            <a:ext cx="1575145" cy="1463040"/>
          </a:xfrm>
          <a:prstGeom prst="rect">
            <a:avLst/>
          </a:prstGeom>
          <a:noFill/>
          <a:ln/>
        </p:spPr>
        <p:txBody>
          <a:bodyPr wrap="square" lIns="0" tIns="0" rIns="0" bIns="0" rtlCol="0" anchor="ctr"/>
          <a:lstStyle/>
          <a:p>
            <a:pPr indent="0" marL="0">
              <a:lnSpc>
                <a:spcPct val="120000"/>
              </a:lnSpc>
              <a:buNone/>
            </a:pPr>
            <a:r>
              <a:rPr lang="en-US" sz="1100" dirty="0">
                <a:solidFill>
                  <a:srgbClr val="1A1A1A"/>
                </a:solidFill>
                <a:latin typeface="Calibri" pitchFamily="34" charset="0"/>
                <a:ea typeface="Calibri" pitchFamily="34" charset="-122"/>
                <a:cs typeface="Calibri" pitchFamily="34" charset="-120"/>
              </a:rPr>
              <a:t>Server-rendered faceted catalogue with linkable filters. Audience landings and the DEPwD signpost. Four verb calls to action on the homepage. Navigation restructure.</a:t>
            </a:r>
            <a:endParaRPr lang="en-US" sz="1100" dirty="0"/>
          </a:p>
        </p:txBody>
      </p:sp>
      <p:sp>
        <p:nvSpPr>
          <p:cNvPr id="23" name="Shape 21"/>
          <p:cNvSpPr/>
          <p:nvPr/>
        </p:nvSpPr>
        <p:spPr>
          <a:xfrm>
            <a:off x="7304044" y="1755648"/>
            <a:ext cx="2014057" cy="3346704"/>
          </a:xfrm>
          <a:prstGeom prst="rect">
            <a:avLst/>
          </a:prstGeom>
          <a:solidFill>
            <a:srgbClr val="F5F7FA"/>
          </a:solidFill>
          <a:ln w="9525">
            <a:solidFill>
              <a:srgbClr val="D8DEE7"/>
            </a:solidFill>
            <a:prstDash val="solid"/>
          </a:ln>
        </p:spPr>
      </p:sp>
      <p:sp>
        <p:nvSpPr>
          <p:cNvPr id="24" name="Text 22"/>
          <p:cNvSpPr txBox="1"/>
          <p:nvPr/>
        </p:nvSpPr>
        <p:spPr>
          <a:xfrm>
            <a:off x="7523500" y="1993392"/>
            <a:ext cx="1575145"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PHASE 3</a:t>
            </a:r>
            <a:endParaRPr lang="en-US" sz="1000" dirty="0"/>
          </a:p>
        </p:txBody>
      </p:sp>
      <p:sp>
        <p:nvSpPr>
          <p:cNvPr id="25" name="Text 23"/>
          <p:cNvSpPr txBox="1"/>
          <p:nvPr/>
        </p:nvSpPr>
        <p:spPr>
          <a:xfrm>
            <a:off x="7523500" y="2249424"/>
            <a:ext cx="1575145" cy="548640"/>
          </a:xfrm>
          <a:prstGeom prst="rect">
            <a:avLst/>
          </a:prstGeom>
          <a:noFill/>
          <a:ln/>
        </p:spPr>
        <p:txBody>
          <a:bodyPr wrap="square" lIns="0" tIns="0" rIns="0" bIns="0" rtlCol="0" anchor="ctr"/>
          <a:lstStyle/>
          <a:p>
            <a:pPr indent="0" marL="0">
              <a:buNone/>
            </a:pPr>
            <a:r>
              <a:rPr lang="en-US" sz="1700" b="1" dirty="0">
                <a:solidFill>
                  <a:srgbClr val="003366"/>
                </a:solidFill>
                <a:latin typeface="Cambria" pitchFamily="34" charset="0"/>
                <a:ea typeface="Cambria" pitchFamily="34" charset="-122"/>
                <a:cs typeface="Cambria" pitchFamily="34" charset="-120"/>
              </a:rPr>
              <a:t>Finder and Search</a:t>
            </a:r>
            <a:endParaRPr lang="en-US" sz="1700" dirty="0"/>
          </a:p>
        </p:txBody>
      </p:sp>
      <p:sp>
        <p:nvSpPr>
          <p:cNvPr id="26" name="Text 24"/>
          <p:cNvSpPr txBox="1"/>
          <p:nvPr/>
        </p:nvSpPr>
        <p:spPr>
          <a:xfrm>
            <a:off x="7523500" y="2816352"/>
            <a:ext cx="1575145" cy="237744"/>
          </a:xfrm>
          <a:prstGeom prst="rect">
            <a:avLst/>
          </a:prstGeom>
          <a:noFill/>
          <a:ln/>
        </p:spPr>
        <p:txBody>
          <a:bodyPr wrap="square" lIns="0" tIns="0" rIns="0" bIns="0" rtlCol="0" anchor="ctr"/>
          <a:lstStyle/>
          <a:p>
            <a:pPr indent="0" marL="0">
              <a:buNone/>
            </a:pPr>
            <a:r>
              <a:rPr lang="en-US" sz="1250" b="1" dirty="0">
                <a:solidFill>
                  <a:srgbClr val="003366"/>
                </a:solidFill>
                <a:latin typeface="Calibri" pitchFamily="34" charset="0"/>
                <a:ea typeface="Calibri" pitchFamily="34" charset="-122"/>
                <a:cs typeface="Calibri" pitchFamily="34" charset="-120"/>
              </a:rPr>
              <a:t>6–8 weeks</a:t>
            </a:r>
            <a:endParaRPr lang="en-US" sz="1250" dirty="0"/>
          </a:p>
        </p:txBody>
      </p:sp>
      <p:sp>
        <p:nvSpPr>
          <p:cNvPr id="27" name="Text 25"/>
          <p:cNvSpPr txBox="1"/>
          <p:nvPr/>
        </p:nvSpPr>
        <p:spPr>
          <a:xfrm>
            <a:off x="7523500" y="3072384"/>
            <a:ext cx="1575145" cy="329184"/>
          </a:xfrm>
          <a:prstGeom prst="rect">
            <a:avLst/>
          </a:prstGeom>
          <a:noFill/>
          <a:ln/>
        </p:spPr>
        <p:txBody>
          <a:bodyPr wrap="square" lIns="0" tIns="0" rIns="0" bIns="0" rtlCol="0" anchor="ctr"/>
          <a:lstStyle/>
          <a:p>
            <a:pPr indent="0" marL="0">
              <a:lnSpc>
                <a:spcPct val="112000"/>
              </a:lnSpc>
              <a:buNone/>
            </a:pPr>
            <a:r>
              <a:rPr lang="en-US" sz="1050" dirty="0">
                <a:solidFill>
                  <a:srgbClr val="5A6472"/>
                </a:solidFill>
                <a:latin typeface="Calibri" pitchFamily="34" charset="0"/>
                <a:ea typeface="Calibri" pitchFamily="34" charset="-122"/>
                <a:cs typeface="Calibri" pitchFamily="34" charset="-120"/>
              </a:rPr>
              <a:t>Medium effort · very high impact</a:t>
            </a:r>
            <a:endParaRPr lang="en-US" sz="1050" dirty="0"/>
          </a:p>
        </p:txBody>
      </p:sp>
      <p:sp>
        <p:nvSpPr>
          <p:cNvPr id="28" name="Text 26"/>
          <p:cNvSpPr txBox="1"/>
          <p:nvPr/>
        </p:nvSpPr>
        <p:spPr>
          <a:xfrm>
            <a:off x="7523500" y="3493008"/>
            <a:ext cx="1575145" cy="1463040"/>
          </a:xfrm>
          <a:prstGeom prst="rect">
            <a:avLst/>
          </a:prstGeom>
          <a:noFill/>
          <a:ln/>
        </p:spPr>
        <p:txBody>
          <a:bodyPr wrap="square" lIns="0" tIns="0" rIns="0" bIns="0" rtlCol="0" anchor="ctr"/>
          <a:lstStyle/>
          <a:p>
            <a:pPr indent="0" marL="0">
              <a:lnSpc>
                <a:spcPct val="120000"/>
              </a:lnSpc>
              <a:buNone/>
            </a:pPr>
            <a:r>
              <a:rPr lang="en-US" sz="1100" dirty="0">
                <a:solidFill>
                  <a:srgbClr val="1A1A1A"/>
                </a:solidFill>
                <a:latin typeface="Calibri" pitchFamily="34" charset="0"/>
                <a:ea typeface="Calibri" pitchFamily="34" charset="-122"/>
                <a:cs typeface="Calibri" pitchFamily="34" charset="-120"/>
              </a:rPr>
              <a:t>Find support for you, audited to WCAG 2.2 AA and tested with at least eight people from the actual constituencies, in Hindi and one other language. Search rebuilt on the model.</a:t>
            </a:r>
            <a:endParaRPr lang="en-US" sz="1100" dirty="0"/>
          </a:p>
        </p:txBody>
      </p:sp>
      <p:sp>
        <p:nvSpPr>
          <p:cNvPr id="29" name="Shape 27"/>
          <p:cNvSpPr/>
          <p:nvPr/>
        </p:nvSpPr>
        <p:spPr>
          <a:xfrm>
            <a:off x="9519270" y="1755648"/>
            <a:ext cx="2014057" cy="3346704"/>
          </a:xfrm>
          <a:prstGeom prst="rect">
            <a:avLst/>
          </a:prstGeom>
          <a:solidFill>
            <a:srgbClr val="F5F7FA"/>
          </a:solidFill>
          <a:ln w="9525">
            <a:solidFill>
              <a:srgbClr val="D8DEE7"/>
            </a:solidFill>
            <a:prstDash val="solid"/>
          </a:ln>
        </p:spPr>
      </p:sp>
      <p:sp>
        <p:nvSpPr>
          <p:cNvPr id="30" name="Text 28"/>
          <p:cNvSpPr txBox="1"/>
          <p:nvPr/>
        </p:nvSpPr>
        <p:spPr>
          <a:xfrm>
            <a:off x="9738726" y="1993392"/>
            <a:ext cx="1575145" cy="219456"/>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PHASE 4</a:t>
            </a:r>
            <a:endParaRPr lang="en-US" sz="1000" dirty="0"/>
          </a:p>
        </p:txBody>
      </p:sp>
      <p:sp>
        <p:nvSpPr>
          <p:cNvPr id="31" name="Text 29"/>
          <p:cNvSpPr txBox="1"/>
          <p:nvPr/>
        </p:nvSpPr>
        <p:spPr>
          <a:xfrm>
            <a:off x="9738726" y="2249424"/>
            <a:ext cx="1575145" cy="548640"/>
          </a:xfrm>
          <a:prstGeom prst="rect">
            <a:avLst/>
          </a:prstGeom>
          <a:noFill/>
          <a:ln/>
        </p:spPr>
        <p:txBody>
          <a:bodyPr wrap="square" lIns="0" tIns="0" rIns="0" bIns="0" rtlCol="0" anchor="ctr"/>
          <a:lstStyle/>
          <a:p>
            <a:pPr indent="0" marL="0">
              <a:buNone/>
            </a:pPr>
            <a:r>
              <a:rPr lang="en-US" sz="1700" b="1" dirty="0">
                <a:solidFill>
                  <a:srgbClr val="003366"/>
                </a:solidFill>
                <a:latin typeface="Cambria" pitchFamily="34" charset="0"/>
                <a:ea typeface="Cambria" pitchFamily="34" charset="-122"/>
                <a:cs typeface="Cambria" pitchFamily="34" charset="-120"/>
              </a:rPr>
              <a:t>Consolidation</a:t>
            </a:r>
            <a:endParaRPr lang="en-US" sz="1700" dirty="0"/>
          </a:p>
        </p:txBody>
      </p:sp>
      <p:sp>
        <p:nvSpPr>
          <p:cNvPr id="32" name="Text 30"/>
          <p:cNvSpPr txBox="1"/>
          <p:nvPr/>
        </p:nvSpPr>
        <p:spPr>
          <a:xfrm>
            <a:off x="9738726" y="2816352"/>
            <a:ext cx="1575145" cy="237744"/>
          </a:xfrm>
          <a:prstGeom prst="rect">
            <a:avLst/>
          </a:prstGeom>
          <a:noFill/>
          <a:ln/>
        </p:spPr>
        <p:txBody>
          <a:bodyPr wrap="square" lIns="0" tIns="0" rIns="0" bIns="0" rtlCol="0" anchor="ctr"/>
          <a:lstStyle/>
          <a:p>
            <a:pPr indent="0" marL="0">
              <a:buNone/>
            </a:pPr>
            <a:r>
              <a:rPr lang="en-US" sz="1250" b="1" dirty="0">
                <a:solidFill>
                  <a:srgbClr val="003366"/>
                </a:solidFill>
                <a:latin typeface="Calibri" pitchFamily="34" charset="0"/>
                <a:ea typeface="Calibri" pitchFamily="34" charset="-122"/>
                <a:cs typeface="Calibri" pitchFamily="34" charset="-120"/>
              </a:rPr>
              <a:t>Ongoing</a:t>
            </a:r>
            <a:endParaRPr lang="en-US" sz="1250" dirty="0"/>
          </a:p>
        </p:txBody>
      </p:sp>
      <p:sp>
        <p:nvSpPr>
          <p:cNvPr id="33" name="Text 31"/>
          <p:cNvSpPr txBox="1"/>
          <p:nvPr/>
        </p:nvSpPr>
        <p:spPr>
          <a:xfrm>
            <a:off x="9738726" y="3072384"/>
            <a:ext cx="1575145" cy="329184"/>
          </a:xfrm>
          <a:prstGeom prst="rect">
            <a:avLst/>
          </a:prstGeom>
          <a:noFill/>
          <a:ln/>
        </p:spPr>
        <p:txBody>
          <a:bodyPr wrap="square" lIns="0" tIns="0" rIns="0" bIns="0" rtlCol="0" anchor="ctr"/>
          <a:lstStyle/>
          <a:p>
            <a:pPr indent="0" marL="0">
              <a:lnSpc>
                <a:spcPct val="112000"/>
              </a:lnSpc>
              <a:buNone/>
            </a:pPr>
            <a:r>
              <a:rPr lang="en-US" sz="1050" dirty="0">
                <a:solidFill>
                  <a:srgbClr val="5A6472"/>
                </a:solidFill>
                <a:latin typeface="Calibri" pitchFamily="34" charset="0"/>
                <a:ea typeface="Calibri" pitchFamily="34" charset="-122"/>
                <a:cs typeface="Calibri" pitchFamily="34" charset="-120"/>
              </a:rPr>
              <a:t>Medium effort · high impact</a:t>
            </a:r>
            <a:endParaRPr lang="en-US" sz="1050" dirty="0"/>
          </a:p>
        </p:txBody>
      </p:sp>
      <p:sp>
        <p:nvSpPr>
          <p:cNvPr id="34" name="Text 32"/>
          <p:cNvSpPr txBox="1"/>
          <p:nvPr/>
        </p:nvSpPr>
        <p:spPr>
          <a:xfrm>
            <a:off x="9738726" y="3493008"/>
            <a:ext cx="1575145" cy="1463040"/>
          </a:xfrm>
          <a:prstGeom prst="rect">
            <a:avLst/>
          </a:prstGeom>
          <a:noFill/>
          <a:ln/>
        </p:spPr>
        <p:txBody>
          <a:bodyPr wrap="square" lIns="0" tIns="0" rIns="0" bIns="0" rtlCol="0" anchor="ctr"/>
          <a:lstStyle/>
          <a:p>
            <a:pPr indent="0" marL="0">
              <a:lnSpc>
                <a:spcPct val="120000"/>
              </a:lnSpc>
              <a:buNone/>
            </a:pPr>
            <a:r>
              <a:rPr lang="en-US" sz="1100" dirty="0">
                <a:solidFill>
                  <a:srgbClr val="1A1A1A"/>
                </a:solidFill>
                <a:latin typeface="Calibri" pitchFamily="34" charset="0"/>
                <a:ea typeface="Calibri" pitchFamily="34" charset="-122"/>
                <a:cs typeface="Calibri" pitchFamily="34" charset="-120"/>
              </a:rPr>
              <a:t>Publish the scheme API and register with myScheme. Redirect socialjustice.gov.in and retire the legacy site. Publishing template with mandatory fields, plus a quarterly sweep.</a:t>
            </a:r>
            <a:endParaRPr lang="en-US" sz="1100" dirty="0"/>
          </a:p>
        </p:txBody>
      </p:sp>
      <p:sp>
        <p:nvSpPr>
          <p:cNvPr id="35" name="Text 33"/>
          <p:cNvSpPr txBox="1"/>
          <p:nvPr/>
        </p:nvSpPr>
        <p:spPr>
          <a:xfrm>
            <a:off x="658368" y="5321808"/>
            <a:ext cx="10874959" cy="457200"/>
          </a:xfrm>
          <a:prstGeom prst="rect">
            <a:avLst/>
          </a:prstGeom>
          <a:noFill/>
          <a:ln/>
        </p:spPr>
        <p:txBody>
          <a:bodyPr wrap="square" lIns="0" tIns="0" rIns="0" bIns="0" rtlCol="0" anchor="ctr"/>
          <a:lstStyle/>
          <a:p>
            <a:pPr indent="0" marL="0">
              <a:lnSpc>
                <a:spcPct val="116000"/>
              </a:lnSpc>
              <a:buNone/>
            </a:pPr>
            <a:r>
              <a:rPr lang="en-US" sz="1250" b="1" dirty="0">
                <a:solidFill>
                  <a:srgbClr val="003366"/>
                </a:solidFill>
                <a:latin typeface="Calibri" pitchFamily="34" charset="0"/>
                <a:ea typeface="Calibri" pitchFamily="34" charset="-122"/>
                <a:cs typeface="Calibri" pitchFamily="34" charset="-120"/>
              </a:rPr>
              <a:t>Phase 1 is the one-time content work. It is what the schemes page, the finder, the landings and the chatbot all wait on — and it is the piece only the Department can do.</a:t>
            </a:r>
            <a:endParaRPr lang="en-US" sz="1250" dirty="0"/>
          </a:p>
        </p:txBody>
      </p:sp>
      <p:sp>
        <p:nvSpPr>
          <p:cNvPr id="36" name="Text 34"/>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§5, implementation roadmap. Durations are estimates from the review, not commitments.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3366"/>
        </a:solidFill>
      </p:bgPr>
    </p:bg>
    <p:spTree>
      <p:nvGrpSpPr>
        <p:cNvPr id="1" name=""/>
        <p:cNvGrpSpPr/>
        <p:nvPr/>
      </p:nvGrpSpPr>
      <p:grpSpPr>
        <a:xfrm>
          <a:off x="0" y="0"/>
          <a:ext cx="0" cy="0"/>
          <a:chOff x="0" y="0"/>
          <a:chExt cx="0" cy="0"/>
        </a:xfrm>
      </p:grpSpPr>
      <p:sp>
        <p:nvSpPr>
          <p:cNvPr id="2" name="Text 0"/>
          <p:cNvSpPr txBox="1"/>
          <p:nvPr/>
        </p:nvSpPr>
        <p:spPr>
          <a:xfrm>
            <a:off x="658368" y="749808"/>
            <a:ext cx="10874959" cy="237744"/>
          </a:xfrm>
          <a:prstGeom prst="rect">
            <a:avLst/>
          </a:prstGeom>
          <a:noFill/>
          <a:ln/>
        </p:spPr>
        <p:txBody>
          <a:bodyPr wrap="square" lIns="0" tIns="0" rIns="0" bIns="0" rtlCol="0" anchor="ctr"/>
          <a:lstStyle/>
          <a:p>
            <a:pPr indent="0" marL="0">
              <a:buNone/>
            </a:pPr>
            <a:r>
              <a:rPr lang="en-US" sz="1050" b="1" spc="130" kern="0" dirty="0">
                <a:solidFill>
                  <a:srgbClr val="9DB4CC"/>
                </a:solidFill>
                <a:latin typeface="Calibri" pitchFamily="34" charset="0"/>
                <a:ea typeface="Calibri" pitchFamily="34" charset="-122"/>
                <a:cs typeface="Calibri" pitchFamily="34" charset="-120"/>
              </a:rPr>
              <a:t>WHAT WE ARE ASKING YOU TO DECIDE</a:t>
            </a:r>
            <a:endParaRPr lang="en-US" sz="1050" dirty="0"/>
          </a:p>
        </p:txBody>
      </p:sp>
      <p:sp>
        <p:nvSpPr>
          <p:cNvPr id="3" name="Text 1"/>
          <p:cNvSpPr txBox="1"/>
          <p:nvPr/>
        </p:nvSpPr>
        <p:spPr>
          <a:xfrm>
            <a:off x="658368" y="1060704"/>
            <a:ext cx="10874959" cy="603504"/>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Decisions, and Who Takes Them</a:t>
            </a:r>
            <a:endParaRPr lang="en-US" sz="3800" dirty="0"/>
          </a:p>
        </p:txBody>
      </p:sp>
      <p:sp>
        <p:nvSpPr>
          <p:cNvPr id="4" name="Text 2"/>
          <p:cNvSpPr txBox="1"/>
          <p:nvPr/>
        </p:nvSpPr>
        <p:spPr>
          <a:xfrm>
            <a:off x="1444752" y="1664208"/>
            <a:ext cx="3840480" cy="219456"/>
          </a:xfrm>
          <a:prstGeom prst="rect">
            <a:avLst/>
          </a:prstGeom>
          <a:noFill/>
          <a:ln/>
        </p:spPr>
        <p:txBody>
          <a:bodyPr wrap="square" lIns="0" tIns="0" rIns="0" bIns="0" rtlCol="0" anchor="ctr"/>
          <a:lstStyle/>
          <a:p>
            <a:pPr indent="0" marL="0">
              <a:buNone/>
            </a:pPr>
            <a:r>
              <a:rPr lang="en-US" sz="950" b="1" spc="110" kern="0" dirty="0">
                <a:solidFill>
                  <a:srgbClr val="9DB4CC"/>
                </a:solidFill>
                <a:latin typeface="Calibri" pitchFamily="34" charset="0"/>
                <a:ea typeface="Calibri" pitchFamily="34" charset="-122"/>
                <a:cs typeface="Calibri" pitchFamily="34" charset="-120"/>
              </a:rPr>
              <a:t>DECISION</a:t>
            </a:r>
            <a:endParaRPr lang="en-US" sz="950" dirty="0"/>
          </a:p>
        </p:txBody>
      </p:sp>
      <p:sp>
        <p:nvSpPr>
          <p:cNvPr id="5" name="Text 3"/>
          <p:cNvSpPr txBox="1"/>
          <p:nvPr/>
        </p:nvSpPr>
        <p:spPr>
          <a:xfrm>
            <a:off x="5413248" y="1664208"/>
            <a:ext cx="3840480" cy="219456"/>
          </a:xfrm>
          <a:prstGeom prst="rect">
            <a:avLst/>
          </a:prstGeom>
          <a:noFill/>
          <a:ln/>
        </p:spPr>
        <p:txBody>
          <a:bodyPr wrap="square" lIns="0" tIns="0" rIns="0" bIns="0" rtlCol="0" anchor="ctr"/>
          <a:lstStyle/>
          <a:p>
            <a:pPr indent="0" marL="0">
              <a:buNone/>
            </a:pPr>
            <a:r>
              <a:rPr lang="en-US" sz="950" b="1" spc="110" kern="0" dirty="0">
                <a:solidFill>
                  <a:srgbClr val="9DB4CC"/>
                </a:solidFill>
                <a:latin typeface="Calibri" pitchFamily="34" charset="0"/>
                <a:ea typeface="Calibri" pitchFamily="34" charset="-122"/>
                <a:cs typeface="Calibri" pitchFamily="34" charset="-120"/>
              </a:rPr>
              <a:t>OUR RECOMMENDATION</a:t>
            </a:r>
            <a:endParaRPr lang="en-US" sz="950" dirty="0"/>
          </a:p>
        </p:txBody>
      </p:sp>
      <p:sp>
        <p:nvSpPr>
          <p:cNvPr id="6" name="Text 4"/>
          <p:cNvSpPr txBox="1"/>
          <p:nvPr/>
        </p:nvSpPr>
        <p:spPr>
          <a:xfrm>
            <a:off x="9345168" y="1664208"/>
            <a:ext cx="2194560" cy="219456"/>
          </a:xfrm>
          <a:prstGeom prst="rect">
            <a:avLst/>
          </a:prstGeom>
          <a:noFill/>
          <a:ln/>
        </p:spPr>
        <p:txBody>
          <a:bodyPr wrap="square" lIns="0" tIns="0" rIns="0" bIns="0" rtlCol="0" anchor="ctr"/>
          <a:lstStyle/>
          <a:p>
            <a:pPr indent="0" marL="0">
              <a:buNone/>
            </a:pPr>
            <a:r>
              <a:rPr lang="en-US" sz="950" b="1" spc="110" kern="0" dirty="0">
                <a:solidFill>
                  <a:srgbClr val="9DB4CC"/>
                </a:solidFill>
                <a:latin typeface="Calibri" pitchFamily="34" charset="0"/>
                <a:ea typeface="Calibri" pitchFamily="34" charset="-122"/>
                <a:cs typeface="Calibri" pitchFamily="34" charset="-120"/>
              </a:rPr>
              <a:t>WHO DECIDES</a:t>
            </a:r>
            <a:endParaRPr lang="en-US" sz="950" dirty="0"/>
          </a:p>
        </p:txBody>
      </p:sp>
      <p:sp>
        <p:nvSpPr>
          <p:cNvPr id="7" name="Shape 5"/>
          <p:cNvSpPr/>
          <p:nvPr/>
        </p:nvSpPr>
        <p:spPr>
          <a:xfrm>
            <a:off x="658368" y="1901952"/>
            <a:ext cx="10874959" cy="0"/>
          </a:xfrm>
          <a:prstGeom prst="line">
            <a:avLst/>
          </a:prstGeom>
          <a:noFill/>
          <a:ln w="12700">
            <a:solidFill>
              <a:srgbClr val="0A4179"/>
            </a:solidFill>
            <a:prstDash val="solid"/>
          </a:ln>
        </p:spPr>
      </p:sp>
      <p:sp>
        <p:nvSpPr>
          <p:cNvPr id="8" name="Text 6"/>
          <p:cNvSpPr txBox="1"/>
          <p:nvPr/>
        </p:nvSpPr>
        <p:spPr>
          <a:xfrm>
            <a:off x="658368" y="2084832"/>
            <a:ext cx="640080" cy="402336"/>
          </a:xfrm>
          <a:prstGeom prst="rect">
            <a:avLst/>
          </a:prstGeom>
          <a:noFill/>
          <a:ln/>
        </p:spPr>
        <p:txBody>
          <a:bodyPr wrap="square" lIns="0" tIns="0" rIns="0" bIns="0" rtlCol="0" anchor="ctr"/>
          <a:lstStyle/>
          <a:p>
            <a:pPr indent="0" marL="0">
              <a:buNone/>
            </a:pPr>
            <a:r>
              <a:rPr lang="en-US" sz="2600" b="1" dirty="0">
                <a:solidFill>
                  <a:srgbClr val="8CC6FB"/>
                </a:solidFill>
                <a:latin typeface="Cambria" pitchFamily="34" charset="0"/>
                <a:ea typeface="Cambria" pitchFamily="34" charset="-122"/>
                <a:cs typeface="Cambria" pitchFamily="34" charset="-120"/>
              </a:rPr>
              <a:t>01</a:t>
            </a:r>
            <a:endParaRPr lang="en-US" sz="2600" dirty="0"/>
          </a:p>
        </p:txBody>
      </p:sp>
      <p:sp>
        <p:nvSpPr>
          <p:cNvPr id="9" name="Text 7"/>
          <p:cNvSpPr txBox="1"/>
          <p:nvPr/>
        </p:nvSpPr>
        <p:spPr>
          <a:xfrm>
            <a:off x="1444752" y="2121408"/>
            <a:ext cx="3840480" cy="512064"/>
          </a:xfrm>
          <a:prstGeom prst="rect">
            <a:avLst/>
          </a:prstGeom>
          <a:noFill/>
          <a:ln/>
        </p:spPr>
        <p:txBody>
          <a:bodyPr wrap="square" lIns="0" tIns="0" rIns="0" bIns="0" rtlCol="0" anchor="ctr"/>
          <a:lstStyle/>
          <a:p>
            <a:pPr indent="0" marL="0">
              <a:lnSpc>
                <a:spcPct val="112000"/>
              </a:lnSpc>
              <a:buNone/>
            </a:pPr>
            <a:r>
              <a:rPr lang="en-US" sz="1400" dirty="0">
                <a:solidFill>
                  <a:srgbClr val="9DB4CC"/>
                </a:solidFill>
                <a:latin typeface="Calibri" pitchFamily="34" charset="0"/>
                <a:ea typeface="Calibri" pitchFamily="34" charset="-122"/>
                <a:cs typeface="Calibri" pitchFamily="34" charset="-120"/>
              </a:rPr>
              <a:t>The homepage surface</a:t>
            </a:r>
            <a:endParaRPr lang="en-US" sz="1400" dirty="0"/>
          </a:p>
        </p:txBody>
      </p:sp>
      <p:sp>
        <p:nvSpPr>
          <p:cNvPr id="10" name="Text 8"/>
          <p:cNvSpPr txBox="1"/>
          <p:nvPr/>
        </p:nvSpPr>
        <p:spPr>
          <a:xfrm>
            <a:off x="5413248" y="2121408"/>
            <a:ext cx="3840480" cy="512064"/>
          </a:xfrm>
          <a:prstGeom prst="rect">
            <a:avLst/>
          </a:prstGeom>
          <a:noFill/>
          <a:ln/>
        </p:spPr>
        <p:txBody>
          <a:bodyPr wrap="square" lIns="0" tIns="0" rIns="0" bIns="0" rtlCol="0" anchor="ctr"/>
          <a:lstStyle/>
          <a:p>
            <a:pPr indent="0" marL="0">
              <a:lnSpc>
                <a:spcPct val="112000"/>
              </a:lnSpc>
              <a:buNone/>
            </a:pPr>
            <a:r>
              <a:rPr lang="en-US" sz="1400" b="1" dirty="0">
                <a:solidFill>
                  <a:srgbClr val="8CC6FB"/>
                </a:solidFill>
                <a:latin typeface="Calibri" pitchFamily="34" charset="0"/>
                <a:ea typeface="Calibri" pitchFamily="34" charset="-122"/>
                <a:cs typeface="Calibri" pitchFamily="34" charset="-120"/>
              </a:rPr>
              <a:t>Option B, the five-question finder</a:t>
            </a:r>
            <a:endParaRPr lang="en-US" sz="1400" dirty="0"/>
          </a:p>
        </p:txBody>
      </p:sp>
      <p:sp>
        <p:nvSpPr>
          <p:cNvPr id="11" name="Text 9"/>
          <p:cNvSpPr txBox="1"/>
          <p:nvPr/>
        </p:nvSpPr>
        <p:spPr>
          <a:xfrm>
            <a:off x="9345168" y="2121408"/>
            <a:ext cx="2194560" cy="512064"/>
          </a:xfrm>
          <a:prstGeom prst="rect">
            <a:avLst/>
          </a:prstGeom>
          <a:noFill/>
          <a:ln/>
        </p:spPr>
        <p:txBody>
          <a:bodyPr wrap="square" lIns="0" tIns="0" rIns="0" bIns="0" rtlCol="0" anchor="ctr"/>
          <a:lstStyle/>
          <a:p>
            <a:pPr indent="0" marL="0">
              <a:lnSpc>
                <a:spcPct val="112000"/>
              </a:lnSpc>
              <a:buNone/>
            </a:pPr>
            <a:r>
              <a:rPr lang="en-US" sz="1200" dirty="0">
                <a:solidFill>
                  <a:srgbClr val="9DB4CC"/>
                </a:solidFill>
                <a:latin typeface="Calibri" pitchFamily="34" charset="0"/>
                <a:ea typeface="Calibri" pitchFamily="34" charset="-122"/>
                <a:cs typeface="Calibri" pitchFamily="34" charset="-120"/>
              </a:rPr>
              <a:t>Department of Social Justice &amp; Empowerment</a:t>
            </a:r>
            <a:endParaRPr lang="en-US" sz="1200" dirty="0"/>
          </a:p>
        </p:txBody>
      </p:sp>
      <p:sp>
        <p:nvSpPr>
          <p:cNvPr id="12" name="Shape 10"/>
          <p:cNvSpPr/>
          <p:nvPr/>
        </p:nvSpPr>
        <p:spPr>
          <a:xfrm>
            <a:off x="658368" y="2761488"/>
            <a:ext cx="10874959" cy="0"/>
          </a:xfrm>
          <a:prstGeom prst="line">
            <a:avLst/>
          </a:prstGeom>
          <a:noFill/>
          <a:ln w="12700">
            <a:solidFill>
              <a:srgbClr val="0A4179"/>
            </a:solidFill>
            <a:prstDash val="solid"/>
          </a:ln>
        </p:spPr>
      </p:sp>
      <p:sp>
        <p:nvSpPr>
          <p:cNvPr id="13" name="Text 11"/>
          <p:cNvSpPr txBox="1"/>
          <p:nvPr/>
        </p:nvSpPr>
        <p:spPr>
          <a:xfrm>
            <a:off x="658368" y="2944368"/>
            <a:ext cx="640080" cy="402336"/>
          </a:xfrm>
          <a:prstGeom prst="rect">
            <a:avLst/>
          </a:prstGeom>
          <a:noFill/>
          <a:ln/>
        </p:spPr>
        <p:txBody>
          <a:bodyPr wrap="square" lIns="0" tIns="0" rIns="0" bIns="0" rtlCol="0" anchor="ctr"/>
          <a:lstStyle/>
          <a:p>
            <a:pPr indent="0" marL="0">
              <a:buNone/>
            </a:pPr>
            <a:r>
              <a:rPr lang="en-US" sz="2600" b="1" dirty="0">
                <a:solidFill>
                  <a:srgbClr val="8CC6FB"/>
                </a:solidFill>
                <a:latin typeface="Cambria" pitchFamily="34" charset="0"/>
                <a:ea typeface="Cambria" pitchFamily="34" charset="-122"/>
                <a:cs typeface="Cambria" pitchFamily="34" charset="-120"/>
              </a:rPr>
              <a:t>02</a:t>
            </a:r>
            <a:endParaRPr lang="en-US" sz="2600" dirty="0"/>
          </a:p>
        </p:txBody>
      </p:sp>
      <p:sp>
        <p:nvSpPr>
          <p:cNvPr id="14" name="Text 12"/>
          <p:cNvSpPr txBox="1"/>
          <p:nvPr/>
        </p:nvSpPr>
        <p:spPr>
          <a:xfrm>
            <a:off x="1444752" y="2980944"/>
            <a:ext cx="3840480" cy="512064"/>
          </a:xfrm>
          <a:prstGeom prst="rect">
            <a:avLst/>
          </a:prstGeom>
          <a:noFill/>
          <a:ln/>
        </p:spPr>
        <p:txBody>
          <a:bodyPr wrap="square" lIns="0" tIns="0" rIns="0" bIns="0" rtlCol="0" anchor="ctr"/>
          <a:lstStyle/>
          <a:p>
            <a:pPr indent="0" marL="0">
              <a:lnSpc>
                <a:spcPct val="112000"/>
              </a:lnSpc>
              <a:buNone/>
            </a:pPr>
            <a:r>
              <a:rPr lang="en-US" sz="1400" dirty="0">
                <a:solidFill>
                  <a:srgbClr val="9DB4CC"/>
                </a:solidFill>
                <a:latin typeface="Calibri" pitchFamily="34" charset="0"/>
                <a:ea typeface="Calibri" pitchFamily="34" charset="-122"/>
                <a:cs typeface="Calibri" pitchFamily="34" charset="-120"/>
              </a:rPr>
              <a:t>The schemes page surface</a:t>
            </a:r>
            <a:endParaRPr lang="en-US" sz="1400" dirty="0"/>
          </a:p>
        </p:txBody>
      </p:sp>
      <p:sp>
        <p:nvSpPr>
          <p:cNvPr id="15" name="Text 13"/>
          <p:cNvSpPr txBox="1"/>
          <p:nvPr/>
        </p:nvSpPr>
        <p:spPr>
          <a:xfrm>
            <a:off x="5413248" y="2980944"/>
            <a:ext cx="3840480" cy="512064"/>
          </a:xfrm>
          <a:prstGeom prst="rect">
            <a:avLst/>
          </a:prstGeom>
          <a:noFill/>
          <a:ln/>
        </p:spPr>
        <p:txBody>
          <a:bodyPr wrap="square" lIns="0" tIns="0" rIns="0" bIns="0" rtlCol="0" anchor="ctr"/>
          <a:lstStyle/>
          <a:p>
            <a:pPr indent="0" marL="0">
              <a:lnSpc>
                <a:spcPct val="112000"/>
              </a:lnSpc>
              <a:buNone/>
            </a:pPr>
            <a:r>
              <a:rPr lang="en-US" sz="1400" b="1" dirty="0">
                <a:solidFill>
                  <a:srgbClr val="8CC6FB"/>
                </a:solidFill>
                <a:latin typeface="Calibri" pitchFamily="34" charset="0"/>
                <a:ea typeface="Calibri" pitchFamily="34" charset="-122"/>
                <a:cs typeface="Calibri" pitchFamily="34" charset="-120"/>
              </a:rPr>
              <a:t>Option B, the filter panel and table</a:t>
            </a:r>
            <a:endParaRPr lang="en-US" sz="1400" dirty="0"/>
          </a:p>
        </p:txBody>
      </p:sp>
      <p:sp>
        <p:nvSpPr>
          <p:cNvPr id="16" name="Text 14"/>
          <p:cNvSpPr txBox="1"/>
          <p:nvPr/>
        </p:nvSpPr>
        <p:spPr>
          <a:xfrm>
            <a:off x="9345168" y="2980944"/>
            <a:ext cx="2194560" cy="512064"/>
          </a:xfrm>
          <a:prstGeom prst="rect">
            <a:avLst/>
          </a:prstGeom>
          <a:noFill/>
          <a:ln/>
        </p:spPr>
        <p:txBody>
          <a:bodyPr wrap="square" lIns="0" tIns="0" rIns="0" bIns="0" rtlCol="0" anchor="ctr"/>
          <a:lstStyle/>
          <a:p>
            <a:pPr indent="0" marL="0">
              <a:lnSpc>
                <a:spcPct val="112000"/>
              </a:lnSpc>
              <a:buNone/>
            </a:pPr>
            <a:r>
              <a:rPr lang="en-US" sz="1200" dirty="0">
                <a:solidFill>
                  <a:srgbClr val="9DB4CC"/>
                </a:solidFill>
                <a:latin typeface="Calibri" pitchFamily="34" charset="0"/>
                <a:ea typeface="Calibri" pitchFamily="34" charset="-122"/>
                <a:cs typeface="Calibri" pitchFamily="34" charset="-120"/>
              </a:rPr>
              <a:t>Department of Social Justice &amp; Empowerment</a:t>
            </a:r>
            <a:endParaRPr lang="en-US" sz="1200" dirty="0"/>
          </a:p>
        </p:txBody>
      </p:sp>
      <p:sp>
        <p:nvSpPr>
          <p:cNvPr id="17" name="Shape 15"/>
          <p:cNvSpPr/>
          <p:nvPr/>
        </p:nvSpPr>
        <p:spPr>
          <a:xfrm>
            <a:off x="658368" y="3621024"/>
            <a:ext cx="10874959" cy="0"/>
          </a:xfrm>
          <a:prstGeom prst="line">
            <a:avLst/>
          </a:prstGeom>
          <a:noFill/>
          <a:ln w="12700">
            <a:solidFill>
              <a:srgbClr val="0A4179"/>
            </a:solidFill>
            <a:prstDash val="solid"/>
          </a:ln>
        </p:spPr>
      </p:sp>
      <p:sp>
        <p:nvSpPr>
          <p:cNvPr id="18" name="Text 16"/>
          <p:cNvSpPr txBox="1"/>
          <p:nvPr/>
        </p:nvSpPr>
        <p:spPr>
          <a:xfrm>
            <a:off x="658368" y="3803904"/>
            <a:ext cx="640080" cy="402336"/>
          </a:xfrm>
          <a:prstGeom prst="rect">
            <a:avLst/>
          </a:prstGeom>
          <a:noFill/>
          <a:ln/>
        </p:spPr>
        <p:txBody>
          <a:bodyPr wrap="square" lIns="0" tIns="0" rIns="0" bIns="0" rtlCol="0" anchor="ctr"/>
          <a:lstStyle/>
          <a:p>
            <a:pPr indent="0" marL="0">
              <a:buNone/>
            </a:pPr>
            <a:r>
              <a:rPr lang="en-US" sz="2600" b="1" dirty="0">
                <a:solidFill>
                  <a:srgbClr val="8CC6FB"/>
                </a:solidFill>
                <a:latin typeface="Cambria" pitchFamily="34" charset="0"/>
                <a:ea typeface="Cambria" pitchFamily="34" charset="-122"/>
                <a:cs typeface="Cambria" pitchFamily="34" charset="-120"/>
              </a:rPr>
              <a:t>03</a:t>
            </a:r>
            <a:endParaRPr lang="en-US" sz="2600" dirty="0"/>
          </a:p>
        </p:txBody>
      </p:sp>
      <p:sp>
        <p:nvSpPr>
          <p:cNvPr id="19" name="Text 17"/>
          <p:cNvSpPr txBox="1"/>
          <p:nvPr/>
        </p:nvSpPr>
        <p:spPr>
          <a:xfrm>
            <a:off x="1444752" y="3840480"/>
            <a:ext cx="3840480" cy="512064"/>
          </a:xfrm>
          <a:prstGeom prst="rect">
            <a:avLst/>
          </a:prstGeom>
          <a:noFill/>
          <a:ln/>
        </p:spPr>
        <p:txBody>
          <a:bodyPr wrap="square" lIns="0" tIns="0" rIns="0" bIns="0" rtlCol="0" anchor="ctr"/>
          <a:lstStyle/>
          <a:p>
            <a:pPr indent="0" marL="0">
              <a:lnSpc>
                <a:spcPct val="112000"/>
              </a:lnSpc>
              <a:buNone/>
            </a:pPr>
            <a:r>
              <a:rPr lang="en-US" sz="1400" dirty="0">
                <a:solidFill>
                  <a:srgbClr val="9DB4CC"/>
                </a:solidFill>
                <a:latin typeface="Calibri" pitchFamily="34" charset="0"/>
                <a:ea typeface="Calibri" pitchFamily="34" charset="-122"/>
                <a:cs typeface="Calibri" pitchFamily="34" charset="-120"/>
              </a:rPr>
              <a:t>Whether the chatbot carries the scheme branch</a:t>
            </a:r>
            <a:endParaRPr lang="en-US" sz="1400" dirty="0"/>
          </a:p>
        </p:txBody>
      </p:sp>
      <p:sp>
        <p:nvSpPr>
          <p:cNvPr id="20" name="Text 18"/>
          <p:cNvSpPr txBox="1"/>
          <p:nvPr/>
        </p:nvSpPr>
        <p:spPr>
          <a:xfrm>
            <a:off x="5413248" y="3840480"/>
            <a:ext cx="3840480" cy="512064"/>
          </a:xfrm>
          <a:prstGeom prst="rect">
            <a:avLst/>
          </a:prstGeom>
          <a:noFill/>
          <a:ln/>
        </p:spPr>
        <p:txBody>
          <a:bodyPr wrap="square" lIns="0" tIns="0" rIns="0" bIns="0" rtlCol="0" anchor="ctr"/>
          <a:lstStyle/>
          <a:p>
            <a:pPr indent="0" marL="0">
              <a:lnSpc>
                <a:spcPct val="112000"/>
              </a:lnSpc>
              <a:buNone/>
            </a:pPr>
            <a:r>
              <a:rPr lang="en-US" sz="1400" b="1" dirty="0">
                <a:solidFill>
                  <a:srgbClr val="8CC6FB"/>
                </a:solidFill>
                <a:latin typeface="Calibri" pitchFamily="34" charset="0"/>
                <a:ea typeface="Calibri" pitchFamily="34" charset="-122"/>
                <a:cs typeface="Calibri" pitchFamily="34" charset="-120"/>
              </a:rPr>
              <a:t>Yes — it reuses the same five questions</a:t>
            </a:r>
            <a:endParaRPr lang="en-US" sz="1400" dirty="0"/>
          </a:p>
        </p:txBody>
      </p:sp>
      <p:sp>
        <p:nvSpPr>
          <p:cNvPr id="21" name="Text 19"/>
          <p:cNvSpPr txBox="1"/>
          <p:nvPr/>
        </p:nvSpPr>
        <p:spPr>
          <a:xfrm>
            <a:off x="9345168" y="3840480"/>
            <a:ext cx="2194560" cy="512064"/>
          </a:xfrm>
          <a:prstGeom prst="rect">
            <a:avLst/>
          </a:prstGeom>
          <a:noFill/>
          <a:ln/>
        </p:spPr>
        <p:txBody>
          <a:bodyPr wrap="square" lIns="0" tIns="0" rIns="0" bIns="0" rtlCol="0" anchor="ctr"/>
          <a:lstStyle/>
          <a:p>
            <a:pPr indent="0" marL="0">
              <a:lnSpc>
                <a:spcPct val="112000"/>
              </a:lnSpc>
              <a:buNone/>
            </a:pPr>
            <a:r>
              <a:rPr lang="en-US" sz="1200" dirty="0">
                <a:solidFill>
                  <a:srgbClr val="9DB4CC"/>
                </a:solidFill>
                <a:latin typeface="Calibri" pitchFamily="34" charset="0"/>
                <a:ea typeface="Calibri" pitchFamily="34" charset="-122"/>
                <a:cs typeface="Calibri" pitchFamily="34" charset="-120"/>
              </a:rPr>
              <a:t>Department, with the existing chatbot vendor</a:t>
            </a:r>
            <a:endParaRPr lang="en-US" sz="1200" dirty="0"/>
          </a:p>
        </p:txBody>
      </p:sp>
      <p:sp>
        <p:nvSpPr>
          <p:cNvPr id="22" name="Shape 20"/>
          <p:cNvSpPr/>
          <p:nvPr/>
        </p:nvSpPr>
        <p:spPr>
          <a:xfrm>
            <a:off x="658368" y="4480560"/>
            <a:ext cx="10874959" cy="0"/>
          </a:xfrm>
          <a:prstGeom prst="line">
            <a:avLst/>
          </a:prstGeom>
          <a:noFill/>
          <a:ln w="12700">
            <a:solidFill>
              <a:srgbClr val="0A4179"/>
            </a:solidFill>
            <a:prstDash val="solid"/>
          </a:ln>
        </p:spPr>
      </p:sp>
      <p:sp>
        <p:nvSpPr>
          <p:cNvPr id="23" name="Shape 21"/>
          <p:cNvSpPr/>
          <p:nvPr/>
        </p:nvSpPr>
        <p:spPr>
          <a:xfrm>
            <a:off x="658368" y="4791456"/>
            <a:ext cx="10874959" cy="1188720"/>
          </a:xfrm>
          <a:prstGeom prst="rect">
            <a:avLst/>
          </a:prstGeom>
          <a:solidFill>
            <a:srgbClr val="0A4179"/>
          </a:solidFill>
          <a:ln w="12700">
            <a:solidFill>
              <a:srgbClr val="0A4179"/>
            </a:solidFill>
            <a:prstDash val="solid"/>
          </a:ln>
        </p:spPr>
      </p:sp>
      <p:sp>
        <p:nvSpPr>
          <p:cNvPr id="24" name="Text 22"/>
          <p:cNvSpPr txBox="1"/>
          <p:nvPr/>
        </p:nvSpPr>
        <p:spPr>
          <a:xfrm>
            <a:off x="1042416" y="4956048"/>
            <a:ext cx="10106863"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And one instruction: authorise Phase 1.</a:t>
            </a:r>
            <a:endParaRPr lang="en-US" sz="2200" dirty="0"/>
          </a:p>
        </p:txBody>
      </p:sp>
      <p:sp>
        <p:nvSpPr>
          <p:cNvPr id="25" name="Text 23"/>
          <p:cNvSpPr txBox="1"/>
          <p:nvPr/>
        </p:nvSpPr>
        <p:spPr>
          <a:xfrm>
            <a:off x="1042416" y="5358384"/>
            <a:ext cx="10106863" cy="438912"/>
          </a:xfrm>
          <a:prstGeom prst="rect">
            <a:avLst/>
          </a:prstGeom>
          <a:noFill/>
          <a:ln/>
        </p:spPr>
        <p:txBody>
          <a:bodyPr wrap="square" lIns="0" tIns="0" rIns="0" bIns="0" rtlCol="0" anchor="ctr"/>
          <a:lstStyle/>
          <a:p>
            <a:pPr indent="0" marL="0">
              <a:lnSpc>
                <a:spcPct val="116000"/>
              </a:lnSpc>
              <a:buNone/>
            </a:pPr>
            <a:r>
              <a:rPr lang="en-US" sz="1250" dirty="0">
                <a:solidFill>
                  <a:srgbClr val="9DB4CC"/>
                </a:solidFill>
                <a:latin typeface="Calibri" pitchFamily="34" charset="0"/>
                <a:ea typeface="Calibri" pitchFamily="34" charset="-122"/>
                <a:cs typeface="Calibri" pitchFamily="34" charset="-120"/>
              </a:rPr>
              <a:t>Populating the eligibility model across all 141 records is the one-time content work every option above depends on. Whichever surfaces are chosen, this is the piece that has to start first, and only the Department can do it.</a:t>
            </a:r>
            <a:endParaRPr lang="en-US" sz="1250" dirty="0"/>
          </a:p>
        </p:txBody>
      </p:sp>
      <p:sp>
        <p:nvSpPr>
          <p:cNvPr id="26" name="Text 24"/>
          <p:cNvSpPr txBox="1"/>
          <p:nvPr/>
        </p:nvSpPr>
        <p:spPr>
          <a:xfrm>
            <a:off x="658368" y="6144768"/>
            <a:ext cx="10874959" cy="274320"/>
          </a:xfrm>
          <a:prstGeom prst="rect">
            <a:avLst/>
          </a:prstGeom>
          <a:noFill/>
          <a:ln/>
        </p:spPr>
        <p:txBody>
          <a:bodyPr wrap="square" lIns="0" tIns="0" rIns="0" bIns="0" rtlCol="0" anchor="ctr"/>
          <a:lstStyle/>
          <a:p>
            <a:pPr indent="0" marL="0">
              <a:buNone/>
            </a:pPr>
            <a:r>
              <a:rPr lang="en-US" sz="1150" dirty="0">
                <a:solidFill>
                  <a:srgbClr val="9DB4CC"/>
                </a:solidFill>
                <a:latin typeface="Calibri" pitchFamily="34" charset="0"/>
                <a:ea typeface="Calibri" pitchFamily="34" charset="-122"/>
                <a:cs typeface="Calibri" pitchFamily="34" charset="-120"/>
              </a:rPr>
              <a:t>Decisions are sought before the Department's next review meeting.</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STATED LIMITS</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What This Review Does Not Establish</a:t>
            </a:r>
            <a:endParaRPr lang="en-US" sz="3000" dirty="0"/>
          </a:p>
        </p:txBody>
      </p:sp>
      <p:sp>
        <p:nvSpPr>
          <p:cNvPr id="4" name="Text 2"/>
          <p:cNvSpPr txBox="1"/>
          <p:nvPr/>
        </p:nvSpPr>
        <p:spPr>
          <a:xfrm>
            <a:off x="658368" y="1188720"/>
            <a:ext cx="8917467" cy="384048"/>
          </a:xfrm>
          <a:prstGeom prst="rect">
            <a:avLst/>
          </a:prstGeom>
          <a:noFill/>
          <a:ln/>
        </p:spPr>
        <p:txBody>
          <a:bodyPr wrap="square" lIns="0" tIns="0" rIns="0" bIns="0" rtlCol="0" anchor="ctr"/>
          <a:lstStyle/>
          <a:p>
            <a:pPr indent="0" marL="0">
              <a:lnSpc>
                <a:spcPct val="115000"/>
              </a:lnSpc>
              <a:buNone/>
            </a:pPr>
            <a:r>
              <a:rPr lang="en-US" sz="1300" dirty="0">
                <a:solidFill>
                  <a:srgbClr val="5A6472"/>
                </a:solidFill>
                <a:latin typeface="Calibri" pitchFamily="34" charset="0"/>
                <a:ea typeface="Calibri" pitchFamily="34" charset="-122"/>
                <a:cs typeface="Calibri" pitchFamily="34" charset="-120"/>
              </a:rPr>
              <a:t>Set out so that the findings above are read for exactly what they are.</a:t>
            </a:r>
            <a:endParaRPr lang="en-US" sz="1300" dirty="0"/>
          </a:p>
        </p:txBody>
      </p:sp>
      <p:sp>
        <p:nvSpPr>
          <p:cNvPr id="5" name="Text 3"/>
          <p:cNvSpPr txBox="1"/>
          <p:nvPr/>
        </p:nvSpPr>
        <p:spPr>
          <a:xfrm>
            <a:off x="658368" y="1773936"/>
            <a:ext cx="640080" cy="402336"/>
          </a:xfrm>
          <a:prstGeom prst="rect">
            <a:avLst/>
          </a:prstGeom>
          <a:noFill/>
          <a:ln/>
        </p:spPr>
        <p:txBody>
          <a:bodyPr wrap="square" lIns="0" tIns="0" rIns="0" bIns="0" rtlCol="0" anchor="ctr"/>
          <a:lstStyle/>
          <a:p>
            <a:pPr indent="0" marL="0">
              <a:buNone/>
            </a:pPr>
            <a:r>
              <a:rPr lang="en-US" sz="2600" b="1" dirty="0">
                <a:solidFill>
                  <a:srgbClr val="9A3412"/>
                </a:solidFill>
                <a:latin typeface="Cambria" pitchFamily="34" charset="0"/>
                <a:ea typeface="Cambria" pitchFamily="34" charset="-122"/>
                <a:cs typeface="Cambria" pitchFamily="34" charset="-120"/>
              </a:rPr>
              <a:t>01</a:t>
            </a:r>
            <a:endParaRPr lang="en-US" sz="2600" dirty="0"/>
          </a:p>
        </p:txBody>
      </p:sp>
      <p:sp>
        <p:nvSpPr>
          <p:cNvPr id="6" name="Text 4"/>
          <p:cNvSpPr txBox="1"/>
          <p:nvPr/>
        </p:nvSpPr>
        <p:spPr>
          <a:xfrm>
            <a:off x="1444752" y="1755648"/>
            <a:ext cx="10088575" cy="292608"/>
          </a:xfrm>
          <a:prstGeom prst="rect">
            <a:avLst/>
          </a:prstGeom>
          <a:noFill/>
          <a:ln/>
        </p:spPr>
        <p:txBody>
          <a:bodyPr wrap="square" lIns="0" tIns="0" rIns="0" bIns="0" rtlCol="0" anchor="ctr"/>
          <a:lstStyle/>
          <a:p>
            <a:pPr indent="0" marL="0">
              <a:buNone/>
            </a:pPr>
            <a:r>
              <a:rPr lang="en-US" sz="1500" b="1" dirty="0">
                <a:solidFill>
                  <a:srgbClr val="003366"/>
                </a:solidFill>
                <a:latin typeface="Calibri" pitchFamily="34" charset="0"/>
                <a:ea typeface="Calibri" pitchFamily="34" charset="-122"/>
                <a:cs typeface="Calibri" pitchFamily="34" charset="-120"/>
              </a:rPr>
              <a:t>No user research was conducted.</a:t>
            </a:r>
            <a:endParaRPr lang="en-US" sz="1500" dirty="0"/>
          </a:p>
        </p:txBody>
      </p:sp>
      <p:sp>
        <p:nvSpPr>
          <p:cNvPr id="7" name="Text 5"/>
          <p:cNvSpPr txBox="1"/>
          <p:nvPr/>
        </p:nvSpPr>
        <p:spPr>
          <a:xfrm>
            <a:off x="1444752" y="2084832"/>
            <a:ext cx="10088575" cy="841248"/>
          </a:xfrm>
          <a:prstGeom prst="rect">
            <a:avLst/>
          </a:prstGeom>
          <a:noFill/>
          <a:ln/>
        </p:spPr>
        <p:txBody>
          <a:bodyPr wrap="square" lIns="0" tIns="0" rIns="0" bIns="0" rtlCol="0" anchor="ctr"/>
          <a:lstStyle/>
          <a:p>
            <a:pPr indent="0" marL="0">
              <a:lnSpc>
                <a:spcPct val="124000"/>
              </a:lnSpc>
              <a:buNone/>
            </a:pPr>
            <a:r>
              <a:rPr lang="en-US" sz="1250" dirty="0">
                <a:solidFill>
                  <a:srgbClr val="1A1A1A"/>
                </a:solidFill>
                <a:latin typeface="Calibri" pitchFamily="34" charset="0"/>
                <a:ea typeface="Calibri" pitchFamily="34" charset="-122"/>
                <a:cs typeface="Calibri" pitchFamily="34" charset="-120"/>
              </a:rPr>
              <a:t>The findings are grounded in analysis of the two live sites and in benchmarks against myScheme, DEPwD, the National Scholarship Portal and GOV.UK. The personas are derived from the constituencies named in the Department's own statutes, schemes and organisations — not from interviews. The recommendations should be validated with those constituencies before Phase 3 ships.</a:t>
            </a:r>
            <a:endParaRPr lang="en-US" sz="1250" dirty="0"/>
          </a:p>
        </p:txBody>
      </p:sp>
      <p:sp>
        <p:nvSpPr>
          <p:cNvPr id="8" name="Shape 6"/>
          <p:cNvSpPr/>
          <p:nvPr/>
        </p:nvSpPr>
        <p:spPr>
          <a:xfrm>
            <a:off x="658368" y="2962656"/>
            <a:ext cx="10874959" cy="0"/>
          </a:xfrm>
          <a:prstGeom prst="line">
            <a:avLst/>
          </a:prstGeom>
          <a:noFill/>
          <a:ln w="9525">
            <a:solidFill>
              <a:srgbClr val="D8DEE7"/>
            </a:solidFill>
            <a:prstDash val="solid"/>
          </a:ln>
        </p:spPr>
      </p:sp>
      <p:sp>
        <p:nvSpPr>
          <p:cNvPr id="9" name="Text 7"/>
          <p:cNvSpPr txBox="1"/>
          <p:nvPr/>
        </p:nvSpPr>
        <p:spPr>
          <a:xfrm>
            <a:off x="658368" y="3200400"/>
            <a:ext cx="640080" cy="402336"/>
          </a:xfrm>
          <a:prstGeom prst="rect">
            <a:avLst/>
          </a:prstGeom>
          <a:noFill/>
          <a:ln/>
        </p:spPr>
        <p:txBody>
          <a:bodyPr wrap="square" lIns="0" tIns="0" rIns="0" bIns="0" rtlCol="0" anchor="ctr"/>
          <a:lstStyle/>
          <a:p>
            <a:pPr indent="0" marL="0">
              <a:buNone/>
            </a:pPr>
            <a:r>
              <a:rPr lang="en-US" sz="2600" b="1" dirty="0">
                <a:solidFill>
                  <a:srgbClr val="9A3412"/>
                </a:solidFill>
                <a:latin typeface="Cambria" pitchFamily="34" charset="0"/>
                <a:ea typeface="Cambria" pitchFamily="34" charset="-122"/>
                <a:cs typeface="Cambria" pitchFamily="34" charset="-120"/>
              </a:rPr>
              <a:t>02</a:t>
            </a:r>
            <a:endParaRPr lang="en-US" sz="2600" dirty="0"/>
          </a:p>
        </p:txBody>
      </p:sp>
      <p:sp>
        <p:nvSpPr>
          <p:cNvPr id="10" name="Text 8"/>
          <p:cNvSpPr txBox="1"/>
          <p:nvPr/>
        </p:nvSpPr>
        <p:spPr>
          <a:xfrm>
            <a:off x="1444752" y="3182112"/>
            <a:ext cx="10088575" cy="292608"/>
          </a:xfrm>
          <a:prstGeom prst="rect">
            <a:avLst/>
          </a:prstGeom>
          <a:noFill/>
          <a:ln/>
        </p:spPr>
        <p:txBody>
          <a:bodyPr wrap="square" lIns="0" tIns="0" rIns="0" bIns="0" rtlCol="0" anchor="ctr"/>
          <a:lstStyle/>
          <a:p>
            <a:pPr indent="0" marL="0">
              <a:buNone/>
            </a:pPr>
            <a:r>
              <a:rPr lang="en-US" sz="1500" b="1" dirty="0">
                <a:solidFill>
                  <a:srgbClr val="003366"/>
                </a:solidFill>
                <a:latin typeface="Calibri" pitchFamily="34" charset="0"/>
                <a:ea typeface="Calibri" pitchFamily="34" charset="-122"/>
                <a:cs typeface="Calibri" pitchFamily="34" charset="-120"/>
              </a:rPr>
              <a:t>The content export is dated.</a:t>
            </a:r>
            <a:endParaRPr lang="en-US" sz="1500" dirty="0"/>
          </a:p>
        </p:txBody>
      </p:sp>
      <p:sp>
        <p:nvSpPr>
          <p:cNvPr id="11" name="Text 9"/>
          <p:cNvSpPr txBox="1"/>
          <p:nvPr/>
        </p:nvSpPr>
        <p:spPr>
          <a:xfrm>
            <a:off x="1444752" y="3511296"/>
            <a:ext cx="10088575" cy="841248"/>
          </a:xfrm>
          <a:prstGeom prst="rect">
            <a:avLst/>
          </a:prstGeom>
          <a:noFill/>
          <a:ln/>
        </p:spPr>
        <p:txBody>
          <a:bodyPr wrap="square" lIns="0" tIns="0" rIns="0" bIns="0" rtlCol="0" anchor="ctr"/>
          <a:lstStyle/>
          <a:p>
            <a:pPr indent="0" marL="0">
              <a:lnSpc>
                <a:spcPct val="124000"/>
              </a:lnSpc>
              <a:buNone/>
            </a:pPr>
            <a:r>
              <a:rPr lang="en-US" sz="1250" dirty="0">
                <a:solidFill>
                  <a:srgbClr val="1A1A1A"/>
                </a:solidFill>
                <a:latin typeface="Calibri" pitchFamily="34" charset="0"/>
                <a:ea typeface="Calibri" pitchFamily="34" charset="-122"/>
                <a:cs typeface="Calibri" pitchFamily="34" charset="-120"/>
              </a:rPr>
              <a:t>The quantitative claims about the 141 scheme records come from an export generated 13 June 2026. Every claim about navigation, facets, persona pages and search behaviour was re-verified against the live sites on 20 August 2026.</a:t>
            </a:r>
            <a:endParaRPr lang="en-US" sz="1250" dirty="0"/>
          </a:p>
        </p:txBody>
      </p:sp>
      <p:sp>
        <p:nvSpPr>
          <p:cNvPr id="12" name="Shape 10"/>
          <p:cNvSpPr/>
          <p:nvPr/>
        </p:nvSpPr>
        <p:spPr>
          <a:xfrm>
            <a:off x="658368" y="4389120"/>
            <a:ext cx="10874959" cy="0"/>
          </a:xfrm>
          <a:prstGeom prst="line">
            <a:avLst/>
          </a:prstGeom>
          <a:noFill/>
          <a:ln w="9525">
            <a:solidFill>
              <a:srgbClr val="D8DEE7"/>
            </a:solidFill>
            <a:prstDash val="solid"/>
          </a:ln>
        </p:spPr>
      </p:sp>
      <p:sp>
        <p:nvSpPr>
          <p:cNvPr id="13" name="Text 11"/>
          <p:cNvSpPr txBox="1"/>
          <p:nvPr/>
        </p:nvSpPr>
        <p:spPr>
          <a:xfrm>
            <a:off x="658368" y="4626864"/>
            <a:ext cx="640080" cy="402336"/>
          </a:xfrm>
          <a:prstGeom prst="rect">
            <a:avLst/>
          </a:prstGeom>
          <a:noFill/>
          <a:ln/>
        </p:spPr>
        <p:txBody>
          <a:bodyPr wrap="square" lIns="0" tIns="0" rIns="0" bIns="0" rtlCol="0" anchor="ctr"/>
          <a:lstStyle/>
          <a:p>
            <a:pPr indent="0" marL="0">
              <a:buNone/>
            </a:pPr>
            <a:r>
              <a:rPr lang="en-US" sz="2600" b="1" dirty="0">
                <a:solidFill>
                  <a:srgbClr val="9A3412"/>
                </a:solidFill>
                <a:latin typeface="Cambria" pitchFamily="34" charset="0"/>
                <a:ea typeface="Cambria" pitchFamily="34" charset="-122"/>
                <a:cs typeface="Cambria" pitchFamily="34" charset="-120"/>
              </a:rPr>
              <a:t>03</a:t>
            </a:r>
            <a:endParaRPr lang="en-US" sz="2600" dirty="0"/>
          </a:p>
        </p:txBody>
      </p:sp>
      <p:sp>
        <p:nvSpPr>
          <p:cNvPr id="14" name="Text 12"/>
          <p:cNvSpPr txBox="1"/>
          <p:nvPr/>
        </p:nvSpPr>
        <p:spPr>
          <a:xfrm>
            <a:off x="1444752" y="4608576"/>
            <a:ext cx="10088575" cy="292608"/>
          </a:xfrm>
          <a:prstGeom prst="rect">
            <a:avLst/>
          </a:prstGeom>
          <a:noFill/>
          <a:ln/>
        </p:spPr>
        <p:txBody>
          <a:bodyPr wrap="square" lIns="0" tIns="0" rIns="0" bIns="0" rtlCol="0" anchor="ctr"/>
          <a:lstStyle/>
          <a:p>
            <a:pPr indent="0" marL="0">
              <a:buNone/>
            </a:pPr>
            <a:r>
              <a:rPr lang="en-US" sz="1500" b="1" dirty="0">
                <a:solidFill>
                  <a:srgbClr val="003366"/>
                </a:solidFill>
                <a:latin typeface="Calibri" pitchFamily="34" charset="0"/>
                <a:ea typeface="Calibri" pitchFamily="34" charset="-122"/>
                <a:cs typeface="Calibri" pitchFamily="34" charset="-120"/>
              </a:rPr>
              <a:t>The coverage figures are an order of magnitude, not a census.</a:t>
            </a:r>
            <a:endParaRPr lang="en-US" sz="1500" dirty="0"/>
          </a:p>
        </p:txBody>
      </p:sp>
      <p:sp>
        <p:nvSpPr>
          <p:cNvPr id="15" name="Text 13"/>
          <p:cNvSpPr txBox="1"/>
          <p:nvPr/>
        </p:nvSpPr>
        <p:spPr>
          <a:xfrm>
            <a:off x="1444752" y="4937760"/>
            <a:ext cx="10088575" cy="841248"/>
          </a:xfrm>
          <a:prstGeom prst="rect">
            <a:avLst/>
          </a:prstGeom>
          <a:noFill/>
          <a:ln/>
        </p:spPr>
        <p:txBody>
          <a:bodyPr wrap="square" lIns="0" tIns="0" rIns="0" bIns="0" rtlCol="0" anchor="ctr"/>
          <a:lstStyle/>
          <a:p>
            <a:pPr indent="0" marL="0">
              <a:lnSpc>
                <a:spcPct val="124000"/>
              </a:lnSpc>
              <a:buNone/>
            </a:pPr>
            <a:r>
              <a:rPr lang="en-US" sz="1250" dirty="0">
                <a:solidFill>
                  <a:srgbClr val="1A1A1A"/>
                </a:solidFill>
                <a:latin typeface="Calibri" pitchFamily="34" charset="0"/>
                <a:ea typeface="Calibri" pitchFamily="34" charset="-122"/>
                <a:cs typeface="Calibri" pitchFamily="34" charset="-120"/>
              </a:rPr>
              <a:t>Persona coverage was measured by keyword classification over each record's title and body. This over-counts — a scheme that merely mentions a group is counted — which means the gaps shown on slides 3 and 4 are, if anything, understated.</a:t>
            </a:r>
            <a:endParaRPr lang="en-US" sz="1250" dirty="0"/>
          </a:p>
        </p:txBody>
      </p:sp>
      <p:sp>
        <p:nvSpPr>
          <p:cNvPr id="16" name="Text 14"/>
          <p:cNvSpPr txBox="1"/>
          <p:nvPr/>
        </p:nvSpPr>
        <p:spPr>
          <a:xfrm>
            <a:off x="658368" y="6382512"/>
            <a:ext cx="10874959" cy="237744"/>
          </a:xfrm>
          <a:prstGeom prst="rect">
            <a:avLst/>
          </a:prstGeom>
          <a:noFill/>
          <a:ln/>
        </p:spPr>
        <p:txBody>
          <a:bodyPr wrap="square" lIns="0" tIns="0" rIns="0" bIns="0" rtlCol="0" anchor="ctr"/>
          <a:lstStyle/>
          <a:p>
            <a:pPr indent="0" marL="0">
              <a:buNone/>
            </a:pPr>
            <a:r>
              <a:rPr lang="en-US" sz="950" dirty="0">
                <a:solidFill>
                  <a:srgbClr val="5A6472"/>
                </a:solidFill>
                <a:latin typeface="Calibri" pitchFamily="34" charset="0"/>
                <a:ea typeface="Calibri" pitchFamily="34" charset="-122"/>
                <a:cs typeface="Calibri" pitchFamily="34" charset="-120"/>
              </a:rPr>
              <a:t>Source: §0, scope, method and limits.</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438912"/>
            <a:ext cx="10874959" cy="201168"/>
          </a:xfrm>
          <a:prstGeom prst="rect">
            <a:avLst/>
          </a:prstGeom>
          <a:noFill/>
          <a:ln/>
        </p:spPr>
        <p:txBody>
          <a:bodyPr wrap="square" lIns="0" tIns="0" rIns="0" bIns="0" rtlCol="0" anchor="ctr"/>
          <a:lstStyle/>
          <a:p>
            <a:pPr indent="0" marL="0">
              <a:buNone/>
            </a:pPr>
            <a:r>
              <a:rPr lang="en-US" sz="1000" b="1" spc="120" kern="0" dirty="0">
                <a:solidFill>
                  <a:srgbClr val="5A6472"/>
                </a:solidFill>
                <a:latin typeface="Calibri" pitchFamily="34" charset="0"/>
                <a:ea typeface="Calibri" pitchFamily="34" charset="-122"/>
                <a:cs typeface="Calibri" pitchFamily="34" charset="-120"/>
              </a:rPr>
              <a:t>SOURCES</a:t>
            </a:r>
            <a:endParaRPr lang="en-US" sz="1000" dirty="0"/>
          </a:p>
        </p:txBody>
      </p:sp>
      <p:sp>
        <p:nvSpPr>
          <p:cNvPr id="3" name="Text 1"/>
          <p:cNvSpPr txBox="1"/>
          <p:nvPr/>
        </p:nvSpPr>
        <p:spPr>
          <a:xfrm>
            <a:off x="658368" y="676656"/>
            <a:ext cx="10874959" cy="457200"/>
          </a:xfrm>
          <a:prstGeom prst="rect">
            <a:avLst/>
          </a:prstGeom>
          <a:noFill/>
          <a:ln/>
        </p:spPr>
        <p:txBody>
          <a:bodyPr wrap="square" lIns="0" tIns="0" rIns="0" bIns="0" rtlCol="0" anchor="ctr"/>
          <a:lstStyle/>
          <a:p>
            <a:pPr indent="0" marL="0">
              <a:buNone/>
            </a:pPr>
            <a:r>
              <a:rPr lang="en-US" sz="3000" b="1" dirty="0">
                <a:solidFill>
                  <a:srgbClr val="003366"/>
                </a:solidFill>
                <a:latin typeface="Cambria" pitchFamily="34" charset="0"/>
                <a:ea typeface="Cambria" pitchFamily="34" charset="-122"/>
                <a:cs typeface="Cambria" pitchFamily="34" charset="-120"/>
              </a:rPr>
              <a:t>What Was Read, and When</a:t>
            </a:r>
            <a:endParaRPr lang="en-US" sz="3000" dirty="0"/>
          </a:p>
        </p:txBody>
      </p:sp>
      <p:sp>
        <p:nvSpPr>
          <p:cNvPr id="4" name="Text 2"/>
          <p:cNvSpPr txBox="1"/>
          <p:nvPr/>
        </p:nvSpPr>
        <p:spPr>
          <a:xfrm>
            <a:off x="658368" y="1426464"/>
            <a:ext cx="3200400" cy="457200"/>
          </a:xfrm>
          <a:prstGeom prst="rect">
            <a:avLst/>
          </a:prstGeom>
          <a:noFill/>
          <a:ln/>
        </p:spPr>
        <p:txBody>
          <a:bodyPr wrap="square" lIns="0" tIns="0" rIns="0" bIns="0" rtlCol="0" anchor="ctr"/>
          <a:lstStyle/>
          <a:p>
            <a:pPr indent="0" marL="0">
              <a:lnSpc>
                <a:spcPct val="110000"/>
              </a:lnSpc>
              <a:buNone/>
            </a:pPr>
            <a:r>
              <a:rPr lang="en-US" sz="1350" b="1" dirty="0">
                <a:solidFill>
                  <a:srgbClr val="003366"/>
                </a:solidFill>
                <a:latin typeface="Calibri" pitchFamily="34" charset="0"/>
                <a:ea typeface="Calibri" pitchFamily="34" charset="-122"/>
                <a:cs typeface="Calibri" pitchFamily="34" charset="-120"/>
              </a:rPr>
              <a:t>The two Ministry sites</a:t>
            </a:r>
            <a:endParaRPr lang="en-US" sz="1350" dirty="0"/>
          </a:p>
        </p:txBody>
      </p:sp>
      <p:sp>
        <p:nvSpPr>
          <p:cNvPr id="5" name="Text 3"/>
          <p:cNvSpPr txBox="1"/>
          <p:nvPr/>
        </p:nvSpPr>
        <p:spPr>
          <a:xfrm>
            <a:off x="4041648" y="1426464"/>
            <a:ext cx="7491679" cy="603504"/>
          </a:xfrm>
          <a:prstGeom prst="rect">
            <a:avLst/>
          </a:prstGeom>
          <a:noFill/>
          <a:ln/>
        </p:spPr>
        <p:txBody>
          <a:bodyPr wrap="square" lIns="0" tIns="0" rIns="0" bIns="0" rtlCol="0" anchor="ctr"/>
          <a:lstStyle/>
          <a:p>
            <a:pPr indent="0" marL="0">
              <a:lnSpc>
                <a:spcPct val="122000"/>
              </a:lnSpc>
              <a:buNone/>
            </a:pPr>
            <a:r>
              <a:rPr lang="en-US" sz="1250" dirty="0">
                <a:solidFill>
                  <a:srgbClr val="1A1A1A"/>
                </a:solidFill>
                <a:latin typeface="Calibri" pitchFamily="34" charset="0"/>
                <a:ea typeface="Calibri" pitchFamily="34" charset="-122"/>
                <a:cs typeface="Calibri" pitchFamily="34" charset="-120"/>
              </a:rPr>
              <a:t>dosje.gov.in (SAMAVESH, marked BETA) and socialjustice.gov.in — homepages, schemes catalogue, a persona page, and two site searches, fetched and parsed 20 August 2026.</a:t>
            </a:r>
            <a:endParaRPr lang="en-US" sz="1250" dirty="0"/>
          </a:p>
        </p:txBody>
      </p:sp>
      <p:sp>
        <p:nvSpPr>
          <p:cNvPr id="6" name="Shape 4"/>
          <p:cNvSpPr/>
          <p:nvPr/>
        </p:nvSpPr>
        <p:spPr>
          <a:xfrm>
            <a:off x="658368" y="2103120"/>
            <a:ext cx="10874959" cy="0"/>
          </a:xfrm>
          <a:prstGeom prst="line">
            <a:avLst/>
          </a:prstGeom>
          <a:noFill/>
          <a:ln w="9525">
            <a:solidFill>
              <a:srgbClr val="D8DEE7"/>
            </a:solidFill>
            <a:prstDash val="solid"/>
          </a:ln>
        </p:spPr>
      </p:sp>
      <p:sp>
        <p:nvSpPr>
          <p:cNvPr id="7" name="Text 5"/>
          <p:cNvSpPr txBox="1"/>
          <p:nvPr/>
        </p:nvSpPr>
        <p:spPr>
          <a:xfrm>
            <a:off x="658368" y="2286000"/>
            <a:ext cx="3200400" cy="457200"/>
          </a:xfrm>
          <a:prstGeom prst="rect">
            <a:avLst/>
          </a:prstGeom>
          <a:noFill/>
          <a:ln/>
        </p:spPr>
        <p:txBody>
          <a:bodyPr wrap="square" lIns="0" tIns="0" rIns="0" bIns="0" rtlCol="0" anchor="ctr"/>
          <a:lstStyle/>
          <a:p>
            <a:pPr indent="0" marL="0">
              <a:lnSpc>
                <a:spcPct val="110000"/>
              </a:lnSpc>
              <a:buNone/>
            </a:pPr>
            <a:r>
              <a:rPr lang="en-US" sz="1350" b="1" dirty="0">
                <a:solidFill>
                  <a:srgbClr val="003366"/>
                </a:solidFill>
                <a:latin typeface="Calibri" pitchFamily="34" charset="0"/>
                <a:ea typeface="Calibri" pitchFamily="34" charset="-122"/>
                <a:cs typeface="Calibri" pitchFamily="34" charset="-120"/>
              </a:rPr>
              <a:t>The Department's own content export</a:t>
            </a:r>
            <a:endParaRPr lang="en-US" sz="1350" dirty="0"/>
          </a:p>
        </p:txBody>
      </p:sp>
      <p:sp>
        <p:nvSpPr>
          <p:cNvPr id="8" name="Text 6"/>
          <p:cNvSpPr txBox="1"/>
          <p:nvPr/>
        </p:nvSpPr>
        <p:spPr>
          <a:xfrm>
            <a:off x="4041648" y="2286000"/>
            <a:ext cx="7491679" cy="603504"/>
          </a:xfrm>
          <a:prstGeom prst="rect">
            <a:avLst/>
          </a:prstGeom>
          <a:noFill/>
          <a:ln/>
        </p:spPr>
        <p:txBody>
          <a:bodyPr wrap="square" lIns="0" tIns="0" rIns="0" bIns="0" rtlCol="0" anchor="ctr"/>
          <a:lstStyle/>
          <a:p>
            <a:pPr indent="0" marL="0">
              <a:lnSpc>
                <a:spcPct val="122000"/>
              </a:lnSpc>
              <a:buNone/>
            </a:pPr>
            <a:r>
              <a:rPr lang="en-US" sz="1250" dirty="0">
                <a:solidFill>
                  <a:srgbClr val="1A1A1A"/>
                </a:solidFill>
                <a:latin typeface="Calibri" pitchFamily="34" charset="0"/>
                <a:ea typeface="Calibri" pitchFamily="34" charset="-122"/>
                <a:cs typeface="Calibri" pitchFamily="34" charset="-120"/>
              </a:rPr>
              <a:t>apps/hub/src/content/website — 141 scheme records, 175 organisation pages, 1,624 documents, 305 tenders, 137 vacancies. Manifest generated 13 June 2026.</a:t>
            </a:r>
            <a:endParaRPr lang="en-US" sz="1250" dirty="0"/>
          </a:p>
        </p:txBody>
      </p:sp>
      <p:sp>
        <p:nvSpPr>
          <p:cNvPr id="9" name="Shape 7"/>
          <p:cNvSpPr/>
          <p:nvPr/>
        </p:nvSpPr>
        <p:spPr>
          <a:xfrm>
            <a:off x="658368" y="2962656"/>
            <a:ext cx="10874959" cy="0"/>
          </a:xfrm>
          <a:prstGeom prst="line">
            <a:avLst/>
          </a:prstGeom>
          <a:noFill/>
          <a:ln w="9525">
            <a:solidFill>
              <a:srgbClr val="D8DEE7"/>
            </a:solidFill>
            <a:prstDash val="solid"/>
          </a:ln>
        </p:spPr>
      </p:sp>
      <p:sp>
        <p:nvSpPr>
          <p:cNvPr id="10" name="Text 8"/>
          <p:cNvSpPr txBox="1"/>
          <p:nvPr/>
        </p:nvSpPr>
        <p:spPr>
          <a:xfrm>
            <a:off x="658368" y="3145536"/>
            <a:ext cx="3200400" cy="457200"/>
          </a:xfrm>
          <a:prstGeom prst="rect">
            <a:avLst/>
          </a:prstGeom>
          <a:noFill/>
          <a:ln/>
        </p:spPr>
        <p:txBody>
          <a:bodyPr wrap="square" lIns="0" tIns="0" rIns="0" bIns="0" rtlCol="0" anchor="ctr"/>
          <a:lstStyle/>
          <a:p>
            <a:pPr indent="0" marL="0">
              <a:lnSpc>
                <a:spcPct val="110000"/>
              </a:lnSpc>
              <a:buNone/>
            </a:pPr>
            <a:r>
              <a:rPr lang="en-US" sz="1350" b="1" dirty="0">
                <a:solidFill>
                  <a:srgbClr val="003366"/>
                </a:solidFill>
                <a:latin typeface="Calibri" pitchFamily="34" charset="0"/>
                <a:ea typeface="Calibri" pitchFamily="34" charset="-122"/>
                <a:cs typeface="Calibri" pitchFamily="34" charset="-120"/>
              </a:rPr>
              <a:t>Benchmarks</a:t>
            </a:r>
            <a:endParaRPr lang="en-US" sz="1350" dirty="0"/>
          </a:p>
        </p:txBody>
      </p:sp>
      <p:sp>
        <p:nvSpPr>
          <p:cNvPr id="11" name="Text 9"/>
          <p:cNvSpPr txBox="1"/>
          <p:nvPr/>
        </p:nvSpPr>
        <p:spPr>
          <a:xfrm>
            <a:off x="4041648" y="3145536"/>
            <a:ext cx="7491679" cy="603504"/>
          </a:xfrm>
          <a:prstGeom prst="rect">
            <a:avLst/>
          </a:prstGeom>
          <a:noFill/>
          <a:ln/>
        </p:spPr>
        <p:txBody>
          <a:bodyPr wrap="square" lIns="0" tIns="0" rIns="0" bIns="0" rtlCol="0" anchor="ctr"/>
          <a:lstStyle/>
          <a:p>
            <a:pPr indent="0" marL="0">
              <a:lnSpc>
                <a:spcPct val="122000"/>
              </a:lnSpc>
              <a:buNone/>
            </a:pPr>
            <a:r>
              <a:rPr lang="en-US" sz="1250" dirty="0">
                <a:solidFill>
                  <a:srgbClr val="1A1A1A"/>
                </a:solidFill>
                <a:latin typeface="Calibri" pitchFamily="34" charset="0"/>
                <a:ea typeface="Calibri" pitchFamily="34" charset="-122"/>
                <a:cs typeface="Calibri" pitchFamily="34" charset="-120"/>
              </a:rPr>
              <a:t>myscheme.gov.in · depwd.gov.in · scholarships.gov.in · GOV.UK, cited as a design standard rather than a peer institution.</a:t>
            </a:r>
            <a:endParaRPr lang="en-US" sz="1250" dirty="0"/>
          </a:p>
        </p:txBody>
      </p:sp>
      <p:sp>
        <p:nvSpPr>
          <p:cNvPr id="12" name="Shape 10"/>
          <p:cNvSpPr/>
          <p:nvPr/>
        </p:nvSpPr>
        <p:spPr>
          <a:xfrm>
            <a:off x="658368" y="3822192"/>
            <a:ext cx="10874959" cy="0"/>
          </a:xfrm>
          <a:prstGeom prst="line">
            <a:avLst/>
          </a:prstGeom>
          <a:noFill/>
          <a:ln w="9525">
            <a:solidFill>
              <a:srgbClr val="D8DEE7"/>
            </a:solidFill>
            <a:prstDash val="solid"/>
          </a:ln>
        </p:spPr>
      </p:sp>
      <p:sp>
        <p:nvSpPr>
          <p:cNvPr id="13" name="Text 11"/>
          <p:cNvSpPr txBox="1"/>
          <p:nvPr/>
        </p:nvSpPr>
        <p:spPr>
          <a:xfrm>
            <a:off x="658368" y="4005072"/>
            <a:ext cx="3200400" cy="457200"/>
          </a:xfrm>
          <a:prstGeom prst="rect">
            <a:avLst/>
          </a:prstGeom>
          <a:noFill/>
          <a:ln/>
        </p:spPr>
        <p:txBody>
          <a:bodyPr wrap="square" lIns="0" tIns="0" rIns="0" bIns="0" rtlCol="0" anchor="ctr"/>
          <a:lstStyle/>
          <a:p>
            <a:pPr indent="0" marL="0">
              <a:lnSpc>
                <a:spcPct val="110000"/>
              </a:lnSpc>
              <a:buNone/>
            </a:pPr>
            <a:r>
              <a:rPr lang="en-US" sz="1350" b="1" dirty="0">
                <a:solidFill>
                  <a:srgbClr val="003366"/>
                </a:solidFill>
                <a:latin typeface="Calibri" pitchFamily="34" charset="0"/>
                <a:ea typeface="Calibri" pitchFamily="34" charset="-122"/>
                <a:cs typeface="Calibri" pitchFamily="34" charset="-120"/>
              </a:rPr>
              <a:t>Standards</a:t>
            </a:r>
            <a:endParaRPr lang="en-US" sz="1350" dirty="0"/>
          </a:p>
        </p:txBody>
      </p:sp>
      <p:sp>
        <p:nvSpPr>
          <p:cNvPr id="14" name="Text 12"/>
          <p:cNvSpPr txBox="1"/>
          <p:nvPr/>
        </p:nvSpPr>
        <p:spPr>
          <a:xfrm>
            <a:off x="4041648" y="4005072"/>
            <a:ext cx="7491679" cy="603504"/>
          </a:xfrm>
          <a:prstGeom prst="rect">
            <a:avLst/>
          </a:prstGeom>
          <a:noFill/>
          <a:ln/>
        </p:spPr>
        <p:txBody>
          <a:bodyPr wrap="square" lIns="0" tIns="0" rIns="0" bIns="0" rtlCol="0" anchor="ctr"/>
          <a:lstStyle/>
          <a:p>
            <a:pPr indent="0" marL="0">
              <a:lnSpc>
                <a:spcPct val="122000"/>
              </a:lnSpc>
              <a:buNone/>
            </a:pPr>
            <a:r>
              <a:rPr lang="en-US" sz="1250" dirty="0">
                <a:solidFill>
                  <a:srgbClr val="1A1A1A"/>
                </a:solidFill>
                <a:latin typeface="Calibri" pitchFamily="34" charset="0"/>
                <a:ea typeface="Calibri" pitchFamily="34" charset="-122"/>
                <a:cs typeface="Calibri" pitchFamily="34" charset="-120"/>
              </a:rPr>
              <a:t>GIGW 3.0, DBIM 3.0 and WCAG 2.2 AA. GIGW 3.0 mandatory checkpoint 21 requires API integration with MyScheme; there is no evidence of it today.</a:t>
            </a:r>
            <a:endParaRPr lang="en-US" sz="1250" dirty="0"/>
          </a:p>
        </p:txBody>
      </p:sp>
      <p:sp>
        <p:nvSpPr>
          <p:cNvPr id="15" name="Shape 13"/>
          <p:cNvSpPr/>
          <p:nvPr/>
        </p:nvSpPr>
        <p:spPr>
          <a:xfrm>
            <a:off x="658368" y="4681728"/>
            <a:ext cx="10874959" cy="0"/>
          </a:xfrm>
          <a:prstGeom prst="line">
            <a:avLst/>
          </a:prstGeom>
          <a:noFill/>
          <a:ln w="9525">
            <a:solidFill>
              <a:srgbClr val="D8DEE7"/>
            </a:solidFill>
            <a:prstDash val="solid"/>
          </a:ln>
        </p:spPr>
      </p:sp>
      <p:sp>
        <p:nvSpPr>
          <p:cNvPr id="16" name="Text 14"/>
          <p:cNvSpPr txBox="1"/>
          <p:nvPr/>
        </p:nvSpPr>
        <p:spPr>
          <a:xfrm>
            <a:off x="658368" y="4864608"/>
            <a:ext cx="3200400" cy="457200"/>
          </a:xfrm>
          <a:prstGeom prst="rect">
            <a:avLst/>
          </a:prstGeom>
          <a:noFill/>
          <a:ln/>
        </p:spPr>
        <p:txBody>
          <a:bodyPr wrap="square" lIns="0" tIns="0" rIns="0" bIns="0" rtlCol="0" anchor="ctr"/>
          <a:lstStyle/>
          <a:p>
            <a:pPr indent="0" marL="0">
              <a:lnSpc>
                <a:spcPct val="110000"/>
              </a:lnSpc>
              <a:buNone/>
            </a:pPr>
            <a:r>
              <a:rPr lang="en-US" sz="1350" b="1" dirty="0">
                <a:solidFill>
                  <a:srgbClr val="003366"/>
                </a:solidFill>
                <a:latin typeface="Calibri" pitchFamily="34" charset="0"/>
                <a:ea typeface="Calibri" pitchFamily="34" charset="-122"/>
                <a:cs typeface="Calibri" pitchFamily="34" charset="-120"/>
              </a:rPr>
              <a:t>The design file</a:t>
            </a:r>
            <a:endParaRPr lang="en-US" sz="1350" dirty="0"/>
          </a:p>
        </p:txBody>
      </p:sp>
      <p:sp>
        <p:nvSpPr>
          <p:cNvPr id="17" name="Text 15"/>
          <p:cNvSpPr txBox="1"/>
          <p:nvPr/>
        </p:nvSpPr>
        <p:spPr>
          <a:xfrm>
            <a:off x="4041648" y="4864608"/>
            <a:ext cx="7491679" cy="603504"/>
          </a:xfrm>
          <a:prstGeom prst="rect">
            <a:avLst/>
          </a:prstGeom>
          <a:noFill/>
          <a:ln/>
        </p:spPr>
        <p:txBody>
          <a:bodyPr wrap="square" lIns="0" tIns="0" rIns="0" bIns="0" rtlCol="0" anchor="ctr"/>
          <a:lstStyle/>
          <a:p>
            <a:pPr indent="0" marL="0">
              <a:lnSpc>
                <a:spcPct val="122000"/>
              </a:lnSpc>
              <a:buNone/>
            </a:pPr>
            <a:r>
              <a:rPr lang="en-US" sz="1250" dirty="0">
                <a:solidFill>
                  <a:srgbClr val="1A1A1A"/>
                </a:solidFill>
                <a:latin typeface="Calibri" pitchFamily="34" charset="0"/>
                <a:ea typeface="Calibri" pitchFamily="34" charset="-122"/>
                <a:cs typeface="Calibri" pitchFamily="34" charset="-120"/>
              </a:rPr>
              <a:t>MoSJE (WIP) — Service Discovery. Every screen in this deck is taken from it unaltered, cropped only where noted.</a:t>
            </a:r>
            <a:endParaRPr lang="en-US" sz="1250" dirty="0"/>
          </a:p>
        </p:txBody>
      </p:sp>
      <p:sp>
        <p:nvSpPr>
          <p:cNvPr id="18" name="Text 16"/>
          <p:cNvSpPr txBox="1"/>
          <p:nvPr/>
        </p:nvSpPr>
        <p:spPr>
          <a:xfrm>
            <a:off x="658368" y="6071616"/>
            <a:ext cx="10874959" cy="274320"/>
          </a:xfrm>
          <a:prstGeom prst="rect">
            <a:avLst/>
          </a:prstGeom>
          <a:noFill/>
          <a:ln/>
        </p:spPr>
        <p:txBody>
          <a:bodyPr wrap="square" lIns="0" tIns="0" rIns="0" bIns="0" rtlCol="0" anchor="ctr"/>
          <a:lstStyle/>
          <a:p>
            <a:pPr indent="0" marL="0">
              <a:buNone/>
            </a:pPr>
            <a:r>
              <a:rPr lang="en-US" sz="1100" dirty="0">
                <a:solidFill>
                  <a:srgbClr val="5A6472"/>
                </a:solidFill>
                <a:latin typeface="Calibri" pitchFamily="34" charset="0"/>
                <a:ea typeface="Calibri" pitchFamily="34" charset="-122"/>
                <a:cs typeface="Calibri" pitchFamily="34" charset="-120"/>
              </a:rPr>
              <a:t>Finding What You're Entitled To — an information-architecture and discoverability review. MoSJE Design Research, 20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What You're Entitled To</dc:title>
  <dc:subject>PptxGenJS Presentation</dc:subject>
  <dc:creator>MoSJE Design Research</dc:creator>
  <cp:lastModifiedBy>MoSJE Design Research</cp:lastModifiedBy>
  <cp:revision>1</cp:revision>
  <dcterms:created xsi:type="dcterms:W3CDTF">2026-09-07T10:45:06Z</dcterms:created>
  <dcterms:modified xsi:type="dcterms:W3CDTF">2026-09-07T10:45:06Z</dcterms:modified>
</cp:coreProperties>
</file>