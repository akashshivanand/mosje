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Schemes addressing them</c:v>
                </c:pt>
              </c:strCache>
            </c:strRef>
          </c:tx>
          <c:spPr>
            <a:solidFill>
              <a:srgbClr val="0373DF"/>
            </a:solidFill>
            <a:effectLst/>
          </c:spPr>
          <c:invertIfNegative val="0"/>
          <c:dLbls>
            <c:numFmt formatCode="#,##0" sourceLinked="0"/>
            <c:txPr>
              <a:bodyPr/>
              <a:lstStyle/>
              <a:p>
                <a:pPr>
                  <a:defRPr b="0" i="0" strike="noStrike" sz="800" u="none">
                    <a:solidFill>
                      <a:srgbClr val="3A3D41"/>
                    </a:solidFill>
                    <a:latin typeface="Noto Sans"/>
                  </a:defRPr>
                </a:pPr>
              </a:p>
            </c:txPr>
            <c:showLegendKey val="0"/>
            <c:showVal val="1"/>
            <c:showCatName val="0"/>
            <c:showSerName val="0"/>
            <c:showPercent val="0"/>
            <c:showBubbleSize val="0"/>
            <c:showLeaderLines val="0"/>
          </c:dLbls>
          <c:cat>
            <c:multiLvlStrRef>
              <c:f>Sheet1!$A$2:$A$14</c:f>
              <c:multiLvlStrCache>
                <c:ptCount val="13"/>
                <c:lvl>
                  <c:pt idx="0">
                    <c:v>Safai Karamcharis / Sanitation Workers</c:v>
                  </c:pt>
                  <c:pt idx="1">
                    <c:v>Transgender Persons</c:v>
                  </c:pt>
                  <c:pt idx="2">
                    <c:v>Senior Citizens</c:v>
                  </c:pt>
                  <c:pt idx="3">
                    <c:v>Persons Affected by Substance Use</c:v>
                  </c:pt>
                  <c:pt idx="4">
                    <c:v>Victims of Atrocities</c:v>
                  </c:pt>
                  <c:pt idx="5">
                    <c:v>Persons with Disabilities</c:v>
                  </c:pt>
                  <c:pt idx="6">
                    <c:v>NGOs / Voluntary Organisations</c:v>
                  </c:pt>
                  <c:pt idx="7">
                    <c:v>Students / Learners</c:v>
                  </c:pt>
                  <c:pt idx="8">
                    <c:v>Entrepreneurs / Self-Employed</c:v>
                  </c:pt>
                  <c:pt idx="9">
                    <c:v>OBC / EBC</c:v>
                  </c:pt>
                  <c:pt idx="10">
                    <c:v>Women and Girls</c:v>
                  </c:pt>
                  <c:pt idx="11">
                    <c:v>Scheduled Castes</c:v>
                  </c:pt>
                  <c:pt idx="12">
                    <c:v>DNT / VJNT / NT-SNT</c:v>
                  </c:pt>
                </c:lvl>
              </c:multiLvlStrCache>
            </c:multiLvlStrRef>
          </c:cat>
          <c:val>
            <c:numRef>
              <c:f>Sheet1!$B$2:$B$14</c:f>
              <c:numCache>
                <c:formatCode>General</c:formatCode>
                <c:ptCount val="13"/>
                <c:pt idx="0">
                  <c:v>19</c:v>
                </c:pt>
                <c:pt idx="1">
                  <c:v>2</c:v>
                </c:pt>
                <c:pt idx="2">
                  <c:v>11</c:v>
                </c:pt>
                <c:pt idx="3">
                  <c:v>3</c:v>
                </c:pt>
                <c:pt idx="4">
                  <c:v>3</c:v>
                </c:pt>
                <c:pt idx="5">
                  <c:v>10</c:v>
                </c:pt>
                <c:pt idx="6">
                  <c:v>12</c:v>
                </c:pt>
                <c:pt idx="7">
                  <c:v>64</c:v>
                </c:pt>
                <c:pt idx="8">
                  <c:v>23</c:v>
                </c:pt>
                <c:pt idx="9">
                  <c:v>24</c:v>
                </c:pt>
                <c:pt idx="10">
                  <c:v>23</c:v>
                </c:pt>
                <c:pt idx="11">
                  <c:v>32</c:v>
                </c:pt>
                <c:pt idx="12">
                  <c:v>43</c:v>
                </c:pt>
              </c:numCache>
            </c:numRef>
          </c:val>
        </c:ser>
        <c:ser>
          <c:idx val="1"/>
          <c:order val="1"/>
          <c:tx>
            <c:strRef>
              <c:f>Sheet1!$C$1</c:f>
              <c:strCache>
                <c:ptCount val="1"/>
                <c:pt idx="0">
                  <c:v>Tagged so the filter finds them</c:v>
                </c:pt>
              </c:strCache>
            </c:strRef>
          </c:tx>
          <c:spPr>
            <a:solidFill>
              <a:srgbClr val="E7173A"/>
            </a:solidFill>
            <a:effectLst/>
          </c:spPr>
          <c:invertIfNegative val="0"/>
          <c:dLbls>
            <c:numFmt formatCode="#,##0" sourceLinked="0"/>
            <c:txPr>
              <a:bodyPr/>
              <a:lstStyle/>
              <a:p>
                <a:pPr>
                  <a:defRPr b="0" i="0" strike="noStrike" sz="800" u="none">
                    <a:solidFill>
                      <a:srgbClr val="3A3D41"/>
                    </a:solidFill>
                    <a:latin typeface="Noto Sans"/>
                  </a:defRPr>
                </a:pPr>
              </a:p>
            </c:txPr>
            <c:showLegendKey val="0"/>
            <c:showVal val="1"/>
            <c:showCatName val="0"/>
            <c:showSerName val="0"/>
            <c:showPercent val="0"/>
            <c:showBubbleSize val="0"/>
            <c:showLeaderLines val="0"/>
          </c:dLbls>
          <c:cat>
            <c:multiLvlStrRef>
              <c:f>Sheet1!$A$2:$A$14</c:f>
              <c:multiLvlStrCache>
                <c:ptCount val="13"/>
                <c:lvl>
                  <c:pt idx="0">
                    <c:v>Safai Karamcharis / Sanitation Workers</c:v>
                  </c:pt>
                  <c:pt idx="1">
                    <c:v>Transgender Persons</c:v>
                  </c:pt>
                  <c:pt idx="2">
                    <c:v>Senior Citizens</c:v>
                  </c:pt>
                  <c:pt idx="3">
                    <c:v>Persons Affected by Substance Use</c:v>
                  </c:pt>
                  <c:pt idx="4">
                    <c:v>Victims of Atrocities</c:v>
                  </c:pt>
                  <c:pt idx="5">
                    <c:v>Persons with Disabilities</c:v>
                  </c:pt>
                  <c:pt idx="6">
                    <c:v>NGOs / Voluntary Organisations</c:v>
                  </c:pt>
                  <c:pt idx="7">
                    <c:v>Students / Learners</c:v>
                  </c:pt>
                  <c:pt idx="8">
                    <c:v>Entrepreneurs / Self-Employed</c:v>
                  </c:pt>
                  <c:pt idx="9">
                    <c:v>OBC / EBC</c:v>
                  </c:pt>
                  <c:pt idx="10">
                    <c:v>Women and Girls</c:v>
                  </c:pt>
                  <c:pt idx="11">
                    <c:v>Scheduled Castes</c:v>
                  </c:pt>
                  <c:pt idx="12">
                    <c:v>DNT / VJNT / NT-SNT</c:v>
                  </c:pt>
                </c:lvl>
              </c:multiLvlStrCache>
            </c:multiLvlStrRef>
          </c:cat>
          <c:val>
            <c:numRef>
              <c:f>Sheet1!$C$2:$C$14</c:f>
              <c:numCache>
                <c:formatCode>General</c:formatCode>
                <c:ptCount val="13"/>
                <c:pt idx="0">
                  <c:v>18</c:v>
                </c:pt>
                <c:pt idx="1">
                  <c:v>0</c:v>
                </c:pt>
                <c:pt idx="2">
                  <c:v>9</c:v>
                </c:pt>
                <c:pt idx="3">
                  <c:v>0</c:v>
                </c:pt>
                <c:pt idx="4">
                  <c:v>0</c:v>
                </c:pt>
                <c:pt idx="5">
                  <c:v>0</c:v>
                </c:pt>
                <c:pt idx="6">
                  <c:v>0</c:v>
                </c:pt>
                <c:pt idx="7">
                  <c:v>51</c:v>
                </c:pt>
                <c:pt idx="8">
                  <c:v>5</c:v>
                </c:pt>
                <c:pt idx="9">
                  <c:v>6</c:v>
                </c:pt>
                <c:pt idx="10">
                  <c:v>0</c:v>
                </c:pt>
                <c:pt idx="11">
                  <c:v>5</c:v>
                </c:pt>
                <c:pt idx="12">
                  <c:v>14</c:v>
                </c:pt>
              </c:numCache>
            </c:numRef>
          </c:val>
        </c:ser>
        <c:dLbls>
          <c:numFmt formatCode="#,##0" sourceLinked="0"/>
          <c:txPr>
            <a:bodyPr/>
            <a:lstStyle/>
            <a:p>
              <a:pPr>
                <a:defRPr b="0" i="0" strike="noStrike" sz="800" u="none">
                  <a:solidFill>
                    <a:srgbClr val="3A3D41"/>
                  </a:solidFill>
                  <a:latin typeface="Noto Sans"/>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50" b="0" i="0" u="none" strike="noStrike">
                <a:solidFill>
                  <a:srgbClr val="1E2124"/>
                </a:solidFill>
                <a:latin typeface="Noto Sans"/>
              </a:defRPr>
            </a:pPr>
            <a:endParaRPr lang="en-US"/>
          </a:p>
        </c:txPr>
        <c:crossAx val="2094734552"/>
        <c:crosses val="autoZero"/>
        <c:auto val="1"/>
        <c:lblAlgn val="ctr"/>
        <c:noMultiLvlLbl val="1"/>
      </c:catAx>
      <c:valAx>
        <c:axId val="2094734552"/>
        <c:scaling>
          <c:orientation val="minMax"/>
          <c:max val="70"/>
        </c:scaling>
        <c:delete val="0"/>
        <c:axPos val="b"/>
        <c:majorGridlines>
          <c:spPr>
            <a:ln w="6350" cap="flat">
              <a:solidFill>
                <a:srgbClr val="DCDE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54585E"/>
                </a:solidFill>
                <a:latin typeface="Noto Sans"/>
              </a:defRPr>
            </a:pPr>
            <a:endParaRPr lang="en-US"/>
          </a:p>
        </c:txPr>
        <c:crossAx val="2094734554"/>
        <c:crosses val="autoZero"/>
        <c:crossBetween val="between"/>
        <c:majorUnit val="10"/>
      </c:valAx>
      <c:spPr>
        <a:noFill/>
        <a:ln>
          <a:noFill/>
        </a:ln>
        <a:effectLst/>
      </c:spPr>
    </c:plotArea>
    <c:legend>
      <c:legendPos val="t"/>
      <c:overlay val="0"/>
      <c:txPr>
        <a:bodyPr/>
        <a:lstStyle/>
        <a:p>
          <a:pPr>
            <a:defRPr sz="1000">
              <a:solidFill>
                <a:srgbClr val="1E2124"/>
              </a:solidFill>
              <a:latin typeface="Noto Sans"/>
              <a:cs typeface="Noto Sa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 ahead of the meeting, so it must read without a presenter. Three decisions are asked for: the homepage, the schemes page, and whether the chatbot carries the same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red bars that reach zero. Everything after this slide is a consequence of that one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decision can be taken today, take the Phase 1 instruction. The three surface choices can follow; nothing can be built without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6766560" cy="1463040"/>
          </a:xfrm>
          <a:prstGeom prst="rect">
            <a:avLst/>
          </a:prstGeom>
          <a:noFill/>
          <a:ln/>
        </p:spPr>
        <p:txBody>
          <a:bodyPr wrap="square" lIns="0" tIns="0" rIns="0" bIns="0" rtlCol="0" anchor="ctr"/>
          <a:lstStyle/>
          <a:p>
            <a:pPr indent="0" marL="0">
              <a:lnSpc>
                <a:spcPct val="106000"/>
              </a:lnSpc>
              <a:buNone/>
            </a:pPr>
            <a:r>
              <a:rPr lang="en-US" sz="4200" b="1" dirty="0">
                <a:solidFill>
                  <a:srgbClr val="FFFFFF"/>
                </a:solidFill>
                <a:latin typeface="Noto Sans" pitchFamily="34" charset="0"/>
                <a:ea typeface="Noto Sans" pitchFamily="34" charset="-122"/>
                <a:cs typeface="Noto Sans" pitchFamily="34" charset="-120"/>
              </a:rPr>
              <a:t>Finding What You're</a:t>
            </a:r>
            <a:endParaRPr lang="en-US" sz="4200" dirty="0"/>
          </a:p>
          <a:p>
            <a:pPr indent="0" marL="0">
              <a:lnSpc>
                <a:spcPct val="106000"/>
              </a:lnSpc>
              <a:buNone/>
            </a:pPr>
            <a:r>
              <a:rPr lang="en-US" sz="4200" b="1" dirty="0">
                <a:solidFill>
                  <a:srgbClr val="FFFFFF"/>
                </a:solidFill>
                <a:latin typeface="Noto Sans" pitchFamily="34" charset="0"/>
                <a:ea typeface="Noto Sans" pitchFamily="34" charset="-122"/>
                <a:cs typeface="Noto Sans" pitchFamily="34" charset="-120"/>
              </a:rPr>
              <a:t>Entitled To</a:t>
            </a:r>
            <a:endParaRPr lang="en-US" sz="4200" dirty="0"/>
          </a:p>
        </p:txBody>
      </p:sp>
      <p:sp>
        <p:nvSpPr>
          <p:cNvPr id="5" name="Text 2"/>
          <p:cNvSpPr txBox="1"/>
          <p:nvPr/>
        </p:nvSpPr>
        <p:spPr>
          <a:xfrm>
            <a:off x="658368" y="3877056"/>
            <a:ext cx="8503920" cy="365760"/>
          </a:xfrm>
          <a:prstGeom prst="rect">
            <a:avLst/>
          </a:prstGeom>
          <a:noFill/>
          <a:ln/>
        </p:spPr>
        <p:txBody>
          <a:bodyPr wrap="square" lIns="0" tIns="0" rIns="0" bIns="0" rtlCol="0" anchor="ctr"/>
          <a:lstStyle/>
          <a:p>
            <a:pPr indent="0" marL="0">
              <a:buNone/>
            </a:pPr>
            <a:r>
              <a:rPr lang="en-US" sz="1600" dirty="0">
                <a:solidFill>
                  <a:srgbClr val="C0DBFF"/>
                </a:solidFill>
                <a:latin typeface="Noto Sans" pitchFamily="34" charset="0"/>
                <a:ea typeface="Noto Sans" pitchFamily="34" charset="-122"/>
                <a:cs typeface="Noto Sans" pitchFamily="34" charset="-120"/>
              </a:rPr>
              <a:t>Persona-Based Scheme Discovery — Three Decisions for the Department</a:t>
            </a:r>
            <a:endParaRPr lang="en-US" sz="1600" dirty="0"/>
          </a:p>
        </p:txBody>
      </p:sp>
      <p:sp>
        <p:nvSpPr>
          <p:cNvPr id="6" name="Text 3"/>
          <p:cNvSpPr txBox="1"/>
          <p:nvPr/>
        </p:nvSpPr>
        <p:spPr>
          <a:xfrm>
            <a:off x="9326880" y="2395728"/>
            <a:ext cx="2194560" cy="1005840"/>
          </a:xfrm>
          <a:prstGeom prst="rect">
            <a:avLst/>
          </a:prstGeom>
          <a:noFill/>
          <a:ln/>
        </p:spPr>
        <p:txBody>
          <a:bodyPr wrap="square" lIns="0" tIns="0" rIns="0" bIns="0" rtlCol="0" anchor="ctr"/>
          <a:lstStyle/>
          <a:p>
            <a:pPr algn="r" indent="0" marL="0">
              <a:buNone/>
            </a:pPr>
            <a:r>
              <a:rPr lang="en-US" sz="5800" b="1" dirty="0">
                <a:solidFill>
                  <a:srgbClr val="92C2FF"/>
                </a:solidFill>
                <a:latin typeface="Noto Sans" pitchFamily="34" charset="0"/>
                <a:ea typeface="Noto Sans" pitchFamily="34" charset="-122"/>
                <a:cs typeface="Noto Sans" pitchFamily="34" charset="-120"/>
              </a:rPr>
              <a:t>141</a:t>
            </a:r>
            <a:endParaRPr lang="en-US" sz="5800" dirty="0"/>
          </a:p>
        </p:txBody>
      </p:sp>
      <p:sp>
        <p:nvSpPr>
          <p:cNvPr id="7" name="Text 4"/>
          <p:cNvSpPr txBox="1"/>
          <p:nvPr/>
        </p:nvSpPr>
        <p:spPr>
          <a:xfrm>
            <a:off x="9326880" y="3456432"/>
            <a:ext cx="2194560" cy="530352"/>
          </a:xfrm>
          <a:prstGeom prst="rect">
            <a:avLst/>
          </a:prstGeom>
          <a:noFill/>
          <a:ln/>
        </p:spPr>
        <p:txBody>
          <a:bodyPr wrap="square" lIns="0" tIns="0" rIns="0" bIns="0" rtlCol="0" anchor="ctr"/>
          <a:lstStyle/>
          <a:p>
            <a:pPr algn="r" indent="0" marL="0">
              <a:lnSpc>
                <a:spcPct val="118000"/>
              </a:lnSpc>
              <a:buNone/>
            </a:pPr>
            <a:r>
              <a:rPr lang="en-US" sz="1150" dirty="0">
                <a:solidFill>
                  <a:srgbClr val="C0DBFF"/>
                </a:solidFill>
                <a:latin typeface="Noto Sans" pitchFamily="34" charset="0"/>
                <a:ea typeface="Noto Sans" pitchFamily="34" charset="-122"/>
                <a:cs typeface="Noto Sans" pitchFamily="34" charset="-120"/>
              </a:rPr>
              <a:t>schemes published</a:t>
            </a:r>
            <a:endParaRPr lang="en-US" sz="1150" dirty="0"/>
          </a:p>
          <a:p>
            <a:pPr algn="r" indent="0" marL="0">
              <a:lnSpc>
                <a:spcPct val="118000"/>
              </a:lnSpc>
              <a:buNone/>
            </a:pPr>
            <a:r>
              <a:rPr lang="en-US" sz="1150" dirty="0">
                <a:solidFill>
                  <a:srgbClr val="C0DBFF"/>
                </a:solidFill>
                <a:latin typeface="Noto Sans" pitchFamily="34" charset="0"/>
                <a:ea typeface="Noto Sans" pitchFamily="34" charset="-122"/>
                <a:cs typeface="Noto Sans" pitchFamily="34" charset="-120"/>
              </a:rPr>
              <a:t>by the Department</a:t>
            </a:r>
            <a:endParaRPr lang="en-US" sz="1150" dirty="0"/>
          </a:p>
        </p:txBody>
      </p:sp>
      <p:sp>
        <p:nvSpPr>
          <p:cNvPr id="8" name="Shape 5"/>
          <p:cNvSpPr/>
          <p:nvPr/>
        </p:nvSpPr>
        <p:spPr>
          <a:xfrm>
            <a:off x="658368" y="4937760"/>
            <a:ext cx="10874959" cy="0"/>
          </a:xfrm>
          <a:prstGeom prst="line">
            <a:avLst/>
          </a:prstGeom>
          <a:noFill/>
          <a:ln w="12700">
            <a:solidFill>
              <a:srgbClr val="004B96"/>
            </a:solidFill>
            <a:prstDash val="solid"/>
          </a:ln>
        </p:spPr>
      </p:sp>
      <p:sp>
        <p:nvSpPr>
          <p:cNvPr id="9" name="Text 6"/>
          <p:cNvSpPr txBox="1"/>
          <p:nvPr/>
        </p:nvSpPr>
        <p:spPr>
          <a:xfrm>
            <a:off x="658368" y="5175504"/>
            <a:ext cx="8046720" cy="274320"/>
          </a:xfrm>
          <a:prstGeom prst="rect">
            <a:avLst/>
          </a:prstGeom>
          <a:noFill/>
          <a:ln/>
        </p:spPr>
        <p:txBody>
          <a:bodyPr wrap="square" lIns="0" tIns="0" rIns="0" bIns="0" rtlCol="0" anchor="ctr"/>
          <a:lstStyle/>
          <a:p>
            <a:pPr indent="0" marL="0">
              <a:buNone/>
            </a:pPr>
            <a:r>
              <a:rPr lang="en-US" sz="1250" dirty="0">
                <a:solidFill>
                  <a:srgbClr val="FFFFFF"/>
                </a:solidFill>
                <a:latin typeface="Noto Sans" pitchFamily="34" charset="0"/>
                <a:ea typeface="Noto Sans" pitchFamily="34" charset="-122"/>
                <a:cs typeface="Noto Sans" pitchFamily="34" charset="-120"/>
              </a:rPr>
              <a:t>An information-architecture and discoverability review of dosje.gov.in and socialjustice.gov.in</a:t>
            </a:r>
            <a:endParaRPr lang="en-US" sz="1250" dirty="0"/>
          </a:p>
        </p:txBody>
      </p:sp>
      <p:sp>
        <p:nvSpPr>
          <p:cNvPr id="10" name="Text 7"/>
          <p:cNvSpPr txBox="1"/>
          <p:nvPr/>
        </p:nvSpPr>
        <p:spPr>
          <a:xfrm>
            <a:off x="658368" y="5468112"/>
            <a:ext cx="804672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Live analysis 20 August 2026 · Content export 13 June 2026 · MoSJE Design Research</a:t>
            </a:r>
            <a:endParaRPr lang="en-US" sz="1100" dirty="0"/>
          </a:p>
        </p:txBody>
      </p:sp>
      <p:sp>
        <p:nvSpPr>
          <p:cNvPr id="11" name="Text 8"/>
          <p:cNvSpPr txBox="1"/>
          <p:nvPr/>
        </p:nvSpPr>
        <p:spPr>
          <a:xfrm>
            <a:off x="8778240" y="5175504"/>
            <a:ext cx="2743200" cy="548640"/>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Accompanies the design file</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MoSJE (WIP) — Service Discovery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FINDING</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The Filter Works. The Data Behind It Does Not.</a:t>
            </a:r>
            <a:endParaRPr lang="en-US" sz="2800" dirty="0"/>
          </a:p>
        </p:txBody>
      </p:sp>
      <p:sp>
        <p:nvSpPr>
          <p:cNvPr id="4" name="Text 2"/>
          <p:cNvSpPr txBox="1"/>
          <p:nvPr/>
        </p:nvSpPr>
        <p:spPr>
          <a:xfrm>
            <a:off x="658368" y="1097280"/>
            <a:ext cx="9787463"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For each group the Department serves: how many of the 141 schemes address them, against how many are tagged so the site's own Target Group filter can find them.</a:t>
            </a:r>
            <a:endParaRPr lang="en-US" sz="1250" dirty="0"/>
          </a:p>
        </p:txBody>
      </p:sp>
      <p:graphicFrame>
        <p:nvGraphicFramePr>
          <p:cNvPr id="5" name="Chart 0" descr=""/>
          <p:cNvGraphicFramePr/>
          <p:nvPr/>
        </p:nvGraphicFramePr>
        <p:xfrm>
          <a:off x="658368" y="1517904"/>
          <a:ext cx="7315200" cy="4261104"/>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385048" y="1517904"/>
            <a:ext cx="3148279" cy="1280160"/>
          </a:xfrm>
          <a:prstGeom prst="rect">
            <a:avLst/>
          </a:prstGeom>
          <a:solidFill>
            <a:srgbClr val="EEF0F3"/>
          </a:solidFill>
          <a:ln w="9525">
            <a:solidFill>
              <a:srgbClr val="DCDEE1"/>
            </a:solidFill>
            <a:prstDash val="solid"/>
          </a:ln>
        </p:spPr>
      </p:sp>
      <p:sp>
        <p:nvSpPr>
          <p:cNvPr id="7" name="Text 4"/>
          <p:cNvSpPr txBox="1"/>
          <p:nvPr/>
        </p:nvSpPr>
        <p:spPr>
          <a:xfrm>
            <a:off x="8604504" y="1664208"/>
            <a:ext cx="2709367" cy="512064"/>
          </a:xfrm>
          <a:prstGeom prst="rect">
            <a:avLst/>
          </a:prstGeom>
          <a:noFill/>
          <a:ln/>
        </p:spPr>
        <p:txBody>
          <a:bodyPr wrap="square" lIns="0" tIns="0" rIns="0" bIns="0" rtlCol="0" anchor="ctr"/>
          <a:lstStyle/>
          <a:p>
            <a:pPr indent="0" marL="0">
              <a:buNone/>
            </a:pPr>
            <a:r>
              <a:rPr lang="en-US" sz="3000" b="1" dirty="0">
                <a:solidFill>
                  <a:srgbClr val="005EB9"/>
                </a:solidFill>
                <a:latin typeface="Noto Sans" pitchFamily="34" charset="0"/>
                <a:ea typeface="Noto Sans" pitchFamily="34" charset="-122"/>
                <a:cs typeface="Noto Sans" pitchFamily="34" charset="-120"/>
              </a:rPr>
              <a:t>32</a:t>
            </a:r>
            <a:pPr indent="0" marL="0">
              <a:buNone/>
            </a:pPr>
            <a:r>
              <a:rPr lang="en-US" sz="1200" b="1" dirty="0">
                <a:solidFill>
                  <a:srgbClr val="54585E"/>
                </a:solidFill>
                <a:latin typeface="Noto Sans" pitchFamily="34" charset="0"/>
                <a:ea typeface="Noto Sans" pitchFamily="34" charset="-122"/>
                <a:cs typeface="Noto Sans" pitchFamily="34" charset="-120"/>
              </a:rPr>
              <a:t>   to   </a:t>
            </a:r>
            <a:pPr indent="0" marL="0">
              <a:buNone/>
            </a:pPr>
            <a:r>
              <a:rPr lang="en-US" sz="3000" b="1" dirty="0">
                <a:solidFill>
                  <a:srgbClr val="A43A00"/>
                </a:solidFill>
                <a:latin typeface="Noto Sans" pitchFamily="34" charset="0"/>
                <a:ea typeface="Noto Sans" pitchFamily="34" charset="-122"/>
                <a:cs typeface="Noto Sans" pitchFamily="34" charset="-120"/>
              </a:rPr>
              <a:t>5</a:t>
            </a:r>
            <a:endParaRPr lang="en-US" sz="3000" dirty="0"/>
          </a:p>
        </p:txBody>
      </p:sp>
      <p:sp>
        <p:nvSpPr>
          <p:cNvPr id="8" name="Text 5"/>
          <p:cNvSpPr txBox="1"/>
          <p:nvPr/>
        </p:nvSpPr>
        <p:spPr>
          <a:xfrm>
            <a:off x="8604504" y="2176272"/>
            <a:ext cx="2709367" cy="219456"/>
          </a:xfrm>
          <a:prstGeom prst="rect">
            <a:avLst/>
          </a:prstGeom>
          <a:noFill/>
          <a:ln/>
        </p:spPr>
        <p:txBody>
          <a:bodyPr wrap="square" lIns="0" tIns="0" rIns="0" bIns="0" rtlCol="0" anchor="ctr"/>
          <a:lstStyle/>
          <a:p>
            <a:pPr indent="0" marL="0">
              <a:buNone/>
            </a:pPr>
            <a:r>
              <a:rPr lang="en-US" sz="1200" b="1" dirty="0">
                <a:solidFill>
                  <a:srgbClr val="003975"/>
                </a:solidFill>
                <a:latin typeface="Noto Sans" pitchFamily="34" charset="0"/>
                <a:ea typeface="Noto Sans" pitchFamily="34" charset="-122"/>
                <a:cs typeface="Noto Sans" pitchFamily="34" charset="-120"/>
              </a:rPr>
              <a:t>Scheduled Castes</a:t>
            </a:r>
            <a:endParaRPr lang="en-US" sz="1200" dirty="0"/>
          </a:p>
        </p:txBody>
      </p:sp>
      <p:sp>
        <p:nvSpPr>
          <p:cNvPr id="9" name="Text 6"/>
          <p:cNvSpPr txBox="1"/>
          <p:nvPr/>
        </p:nvSpPr>
        <p:spPr>
          <a:xfrm>
            <a:off x="8604504" y="2414016"/>
            <a:ext cx="2709367" cy="347472"/>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The largest constituency. Not one of the five is a scholarship.</a:t>
            </a:r>
            <a:endParaRPr lang="en-US" sz="950" dirty="0"/>
          </a:p>
        </p:txBody>
      </p:sp>
      <p:sp>
        <p:nvSpPr>
          <p:cNvPr id="10" name="Shape 7"/>
          <p:cNvSpPr/>
          <p:nvPr/>
        </p:nvSpPr>
        <p:spPr>
          <a:xfrm>
            <a:off x="8385048" y="2944368"/>
            <a:ext cx="3148279" cy="1280160"/>
          </a:xfrm>
          <a:prstGeom prst="rect">
            <a:avLst/>
          </a:prstGeom>
          <a:solidFill>
            <a:srgbClr val="EEF0F3"/>
          </a:solidFill>
          <a:ln w="9525">
            <a:solidFill>
              <a:srgbClr val="DCDEE1"/>
            </a:solidFill>
            <a:prstDash val="solid"/>
          </a:ln>
        </p:spPr>
      </p:sp>
      <p:sp>
        <p:nvSpPr>
          <p:cNvPr id="11" name="Text 8"/>
          <p:cNvSpPr txBox="1"/>
          <p:nvPr/>
        </p:nvSpPr>
        <p:spPr>
          <a:xfrm>
            <a:off x="8604504" y="3090672"/>
            <a:ext cx="2709367" cy="512064"/>
          </a:xfrm>
          <a:prstGeom prst="rect">
            <a:avLst/>
          </a:prstGeom>
          <a:noFill/>
          <a:ln/>
        </p:spPr>
        <p:txBody>
          <a:bodyPr wrap="square" lIns="0" tIns="0" rIns="0" bIns="0" rtlCol="0" anchor="ctr"/>
          <a:lstStyle/>
          <a:p>
            <a:pPr indent="0" marL="0">
              <a:buNone/>
            </a:pPr>
            <a:r>
              <a:rPr lang="en-US" sz="3000" b="1" dirty="0">
                <a:solidFill>
                  <a:srgbClr val="005EB9"/>
                </a:solidFill>
                <a:latin typeface="Noto Sans" pitchFamily="34" charset="0"/>
                <a:ea typeface="Noto Sans" pitchFamily="34" charset="-122"/>
                <a:cs typeface="Noto Sans" pitchFamily="34" charset="-120"/>
              </a:rPr>
              <a:t>23</a:t>
            </a:r>
            <a:pPr indent="0" marL="0">
              <a:buNone/>
            </a:pPr>
            <a:r>
              <a:rPr lang="en-US" sz="1200" b="1" dirty="0">
                <a:solidFill>
                  <a:srgbClr val="54585E"/>
                </a:solidFill>
                <a:latin typeface="Noto Sans" pitchFamily="34" charset="0"/>
                <a:ea typeface="Noto Sans" pitchFamily="34" charset="-122"/>
                <a:cs typeface="Noto Sans" pitchFamily="34" charset="-120"/>
              </a:rPr>
              <a:t>   to   </a:t>
            </a:r>
            <a:pPr indent="0" marL="0">
              <a:buNone/>
            </a:pPr>
            <a:r>
              <a:rPr lang="en-US" sz="3000" b="1" dirty="0">
                <a:solidFill>
                  <a:srgbClr val="A43A00"/>
                </a:solidFill>
                <a:latin typeface="Noto Sans" pitchFamily="34" charset="0"/>
                <a:ea typeface="Noto Sans" pitchFamily="34" charset="-122"/>
                <a:cs typeface="Noto Sans" pitchFamily="34" charset="-120"/>
              </a:rPr>
              <a:t>0</a:t>
            </a:r>
            <a:endParaRPr lang="en-US" sz="3000" dirty="0"/>
          </a:p>
        </p:txBody>
      </p:sp>
      <p:sp>
        <p:nvSpPr>
          <p:cNvPr id="12" name="Text 9"/>
          <p:cNvSpPr txBox="1"/>
          <p:nvPr/>
        </p:nvSpPr>
        <p:spPr>
          <a:xfrm>
            <a:off x="8604504" y="3602736"/>
            <a:ext cx="2709367" cy="219456"/>
          </a:xfrm>
          <a:prstGeom prst="rect">
            <a:avLst/>
          </a:prstGeom>
          <a:noFill/>
          <a:ln/>
        </p:spPr>
        <p:txBody>
          <a:bodyPr wrap="square" lIns="0" tIns="0" rIns="0" bIns="0" rtlCol="0" anchor="ctr"/>
          <a:lstStyle/>
          <a:p>
            <a:pPr indent="0" marL="0">
              <a:buNone/>
            </a:pPr>
            <a:r>
              <a:rPr lang="en-US" sz="1200" b="1" dirty="0">
                <a:solidFill>
                  <a:srgbClr val="003975"/>
                </a:solidFill>
                <a:latin typeface="Noto Sans" pitchFamily="34" charset="0"/>
                <a:ea typeface="Noto Sans" pitchFamily="34" charset="-122"/>
                <a:cs typeface="Noto Sans" pitchFamily="34" charset="-120"/>
              </a:rPr>
              <a:t>Women and Girls</a:t>
            </a:r>
            <a:endParaRPr lang="en-US" sz="1200" dirty="0"/>
          </a:p>
        </p:txBody>
      </p:sp>
      <p:sp>
        <p:nvSpPr>
          <p:cNvPr id="13" name="Text 10"/>
          <p:cNvSpPr txBox="1"/>
          <p:nvPr/>
        </p:nvSpPr>
        <p:spPr>
          <a:xfrm>
            <a:off x="8604504" y="3840480"/>
            <a:ext cx="2709367" cy="347472"/>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Twenty-three schemes serve them. The filter reaches none.</a:t>
            </a:r>
            <a:endParaRPr lang="en-US" sz="950" dirty="0"/>
          </a:p>
        </p:txBody>
      </p:sp>
      <p:sp>
        <p:nvSpPr>
          <p:cNvPr id="14" name="Shape 11"/>
          <p:cNvSpPr/>
          <p:nvPr/>
        </p:nvSpPr>
        <p:spPr>
          <a:xfrm>
            <a:off x="8385048" y="4370832"/>
            <a:ext cx="3148279" cy="1408176"/>
          </a:xfrm>
          <a:prstGeom prst="rect">
            <a:avLst/>
          </a:prstGeom>
          <a:solidFill>
            <a:srgbClr val="003975"/>
          </a:solidFill>
          <a:ln w="12700">
            <a:solidFill>
              <a:srgbClr val="003975"/>
            </a:solidFill>
            <a:prstDash val="solid"/>
          </a:ln>
        </p:spPr>
      </p:sp>
      <p:sp>
        <p:nvSpPr>
          <p:cNvPr id="15" name="Text 12"/>
          <p:cNvSpPr txBox="1"/>
          <p:nvPr/>
        </p:nvSpPr>
        <p:spPr>
          <a:xfrm>
            <a:off x="8604504" y="4517136"/>
            <a:ext cx="2709367" cy="749808"/>
          </a:xfrm>
          <a:prstGeom prst="rect">
            <a:avLst/>
          </a:prstGeom>
          <a:noFill/>
          <a:ln/>
        </p:spPr>
        <p:txBody>
          <a:bodyPr wrap="square" lIns="0" tIns="0" rIns="0" bIns="0" rtlCol="0" anchor="ctr"/>
          <a:lstStyle/>
          <a:p>
            <a:pPr indent="0" marL="0">
              <a:lnSpc>
                <a:spcPct val="114000"/>
              </a:lnSpc>
              <a:buNone/>
            </a:pPr>
            <a:r>
              <a:rPr lang="en-US" sz="1450" b="1" dirty="0">
                <a:solidFill>
                  <a:srgbClr val="FFFFFF"/>
                </a:solidFill>
                <a:latin typeface="Noto Sans" pitchFamily="34" charset="0"/>
                <a:ea typeface="Noto Sans" pitchFamily="34" charset="-122"/>
                <a:cs typeface="Noto Sans" pitchFamily="34" charset="-120"/>
              </a:rPr>
              <a:t>The filter is not broken. The data behind it was never populated.</a:t>
            </a:r>
            <a:endParaRPr lang="en-US" sz="1450" dirty="0"/>
          </a:p>
        </p:txBody>
      </p:sp>
      <p:sp>
        <p:nvSpPr>
          <p:cNvPr id="16" name="Text 13"/>
          <p:cNvSpPr txBox="1"/>
          <p:nvPr/>
        </p:nvSpPr>
        <p:spPr>
          <a:xfrm>
            <a:off x="8604504" y="5303520"/>
            <a:ext cx="2709367" cy="365760"/>
          </a:xfrm>
          <a:prstGeom prst="rect">
            <a:avLst/>
          </a:prstGeom>
          <a:noFill/>
          <a:ln/>
        </p:spPr>
        <p:txBody>
          <a:bodyPr wrap="square" lIns="0" tIns="0" rIns="0" bIns="0" rtlCol="0" anchor="ctr"/>
          <a:lstStyle/>
          <a:p>
            <a:pPr indent="0" marL="0">
              <a:lnSpc>
                <a:spcPct val="116000"/>
              </a:lnSpc>
              <a:buNone/>
            </a:pPr>
            <a:r>
              <a:rPr lang="en-US" sz="1000" dirty="0">
                <a:solidFill>
                  <a:srgbClr val="C0DBFF"/>
                </a:solidFill>
                <a:latin typeface="Noto Sans" pitchFamily="34" charset="0"/>
                <a:ea typeface="Noto Sans" pitchFamily="34" charset="-122"/>
                <a:cs typeface="Noto Sans" pitchFamily="34" charset="-120"/>
              </a:rPr>
              <a:t>Only 2 of the 141 records carry more than one target group; 27 carry none at all.</a:t>
            </a:r>
            <a:endParaRPr lang="en-US" sz="1000" dirty="0"/>
          </a:p>
        </p:txBody>
      </p:sp>
      <p:sp>
        <p:nvSpPr>
          <p:cNvPr id="17" name="Text 14"/>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Source: §1.3 of the review. Content export 13 June 2026; live behaviour re-verified 20 August 2026. Keyword classification over-counts, so these gaps are understated.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DECISION 01 · THE HOMEPAGE</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Three Ways for a Citizen to Begin</a:t>
            </a:r>
            <a:endParaRPr lang="en-US" sz="2800" dirty="0"/>
          </a:p>
        </p:txBody>
      </p:sp>
      <p:sp>
        <p:nvSpPr>
          <p:cNvPr id="4" name="Text 2"/>
          <p:cNvSpPr txBox="1"/>
          <p:nvPr/>
        </p:nvSpPr>
        <p:spPr>
          <a:xfrm>
            <a:off x="658368" y="1097280"/>
            <a:ext cx="9787463"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All three are drawn as finished screens. Option A is what the site carries today.</a:t>
            </a:r>
            <a:endParaRPr lang="en-US" sz="1250" dirty="0"/>
          </a:p>
        </p:txBody>
      </p:sp>
      <p:sp>
        <p:nvSpPr>
          <p:cNvPr id="5" name="Text 3"/>
          <p:cNvSpPr txBox="1"/>
          <p:nvPr/>
        </p:nvSpPr>
        <p:spPr>
          <a:xfrm>
            <a:off x="658368" y="1499616"/>
            <a:ext cx="2070506"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OPTION A</a:t>
            </a:r>
            <a:endParaRPr lang="en-US" sz="950" dirty="0"/>
          </a:p>
        </p:txBody>
      </p:sp>
      <p:sp>
        <p:nvSpPr>
          <p:cNvPr id="6" name="Shape 4"/>
          <p:cNvSpPr/>
          <p:nvPr/>
        </p:nvSpPr>
        <p:spPr>
          <a:xfrm>
            <a:off x="630936" y="1801368"/>
            <a:ext cx="3496970" cy="1565566"/>
          </a:xfrm>
          <a:prstGeom prst="rect">
            <a:avLst/>
          </a:prstGeom>
          <a:solidFill>
            <a:srgbClr val="FFFFFF"/>
          </a:solidFill>
          <a:ln w="9525">
            <a:solidFill>
              <a:srgbClr val="DCDEE1"/>
            </a:solidFill>
            <a:prstDash val="solid"/>
          </a:ln>
        </p:spPr>
      </p:sp>
      <p:pic>
        <p:nvPicPr>
          <p:cNvPr id="7" name="Image 0" descr="assets/home-optA.png">    </p:cNvPr>
          <p:cNvPicPr>
            <a:picLocks noChangeAspect="1"/>
          </p:cNvPicPr>
          <p:nvPr/>
        </p:nvPicPr>
        <p:blipFill>
          <a:blip r:embed="rId1"/>
          <a:stretch>
            <a:fillRect/>
          </a:stretch>
        </p:blipFill>
        <p:spPr>
          <a:xfrm>
            <a:off x="658368" y="1828800"/>
            <a:ext cx="3442106" cy="1510702"/>
          </a:xfrm>
          <a:prstGeom prst="rect">
            <a:avLst/>
          </a:prstGeom>
        </p:spPr>
      </p:pic>
      <p:sp>
        <p:nvSpPr>
          <p:cNvPr id="8" name="Text 5"/>
          <p:cNvSpPr txBox="1"/>
          <p:nvPr/>
        </p:nvSpPr>
        <p:spPr>
          <a:xfrm>
            <a:off x="658368" y="3948700"/>
            <a:ext cx="3442106" cy="256032"/>
          </a:xfrm>
          <a:prstGeom prst="rect">
            <a:avLst/>
          </a:prstGeom>
          <a:noFill/>
          <a:ln/>
        </p:spPr>
        <p:txBody>
          <a:bodyPr wrap="square" lIns="0" tIns="0" rIns="0" bIns="0" rtlCol="0" anchor="ctr"/>
          <a:lstStyle/>
          <a:p>
            <a:pPr indent="0" marL="0">
              <a:buNone/>
            </a:pPr>
            <a:r>
              <a:rPr lang="en-US" sz="1450" b="1" dirty="0">
                <a:solidFill>
                  <a:srgbClr val="003975"/>
                </a:solidFill>
                <a:latin typeface="Noto Sans" pitchFamily="34" charset="0"/>
                <a:ea typeface="Noto Sans" pitchFamily="34" charset="-122"/>
                <a:cs typeface="Noto Sans" pitchFamily="34" charset="-120"/>
              </a:rPr>
              <a:t>Explore User Personas</a:t>
            </a:r>
            <a:endParaRPr lang="en-US" sz="1450" dirty="0"/>
          </a:p>
        </p:txBody>
      </p:sp>
      <p:sp>
        <p:nvSpPr>
          <p:cNvPr id="9" name="Text 6"/>
          <p:cNvSpPr txBox="1"/>
          <p:nvPr/>
        </p:nvSpPr>
        <p:spPr>
          <a:xfrm>
            <a:off x="658368" y="4223020"/>
            <a:ext cx="3442106" cy="219456"/>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Live on the site today</a:t>
            </a:r>
            <a:endParaRPr lang="en-US" sz="1050" dirty="0"/>
          </a:p>
        </p:txBody>
      </p:sp>
      <p:sp>
        <p:nvSpPr>
          <p:cNvPr id="10" name="Text 7"/>
          <p:cNvSpPr txBox="1"/>
          <p:nvPr/>
        </p:nvSpPr>
        <p:spPr>
          <a:xfrm>
            <a:off x="658368" y="4497340"/>
            <a:ext cx="3442106" cy="137160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Already on the page · illustrations help people who read slowly · recognising yourself beats describing yourself.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One persona at a time, behind arrows · narrows by group alone, not by stage or need.</a:t>
            </a:r>
            <a:endParaRPr lang="en-US" sz="1050" dirty="0"/>
          </a:p>
        </p:txBody>
      </p:sp>
      <p:sp>
        <p:nvSpPr>
          <p:cNvPr id="11" name="Shape 8"/>
          <p:cNvSpPr/>
          <p:nvPr/>
        </p:nvSpPr>
        <p:spPr>
          <a:xfrm>
            <a:off x="4246778" y="1371600"/>
            <a:ext cx="3698138" cy="4608576"/>
          </a:xfrm>
          <a:prstGeom prst="rect">
            <a:avLst/>
          </a:prstGeom>
          <a:solidFill>
            <a:srgbClr val="ECF4FF"/>
          </a:solidFill>
          <a:ln w="15875">
            <a:solidFill>
              <a:srgbClr val="0373DF"/>
            </a:solidFill>
            <a:prstDash val="solid"/>
          </a:ln>
        </p:spPr>
      </p:sp>
      <p:sp>
        <p:nvSpPr>
          <p:cNvPr id="12" name="Text 9"/>
          <p:cNvSpPr txBox="1"/>
          <p:nvPr/>
        </p:nvSpPr>
        <p:spPr>
          <a:xfrm>
            <a:off x="4374794" y="1499616"/>
            <a:ext cx="2070506"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OPTION B</a:t>
            </a:r>
            <a:endParaRPr lang="en-US" sz="950" dirty="0"/>
          </a:p>
        </p:txBody>
      </p:sp>
      <p:sp>
        <p:nvSpPr>
          <p:cNvPr id="13" name="Shape 10"/>
          <p:cNvSpPr/>
          <p:nvPr/>
        </p:nvSpPr>
        <p:spPr>
          <a:xfrm>
            <a:off x="6518453" y="1463040"/>
            <a:ext cx="1298448" cy="237744"/>
          </a:xfrm>
          <a:prstGeom prst="roundRect">
            <a:avLst>
              <a:gd name="adj" fmla="val 50000"/>
            </a:avLst>
          </a:prstGeom>
          <a:solidFill>
            <a:srgbClr val="005EB9"/>
          </a:solidFill>
          <a:ln w="12700">
            <a:solidFill>
              <a:srgbClr val="005EB9"/>
            </a:solidFill>
            <a:prstDash val="solid"/>
          </a:ln>
        </p:spPr>
      </p:sp>
      <p:sp>
        <p:nvSpPr>
          <p:cNvPr id="14" name="Text 11"/>
          <p:cNvSpPr txBox="1"/>
          <p:nvPr/>
        </p:nvSpPr>
        <p:spPr>
          <a:xfrm>
            <a:off x="6518453" y="1463040"/>
            <a:ext cx="129844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5" name="Shape 12"/>
          <p:cNvSpPr/>
          <p:nvPr/>
        </p:nvSpPr>
        <p:spPr>
          <a:xfrm>
            <a:off x="4347362" y="1801368"/>
            <a:ext cx="3496970" cy="1976707"/>
          </a:xfrm>
          <a:prstGeom prst="rect">
            <a:avLst/>
          </a:prstGeom>
          <a:solidFill>
            <a:srgbClr val="FFFFFF"/>
          </a:solidFill>
          <a:ln w="9525">
            <a:solidFill>
              <a:srgbClr val="DCDEE1"/>
            </a:solidFill>
            <a:prstDash val="solid"/>
          </a:ln>
        </p:spPr>
      </p:sp>
      <p:pic>
        <p:nvPicPr>
          <p:cNvPr id="16" name="Image 1" descr="assets/home-optB-question.png">    </p:cNvPr>
          <p:cNvPicPr>
            <a:picLocks noChangeAspect="1"/>
          </p:cNvPicPr>
          <p:nvPr/>
        </p:nvPicPr>
        <p:blipFill>
          <a:blip r:embed="rId2"/>
          <a:stretch>
            <a:fillRect/>
          </a:stretch>
        </p:blipFill>
        <p:spPr>
          <a:xfrm>
            <a:off x="4374794" y="1828800"/>
            <a:ext cx="3442106" cy="1921843"/>
          </a:xfrm>
          <a:prstGeom prst="rect">
            <a:avLst/>
          </a:prstGeom>
        </p:spPr>
      </p:pic>
      <p:sp>
        <p:nvSpPr>
          <p:cNvPr id="17" name="Text 13"/>
          <p:cNvSpPr txBox="1"/>
          <p:nvPr/>
        </p:nvSpPr>
        <p:spPr>
          <a:xfrm>
            <a:off x="4374794" y="3948700"/>
            <a:ext cx="3442106" cy="256032"/>
          </a:xfrm>
          <a:prstGeom prst="rect">
            <a:avLst/>
          </a:prstGeom>
          <a:noFill/>
          <a:ln/>
        </p:spPr>
        <p:txBody>
          <a:bodyPr wrap="square" lIns="0" tIns="0" rIns="0" bIns="0" rtlCol="0" anchor="ctr"/>
          <a:lstStyle/>
          <a:p>
            <a:pPr indent="0" marL="0">
              <a:buNone/>
            </a:pPr>
            <a:r>
              <a:rPr lang="en-US" sz="1450" b="1" dirty="0">
                <a:solidFill>
                  <a:srgbClr val="003975"/>
                </a:solidFill>
                <a:latin typeface="Noto Sans" pitchFamily="34" charset="0"/>
                <a:ea typeface="Noto Sans" pitchFamily="34" charset="-122"/>
                <a:cs typeface="Noto Sans" pitchFamily="34" charset="-120"/>
              </a:rPr>
              <a:t>Find Schemes for You</a:t>
            </a:r>
            <a:endParaRPr lang="en-US" sz="1450" dirty="0"/>
          </a:p>
        </p:txBody>
      </p:sp>
      <p:sp>
        <p:nvSpPr>
          <p:cNvPr id="18" name="Text 14"/>
          <p:cNvSpPr txBox="1"/>
          <p:nvPr/>
        </p:nvSpPr>
        <p:spPr>
          <a:xfrm>
            <a:off x="4374794" y="4223020"/>
            <a:ext cx="3442106" cy="219456"/>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Five short questions, all skippable</a:t>
            </a:r>
            <a:endParaRPr lang="en-US" sz="1050" dirty="0"/>
          </a:p>
        </p:txBody>
      </p:sp>
      <p:sp>
        <p:nvSpPr>
          <p:cNvPr id="19" name="Text 15"/>
          <p:cNvSpPr txBox="1"/>
          <p:nvPr/>
        </p:nvSpPr>
        <p:spPr>
          <a:xfrm>
            <a:off x="4374794" y="4497340"/>
            <a:ext cx="3442106" cy="137160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Turns 141 schemes into the six that fit · the only option reading stage, need and State · no sign-in, no Aadhaar · ends on Apply.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Content must be remapped first · needs space unless it replaces Our Offerings · caste wording needs Ministry approval.</a:t>
            </a:r>
            <a:endParaRPr lang="en-US" sz="1050" dirty="0"/>
          </a:p>
        </p:txBody>
      </p:sp>
      <p:sp>
        <p:nvSpPr>
          <p:cNvPr id="20" name="Text 16"/>
          <p:cNvSpPr txBox="1"/>
          <p:nvPr/>
        </p:nvSpPr>
        <p:spPr>
          <a:xfrm>
            <a:off x="8091221" y="1499616"/>
            <a:ext cx="2070506"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OPTION C</a:t>
            </a:r>
            <a:endParaRPr lang="en-US" sz="950" dirty="0"/>
          </a:p>
        </p:txBody>
      </p:sp>
      <p:sp>
        <p:nvSpPr>
          <p:cNvPr id="21" name="Shape 17"/>
          <p:cNvSpPr/>
          <p:nvPr/>
        </p:nvSpPr>
        <p:spPr>
          <a:xfrm>
            <a:off x="8063789" y="1801368"/>
            <a:ext cx="3496970" cy="2010172"/>
          </a:xfrm>
          <a:prstGeom prst="rect">
            <a:avLst/>
          </a:prstGeom>
          <a:solidFill>
            <a:srgbClr val="FFFFFF"/>
          </a:solidFill>
          <a:ln w="9525">
            <a:solidFill>
              <a:srgbClr val="DCDEE1"/>
            </a:solidFill>
            <a:prstDash val="solid"/>
          </a:ln>
        </p:spPr>
      </p:sp>
      <p:pic>
        <p:nvPicPr>
          <p:cNvPr id="22" name="Image 2" descr="assets/home-optC.png">    </p:cNvPr>
          <p:cNvPicPr>
            <a:picLocks noChangeAspect="1"/>
          </p:cNvPicPr>
          <p:nvPr/>
        </p:nvPicPr>
        <p:blipFill>
          <a:blip r:embed="rId3"/>
          <a:stretch>
            <a:fillRect/>
          </a:stretch>
        </p:blipFill>
        <p:spPr>
          <a:xfrm>
            <a:off x="8091221" y="1828800"/>
            <a:ext cx="3442106" cy="1955308"/>
          </a:xfrm>
          <a:prstGeom prst="rect">
            <a:avLst/>
          </a:prstGeom>
        </p:spPr>
      </p:pic>
      <p:sp>
        <p:nvSpPr>
          <p:cNvPr id="23" name="Text 18"/>
          <p:cNvSpPr txBox="1"/>
          <p:nvPr/>
        </p:nvSpPr>
        <p:spPr>
          <a:xfrm>
            <a:off x="8091221" y="3948700"/>
            <a:ext cx="3442106" cy="256032"/>
          </a:xfrm>
          <a:prstGeom prst="rect">
            <a:avLst/>
          </a:prstGeom>
          <a:noFill/>
          <a:ln/>
        </p:spPr>
        <p:txBody>
          <a:bodyPr wrap="square" lIns="0" tIns="0" rIns="0" bIns="0" rtlCol="0" anchor="ctr"/>
          <a:lstStyle/>
          <a:p>
            <a:pPr indent="0" marL="0">
              <a:buNone/>
            </a:pPr>
            <a:r>
              <a:rPr lang="en-US" sz="1450" b="1" dirty="0">
                <a:solidFill>
                  <a:srgbClr val="003975"/>
                </a:solidFill>
                <a:latin typeface="Noto Sans" pitchFamily="34" charset="0"/>
                <a:ea typeface="Noto Sans" pitchFamily="34" charset="-122"/>
                <a:cs typeface="Noto Sans" pitchFamily="34" charset="-120"/>
              </a:rPr>
              <a:t>Find Offerings for You</a:t>
            </a:r>
            <a:endParaRPr lang="en-US" sz="1450" dirty="0"/>
          </a:p>
        </p:txBody>
      </p:sp>
      <p:sp>
        <p:nvSpPr>
          <p:cNvPr id="24" name="Text 19"/>
          <p:cNvSpPr txBox="1"/>
          <p:nvPr/>
        </p:nvSpPr>
        <p:spPr>
          <a:xfrm>
            <a:off x="8091221" y="4223020"/>
            <a:ext cx="3442106" cy="219456"/>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One tap, no questions</a:t>
            </a:r>
            <a:endParaRPr lang="en-US" sz="1050" dirty="0"/>
          </a:p>
        </p:txBody>
      </p:sp>
      <p:sp>
        <p:nvSpPr>
          <p:cNvPr id="25" name="Text 20"/>
          <p:cNvSpPr txBox="1"/>
          <p:nvPr/>
        </p:nvSpPr>
        <p:spPr>
          <a:xfrm>
            <a:off x="8091221" y="4497340"/>
            <a:ext cx="3442106" cy="137160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One tap · returns portals, schemes and grievance routes · ends on Apply Now · puts the SAMAVESH promise on page one.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Content must be remapped first · less precise than five questions, so pair it with B.</a:t>
            </a:r>
            <a:endParaRPr lang="en-US" sz="1050" dirty="0"/>
          </a:p>
        </p:txBody>
      </p:sp>
      <p:sp>
        <p:nvSpPr>
          <p:cNvPr id="26" name="Text 21"/>
          <p:cNvSpPr txBox="1"/>
          <p:nvPr/>
        </p:nvSpPr>
        <p:spPr>
          <a:xfrm>
            <a:off x="658368" y="6053328"/>
            <a:ext cx="10874959" cy="274320"/>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Recommended: Option B — the only option that reads life stage, need and State as well as community, and the only one that ends on Apply.</a:t>
            </a:r>
            <a:endParaRPr lang="en-US" sz="1150" dirty="0"/>
          </a:p>
        </p:txBody>
      </p:sp>
      <p:sp>
        <p:nvSpPr>
          <p:cNvPr id="27" name="Text 22"/>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Design file: MoSJE (WIP) — Service Discovery, Mode 1 Website / Homepage. Option B delivers R3 of the review, Option C delivers R4.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DECISION 02 · THE SCHEMES PAGE</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Welcome, or Compare</a:t>
            </a:r>
            <a:endParaRPr lang="en-US" sz="2800" dirty="0"/>
          </a:p>
        </p:txBody>
      </p:sp>
      <p:sp>
        <p:nvSpPr>
          <p:cNvPr id="4" name="Text 2"/>
          <p:cNvSpPr txBox="1"/>
          <p:nvPr/>
        </p:nvSpPr>
        <p:spPr>
          <a:xfrm>
            <a:off x="658368" y="1097280"/>
            <a:ext cx="10874959"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The same data, two ways. </a:t>
            </a:r>
            <a:pPr indent="0" marL="0">
              <a:buNone/>
            </a:pPr>
            <a:r>
              <a:rPr lang="en-US" sz="1250" b="1" dirty="0">
                <a:solidFill>
                  <a:srgbClr val="003975"/>
                </a:solidFill>
                <a:latin typeface="Noto Sans" pitchFamily="34" charset="0"/>
                <a:ea typeface="Noto Sans" pitchFamily="34" charset="-122"/>
                <a:cs typeface="Noto Sans" pitchFamily="34" charset="-120"/>
              </a:rPr>
              <a:t>Option B is recommended</a:t>
            </a:r>
            <a:pPr indent="0" marL="0">
              <a:buNone/>
            </a:pPr>
            <a:r>
              <a:rPr lang="en-US" sz="1250" dirty="0">
                <a:solidFill>
                  <a:srgbClr val="3A3D41"/>
                </a:solidFill>
                <a:latin typeface="Noto Sans" pitchFamily="34" charset="0"/>
                <a:ea typeface="Noto Sans" pitchFamily="34" charset="-122"/>
                <a:cs typeface="Noto Sans" pitchFamily="34" charset="-120"/>
              </a:rPr>
              <a:t> — this is where a decision gets made, and where officers, NGOs and helpline staff work.</a:t>
            </a:r>
            <a:endParaRPr lang="en-US" sz="1250" dirty="0"/>
          </a:p>
        </p:txBody>
      </p:sp>
      <p:sp>
        <p:nvSpPr>
          <p:cNvPr id="5" name="Text 3"/>
          <p:cNvSpPr txBox="1"/>
          <p:nvPr/>
        </p:nvSpPr>
        <p:spPr>
          <a:xfrm>
            <a:off x="658368" y="1499616"/>
            <a:ext cx="3837280" cy="201168"/>
          </a:xfrm>
          <a:prstGeom prst="rect">
            <a:avLst/>
          </a:prstGeom>
          <a:noFill/>
          <a:ln/>
        </p:spPr>
        <p:txBody>
          <a:bodyPr wrap="square" lIns="0" tIns="0" rIns="0" bIns="0" rtlCol="0" anchor="ctr"/>
          <a:lstStyle/>
          <a:p>
            <a:pPr indent="0" marL="0">
              <a:buNone/>
            </a:pPr>
            <a:r>
              <a:rPr lang="en-US" sz="950" b="1" spc="105" kern="0" dirty="0">
                <a:solidFill>
                  <a:srgbClr val="54585E"/>
                </a:solidFill>
                <a:latin typeface="Noto Sans" pitchFamily="34" charset="0"/>
                <a:ea typeface="Noto Sans" pitchFamily="34" charset="-122"/>
                <a:cs typeface="Noto Sans" pitchFamily="34" charset="-120"/>
              </a:rPr>
              <a:t>OPTION A · ILLUSTRATED PERSONA CARDS</a:t>
            </a:r>
            <a:endParaRPr lang="en-US" sz="950" dirty="0"/>
          </a:p>
        </p:txBody>
      </p:sp>
      <p:sp>
        <p:nvSpPr>
          <p:cNvPr id="6" name="Shape 4"/>
          <p:cNvSpPr/>
          <p:nvPr/>
        </p:nvSpPr>
        <p:spPr>
          <a:xfrm>
            <a:off x="630936" y="1801368"/>
            <a:ext cx="4443984" cy="2873738"/>
          </a:xfrm>
          <a:prstGeom prst="rect">
            <a:avLst/>
          </a:prstGeom>
          <a:solidFill>
            <a:srgbClr val="FFFFFF"/>
          </a:solidFill>
          <a:ln w="9525">
            <a:solidFill>
              <a:srgbClr val="DCDEE1"/>
            </a:solidFill>
            <a:prstDash val="solid"/>
          </a:ln>
        </p:spPr>
      </p:sp>
      <p:pic>
        <p:nvPicPr>
          <p:cNvPr id="7" name="Image 0" descr="assets/scheme-optA-crop3.png">    </p:cNvPr>
          <p:cNvPicPr>
            <a:picLocks noChangeAspect="1"/>
          </p:cNvPicPr>
          <p:nvPr/>
        </p:nvPicPr>
        <p:blipFill>
          <a:blip r:embed="rId1"/>
          <a:stretch>
            <a:fillRect/>
          </a:stretch>
        </p:blipFill>
        <p:spPr>
          <a:xfrm>
            <a:off x="658368" y="1828800"/>
            <a:ext cx="4389120" cy="2818874"/>
          </a:xfrm>
          <a:prstGeom prst="rect">
            <a:avLst/>
          </a:prstGeom>
        </p:spPr>
      </p:pic>
      <p:sp>
        <p:nvSpPr>
          <p:cNvPr id="8" name="Text 5"/>
          <p:cNvSpPr txBox="1"/>
          <p:nvPr/>
        </p:nvSpPr>
        <p:spPr>
          <a:xfrm>
            <a:off x="658368" y="5042411"/>
            <a:ext cx="5208880" cy="128016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All nine groups visible at once · illustrations cross languages and literacy · cards feel welcoming, not administrative.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Far fewer schemes fit on a screen · no room for who runs it, or central versus State · two schemes cannot be compared.</a:t>
            </a:r>
            <a:endParaRPr lang="en-US" sz="1050" dirty="0"/>
          </a:p>
        </p:txBody>
      </p:sp>
      <p:sp>
        <p:nvSpPr>
          <p:cNvPr id="9" name="Text 6"/>
          <p:cNvSpPr txBox="1"/>
          <p:nvPr/>
        </p:nvSpPr>
        <p:spPr>
          <a:xfrm>
            <a:off x="6324448" y="1499616"/>
            <a:ext cx="3837280" cy="201168"/>
          </a:xfrm>
          <a:prstGeom prst="rect">
            <a:avLst/>
          </a:prstGeom>
          <a:noFill/>
          <a:ln/>
        </p:spPr>
        <p:txBody>
          <a:bodyPr wrap="square" lIns="0" tIns="0" rIns="0" bIns="0" rtlCol="0" anchor="ctr"/>
          <a:lstStyle/>
          <a:p>
            <a:pPr indent="0" marL="0">
              <a:buNone/>
            </a:pPr>
            <a:r>
              <a:rPr lang="en-US" sz="950" b="1" spc="105" kern="0" dirty="0">
                <a:solidFill>
                  <a:srgbClr val="005EB9"/>
                </a:solidFill>
                <a:latin typeface="Noto Sans" pitchFamily="34" charset="0"/>
                <a:ea typeface="Noto Sans" pitchFamily="34" charset="-122"/>
                <a:cs typeface="Noto Sans" pitchFamily="34" charset="-120"/>
              </a:rPr>
              <a:t>OPTION B · FILTER PANEL AND COMPARISON TABLE</a:t>
            </a:r>
            <a:endParaRPr lang="en-US" sz="950" dirty="0"/>
          </a:p>
        </p:txBody>
      </p:sp>
      <p:sp>
        <p:nvSpPr>
          <p:cNvPr id="10" name="Shape 7"/>
          <p:cNvSpPr/>
          <p:nvPr/>
        </p:nvSpPr>
        <p:spPr>
          <a:xfrm>
            <a:off x="10234879" y="1463040"/>
            <a:ext cx="1298448" cy="237744"/>
          </a:xfrm>
          <a:prstGeom prst="roundRect">
            <a:avLst>
              <a:gd name="adj" fmla="val 50000"/>
            </a:avLst>
          </a:prstGeom>
          <a:solidFill>
            <a:srgbClr val="005EB9"/>
          </a:solidFill>
          <a:ln w="12700">
            <a:solidFill>
              <a:srgbClr val="005EB9"/>
            </a:solidFill>
            <a:prstDash val="solid"/>
          </a:ln>
        </p:spPr>
      </p:sp>
      <p:sp>
        <p:nvSpPr>
          <p:cNvPr id="11" name="Text 8"/>
          <p:cNvSpPr txBox="1"/>
          <p:nvPr/>
        </p:nvSpPr>
        <p:spPr>
          <a:xfrm>
            <a:off x="10234879" y="1463040"/>
            <a:ext cx="129844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2" name="Shape 9"/>
          <p:cNvSpPr/>
          <p:nvPr/>
        </p:nvSpPr>
        <p:spPr>
          <a:xfrm>
            <a:off x="6297016" y="1801368"/>
            <a:ext cx="4443984" cy="3049019"/>
          </a:xfrm>
          <a:prstGeom prst="rect">
            <a:avLst/>
          </a:prstGeom>
          <a:solidFill>
            <a:srgbClr val="FFFFFF"/>
          </a:solidFill>
          <a:ln w="9525">
            <a:solidFill>
              <a:srgbClr val="DCDEE1"/>
            </a:solidFill>
            <a:prstDash val="solid"/>
          </a:ln>
        </p:spPr>
      </p:sp>
      <p:pic>
        <p:nvPicPr>
          <p:cNvPr id="13" name="Image 1" descr="assets/scheme-optB-crop.png">    </p:cNvPr>
          <p:cNvPicPr>
            <a:picLocks noChangeAspect="1"/>
          </p:cNvPicPr>
          <p:nvPr/>
        </p:nvPicPr>
        <p:blipFill>
          <a:blip r:embed="rId2"/>
          <a:stretch>
            <a:fillRect/>
          </a:stretch>
        </p:blipFill>
        <p:spPr>
          <a:xfrm>
            <a:off x="6324448" y="1828800"/>
            <a:ext cx="4389120" cy="2994155"/>
          </a:xfrm>
          <a:prstGeom prst="rect">
            <a:avLst/>
          </a:prstGeom>
        </p:spPr>
      </p:pic>
      <p:sp>
        <p:nvSpPr>
          <p:cNvPr id="14" name="Text 10"/>
          <p:cNvSpPr txBox="1"/>
          <p:nvPr/>
        </p:nvSpPr>
        <p:spPr>
          <a:xfrm>
            <a:off x="6324448" y="5042411"/>
            <a:ext cx="5208880" cy="128016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Filters combine group, stage and need · shows jurisdiction · many more schemes visible and comparable · a count per filter warns of an empty result.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A table reads as a record, not an invitation · uses the site's vocabulary · needs care on a small screen.</a:t>
            </a:r>
            <a:endParaRPr lang="en-US" sz="1050" dirty="0"/>
          </a:p>
        </p:txBody>
      </p:sp>
      <p:sp>
        <p:nvSpPr>
          <p:cNvPr id="15" name="Text 11"/>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Both screens cropped below the masthead and hero. Option A's illustrations can sit above Option B's panel if the Department wishes to keep them. Design file: Mode 1 Website / Scheme; Option B delivers R5.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DECISION 03 · THE CHATBOT</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Samajik Sahayak — the Same Five Questions, in Chat</a:t>
            </a:r>
            <a:endParaRPr lang="en-US" sz="2800" dirty="0"/>
          </a:p>
        </p:txBody>
      </p:sp>
      <p:sp>
        <p:nvSpPr>
          <p:cNvPr id="4" name="Text 2"/>
          <p:cNvSpPr txBox="1"/>
          <p:nvPr/>
        </p:nvSpPr>
        <p:spPr>
          <a:xfrm>
            <a:off x="658368" y="1097280"/>
            <a:ext cx="9787463"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Already built and reachable from every page. The decision is whether it carries the scheme branch, so the same five questions work in conversation.</a:t>
            </a:r>
            <a:endParaRPr lang="en-US" sz="1250" dirty="0"/>
          </a:p>
        </p:txBody>
      </p:sp>
      <p:sp>
        <p:nvSpPr>
          <p:cNvPr id="5" name="Shape 3"/>
          <p:cNvSpPr/>
          <p:nvPr/>
        </p:nvSpPr>
        <p:spPr>
          <a:xfrm>
            <a:off x="630936" y="1618488"/>
            <a:ext cx="6638544" cy="3452892"/>
          </a:xfrm>
          <a:prstGeom prst="rect">
            <a:avLst/>
          </a:prstGeom>
          <a:solidFill>
            <a:srgbClr val="FFFFFF"/>
          </a:solidFill>
          <a:ln w="9525">
            <a:solidFill>
              <a:srgbClr val="DCDEE1"/>
            </a:solidFill>
            <a:prstDash val="solid"/>
          </a:ln>
        </p:spPr>
      </p:sp>
      <p:pic>
        <p:nvPicPr>
          <p:cNvPr id="6" name="Image 0" descr="assets/chatbot-3up.png">    </p:cNvPr>
          <p:cNvPicPr>
            <a:picLocks noChangeAspect="1"/>
          </p:cNvPicPr>
          <p:nvPr/>
        </p:nvPicPr>
        <p:blipFill>
          <a:blip r:embed="rId1"/>
          <a:stretch>
            <a:fillRect/>
          </a:stretch>
        </p:blipFill>
        <p:spPr>
          <a:xfrm>
            <a:off x="658368" y="1645920"/>
            <a:ext cx="6583680" cy="3398028"/>
          </a:xfrm>
          <a:prstGeom prst="rect">
            <a:avLst/>
          </a:prstGeom>
        </p:spPr>
      </p:pic>
      <p:sp>
        <p:nvSpPr>
          <p:cNvPr id="7" name="Text 4"/>
          <p:cNvSpPr txBox="1"/>
          <p:nvPr/>
        </p:nvSpPr>
        <p:spPr>
          <a:xfrm>
            <a:off x="658368" y="5226828"/>
            <a:ext cx="6583680" cy="310896"/>
          </a:xfrm>
          <a:prstGeom prst="rect">
            <a:avLst/>
          </a:prstGeom>
          <a:noFill/>
          <a:ln/>
        </p:spPr>
        <p:txBody>
          <a:bodyPr wrap="square" lIns="0" tIns="0" rIns="0" bIns="0" rtlCol="0" anchor="ctr"/>
          <a:lstStyle/>
          <a:p>
            <a:pPr indent="0" marL="0">
              <a:lnSpc>
                <a:spcPct val="110000"/>
              </a:lnSpc>
              <a:buNone/>
            </a:pPr>
            <a:r>
              <a:rPr lang="en-US" sz="950" dirty="0">
                <a:solidFill>
                  <a:srgbClr val="54585E"/>
                </a:solidFill>
                <a:latin typeface="Noto Sans" pitchFamily="34" charset="0"/>
                <a:ea typeface="Noto Sans" pitchFamily="34" charset="-122"/>
                <a:cs typeface="Noto Sans" pitchFamily="34" charset="-120"/>
              </a:rPr>
              <a:t>Three of the six states drawn: the opening, the branch for an organisation, and the answer with schemes to open. It states plainly that it cannot decide or change an application.</a:t>
            </a:r>
            <a:endParaRPr lang="en-US" sz="950" dirty="0"/>
          </a:p>
        </p:txBody>
      </p:sp>
      <p:sp>
        <p:nvSpPr>
          <p:cNvPr id="8" name="Shape 5"/>
          <p:cNvSpPr/>
          <p:nvPr/>
        </p:nvSpPr>
        <p:spPr>
          <a:xfrm>
            <a:off x="7699248" y="1645920"/>
            <a:ext cx="1298448" cy="237744"/>
          </a:xfrm>
          <a:prstGeom prst="roundRect">
            <a:avLst>
              <a:gd name="adj" fmla="val 50000"/>
            </a:avLst>
          </a:prstGeom>
          <a:solidFill>
            <a:srgbClr val="005EB9"/>
          </a:solidFill>
          <a:ln w="12700">
            <a:solidFill>
              <a:srgbClr val="005EB9"/>
            </a:solidFill>
            <a:prstDash val="solid"/>
          </a:ln>
        </p:spPr>
      </p:sp>
      <p:sp>
        <p:nvSpPr>
          <p:cNvPr id="9" name="Text 6"/>
          <p:cNvSpPr txBox="1"/>
          <p:nvPr/>
        </p:nvSpPr>
        <p:spPr>
          <a:xfrm>
            <a:off x="7699248" y="1645920"/>
            <a:ext cx="129844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0" name="Text 7"/>
          <p:cNvSpPr txBox="1"/>
          <p:nvPr/>
        </p:nvSpPr>
        <p:spPr>
          <a:xfrm>
            <a:off x="7699248" y="2011680"/>
            <a:ext cx="3834079" cy="310896"/>
          </a:xfrm>
          <a:prstGeom prst="rect">
            <a:avLst/>
          </a:prstGeom>
          <a:noFill/>
          <a:ln/>
        </p:spPr>
        <p:txBody>
          <a:bodyPr wrap="square" lIns="0" tIns="0" rIns="0" bIns="0" rtlCol="0" anchor="ctr"/>
          <a:lstStyle/>
          <a:p>
            <a:pPr indent="0" marL="0">
              <a:buNone/>
            </a:pPr>
            <a:r>
              <a:rPr lang="en-US" sz="1500" b="1" dirty="0">
                <a:solidFill>
                  <a:srgbClr val="003975"/>
                </a:solidFill>
                <a:latin typeface="Noto Sans" pitchFamily="34" charset="0"/>
                <a:ea typeface="Noto Sans" pitchFamily="34" charset="-122"/>
                <a:cs typeface="Noto Sans" pitchFamily="34" charset="-120"/>
              </a:rPr>
              <a:t>Yes — carry the scheme branch</a:t>
            </a:r>
            <a:endParaRPr lang="en-US" sz="1500" dirty="0"/>
          </a:p>
        </p:txBody>
      </p:sp>
      <p:sp>
        <p:nvSpPr>
          <p:cNvPr id="11" name="Text 8"/>
          <p:cNvSpPr txBox="1"/>
          <p:nvPr/>
        </p:nvSpPr>
        <p:spPr>
          <a:xfrm>
            <a:off x="7699248" y="2432304"/>
            <a:ext cx="3834079" cy="2194560"/>
          </a:xfrm>
          <a:prstGeom prst="rect">
            <a:avLst/>
          </a:prstGeom>
          <a:noFill/>
          <a:ln/>
        </p:spPr>
        <p:txBody>
          <a:bodyPr wrap="square" lIns="0" tIns="0" rIns="0" bIns="0" rtlCol="0" anchor="ctr"/>
          <a:lstStyle/>
          <a:p>
            <a:pPr indent="0" marL="0">
              <a:lnSpc>
                <a:spcPct val="120000"/>
              </a:lnSpc>
              <a:buNone/>
            </a:pPr>
            <a:r>
              <a:rPr lang="en-US" sz="1050" b="1" dirty="0">
                <a:solidFill>
                  <a:srgbClr val="005EB9"/>
                </a:solidFill>
                <a:latin typeface="Noto Sans" pitchFamily="34" charset="0"/>
                <a:ea typeface="Noto Sans" pitchFamily="34" charset="-122"/>
                <a:cs typeface="Noto Sans" pitchFamily="34" charset="-120"/>
              </a:rPr>
              <a:t>Strengths</a:t>
            </a:r>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
Reachable from every page, including the dead ends · one question per screen suits a mobile phone · works in Hindi without a second layout · already built, only the scheme branch is new.
</a:t>
            </a:r>
            <a:pPr indent="0" marL="0">
              <a:lnSpc>
                <a:spcPct val="120000"/>
              </a:lnSpc>
              <a:buNone/>
            </a:pPr>
            <a:r>
              <a:rPr lang="en-US" sz="1050" b="1" dirty="0">
                <a:solidFill>
                  <a:srgbClr val="A43A00"/>
                </a:solidFill>
                <a:latin typeface="Noto Sans" pitchFamily="34" charset="0"/>
                <a:ea typeface="Noto Sans" pitchFamily="34" charset="-122"/>
                <a:cs typeface="Noto Sans" pitchFamily="34" charset="-120"/>
              </a:rPr>
              <a:t>Limitations</a:t>
            </a:r>
            <a:pPr indent="0" marL="0">
              <a:lnSpc>
                <a:spcPct val="120000"/>
              </a:lnSpc>
              <a:buNone/>
            </a:pPr>
            <a:endParaRPr lang="en-US" sz="1050" dirty="0"/>
          </a:p>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A corner button is found only by those looking for it · covers the page on a small screen · harder to review with a screen reader.</a:t>
            </a:r>
            <a:endParaRPr lang="en-US" sz="1050" dirty="0"/>
          </a:p>
        </p:txBody>
      </p:sp>
      <p:sp>
        <p:nvSpPr>
          <p:cNvPr id="12" name="Text 9"/>
          <p:cNvSpPr txBox="1"/>
          <p:nvPr/>
        </p:nvSpPr>
        <p:spPr>
          <a:xfrm>
            <a:off x="658368" y="6053328"/>
            <a:ext cx="10874959" cy="274320"/>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The chatbot is a companion, not a substitute. It reaches the citizen already lost on a page; it does not replace a route from the homepage.</a:t>
            </a:r>
            <a:endParaRPr lang="en-US" sz="1150" dirty="0"/>
          </a:p>
        </p:txBody>
      </p:sp>
      <p:sp>
        <p:nvSpPr>
          <p:cNvPr id="13" name="Text 10"/>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Design file: Mode 2 Chatbot / Option A.</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SEQUENCING</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Phase 1 Is the Constraint</a:t>
            </a:r>
            <a:endParaRPr lang="en-US" sz="2800" dirty="0"/>
          </a:p>
        </p:txBody>
      </p:sp>
      <p:sp>
        <p:nvSpPr>
          <p:cNvPr id="4" name="Text 2"/>
          <p:cNvSpPr txBox="1"/>
          <p:nvPr/>
        </p:nvSpPr>
        <p:spPr>
          <a:xfrm>
            <a:off x="658368" y="1097280"/>
            <a:ext cx="9787463"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The finder, the landings, the facets and the search are all views over one eligibility model. Building any surface before that model is populated reproduces the present failure exactly.</a:t>
            </a:r>
            <a:endParaRPr lang="en-US" sz="1250" dirty="0"/>
          </a:p>
        </p:txBody>
      </p:sp>
      <p:sp>
        <p:nvSpPr>
          <p:cNvPr id="5" name="Shape 3"/>
          <p:cNvSpPr/>
          <p:nvPr/>
        </p:nvSpPr>
        <p:spPr>
          <a:xfrm>
            <a:off x="658368" y="1517904"/>
            <a:ext cx="2014057" cy="3749040"/>
          </a:xfrm>
          <a:prstGeom prst="rect">
            <a:avLst/>
          </a:prstGeom>
          <a:solidFill>
            <a:srgbClr val="EEF0F3"/>
          </a:solidFill>
          <a:ln w="9525">
            <a:solidFill>
              <a:srgbClr val="DCDEE1"/>
            </a:solidFill>
            <a:prstDash val="solid"/>
          </a:ln>
        </p:spPr>
      </p:sp>
      <p:sp>
        <p:nvSpPr>
          <p:cNvPr id="6" name="Text 4"/>
          <p:cNvSpPr txBox="1"/>
          <p:nvPr/>
        </p:nvSpPr>
        <p:spPr>
          <a:xfrm>
            <a:off x="859536" y="1737360"/>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PHASE 0</a:t>
            </a:r>
            <a:endParaRPr lang="en-US" sz="950" dirty="0"/>
          </a:p>
        </p:txBody>
      </p:sp>
      <p:sp>
        <p:nvSpPr>
          <p:cNvPr id="7" name="Text 5"/>
          <p:cNvSpPr txBox="1"/>
          <p:nvPr/>
        </p:nvSpPr>
        <p:spPr>
          <a:xfrm>
            <a:off x="859536" y="1975104"/>
            <a:ext cx="1611721" cy="548640"/>
          </a:xfrm>
          <a:prstGeom prst="rect">
            <a:avLst/>
          </a:prstGeom>
          <a:noFill/>
          <a:ln/>
        </p:spPr>
        <p:txBody>
          <a:bodyPr wrap="square" lIns="0" tIns="0" rIns="0" bIns="0" rtlCol="0" anchor="ctr"/>
          <a:lstStyle/>
          <a:p>
            <a:pPr indent="0" marL="0">
              <a:lnSpc>
                <a:spcPct val="108000"/>
              </a:lnSpc>
              <a:buNone/>
            </a:pPr>
            <a:r>
              <a:rPr lang="en-US" sz="1450" b="1" dirty="0">
                <a:solidFill>
                  <a:srgbClr val="003975"/>
                </a:solidFill>
                <a:latin typeface="Noto Sans" pitchFamily="34" charset="0"/>
                <a:ea typeface="Noto Sans" pitchFamily="34" charset="-122"/>
                <a:cs typeface="Noto Sans" pitchFamily="34" charset="-120"/>
              </a:rPr>
              <a:t>Stop the Bleeding</a:t>
            </a:r>
            <a:endParaRPr lang="en-US" sz="1450" dirty="0"/>
          </a:p>
        </p:txBody>
      </p:sp>
      <p:sp>
        <p:nvSpPr>
          <p:cNvPr id="8" name="Text 6"/>
          <p:cNvSpPr txBox="1"/>
          <p:nvPr/>
        </p:nvSpPr>
        <p:spPr>
          <a:xfrm>
            <a:off x="859536" y="2578608"/>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2–3 weeks</a:t>
            </a:r>
            <a:endParaRPr lang="en-US" sz="1150" dirty="0"/>
          </a:p>
        </p:txBody>
      </p:sp>
      <p:sp>
        <p:nvSpPr>
          <p:cNvPr id="9" name="Text 7"/>
          <p:cNvSpPr txBox="1"/>
          <p:nvPr/>
        </p:nvSpPr>
        <p:spPr>
          <a:xfrm>
            <a:off x="859536" y="2834640"/>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Low effort · medium impact</a:t>
            </a:r>
            <a:endParaRPr lang="en-US" sz="950" dirty="0"/>
          </a:p>
        </p:txBody>
      </p:sp>
      <p:sp>
        <p:nvSpPr>
          <p:cNvPr id="10" name="Text 8"/>
          <p:cNvSpPr txBox="1"/>
          <p:nvPr/>
        </p:nvSpPr>
        <p:spPr>
          <a:xfrm>
            <a:off x="859536" y="3236976"/>
            <a:ext cx="1611721" cy="1810512"/>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Fix the footer placeholder and the two typos, return real 404 codes, restore the accessibility page, de-list the 24 empty scheme pages.</a:t>
            </a:r>
            <a:endParaRPr lang="en-US" sz="1000" dirty="0"/>
          </a:p>
        </p:txBody>
      </p:sp>
      <p:sp>
        <p:nvSpPr>
          <p:cNvPr id="11" name="Shape 9"/>
          <p:cNvSpPr/>
          <p:nvPr/>
        </p:nvSpPr>
        <p:spPr>
          <a:xfrm>
            <a:off x="2873593" y="1517904"/>
            <a:ext cx="2014057" cy="3749040"/>
          </a:xfrm>
          <a:prstGeom prst="rect">
            <a:avLst/>
          </a:prstGeom>
          <a:solidFill>
            <a:srgbClr val="003975"/>
          </a:solidFill>
          <a:ln w="9525">
            <a:solidFill>
              <a:srgbClr val="003975"/>
            </a:solidFill>
            <a:prstDash val="solid"/>
          </a:ln>
        </p:spPr>
      </p:sp>
      <p:sp>
        <p:nvSpPr>
          <p:cNvPr id="12" name="Text 10"/>
          <p:cNvSpPr txBox="1"/>
          <p:nvPr/>
        </p:nvSpPr>
        <p:spPr>
          <a:xfrm>
            <a:off x="3074761" y="1737360"/>
            <a:ext cx="1611721" cy="201168"/>
          </a:xfrm>
          <a:prstGeom prst="rect">
            <a:avLst/>
          </a:prstGeom>
          <a:noFill/>
          <a:ln/>
        </p:spPr>
        <p:txBody>
          <a:bodyPr wrap="square" lIns="0" tIns="0" rIns="0" bIns="0" rtlCol="0" anchor="ctr"/>
          <a:lstStyle/>
          <a:p>
            <a:pPr indent="0" marL="0">
              <a:buNone/>
            </a:pPr>
            <a:r>
              <a:rPr lang="en-US" sz="950" b="1" spc="110" kern="0" dirty="0">
                <a:solidFill>
                  <a:srgbClr val="92C2FF"/>
                </a:solidFill>
                <a:latin typeface="Noto Sans" pitchFamily="34" charset="0"/>
                <a:ea typeface="Noto Sans" pitchFamily="34" charset="-122"/>
                <a:cs typeface="Noto Sans" pitchFamily="34" charset="-120"/>
              </a:rPr>
              <a:t>PHASE 1</a:t>
            </a:r>
            <a:endParaRPr lang="en-US" sz="950" dirty="0"/>
          </a:p>
        </p:txBody>
      </p:sp>
      <p:sp>
        <p:nvSpPr>
          <p:cNvPr id="13" name="Text 11"/>
          <p:cNvSpPr txBox="1"/>
          <p:nvPr/>
        </p:nvSpPr>
        <p:spPr>
          <a:xfrm>
            <a:off x="3074761" y="1975104"/>
            <a:ext cx="1611721" cy="54864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Noto Sans" pitchFamily="34" charset="0"/>
                <a:ea typeface="Noto Sans" pitchFamily="34" charset="-122"/>
                <a:cs typeface="Noto Sans" pitchFamily="34" charset="-120"/>
              </a:rPr>
              <a:t>Populate the Model</a:t>
            </a:r>
            <a:endParaRPr lang="en-US" sz="1450" dirty="0"/>
          </a:p>
        </p:txBody>
      </p:sp>
      <p:sp>
        <p:nvSpPr>
          <p:cNvPr id="14" name="Text 12"/>
          <p:cNvSpPr txBox="1"/>
          <p:nvPr/>
        </p:nvSpPr>
        <p:spPr>
          <a:xfrm>
            <a:off x="3074761" y="2578608"/>
            <a:ext cx="1611721" cy="219456"/>
          </a:xfrm>
          <a:prstGeom prst="rect">
            <a:avLst/>
          </a:prstGeom>
          <a:noFill/>
          <a:ln/>
        </p:spPr>
        <p:txBody>
          <a:bodyPr wrap="square" lIns="0" tIns="0" rIns="0" bIns="0" rtlCol="0" anchor="ctr"/>
          <a:lstStyle/>
          <a:p>
            <a:pPr indent="0" marL="0">
              <a:buNone/>
            </a:pPr>
            <a:r>
              <a:rPr lang="en-US" sz="1150" b="1" dirty="0">
                <a:solidFill>
                  <a:srgbClr val="92C2FF"/>
                </a:solidFill>
                <a:latin typeface="Noto Sans" pitchFamily="34" charset="0"/>
                <a:ea typeface="Noto Sans" pitchFamily="34" charset="-122"/>
                <a:cs typeface="Noto Sans" pitchFamily="34" charset="-120"/>
              </a:rPr>
              <a:t>4–8 weeks</a:t>
            </a:r>
            <a:endParaRPr lang="en-US" sz="1150" dirty="0"/>
          </a:p>
        </p:txBody>
      </p:sp>
      <p:sp>
        <p:nvSpPr>
          <p:cNvPr id="15" name="Text 13"/>
          <p:cNvSpPr txBox="1"/>
          <p:nvPr/>
        </p:nvSpPr>
        <p:spPr>
          <a:xfrm>
            <a:off x="3074761" y="2834640"/>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C0DBFF"/>
                </a:solidFill>
                <a:latin typeface="Noto Sans" pitchFamily="34" charset="0"/>
                <a:ea typeface="Noto Sans" pitchFamily="34" charset="-122"/>
                <a:cs typeface="Noto Sans" pitchFamily="34" charset="-120"/>
              </a:rPr>
              <a:t>High effort · very high impact</a:t>
            </a:r>
            <a:endParaRPr lang="en-US" sz="950" dirty="0"/>
          </a:p>
        </p:txBody>
      </p:sp>
      <p:sp>
        <p:nvSpPr>
          <p:cNvPr id="16" name="Text 14"/>
          <p:cNvSpPr txBox="1"/>
          <p:nvPr/>
        </p:nvSpPr>
        <p:spPr>
          <a:xfrm>
            <a:off x="3074761" y="3236976"/>
            <a:ext cx="1611721" cy="1810512"/>
          </a:xfrm>
          <a:prstGeom prst="rect">
            <a:avLst/>
          </a:prstGeom>
          <a:noFill/>
          <a:ln/>
        </p:spPr>
        <p:txBody>
          <a:bodyPr wrap="square" lIns="0" tIns="0" rIns="0" bIns="0" rtlCol="0" anchor="ctr"/>
          <a:lstStyle/>
          <a:p>
            <a:pPr indent="0" marL="0">
              <a:lnSpc>
                <a:spcPct val="120000"/>
              </a:lnSpc>
              <a:buNone/>
            </a:pPr>
            <a:r>
              <a:rPr lang="en-US" sz="1000" dirty="0">
                <a:solidFill>
                  <a:srgbClr val="C0DBFF"/>
                </a:solidFill>
                <a:latin typeface="Noto Sans" pitchFamily="34" charset="0"/>
                <a:ea typeface="Noto Sans" pitchFamily="34" charset="-122"/>
                <a:cs typeface="Noto Sans" pitchFamily="34" charset="-120"/>
              </a:rPr>
              <a:t>Define the eligibility schema and backfill all 141 records. Reconcile the seven flagship schemes missing from dosje. Rewrite the category and target-group vocabularies.</a:t>
            </a:r>
            <a:endParaRPr lang="en-US" sz="1000" dirty="0"/>
          </a:p>
        </p:txBody>
      </p:sp>
      <p:sp>
        <p:nvSpPr>
          <p:cNvPr id="17" name="Shape 15"/>
          <p:cNvSpPr/>
          <p:nvPr/>
        </p:nvSpPr>
        <p:spPr>
          <a:xfrm>
            <a:off x="5088819" y="1517904"/>
            <a:ext cx="2014057" cy="3749040"/>
          </a:xfrm>
          <a:prstGeom prst="rect">
            <a:avLst/>
          </a:prstGeom>
          <a:solidFill>
            <a:srgbClr val="EEF0F3"/>
          </a:solidFill>
          <a:ln w="9525">
            <a:solidFill>
              <a:srgbClr val="DCDEE1"/>
            </a:solidFill>
            <a:prstDash val="solid"/>
          </a:ln>
        </p:spPr>
      </p:sp>
      <p:sp>
        <p:nvSpPr>
          <p:cNvPr id="18" name="Text 16"/>
          <p:cNvSpPr txBox="1"/>
          <p:nvPr/>
        </p:nvSpPr>
        <p:spPr>
          <a:xfrm>
            <a:off x="5289987" y="1737360"/>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PHASE 2</a:t>
            </a:r>
            <a:endParaRPr lang="en-US" sz="950" dirty="0"/>
          </a:p>
        </p:txBody>
      </p:sp>
      <p:sp>
        <p:nvSpPr>
          <p:cNvPr id="19" name="Text 17"/>
          <p:cNvSpPr txBox="1"/>
          <p:nvPr/>
        </p:nvSpPr>
        <p:spPr>
          <a:xfrm>
            <a:off x="5289987" y="1975104"/>
            <a:ext cx="1611721" cy="548640"/>
          </a:xfrm>
          <a:prstGeom prst="rect">
            <a:avLst/>
          </a:prstGeom>
          <a:noFill/>
          <a:ln/>
        </p:spPr>
        <p:txBody>
          <a:bodyPr wrap="square" lIns="0" tIns="0" rIns="0" bIns="0" rtlCol="0" anchor="ctr"/>
          <a:lstStyle/>
          <a:p>
            <a:pPr indent="0" marL="0">
              <a:lnSpc>
                <a:spcPct val="108000"/>
              </a:lnSpc>
              <a:buNone/>
            </a:pPr>
            <a:r>
              <a:rPr lang="en-US" sz="1450" b="1" dirty="0">
                <a:solidFill>
                  <a:srgbClr val="003975"/>
                </a:solidFill>
                <a:latin typeface="Noto Sans" pitchFamily="34" charset="0"/>
                <a:ea typeface="Noto Sans" pitchFamily="34" charset="-122"/>
                <a:cs typeface="Noto Sans" pitchFamily="34" charset="-120"/>
              </a:rPr>
              <a:t>Surfaces</a:t>
            </a:r>
            <a:endParaRPr lang="en-US" sz="1450" dirty="0"/>
          </a:p>
        </p:txBody>
      </p:sp>
      <p:sp>
        <p:nvSpPr>
          <p:cNvPr id="20" name="Text 18"/>
          <p:cNvSpPr txBox="1"/>
          <p:nvPr/>
        </p:nvSpPr>
        <p:spPr>
          <a:xfrm>
            <a:off x="5289987" y="2578608"/>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6–10 weeks</a:t>
            </a:r>
            <a:endParaRPr lang="en-US" sz="1150" dirty="0"/>
          </a:p>
        </p:txBody>
      </p:sp>
      <p:sp>
        <p:nvSpPr>
          <p:cNvPr id="21" name="Text 19"/>
          <p:cNvSpPr txBox="1"/>
          <p:nvPr/>
        </p:nvSpPr>
        <p:spPr>
          <a:xfrm>
            <a:off x="5289987" y="2834640"/>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Medium-high · very high impact</a:t>
            </a:r>
            <a:endParaRPr lang="en-US" sz="950" dirty="0"/>
          </a:p>
        </p:txBody>
      </p:sp>
      <p:sp>
        <p:nvSpPr>
          <p:cNvPr id="22" name="Text 20"/>
          <p:cNvSpPr txBox="1"/>
          <p:nvPr/>
        </p:nvSpPr>
        <p:spPr>
          <a:xfrm>
            <a:off x="5289987" y="3236976"/>
            <a:ext cx="1611721" cy="1810512"/>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Server-rendered faceted catalogue with linkable filters. Audience landings and the DEPwD signpost. Four verb calls to action. Navigation restructure.</a:t>
            </a:r>
            <a:endParaRPr lang="en-US" sz="1000" dirty="0"/>
          </a:p>
        </p:txBody>
      </p:sp>
      <p:sp>
        <p:nvSpPr>
          <p:cNvPr id="23" name="Shape 21"/>
          <p:cNvSpPr/>
          <p:nvPr/>
        </p:nvSpPr>
        <p:spPr>
          <a:xfrm>
            <a:off x="7304044" y="1517904"/>
            <a:ext cx="2014057" cy="3749040"/>
          </a:xfrm>
          <a:prstGeom prst="rect">
            <a:avLst/>
          </a:prstGeom>
          <a:solidFill>
            <a:srgbClr val="EEF0F3"/>
          </a:solidFill>
          <a:ln w="9525">
            <a:solidFill>
              <a:srgbClr val="DCDEE1"/>
            </a:solidFill>
            <a:prstDash val="solid"/>
          </a:ln>
        </p:spPr>
      </p:sp>
      <p:sp>
        <p:nvSpPr>
          <p:cNvPr id="24" name="Text 22"/>
          <p:cNvSpPr txBox="1"/>
          <p:nvPr/>
        </p:nvSpPr>
        <p:spPr>
          <a:xfrm>
            <a:off x="7505212" y="1737360"/>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PHASE 3</a:t>
            </a:r>
            <a:endParaRPr lang="en-US" sz="950" dirty="0"/>
          </a:p>
        </p:txBody>
      </p:sp>
      <p:sp>
        <p:nvSpPr>
          <p:cNvPr id="25" name="Text 23"/>
          <p:cNvSpPr txBox="1"/>
          <p:nvPr/>
        </p:nvSpPr>
        <p:spPr>
          <a:xfrm>
            <a:off x="7505212" y="1975104"/>
            <a:ext cx="1611721" cy="548640"/>
          </a:xfrm>
          <a:prstGeom prst="rect">
            <a:avLst/>
          </a:prstGeom>
          <a:noFill/>
          <a:ln/>
        </p:spPr>
        <p:txBody>
          <a:bodyPr wrap="square" lIns="0" tIns="0" rIns="0" bIns="0" rtlCol="0" anchor="ctr"/>
          <a:lstStyle/>
          <a:p>
            <a:pPr indent="0" marL="0">
              <a:lnSpc>
                <a:spcPct val="108000"/>
              </a:lnSpc>
              <a:buNone/>
            </a:pPr>
            <a:r>
              <a:rPr lang="en-US" sz="1450" b="1" dirty="0">
                <a:solidFill>
                  <a:srgbClr val="003975"/>
                </a:solidFill>
                <a:latin typeface="Noto Sans" pitchFamily="34" charset="0"/>
                <a:ea typeface="Noto Sans" pitchFamily="34" charset="-122"/>
                <a:cs typeface="Noto Sans" pitchFamily="34" charset="-120"/>
              </a:rPr>
              <a:t>Finder and Search</a:t>
            </a:r>
            <a:endParaRPr lang="en-US" sz="1450" dirty="0"/>
          </a:p>
        </p:txBody>
      </p:sp>
      <p:sp>
        <p:nvSpPr>
          <p:cNvPr id="26" name="Text 24"/>
          <p:cNvSpPr txBox="1"/>
          <p:nvPr/>
        </p:nvSpPr>
        <p:spPr>
          <a:xfrm>
            <a:off x="7505212" y="2578608"/>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6–8 weeks</a:t>
            </a:r>
            <a:endParaRPr lang="en-US" sz="1150" dirty="0"/>
          </a:p>
        </p:txBody>
      </p:sp>
      <p:sp>
        <p:nvSpPr>
          <p:cNvPr id="27" name="Text 25"/>
          <p:cNvSpPr txBox="1"/>
          <p:nvPr/>
        </p:nvSpPr>
        <p:spPr>
          <a:xfrm>
            <a:off x="7505212" y="2834640"/>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Medium effort · very high impact</a:t>
            </a:r>
            <a:endParaRPr lang="en-US" sz="950" dirty="0"/>
          </a:p>
        </p:txBody>
      </p:sp>
      <p:sp>
        <p:nvSpPr>
          <p:cNvPr id="28" name="Text 26"/>
          <p:cNvSpPr txBox="1"/>
          <p:nvPr/>
        </p:nvSpPr>
        <p:spPr>
          <a:xfrm>
            <a:off x="7505212" y="3236976"/>
            <a:ext cx="1611721" cy="1810512"/>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Find support for you, audited to WCAG 2.2 AA and tested with at least eight people from the actual constituencies, in Hindi and one other language.</a:t>
            </a:r>
            <a:endParaRPr lang="en-US" sz="1000" dirty="0"/>
          </a:p>
        </p:txBody>
      </p:sp>
      <p:sp>
        <p:nvSpPr>
          <p:cNvPr id="29" name="Shape 27"/>
          <p:cNvSpPr/>
          <p:nvPr/>
        </p:nvSpPr>
        <p:spPr>
          <a:xfrm>
            <a:off x="9519270" y="1517904"/>
            <a:ext cx="2014057" cy="3749040"/>
          </a:xfrm>
          <a:prstGeom prst="rect">
            <a:avLst/>
          </a:prstGeom>
          <a:solidFill>
            <a:srgbClr val="EEF0F3"/>
          </a:solidFill>
          <a:ln w="9525">
            <a:solidFill>
              <a:srgbClr val="DCDEE1"/>
            </a:solidFill>
            <a:prstDash val="solid"/>
          </a:ln>
        </p:spPr>
      </p:sp>
      <p:sp>
        <p:nvSpPr>
          <p:cNvPr id="30" name="Text 28"/>
          <p:cNvSpPr txBox="1"/>
          <p:nvPr/>
        </p:nvSpPr>
        <p:spPr>
          <a:xfrm>
            <a:off x="9720438" y="1737360"/>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PHASE 4</a:t>
            </a:r>
            <a:endParaRPr lang="en-US" sz="950" dirty="0"/>
          </a:p>
        </p:txBody>
      </p:sp>
      <p:sp>
        <p:nvSpPr>
          <p:cNvPr id="31" name="Text 29"/>
          <p:cNvSpPr txBox="1"/>
          <p:nvPr/>
        </p:nvSpPr>
        <p:spPr>
          <a:xfrm>
            <a:off x="9720438" y="1975104"/>
            <a:ext cx="1611721" cy="548640"/>
          </a:xfrm>
          <a:prstGeom prst="rect">
            <a:avLst/>
          </a:prstGeom>
          <a:noFill/>
          <a:ln/>
        </p:spPr>
        <p:txBody>
          <a:bodyPr wrap="square" lIns="0" tIns="0" rIns="0" bIns="0" rtlCol="0" anchor="ctr"/>
          <a:lstStyle/>
          <a:p>
            <a:pPr indent="0" marL="0">
              <a:lnSpc>
                <a:spcPct val="108000"/>
              </a:lnSpc>
              <a:buNone/>
            </a:pPr>
            <a:r>
              <a:rPr lang="en-US" sz="1450" b="1" dirty="0">
                <a:solidFill>
                  <a:srgbClr val="003975"/>
                </a:solidFill>
                <a:latin typeface="Noto Sans" pitchFamily="34" charset="0"/>
                <a:ea typeface="Noto Sans" pitchFamily="34" charset="-122"/>
                <a:cs typeface="Noto Sans" pitchFamily="34" charset="-120"/>
              </a:rPr>
              <a:t>Consolidation</a:t>
            </a:r>
            <a:endParaRPr lang="en-US" sz="1450" dirty="0"/>
          </a:p>
        </p:txBody>
      </p:sp>
      <p:sp>
        <p:nvSpPr>
          <p:cNvPr id="32" name="Text 30"/>
          <p:cNvSpPr txBox="1"/>
          <p:nvPr/>
        </p:nvSpPr>
        <p:spPr>
          <a:xfrm>
            <a:off x="9720438" y="2578608"/>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Ongoing</a:t>
            </a:r>
            <a:endParaRPr lang="en-US" sz="1150" dirty="0"/>
          </a:p>
        </p:txBody>
      </p:sp>
      <p:sp>
        <p:nvSpPr>
          <p:cNvPr id="33" name="Text 31"/>
          <p:cNvSpPr txBox="1"/>
          <p:nvPr/>
        </p:nvSpPr>
        <p:spPr>
          <a:xfrm>
            <a:off x="9720438" y="2834640"/>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Medium effort · high impact</a:t>
            </a:r>
            <a:endParaRPr lang="en-US" sz="950" dirty="0"/>
          </a:p>
        </p:txBody>
      </p:sp>
      <p:sp>
        <p:nvSpPr>
          <p:cNvPr id="34" name="Text 32"/>
          <p:cNvSpPr txBox="1"/>
          <p:nvPr/>
        </p:nvSpPr>
        <p:spPr>
          <a:xfrm>
            <a:off x="9720438" y="3236976"/>
            <a:ext cx="1611721" cy="1810512"/>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Publish the scheme API and register with myScheme. Redirect socialjustice.gov.in and retire the legacy site. Publishing template with mandatory fields.</a:t>
            </a:r>
            <a:endParaRPr lang="en-US" sz="1000" dirty="0"/>
          </a:p>
        </p:txBody>
      </p:sp>
      <p:sp>
        <p:nvSpPr>
          <p:cNvPr id="35" name="Text 33"/>
          <p:cNvSpPr txBox="1"/>
          <p:nvPr/>
        </p:nvSpPr>
        <p:spPr>
          <a:xfrm>
            <a:off x="658368" y="5468112"/>
            <a:ext cx="10874959" cy="292608"/>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Phase 1 is the one-time content work. The schemes page, the finder, the landings and the chatbot all wait on it — and it is the piece only the Department can do.</a:t>
            </a:r>
            <a:endParaRPr lang="en-US" sz="1150" dirty="0"/>
          </a:p>
        </p:txBody>
      </p:sp>
      <p:sp>
        <p:nvSpPr>
          <p:cNvPr id="36" name="Text 34"/>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Source: §5, implementation roadmap. Durations are estimates from the review, not commitments.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58368"/>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WHAT WE ARE ASKING YOU TO DECIDE</a:t>
            </a:r>
            <a:endParaRPr lang="en-US" sz="1000" dirty="0"/>
          </a:p>
        </p:txBody>
      </p:sp>
      <p:sp>
        <p:nvSpPr>
          <p:cNvPr id="3" name="Text 1"/>
          <p:cNvSpPr txBox="1"/>
          <p:nvPr/>
        </p:nvSpPr>
        <p:spPr>
          <a:xfrm>
            <a:off x="658368" y="932688"/>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The Decisions, and Who Takes Them</a:t>
            </a:r>
            <a:endParaRPr lang="en-US" sz="3200" dirty="0"/>
          </a:p>
        </p:txBody>
      </p:sp>
      <p:sp>
        <p:nvSpPr>
          <p:cNvPr id="4" name="Text 2"/>
          <p:cNvSpPr txBox="1"/>
          <p:nvPr/>
        </p:nvSpPr>
        <p:spPr>
          <a:xfrm>
            <a:off x="1389888" y="1664208"/>
            <a:ext cx="393192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DECISION</a:t>
            </a:r>
            <a:endParaRPr lang="en-US" sz="900" dirty="0"/>
          </a:p>
        </p:txBody>
      </p:sp>
      <p:sp>
        <p:nvSpPr>
          <p:cNvPr id="5" name="Text 3"/>
          <p:cNvSpPr txBox="1"/>
          <p:nvPr/>
        </p:nvSpPr>
        <p:spPr>
          <a:xfrm>
            <a:off x="5413248" y="1664208"/>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OUR RECOMMENDATION</a:t>
            </a:r>
            <a:endParaRPr lang="en-US" sz="900" dirty="0"/>
          </a:p>
        </p:txBody>
      </p:sp>
      <p:sp>
        <p:nvSpPr>
          <p:cNvPr id="6" name="Text 4"/>
          <p:cNvSpPr txBox="1"/>
          <p:nvPr/>
        </p:nvSpPr>
        <p:spPr>
          <a:xfrm>
            <a:off x="9345168" y="1664208"/>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WHO DECIDES</a:t>
            </a:r>
            <a:endParaRPr lang="en-US" sz="900" dirty="0"/>
          </a:p>
        </p:txBody>
      </p:sp>
      <p:sp>
        <p:nvSpPr>
          <p:cNvPr id="7" name="Shape 5"/>
          <p:cNvSpPr/>
          <p:nvPr/>
        </p:nvSpPr>
        <p:spPr>
          <a:xfrm>
            <a:off x="658368" y="1883664"/>
            <a:ext cx="10874959" cy="0"/>
          </a:xfrm>
          <a:prstGeom prst="line">
            <a:avLst/>
          </a:prstGeom>
          <a:noFill/>
          <a:ln w="12700">
            <a:solidFill>
              <a:srgbClr val="004B96"/>
            </a:solidFill>
            <a:prstDash val="solid"/>
          </a:ln>
        </p:spPr>
      </p:sp>
      <p:sp>
        <p:nvSpPr>
          <p:cNvPr id="8" name="Text 6"/>
          <p:cNvSpPr txBox="1"/>
          <p:nvPr/>
        </p:nvSpPr>
        <p:spPr>
          <a:xfrm>
            <a:off x="658368" y="2066544"/>
            <a:ext cx="640080" cy="365760"/>
          </a:xfrm>
          <a:prstGeom prst="rect">
            <a:avLst/>
          </a:prstGeom>
          <a:noFill/>
          <a:ln/>
        </p:spPr>
        <p:txBody>
          <a:bodyPr wrap="square" lIns="0" tIns="0" rIns="0" bIns="0" rtlCol="0" anchor="ctr"/>
          <a:lstStyle/>
          <a:p>
            <a:pPr indent="0" marL="0">
              <a:buNone/>
            </a:pPr>
            <a:r>
              <a:rPr lang="en-US" sz="2100" b="1" dirty="0">
                <a:solidFill>
                  <a:srgbClr val="92C2FF"/>
                </a:solidFill>
                <a:latin typeface="Noto Sans" pitchFamily="34" charset="0"/>
                <a:ea typeface="Noto Sans" pitchFamily="34" charset="-122"/>
                <a:cs typeface="Noto Sans" pitchFamily="34" charset="-120"/>
              </a:rPr>
              <a:t>01</a:t>
            </a:r>
            <a:endParaRPr lang="en-US" sz="2100" dirty="0"/>
          </a:p>
        </p:txBody>
      </p:sp>
      <p:sp>
        <p:nvSpPr>
          <p:cNvPr id="9" name="Text 7"/>
          <p:cNvSpPr txBox="1"/>
          <p:nvPr/>
        </p:nvSpPr>
        <p:spPr>
          <a:xfrm>
            <a:off x="1389888" y="2084832"/>
            <a:ext cx="3931920" cy="512064"/>
          </a:xfrm>
          <a:prstGeom prst="rect">
            <a:avLst/>
          </a:prstGeom>
          <a:noFill/>
          <a:ln/>
        </p:spPr>
        <p:txBody>
          <a:bodyPr wrap="square" lIns="0" tIns="0" rIns="0" bIns="0" rtlCol="0" anchor="ctr"/>
          <a:lstStyle/>
          <a:p>
            <a:pPr indent="0" marL="0">
              <a:lnSpc>
                <a:spcPct val="112000"/>
              </a:lnSpc>
              <a:buNone/>
            </a:pPr>
            <a:r>
              <a:rPr lang="en-US" sz="1300" dirty="0">
                <a:solidFill>
                  <a:srgbClr val="C0DBFF"/>
                </a:solidFill>
                <a:latin typeface="Noto Sans" pitchFamily="34" charset="0"/>
                <a:ea typeface="Noto Sans" pitchFamily="34" charset="-122"/>
                <a:cs typeface="Noto Sans" pitchFamily="34" charset="-120"/>
              </a:rPr>
              <a:t>The homepage surface</a:t>
            </a:r>
            <a:endParaRPr lang="en-US" sz="1300" dirty="0"/>
          </a:p>
        </p:txBody>
      </p:sp>
      <p:sp>
        <p:nvSpPr>
          <p:cNvPr id="10" name="Text 8"/>
          <p:cNvSpPr txBox="1"/>
          <p:nvPr/>
        </p:nvSpPr>
        <p:spPr>
          <a:xfrm>
            <a:off x="5413248" y="2084832"/>
            <a:ext cx="3840480" cy="512064"/>
          </a:xfrm>
          <a:prstGeom prst="rect">
            <a:avLst/>
          </a:prstGeom>
          <a:noFill/>
          <a:ln/>
        </p:spPr>
        <p:txBody>
          <a:bodyPr wrap="square" lIns="0" tIns="0" rIns="0" bIns="0" rtlCol="0" anchor="ctr"/>
          <a:lstStyle/>
          <a:p>
            <a:pPr indent="0" marL="0">
              <a:lnSpc>
                <a:spcPct val="112000"/>
              </a:lnSpc>
              <a:buNone/>
            </a:pPr>
            <a:r>
              <a:rPr lang="en-US" sz="1300" b="1" dirty="0">
                <a:solidFill>
                  <a:srgbClr val="FFFFFF"/>
                </a:solidFill>
                <a:latin typeface="Noto Sans" pitchFamily="34" charset="0"/>
                <a:ea typeface="Noto Sans" pitchFamily="34" charset="-122"/>
                <a:cs typeface="Noto Sans" pitchFamily="34" charset="-120"/>
              </a:rPr>
              <a:t>Option B — the five-question finder</a:t>
            </a:r>
            <a:endParaRPr lang="en-US" sz="1300" dirty="0"/>
          </a:p>
        </p:txBody>
      </p:sp>
      <p:sp>
        <p:nvSpPr>
          <p:cNvPr id="11" name="Text 9"/>
          <p:cNvSpPr txBox="1"/>
          <p:nvPr/>
        </p:nvSpPr>
        <p:spPr>
          <a:xfrm>
            <a:off x="9345168" y="2084832"/>
            <a:ext cx="2194560" cy="512064"/>
          </a:xfrm>
          <a:prstGeom prst="rect">
            <a:avLst/>
          </a:prstGeom>
          <a:noFill/>
          <a:ln/>
        </p:spPr>
        <p:txBody>
          <a:bodyPr wrap="square" lIns="0" tIns="0" rIns="0" bIns="0" rtlCol="0" anchor="ctr"/>
          <a:lstStyle/>
          <a:p>
            <a:pPr indent="0" marL="0">
              <a:lnSpc>
                <a:spcPct val="112000"/>
              </a:lnSpc>
              <a:buNone/>
            </a:pPr>
            <a:r>
              <a:rPr lang="en-US" sz="1100" dirty="0">
                <a:solidFill>
                  <a:srgbClr val="C0DBFF"/>
                </a:solidFill>
                <a:latin typeface="Noto Sans" pitchFamily="34" charset="0"/>
                <a:ea typeface="Noto Sans" pitchFamily="34" charset="-122"/>
                <a:cs typeface="Noto Sans" pitchFamily="34" charset="-120"/>
              </a:rPr>
              <a:t>Department of Social Justice &amp; Empowerment</a:t>
            </a:r>
            <a:endParaRPr lang="en-US" sz="1100" dirty="0"/>
          </a:p>
        </p:txBody>
      </p:sp>
      <p:sp>
        <p:nvSpPr>
          <p:cNvPr id="12" name="Shape 10"/>
          <p:cNvSpPr/>
          <p:nvPr/>
        </p:nvSpPr>
        <p:spPr>
          <a:xfrm>
            <a:off x="658368" y="2706624"/>
            <a:ext cx="10874959" cy="0"/>
          </a:xfrm>
          <a:prstGeom prst="line">
            <a:avLst/>
          </a:prstGeom>
          <a:noFill/>
          <a:ln w="12700">
            <a:solidFill>
              <a:srgbClr val="004B96"/>
            </a:solidFill>
            <a:prstDash val="solid"/>
          </a:ln>
        </p:spPr>
      </p:sp>
      <p:sp>
        <p:nvSpPr>
          <p:cNvPr id="13" name="Text 11"/>
          <p:cNvSpPr txBox="1"/>
          <p:nvPr/>
        </p:nvSpPr>
        <p:spPr>
          <a:xfrm>
            <a:off x="658368" y="2889504"/>
            <a:ext cx="640080" cy="365760"/>
          </a:xfrm>
          <a:prstGeom prst="rect">
            <a:avLst/>
          </a:prstGeom>
          <a:noFill/>
          <a:ln/>
        </p:spPr>
        <p:txBody>
          <a:bodyPr wrap="square" lIns="0" tIns="0" rIns="0" bIns="0" rtlCol="0" anchor="ctr"/>
          <a:lstStyle/>
          <a:p>
            <a:pPr indent="0" marL="0">
              <a:buNone/>
            </a:pPr>
            <a:r>
              <a:rPr lang="en-US" sz="2100" b="1" dirty="0">
                <a:solidFill>
                  <a:srgbClr val="92C2FF"/>
                </a:solidFill>
                <a:latin typeface="Noto Sans" pitchFamily="34" charset="0"/>
                <a:ea typeface="Noto Sans" pitchFamily="34" charset="-122"/>
                <a:cs typeface="Noto Sans" pitchFamily="34" charset="-120"/>
              </a:rPr>
              <a:t>02</a:t>
            </a:r>
            <a:endParaRPr lang="en-US" sz="2100" dirty="0"/>
          </a:p>
        </p:txBody>
      </p:sp>
      <p:sp>
        <p:nvSpPr>
          <p:cNvPr id="14" name="Text 12"/>
          <p:cNvSpPr txBox="1"/>
          <p:nvPr/>
        </p:nvSpPr>
        <p:spPr>
          <a:xfrm>
            <a:off x="1389888" y="2907792"/>
            <a:ext cx="3931920" cy="512064"/>
          </a:xfrm>
          <a:prstGeom prst="rect">
            <a:avLst/>
          </a:prstGeom>
          <a:noFill/>
          <a:ln/>
        </p:spPr>
        <p:txBody>
          <a:bodyPr wrap="square" lIns="0" tIns="0" rIns="0" bIns="0" rtlCol="0" anchor="ctr"/>
          <a:lstStyle/>
          <a:p>
            <a:pPr indent="0" marL="0">
              <a:lnSpc>
                <a:spcPct val="112000"/>
              </a:lnSpc>
              <a:buNone/>
            </a:pPr>
            <a:r>
              <a:rPr lang="en-US" sz="1300" dirty="0">
                <a:solidFill>
                  <a:srgbClr val="C0DBFF"/>
                </a:solidFill>
                <a:latin typeface="Noto Sans" pitchFamily="34" charset="0"/>
                <a:ea typeface="Noto Sans" pitchFamily="34" charset="-122"/>
                <a:cs typeface="Noto Sans" pitchFamily="34" charset="-120"/>
              </a:rPr>
              <a:t>The schemes page surface</a:t>
            </a:r>
            <a:endParaRPr lang="en-US" sz="1300" dirty="0"/>
          </a:p>
        </p:txBody>
      </p:sp>
      <p:sp>
        <p:nvSpPr>
          <p:cNvPr id="15" name="Text 13"/>
          <p:cNvSpPr txBox="1"/>
          <p:nvPr/>
        </p:nvSpPr>
        <p:spPr>
          <a:xfrm>
            <a:off x="5413248" y="2907792"/>
            <a:ext cx="3840480" cy="512064"/>
          </a:xfrm>
          <a:prstGeom prst="rect">
            <a:avLst/>
          </a:prstGeom>
          <a:noFill/>
          <a:ln/>
        </p:spPr>
        <p:txBody>
          <a:bodyPr wrap="square" lIns="0" tIns="0" rIns="0" bIns="0" rtlCol="0" anchor="ctr"/>
          <a:lstStyle/>
          <a:p>
            <a:pPr indent="0" marL="0">
              <a:lnSpc>
                <a:spcPct val="112000"/>
              </a:lnSpc>
              <a:buNone/>
            </a:pPr>
            <a:r>
              <a:rPr lang="en-US" sz="1300" b="1" dirty="0">
                <a:solidFill>
                  <a:srgbClr val="FFFFFF"/>
                </a:solidFill>
                <a:latin typeface="Noto Sans" pitchFamily="34" charset="0"/>
                <a:ea typeface="Noto Sans" pitchFamily="34" charset="-122"/>
                <a:cs typeface="Noto Sans" pitchFamily="34" charset="-120"/>
              </a:rPr>
              <a:t>Option B — the filter panel and table</a:t>
            </a:r>
            <a:endParaRPr lang="en-US" sz="1300" dirty="0"/>
          </a:p>
        </p:txBody>
      </p:sp>
      <p:sp>
        <p:nvSpPr>
          <p:cNvPr id="16" name="Text 14"/>
          <p:cNvSpPr txBox="1"/>
          <p:nvPr/>
        </p:nvSpPr>
        <p:spPr>
          <a:xfrm>
            <a:off x="9345168" y="2907792"/>
            <a:ext cx="2194560" cy="512064"/>
          </a:xfrm>
          <a:prstGeom prst="rect">
            <a:avLst/>
          </a:prstGeom>
          <a:noFill/>
          <a:ln/>
        </p:spPr>
        <p:txBody>
          <a:bodyPr wrap="square" lIns="0" tIns="0" rIns="0" bIns="0" rtlCol="0" anchor="ctr"/>
          <a:lstStyle/>
          <a:p>
            <a:pPr indent="0" marL="0">
              <a:lnSpc>
                <a:spcPct val="112000"/>
              </a:lnSpc>
              <a:buNone/>
            </a:pPr>
            <a:r>
              <a:rPr lang="en-US" sz="1100" dirty="0">
                <a:solidFill>
                  <a:srgbClr val="C0DBFF"/>
                </a:solidFill>
                <a:latin typeface="Noto Sans" pitchFamily="34" charset="0"/>
                <a:ea typeface="Noto Sans" pitchFamily="34" charset="-122"/>
                <a:cs typeface="Noto Sans" pitchFamily="34" charset="-120"/>
              </a:rPr>
              <a:t>Department of Social Justice &amp; Empowerment</a:t>
            </a:r>
            <a:endParaRPr lang="en-US" sz="1100" dirty="0"/>
          </a:p>
        </p:txBody>
      </p:sp>
      <p:sp>
        <p:nvSpPr>
          <p:cNvPr id="17" name="Shape 15"/>
          <p:cNvSpPr/>
          <p:nvPr/>
        </p:nvSpPr>
        <p:spPr>
          <a:xfrm>
            <a:off x="658368" y="3529584"/>
            <a:ext cx="10874959" cy="0"/>
          </a:xfrm>
          <a:prstGeom prst="line">
            <a:avLst/>
          </a:prstGeom>
          <a:noFill/>
          <a:ln w="12700">
            <a:solidFill>
              <a:srgbClr val="004B96"/>
            </a:solidFill>
            <a:prstDash val="solid"/>
          </a:ln>
        </p:spPr>
      </p:sp>
      <p:sp>
        <p:nvSpPr>
          <p:cNvPr id="18" name="Text 16"/>
          <p:cNvSpPr txBox="1"/>
          <p:nvPr/>
        </p:nvSpPr>
        <p:spPr>
          <a:xfrm>
            <a:off x="658368" y="3712464"/>
            <a:ext cx="640080" cy="365760"/>
          </a:xfrm>
          <a:prstGeom prst="rect">
            <a:avLst/>
          </a:prstGeom>
          <a:noFill/>
          <a:ln/>
        </p:spPr>
        <p:txBody>
          <a:bodyPr wrap="square" lIns="0" tIns="0" rIns="0" bIns="0" rtlCol="0" anchor="ctr"/>
          <a:lstStyle/>
          <a:p>
            <a:pPr indent="0" marL="0">
              <a:buNone/>
            </a:pPr>
            <a:r>
              <a:rPr lang="en-US" sz="2100" b="1" dirty="0">
                <a:solidFill>
                  <a:srgbClr val="92C2FF"/>
                </a:solidFill>
                <a:latin typeface="Noto Sans" pitchFamily="34" charset="0"/>
                <a:ea typeface="Noto Sans" pitchFamily="34" charset="-122"/>
                <a:cs typeface="Noto Sans" pitchFamily="34" charset="-120"/>
              </a:rPr>
              <a:t>03</a:t>
            </a:r>
            <a:endParaRPr lang="en-US" sz="2100" dirty="0"/>
          </a:p>
        </p:txBody>
      </p:sp>
      <p:sp>
        <p:nvSpPr>
          <p:cNvPr id="19" name="Text 17"/>
          <p:cNvSpPr txBox="1"/>
          <p:nvPr/>
        </p:nvSpPr>
        <p:spPr>
          <a:xfrm>
            <a:off x="1389888" y="3730752"/>
            <a:ext cx="3931920" cy="512064"/>
          </a:xfrm>
          <a:prstGeom prst="rect">
            <a:avLst/>
          </a:prstGeom>
          <a:noFill/>
          <a:ln/>
        </p:spPr>
        <p:txBody>
          <a:bodyPr wrap="square" lIns="0" tIns="0" rIns="0" bIns="0" rtlCol="0" anchor="ctr"/>
          <a:lstStyle/>
          <a:p>
            <a:pPr indent="0" marL="0">
              <a:lnSpc>
                <a:spcPct val="112000"/>
              </a:lnSpc>
              <a:buNone/>
            </a:pPr>
            <a:r>
              <a:rPr lang="en-US" sz="1300" dirty="0">
                <a:solidFill>
                  <a:srgbClr val="C0DBFF"/>
                </a:solidFill>
                <a:latin typeface="Noto Sans" pitchFamily="34" charset="0"/>
                <a:ea typeface="Noto Sans" pitchFamily="34" charset="-122"/>
                <a:cs typeface="Noto Sans" pitchFamily="34" charset="-120"/>
              </a:rPr>
              <a:t>Whether the chatbot carries the scheme branch</a:t>
            </a:r>
            <a:endParaRPr lang="en-US" sz="1300" dirty="0"/>
          </a:p>
        </p:txBody>
      </p:sp>
      <p:sp>
        <p:nvSpPr>
          <p:cNvPr id="20" name="Text 18"/>
          <p:cNvSpPr txBox="1"/>
          <p:nvPr/>
        </p:nvSpPr>
        <p:spPr>
          <a:xfrm>
            <a:off x="5413248" y="3730752"/>
            <a:ext cx="3840480" cy="512064"/>
          </a:xfrm>
          <a:prstGeom prst="rect">
            <a:avLst/>
          </a:prstGeom>
          <a:noFill/>
          <a:ln/>
        </p:spPr>
        <p:txBody>
          <a:bodyPr wrap="square" lIns="0" tIns="0" rIns="0" bIns="0" rtlCol="0" anchor="ctr"/>
          <a:lstStyle/>
          <a:p>
            <a:pPr indent="0" marL="0">
              <a:lnSpc>
                <a:spcPct val="112000"/>
              </a:lnSpc>
              <a:buNone/>
            </a:pPr>
            <a:r>
              <a:rPr lang="en-US" sz="1300" b="1" dirty="0">
                <a:solidFill>
                  <a:srgbClr val="FFFFFF"/>
                </a:solidFill>
                <a:latin typeface="Noto Sans" pitchFamily="34" charset="0"/>
                <a:ea typeface="Noto Sans" pitchFamily="34" charset="-122"/>
                <a:cs typeface="Noto Sans" pitchFamily="34" charset="-120"/>
              </a:rPr>
              <a:t>Yes — it reuses the same five questions</a:t>
            </a:r>
            <a:endParaRPr lang="en-US" sz="1300" dirty="0"/>
          </a:p>
        </p:txBody>
      </p:sp>
      <p:sp>
        <p:nvSpPr>
          <p:cNvPr id="21" name="Text 19"/>
          <p:cNvSpPr txBox="1"/>
          <p:nvPr/>
        </p:nvSpPr>
        <p:spPr>
          <a:xfrm>
            <a:off x="9345168" y="3730752"/>
            <a:ext cx="2194560" cy="512064"/>
          </a:xfrm>
          <a:prstGeom prst="rect">
            <a:avLst/>
          </a:prstGeom>
          <a:noFill/>
          <a:ln/>
        </p:spPr>
        <p:txBody>
          <a:bodyPr wrap="square" lIns="0" tIns="0" rIns="0" bIns="0" rtlCol="0" anchor="ctr"/>
          <a:lstStyle/>
          <a:p>
            <a:pPr indent="0" marL="0">
              <a:lnSpc>
                <a:spcPct val="112000"/>
              </a:lnSpc>
              <a:buNone/>
            </a:pPr>
            <a:r>
              <a:rPr lang="en-US" sz="1100" dirty="0">
                <a:solidFill>
                  <a:srgbClr val="C0DBFF"/>
                </a:solidFill>
                <a:latin typeface="Noto Sans" pitchFamily="34" charset="0"/>
                <a:ea typeface="Noto Sans" pitchFamily="34" charset="-122"/>
                <a:cs typeface="Noto Sans" pitchFamily="34" charset="-120"/>
              </a:rPr>
              <a:t>Department, with the existing chatbot vendor</a:t>
            </a:r>
            <a:endParaRPr lang="en-US" sz="1100" dirty="0"/>
          </a:p>
        </p:txBody>
      </p:sp>
      <p:sp>
        <p:nvSpPr>
          <p:cNvPr id="22" name="Shape 20"/>
          <p:cNvSpPr/>
          <p:nvPr/>
        </p:nvSpPr>
        <p:spPr>
          <a:xfrm>
            <a:off x="658368" y="4352544"/>
            <a:ext cx="10874959" cy="0"/>
          </a:xfrm>
          <a:prstGeom prst="line">
            <a:avLst/>
          </a:prstGeom>
          <a:noFill/>
          <a:ln w="12700">
            <a:solidFill>
              <a:srgbClr val="004B96"/>
            </a:solidFill>
            <a:prstDash val="solid"/>
          </a:ln>
        </p:spPr>
      </p:sp>
      <p:sp>
        <p:nvSpPr>
          <p:cNvPr id="23" name="Shape 21"/>
          <p:cNvSpPr/>
          <p:nvPr/>
        </p:nvSpPr>
        <p:spPr>
          <a:xfrm>
            <a:off x="658368" y="4700016"/>
            <a:ext cx="10874959" cy="1133856"/>
          </a:xfrm>
          <a:prstGeom prst="rect">
            <a:avLst/>
          </a:prstGeom>
          <a:solidFill>
            <a:srgbClr val="004B96"/>
          </a:solidFill>
          <a:ln w="12700">
            <a:solidFill>
              <a:srgbClr val="004B96"/>
            </a:solidFill>
            <a:prstDash val="solid"/>
          </a:ln>
        </p:spPr>
      </p:sp>
      <p:sp>
        <p:nvSpPr>
          <p:cNvPr id="24" name="Text 22"/>
          <p:cNvSpPr txBox="1"/>
          <p:nvPr/>
        </p:nvSpPr>
        <p:spPr>
          <a:xfrm>
            <a:off x="969264" y="4846320"/>
            <a:ext cx="10253167" cy="347472"/>
          </a:xfrm>
          <a:prstGeom prst="rect">
            <a:avLst/>
          </a:prstGeom>
          <a:noFill/>
          <a:ln/>
        </p:spPr>
        <p:txBody>
          <a:bodyPr wrap="square" lIns="0" tIns="0" rIns="0" bIns="0" rtlCol="0" anchor="ctr"/>
          <a:lstStyle/>
          <a:p>
            <a:pPr indent="0" marL="0">
              <a:buNone/>
            </a:pPr>
            <a:r>
              <a:rPr lang="en-US" sz="1900" b="1" dirty="0">
                <a:solidFill>
                  <a:srgbClr val="FFFFFF"/>
                </a:solidFill>
                <a:latin typeface="Noto Sans" pitchFamily="34" charset="0"/>
                <a:ea typeface="Noto Sans" pitchFamily="34" charset="-122"/>
                <a:cs typeface="Noto Sans" pitchFamily="34" charset="-120"/>
              </a:rPr>
              <a:t>And one instruction: authorise Phase 1.</a:t>
            </a:r>
            <a:endParaRPr lang="en-US" sz="1900" dirty="0"/>
          </a:p>
        </p:txBody>
      </p:sp>
      <p:sp>
        <p:nvSpPr>
          <p:cNvPr id="25" name="Text 23"/>
          <p:cNvSpPr txBox="1"/>
          <p:nvPr/>
        </p:nvSpPr>
        <p:spPr>
          <a:xfrm>
            <a:off x="969264" y="5248656"/>
            <a:ext cx="10253167" cy="420624"/>
          </a:xfrm>
          <a:prstGeom prst="rect">
            <a:avLst/>
          </a:prstGeom>
          <a:noFill/>
          <a:ln/>
        </p:spPr>
        <p:txBody>
          <a:bodyPr wrap="square" lIns="0" tIns="0" rIns="0" bIns="0" rtlCol="0" anchor="ctr"/>
          <a:lstStyle/>
          <a:p>
            <a:pPr indent="0" marL="0">
              <a:lnSpc>
                <a:spcPct val="116000"/>
              </a:lnSpc>
              <a:buNone/>
            </a:pPr>
            <a:r>
              <a:rPr lang="en-US" sz="1150" dirty="0">
                <a:solidFill>
                  <a:srgbClr val="C0DBFF"/>
                </a:solidFill>
                <a:latin typeface="Noto Sans" pitchFamily="34" charset="0"/>
                <a:ea typeface="Noto Sans" pitchFamily="34" charset="-122"/>
                <a:cs typeface="Noto Sans" pitchFamily="34" charset="-120"/>
              </a:rPr>
              <a:t>Populating the eligibility model across all 141 scheme records is the one-time content work every option above depends on. Whichever surfaces are chosen, this has to start first — and only the Department can do it.</a:t>
            </a:r>
            <a:endParaRPr lang="en-US" sz="1150" dirty="0"/>
          </a:p>
        </p:txBody>
      </p:sp>
      <p:sp>
        <p:nvSpPr>
          <p:cNvPr id="26" name="Text 24"/>
          <p:cNvSpPr txBox="1"/>
          <p:nvPr/>
        </p:nvSpPr>
        <p:spPr>
          <a:xfrm>
            <a:off x="658368" y="5998464"/>
            <a:ext cx="10874959" cy="256032"/>
          </a:xfrm>
          <a:prstGeom prst="rect">
            <a:avLst/>
          </a:prstGeom>
          <a:noFill/>
          <a:ln/>
        </p:spPr>
        <p:txBody>
          <a:bodyPr wrap="square" lIns="0" tIns="0" rIns="0" bIns="0" rtlCol="0" anchor="ctr"/>
          <a:lstStyle/>
          <a:p>
            <a:pPr indent="0" marL="0">
              <a:buNone/>
            </a:pPr>
            <a:r>
              <a:rPr lang="en-US" sz="1050" dirty="0">
                <a:solidFill>
                  <a:srgbClr val="C0DBFF"/>
                </a:solidFill>
                <a:latin typeface="Noto Sans" pitchFamily="34" charset="0"/>
                <a:ea typeface="Noto Sans" pitchFamily="34" charset="-122"/>
                <a:cs typeface="Noto Sans" pitchFamily="34" charset="-120"/>
              </a:rPr>
              <a:t>Decisions are sought before the Department's next review meeting.</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STATED LIMITS AND SOURCES</a:t>
            </a:r>
            <a:endParaRPr lang="en-US" sz="10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800" b="1" dirty="0">
                <a:solidFill>
                  <a:srgbClr val="003975"/>
                </a:solidFill>
                <a:latin typeface="Noto Sans" pitchFamily="34" charset="0"/>
                <a:ea typeface="Noto Sans" pitchFamily="34" charset="-122"/>
                <a:cs typeface="Noto Sans" pitchFamily="34" charset="-120"/>
              </a:rPr>
              <a:t>What This Review Does and Does Not Establish</a:t>
            </a:r>
            <a:endParaRPr lang="en-US" sz="2800" dirty="0"/>
          </a:p>
        </p:txBody>
      </p:sp>
      <p:sp>
        <p:nvSpPr>
          <p:cNvPr id="4" name="Text 2"/>
          <p:cNvSpPr txBox="1"/>
          <p:nvPr/>
        </p:nvSpPr>
        <p:spPr>
          <a:xfrm>
            <a:off x="658368" y="1389888"/>
            <a:ext cx="64008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01</a:t>
            </a:r>
            <a:endParaRPr lang="en-US" sz="2100" dirty="0"/>
          </a:p>
        </p:txBody>
      </p:sp>
      <p:sp>
        <p:nvSpPr>
          <p:cNvPr id="5" name="Text 3"/>
          <p:cNvSpPr txBox="1"/>
          <p:nvPr/>
        </p:nvSpPr>
        <p:spPr>
          <a:xfrm>
            <a:off x="1408176" y="1371600"/>
            <a:ext cx="10125151"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No user research was conducted.</a:t>
            </a:r>
            <a:endParaRPr lang="en-US" sz="1400" dirty="0"/>
          </a:p>
        </p:txBody>
      </p:sp>
      <p:sp>
        <p:nvSpPr>
          <p:cNvPr id="6" name="Text 4"/>
          <p:cNvSpPr txBox="1"/>
          <p:nvPr/>
        </p:nvSpPr>
        <p:spPr>
          <a:xfrm>
            <a:off x="1408176" y="1664208"/>
            <a:ext cx="10125151" cy="768096"/>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Findings are grounded in analysis of the two live sites and in benchmarks against myScheme, DEPwD, the National Scholarship Portal and GOV.UK. The personas are derived from the constituencies named in the Department's own statutes, schemes and organisations — not from interviews. The recommendations should be validated with those constituencies before Phase 3 ships.</a:t>
            </a:r>
            <a:endParaRPr lang="en-US" sz="1150" dirty="0"/>
          </a:p>
        </p:txBody>
      </p:sp>
      <p:sp>
        <p:nvSpPr>
          <p:cNvPr id="7" name="Shape 5"/>
          <p:cNvSpPr/>
          <p:nvPr/>
        </p:nvSpPr>
        <p:spPr>
          <a:xfrm>
            <a:off x="658368" y="2487168"/>
            <a:ext cx="10874959" cy="0"/>
          </a:xfrm>
          <a:prstGeom prst="line">
            <a:avLst/>
          </a:prstGeom>
          <a:noFill/>
          <a:ln w="9525">
            <a:solidFill>
              <a:srgbClr val="DCDEE1"/>
            </a:solidFill>
            <a:prstDash val="solid"/>
          </a:ln>
        </p:spPr>
      </p:sp>
      <p:sp>
        <p:nvSpPr>
          <p:cNvPr id="8" name="Text 6"/>
          <p:cNvSpPr txBox="1"/>
          <p:nvPr/>
        </p:nvSpPr>
        <p:spPr>
          <a:xfrm>
            <a:off x="658368" y="2688336"/>
            <a:ext cx="64008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02</a:t>
            </a:r>
            <a:endParaRPr lang="en-US" sz="2100" dirty="0"/>
          </a:p>
        </p:txBody>
      </p:sp>
      <p:sp>
        <p:nvSpPr>
          <p:cNvPr id="9" name="Text 7"/>
          <p:cNvSpPr txBox="1"/>
          <p:nvPr/>
        </p:nvSpPr>
        <p:spPr>
          <a:xfrm>
            <a:off x="1408176" y="2670048"/>
            <a:ext cx="10125151"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The content export is dated, and the coverage figures are an order of magnitude.</a:t>
            </a:r>
            <a:endParaRPr lang="en-US" sz="1400" dirty="0"/>
          </a:p>
        </p:txBody>
      </p:sp>
      <p:sp>
        <p:nvSpPr>
          <p:cNvPr id="10" name="Text 8"/>
          <p:cNvSpPr txBox="1"/>
          <p:nvPr/>
        </p:nvSpPr>
        <p:spPr>
          <a:xfrm>
            <a:off x="1408176" y="2962656"/>
            <a:ext cx="10125151" cy="768096"/>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Quantitative claims about the 141 records come from an export generated 13 June 2026; every claim about navigation, facets and search was re-verified live on 20 August 2026. Coverage was measured by keyword classification, which over-counts — so the gaps shown are, if anything, understated.</a:t>
            </a:r>
            <a:endParaRPr lang="en-US" sz="1150" dirty="0"/>
          </a:p>
        </p:txBody>
      </p:sp>
      <p:sp>
        <p:nvSpPr>
          <p:cNvPr id="11" name="Shape 9"/>
          <p:cNvSpPr/>
          <p:nvPr/>
        </p:nvSpPr>
        <p:spPr>
          <a:xfrm>
            <a:off x="658368" y="3785616"/>
            <a:ext cx="10874959" cy="0"/>
          </a:xfrm>
          <a:prstGeom prst="line">
            <a:avLst/>
          </a:prstGeom>
          <a:noFill/>
          <a:ln w="9525">
            <a:solidFill>
              <a:srgbClr val="DCDEE1"/>
            </a:solidFill>
            <a:prstDash val="solid"/>
          </a:ln>
        </p:spPr>
      </p:sp>
      <p:sp>
        <p:nvSpPr>
          <p:cNvPr id="12" name="Text 10"/>
          <p:cNvSpPr txBox="1"/>
          <p:nvPr/>
        </p:nvSpPr>
        <p:spPr>
          <a:xfrm>
            <a:off x="658368" y="4005072"/>
            <a:ext cx="10874959" cy="201168"/>
          </a:xfrm>
          <a:prstGeom prst="rect">
            <a:avLst/>
          </a:prstGeom>
          <a:noFill/>
          <a:ln/>
        </p:spPr>
        <p:txBody>
          <a:bodyPr wrap="square" lIns="0" tIns="0" rIns="0" bIns="0" rtlCol="0" anchor="ctr"/>
          <a:lstStyle/>
          <a:p>
            <a:pPr indent="0" marL="0">
              <a:buNone/>
            </a:pPr>
            <a:r>
              <a:rPr lang="en-US" sz="950" b="1" spc="120" kern="0" dirty="0">
                <a:solidFill>
                  <a:srgbClr val="54585E"/>
                </a:solidFill>
                <a:latin typeface="Noto Sans" pitchFamily="34" charset="0"/>
                <a:ea typeface="Noto Sans" pitchFamily="34" charset="-122"/>
                <a:cs typeface="Noto Sans" pitchFamily="34" charset="-120"/>
              </a:rPr>
              <a:t>SOURCES</a:t>
            </a:r>
            <a:endParaRPr lang="en-US" sz="950" dirty="0"/>
          </a:p>
        </p:txBody>
      </p:sp>
      <p:sp>
        <p:nvSpPr>
          <p:cNvPr id="13" name="Text 11"/>
          <p:cNvSpPr txBox="1"/>
          <p:nvPr/>
        </p:nvSpPr>
        <p:spPr>
          <a:xfrm>
            <a:off x="658368" y="4261104"/>
            <a:ext cx="3017520" cy="256032"/>
          </a:xfrm>
          <a:prstGeom prst="rect">
            <a:avLst/>
          </a:prstGeom>
          <a:noFill/>
          <a:ln/>
        </p:spPr>
        <p:txBody>
          <a:bodyPr wrap="square" lIns="0" tIns="0" rIns="0" bIns="0" rtlCol="0" anchor="ctr"/>
          <a:lstStyle/>
          <a:p>
            <a:pPr indent="0" marL="0">
              <a:buNone/>
            </a:pPr>
            <a:r>
              <a:rPr lang="en-US" sz="1100" b="1" dirty="0">
                <a:solidFill>
                  <a:srgbClr val="005EB9"/>
                </a:solidFill>
                <a:latin typeface="Noto Sans" pitchFamily="34" charset="0"/>
                <a:ea typeface="Noto Sans" pitchFamily="34" charset="-122"/>
                <a:cs typeface="Noto Sans" pitchFamily="34" charset="-120"/>
              </a:rPr>
              <a:t>The two Ministry sites</a:t>
            </a:r>
            <a:endParaRPr lang="en-US" sz="1100" dirty="0"/>
          </a:p>
        </p:txBody>
      </p:sp>
      <p:sp>
        <p:nvSpPr>
          <p:cNvPr id="14" name="Text 12"/>
          <p:cNvSpPr txBox="1"/>
          <p:nvPr/>
        </p:nvSpPr>
        <p:spPr>
          <a:xfrm>
            <a:off x="3858768" y="4261104"/>
            <a:ext cx="7674559" cy="256032"/>
          </a:xfrm>
          <a:prstGeom prst="rect">
            <a:avLst/>
          </a:prstGeom>
          <a:noFill/>
          <a:ln/>
        </p:spPr>
        <p:txBody>
          <a:bodyPr wrap="square" lIns="0" tIns="0" rIns="0" bIns="0" rtlCol="0" anchor="ctr"/>
          <a:lstStyle/>
          <a:p>
            <a:pPr indent="0" marL="0">
              <a:buNone/>
            </a:pPr>
            <a:r>
              <a:rPr lang="en-US" sz="1100" dirty="0">
                <a:solidFill>
                  <a:srgbClr val="1E2124"/>
                </a:solidFill>
                <a:latin typeface="Noto Sans" pitchFamily="34" charset="0"/>
                <a:ea typeface="Noto Sans" pitchFamily="34" charset="-122"/>
                <a:cs typeface="Noto Sans" pitchFamily="34" charset="-120"/>
              </a:rPr>
              <a:t>dosje.gov.in (SAMAVESH, marked BETA) and socialjustice.gov.in — fetched and parsed 20 August 2026.</a:t>
            </a:r>
            <a:endParaRPr lang="en-US" sz="1100" dirty="0"/>
          </a:p>
        </p:txBody>
      </p:sp>
      <p:sp>
        <p:nvSpPr>
          <p:cNvPr id="15" name="Text 13"/>
          <p:cNvSpPr txBox="1"/>
          <p:nvPr/>
        </p:nvSpPr>
        <p:spPr>
          <a:xfrm>
            <a:off x="658368" y="4626864"/>
            <a:ext cx="3017520" cy="256032"/>
          </a:xfrm>
          <a:prstGeom prst="rect">
            <a:avLst/>
          </a:prstGeom>
          <a:noFill/>
          <a:ln/>
        </p:spPr>
        <p:txBody>
          <a:bodyPr wrap="square" lIns="0" tIns="0" rIns="0" bIns="0" rtlCol="0" anchor="ctr"/>
          <a:lstStyle/>
          <a:p>
            <a:pPr indent="0" marL="0">
              <a:buNone/>
            </a:pPr>
            <a:r>
              <a:rPr lang="en-US" sz="1100" b="1" dirty="0">
                <a:solidFill>
                  <a:srgbClr val="005EB9"/>
                </a:solidFill>
                <a:latin typeface="Noto Sans" pitchFamily="34" charset="0"/>
                <a:ea typeface="Noto Sans" pitchFamily="34" charset="-122"/>
                <a:cs typeface="Noto Sans" pitchFamily="34" charset="-120"/>
              </a:rPr>
              <a:t>The Department's content export</a:t>
            </a:r>
            <a:endParaRPr lang="en-US" sz="1100" dirty="0"/>
          </a:p>
        </p:txBody>
      </p:sp>
      <p:sp>
        <p:nvSpPr>
          <p:cNvPr id="16" name="Text 14"/>
          <p:cNvSpPr txBox="1"/>
          <p:nvPr/>
        </p:nvSpPr>
        <p:spPr>
          <a:xfrm>
            <a:off x="3858768" y="4626864"/>
            <a:ext cx="7674559" cy="256032"/>
          </a:xfrm>
          <a:prstGeom prst="rect">
            <a:avLst/>
          </a:prstGeom>
          <a:noFill/>
          <a:ln/>
        </p:spPr>
        <p:txBody>
          <a:bodyPr wrap="square" lIns="0" tIns="0" rIns="0" bIns="0" rtlCol="0" anchor="ctr"/>
          <a:lstStyle/>
          <a:p>
            <a:pPr indent="0" marL="0">
              <a:buNone/>
            </a:pPr>
            <a:r>
              <a:rPr lang="en-US" sz="1100" dirty="0">
                <a:solidFill>
                  <a:srgbClr val="1E2124"/>
                </a:solidFill>
                <a:latin typeface="Noto Sans" pitchFamily="34" charset="0"/>
                <a:ea typeface="Noto Sans" pitchFamily="34" charset="-122"/>
                <a:cs typeface="Noto Sans" pitchFamily="34" charset="-120"/>
              </a:rPr>
              <a:t>141 scheme records, 175 organisation pages, 1,624 documents, 305 tenders, 137 vacancies. Manifest 13 June 2026.</a:t>
            </a:r>
            <a:endParaRPr lang="en-US" sz="1100" dirty="0"/>
          </a:p>
        </p:txBody>
      </p:sp>
      <p:sp>
        <p:nvSpPr>
          <p:cNvPr id="17" name="Text 15"/>
          <p:cNvSpPr txBox="1"/>
          <p:nvPr/>
        </p:nvSpPr>
        <p:spPr>
          <a:xfrm>
            <a:off x="658368" y="4992624"/>
            <a:ext cx="3017520" cy="256032"/>
          </a:xfrm>
          <a:prstGeom prst="rect">
            <a:avLst/>
          </a:prstGeom>
          <a:noFill/>
          <a:ln/>
        </p:spPr>
        <p:txBody>
          <a:bodyPr wrap="square" lIns="0" tIns="0" rIns="0" bIns="0" rtlCol="0" anchor="ctr"/>
          <a:lstStyle/>
          <a:p>
            <a:pPr indent="0" marL="0">
              <a:buNone/>
            </a:pPr>
            <a:r>
              <a:rPr lang="en-US" sz="1100" b="1" dirty="0">
                <a:solidFill>
                  <a:srgbClr val="005EB9"/>
                </a:solidFill>
                <a:latin typeface="Noto Sans" pitchFamily="34" charset="0"/>
                <a:ea typeface="Noto Sans" pitchFamily="34" charset="-122"/>
                <a:cs typeface="Noto Sans" pitchFamily="34" charset="-120"/>
              </a:rPr>
              <a:t>Benchmarks and standards</a:t>
            </a:r>
            <a:endParaRPr lang="en-US" sz="1100" dirty="0"/>
          </a:p>
        </p:txBody>
      </p:sp>
      <p:sp>
        <p:nvSpPr>
          <p:cNvPr id="18" name="Text 16"/>
          <p:cNvSpPr txBox="1"/>
          <p:nvPr/>
        </p:nvSpPr>
        <p:spPr>
          <a:xfrm>
            <a:off x="3858768" y="4992624"/>
            <a:ext cx="7674559" cy="256032"/>
          </a:xfrm>
          <a:prstGeom prst="rect">
            <a:avLst/>
          </a:prstGeom>
          <a:noFill/>
          <a:ln/>
        </p:spPr>
        <p:txBody>
          <a:bodyPr wrap="square" lIns="0" tIns="0" rIns="0" bIns="0" rtlCol="0" anchor="ctr"/>
          <a:lstStyle/>
          <a:p>
            <a:pPr indent="0" marL="0">
              <a:buNone/>
            </a:pPr>
            <a:r>
              <a:rPr lang="en-US" sz="1100" dirty="0">
                <a:solidFill>
                  <a:srgbClr val="1E2124"/>
                </a:solidFill>
                <a:latin typeface="Noto Sans" pitchFamily="34" charset="0"/>
                <a:ea typeface="Noto Sans" pitchFamily="34" charset="-122"/>
                <a:cs typeface="Noto Sans" pitchFamily="34" charset="-120"/>
              </a:rPr>
              <a:t>myscheme.gov.in · depwd.gov.in · scholarships.gov.in · GOV.UK. GIGW 3.0, DBIM 3.0, WCAG 2.2 AA.</a:t>
            </a:r>
            <a:endParaRPr lang="en-US" sz="1100" dirty="0"/>
          </a:p>
        </p:txBody>
      </p:sp>
      <p:sp>
        <p:nvSpPr>
          <p:cNvPr id="19" name="Text 17"/>
          <p:cNvSpPr txBox="1"/>
          <p:nvPr/>
        </p:nvSpPr>
        <p:spPr>
          <a:xfrm>
            <a:off x="658368" y="5358384"/>
            <a:ext cx="3017520" cy="256032"/>
          </a:xfrm>
          <a:prstGeom prst="rect">
            <a:avLst/>
          </a:prstGeom>
          <a:noFill/>
          <a:ln/>
        </p:spPr>
        <p:txBody>
          <a:bodyPr wrap="square" lIns="0" tIns="0" rIns="0" bIns="0" rtlCol="0" anchor="ctr"/>
          <a:lstStyle/>
          <a:p>
            <a:pPr indent="0" marL="0">
              <a:buNone/>
            </a:pPr>
            <a:r>
              <a:rPr lang="en-US" sz="1100" b="1" dirty="0">
                <a:solidFill>
                  <a:srgbClr val="005EB9"/>
                </a:solidFill>
                <a:latin typeface="Noto Sans" pitchFamily="34" charset="0"/>
                <a:ea typeface="Noto Sans" pitchFamily="34" charset="-122"/>
                <a:cs typeface="Noto Sans" pitchFamily="34" charset="-120"/>
              </a:rPr>
              <a:t>The design file</a:t>
            </a:r>
            <a:endParaRPr lang="en-US" sz="1100" dirty="0"/>
          </a:p>
        </p:txBody>
      </p:sp>
      <p:sp>
        <p:nvSpPr>
          <p:cNvPr id="20" name="Text 18"/>
          <p:cNvSpPr txBox="1"/>
          <p:nvPr/>
        </p:nvSpPr>
        <p:spPr>
          <a:xfrm>
            <a:off x="3858768" y="5358384"/>
            <a:ext cx="7674559" cy="256032"/>
          </a:xfrm>
          <a:prstGeom prst="rect">
            <a:avLst/>
          </a:prstGeom>
          <a:noFill/>
          <a:ln/>
        </p:spPr>
        <p:txBody>
          <a:bodyPr wrap="square" lIns="0" tIns="0" rIns="0" bIns="0" rtlCol="0" anchor="ctr"/>
          <a:lstStyle/>
          <a:p>
            <a:pPr indent="0" marL="0">
              <a:buNone/>
            </a:pPr>
            <a:r>
              <a:rPr lang="en-US" sz="1100" dirty="0">
                <a:solidFill>
                  <a:srgbClr val="1E2124"/>
                </a:solidFill>
                <a:latin typeface="Noto Sans" pitchFamily="34" charset="0"/>
                <a:ea typeface="Noto Sans" pitchFamily="34" charset="-122"/>
                <a:cs typeface="Noto Sans" pitchFamily="34" charset="-120"/>
              </a:rPr>
              <a:t>MoSJE (WIP) — Service Discovery. Every screen here is taken from it unaltered, cropped only where noted.</a:t>
            </a:r>
            <a:endParaRPr lang="en-US" sz="1100" dirty="0"/>
          </a:p>
        </p:txBody>
      </p:sp>
      <p:sp>
        <p:nvSpPr>
          <p:cNvPr id="21" name="Text 19"/>
          <p:cNvSpPr txBox="1"/>
          <p:nvPr/>
        </p:nvSpPr>
        <p:spPr>
          <a:xfrm>
            <a:off x="658368" y="6400800"/>
            <a:ext cx="10874959" cy="237744"/>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Finding What You're Entitled To — an information-architecture and discoverability review. MoSJE Design Research, 20 August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What You're Entitled To</dc:title>
  <dc:subject>PptxGenJS Presentation</dc:subject>
  <dc:creator>MoSJE Design Research</dc:creator>
  <cp:lastModifiedBy>MoSJE Design Research</cp:lastModifiedBy>
  <cp:revision>1</cp:revision>
  <dcterms:created xsi:type="dcterms:W3CDTF">2026-09-07T11:14:14Z</dcterms:created>
  <dcterms:modified xsi:type="dcterms:W3CDTF">2026-09-07T11:14:14Z</dcterms:modified>
</cp:coreProperties>
</file>