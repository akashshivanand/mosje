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Schemes meant for them</c:v>
                </c:pt>
              </c:strCache>
            </c:strRef>
          </c:tx>
          <c:spPr>
            <a:solidFill>
              <a:srgbClr val="0373DF"/>
            </a:solidFill>
            <a:effectLst/>
          </c:spPr>
          <c:invertIfNegative val="0"/>
          <c:dLbls>
            <c:numFmt formatCode="#,##0" sourceLinked="0"/>
            <c:txPr>
              <a:bodyPr/>
              <a:lstStyle/>
              <a:p>
                <a:pPr>
                  <a:defRPr b="0" i="0" strike="noStrike" sz="800" u="none">
                    <a:solidFill>
                      <a:srgbClr val="3A3D41"/>
                    </a:solidFill>
                    <a:latin typeface="Noto Sans"/>
                  </a:defRPr>
                </a:pPr>
              </a:p>
            </c:txPr>
            <c:showLegendKey val="0"/>
            <c:showVal val="1"/>
            <c:showCatName val="0"/>
            <c:showSerName val="0"/>
            <c:showPercent val="0"/>
            <c:showBubbleSize val="0"/>
            <c:showLeaderLines val="0"/>
          </c:dLbls>
          <c:cat>
            <c:multiLvlStrRef>
              <c:f>Sheet1!$A$2:$A$14</c:f>
              <c:multiLvlStrCache>
                <c:ptCount val="13"/>
                <c:lvl>
                  <c:pt idx="0">
                    <c:v>Safai Karamcharis / Sanitation Workers</c:v>
                  </c:pt>
                  <c:pt idx="1">
                    <c:v>Transgender Persons</c:v>
                  </c:pt>
                  <c:pt idx="2">
                    <c:v>Senior Citizens</c:v>
                  </c:pt>
                  <c:pt idx="3">
                    <c:v>Persons Affected by Substance Use</c:v>
                  </c:pt>
                  <c:pt idx="4">
                    <c:v>Victims of Atrocities</c:v>
                  </c:pt>
                  <c:pt idx="5">
                    <c:v>Persons with Disabilities</c:v>
                  </c:pt>
                  <c:pt idx="6">
                    <c:v>NGOs / Voluntary Organisations</c:v>
                  </c:pt>
                  <c:pt idx="7">
                    <c:v>Students / Learners</c:v>
                  </c:pt>
                  <c:pt idx="8">
                    <c:v>Entrepreneurs / Self-Employed</c:v>
                  </c:pt>
                  <c:pt idx="9">
                    <c:v>OBC / EBC</c:v>
                  </c:pt>
                  <c:pt idx="10">
                    <c:v>Women and Girls</c:v>
                  </c:pt>
                  <c:pt idx="11">
                    <c:v>Scheduled Castes</c:v>
                  </c:pt>
                  <c:pt idx="12">
                    <c:v>DNT / VJNT / NT-SNT</c:v>
                  </c:pt>
                </c:lvl>
              </c:multiLvlStrCache>
            </c:multiLvlStrRef>
          </c:cat>
          <c:val>
            <c:numRef>
              <c:f>Sheet1!$B$2:$B$14</c:f>
              <c:numCache>
                <c:formatCode>General</c:formatCode>
                <c:ptCount val="13"/>
                <c:pt idx="0">
                  <c:v>19</c:v>
                </c:pt>
                <c:pt idx="1">
                  <c:v>2</c:v>
                </c:pt>
                <c:pt idx="2">
                  <c:v>11</c:v>
                </c:pt>
                <c:pt idx="3">
                  <c:v>3</c:v>
                </c:pt>
                <c:pt idx="4">
                  <c:v>3</c:v>
                </c:pt>
                <c:pt idx="5">
                  <c:v>10</c:v>
                </c:pt>
                <c:pt idx="6">
                  <c:v>12</c:v>
                </c:pt>
                <c:pt idx="7">
                  <c:v>64</c:v>
                </c:pt>
                <c:pt idx="8">
                  <c:v>23</c:v>
                </c:pt>
                <c:pt idx="9">
                  <c:v>24</c:v>
                </c:pt>
                <c:pt idx="10">
                  <c:v>23</c:v>
                </c:pt>
                <c:pt idx="11">
                  <c:v>32</c:v>
                </c:pt>
                <c:pt idx="12">
                  <c:v>43</c:v>
                </c:pt>
              </c:numCache>
            </c:numRef>
          </c:val>
        </c:ser>
        <c:ser>
          <c:idx val="1"/>
          <c:order val="1"/>
          <c:tx>
            <c:strRef>
              <c:f>Sheet1!$C$1</c:f>
              <c:strCache>
                <c:ptCount val="1"/>
                <c:pt idx="0">
                  <c:v>Schemes the filter can find</c:v>
                </c:pt>
              </c:strCache>
            </c:strRef>
          </c:tx>
          <c:spPr>
            <a:solidFill>
              <a:srgbClr val="E7173A"/>
            </a:solidFill>
            <a:effectLst/>
          </c:spPr>
          <c:invertIfNegative val="0"/>
          <c:dLbls>
            <c:numFmt formatCode="#,##0" sourceLinked="0"/>
            <c:txPr>
              <a:bodyPr/>
              <a:lstStyle/>
              <a:p>
                <a:pPr>
                  <a:defRPr b="0" i="0" strike="noStrike" sz="800" u="none">
                    <a:solidFill>
                      <a:srgbClr val="3A3D41"/>
                    </a:solidFill>
                    <a:latin typeface="Noto Sans"/>
                  </a:defRPr>
                </a:pPr>
              </a:p>
            </c:txPr>
            <c:showLegendKey val="0"/>
            <c:showVal val="1"/>
            <c:showCatName val="0"/>
            <c:showSerName val="0"/>
            <c:showPercent val="0"/>
            <c:showBubbleSize val="0"/>
            <c:showLeaderLines val="0"/>
          </c:dLbls>
          <c:cat>
            <c:multiLvlStrRef>
              <c:f>Sheet1!$A$2:$A$14</c:f>
              <c:multiLvlStrCache>
                <c:ptCount val="13"/>
                <c:lvl>
                  <c:pt idx="0">
                    <c:v>Safai Karamcharis / Sanitation Workers</c:v>
                  </c:pt>
                  <c:pt idx="1">
                    <c:v>Transgender Persons</c:v>
                  </c:pt>
                  <c:pt idx="2">
                    <c:v>Senior Citizens</c:v>
                  </c:pt>
                  <c:pt idx="3">
                    <c:v>Persons Affected by Substance Use</c:v>
                  </c:pt>
                  <c:pt idx="4">
                    <c:v>Victims of Atrocities</c:v>
                  </c:pt>
                  <c:pt idx="5">
                    <c:v>Persons with Disabilities</c:v>
                  </c:pt>
                  <c:pt idx="6">
                    <c:v>NGOs / Voluntary Organisations</c:v>
                  </c:pt>
                  <c:pt idx="7">
                    <c:v>Students / Learners</c:v>
                  </c:pt>
                  <c:pt idx="8">
                    <c:v>Entrepreneurs / Self-Employed</c:v>
                  </c:pt>
                  <c:pt idx="9">
                    <c:v>OBC / EBC</c:v>
                  </c:pt>
                  <c:pt idx="10">
                    <c:v>Women and Girls</c:v>
                  </c:pt>
                  <c:pt idx="11">
                    <c:v>Scheduled Castes</c:v>
                  </c:pt>
                  <c:pt idx="12">
                    <c:v>DNT / VJNT / NT-SNT</c:v>
                  </c:pt>
                </c:lvl>
              </c:multiLvlStrCache>
            </c:multiLvlStrRef>
          </c:cat>
          <c:val>
            <c:numRef>
              <c:f>Sheet1!$C$2:$C$14</c:f>
              <c:numCache>
                <c:formatCode>General</c:formatCode>
                <c:ptCount val="13"/>
                <c:pt idx="0">
                  <c:v>18</c:v>
                </c:pt>
                <c:pt idx="1">
                  <c:v>0</c:v>
                </c:pt>
                <c:pt idx="2">
                  <c:v>9</c:v>
                </c:pt>
                <c:pt idx="3">
                  <c:v>0</c:v>
                </c:pt>
                <c:pt idx="4">
                  <c:v>0</c:v>
                </c:pt>
                <c:pt idx="5">
                  <c:v>0</c:v>
                </c:pt>
                <c:pt idx="6">
                  <c:v>0</c:v>
                </c:pt>
                <c:pt idx="7">
                  <c:v>51</c:v>
                </c:pt>
                <c:pt idx="8">
                  <c:v>5</c:v>
                </c:pt>
                <c:pt idx="9">
                  <c:v>6</c:v>
                </c:pt>
                <c:pt idx="10">
                  <c:v>0</c:v>
                </c:pt>
                <c:pt idx="11">
                  <c:v>5</c:v>
                </c:pt>
                <c:pt idx="12">
                  <c:v>14</c:v>
                </c:pt>
              </c:numCache>
            </c:numRef>
          </c:val>
        </c:ser>
        <c:dLbls>
          <c:numFmt formatCode="#,##0" sourceLinked="0"/>
          <c:txPr>
            <a:bodyPr/>
            <a:lstStyle/>
            <a:p>
              <a:pPr>
                <a:defRPr b="0" i="0" strike="noStrike" sz="800" u="none">
                  <a:solidFill>
                    <a:srgbClr val="3A3D41"/>
                  </a:solidFill>
                  <a:latin typeface="Noto Sans"/>
                </a:defRPr>
              </a:pPr>
            </a:p>
          </c:txPr>
          <c:showLegendKey val="0"/>
          <c:showVal val="1"/>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50" b="0" i="0" u="none" strike="noStrike">
                <a:solidFill>
                  <a:srgbClr val="1E2124"/>
                </a:solidFill>
                <a:latin typeface="Noto Sans"/>
              </a:defRPr>
            </a:pPr>
            <a:endParaRPr lang="en-US"/>
          </a:p>
        </c:txPr>
        <c:crossAx val="2094734552"/>
        <c:crosses val="autoZero"/>
        <c:auto val="1"/>
        <c:lblAlgn val="ctr"/>
        <c:noMultiLvlLbl val="1"/>
      </c:catAx>
      <c:valAx>
        <c:axId val="2094734552"/>
        <c:scaling>
          <c:orientation val="minMax"/>
          <c:max val="70"/>
        </c:scaling>
        <c:delete val="0"/>
        <c:axPos val="b"/>
        <c:majorGridlines>
          <c:spPr>
            <a:ln w="6350" cap="flat">
              <a:solidFill>
                <a:srgbClr val="DCDEE1"/>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54585E"/>
                </a:solidFill>
                <a:latin typeface="Noto Sans"/>
              </a:defRPr>
            </a:pPr>
            <a:endParaRPr lang="en-US"/>
          </a:p>
        </c:txPr>
        <c:crossAx val="2094734554"/>
        <c:crosses val="autoZero"/>
        <c:crossBetween val="between"/>
        <c:majorUnit val="10"/>
      </c:valAx>
      <c:spPr>
        <a:noFill/>
        <a:ln>
          <a:noFill/>
        </a:ln>
        <a:effectLst/>
      </c:spPr>
    </c:plotArea>
    <c:legend>
      <c:legendPos val="t"/>
      <c:overlay val="0"/>
      <c:txPr>
        <a:bodyPr/>
        <a:lstStyle/>
        <a:p>
          <a:pPr>
            <a:defRPr sz="1000">
              <a:solidFill>
                <a:srgbClr val="1E2124"/>
              </a:solidFill>
              <a:latin typeface="Noto Sans"/>
              <a:cs typeface="Noto San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sent before the meeting, so it has to be readable on its own. Three decisions are sought. Six options are placed, one to a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red bars that reach zero are the point. Everything after this page follows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only one thing can be decided today, let it be Stage 1. The three choices can follow; nothing can be built before the information is filled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975"/>
        </a:solidFill>
      </p:bgPr>
    </p:bg>
    <p:spTree>
      <p:nvGrpSpPr>
        <p:cNvPr id="1" name=""/>
        <p:cNvGrpSpPr/>
        <p:nvPr/>
      </p:nvGrpSpPr>
      <p:grpSpPr>
        <a:xfrm>
          <a:off x="0" y="0"/>
          <a:ext cx="0" cy="0"/>
          <a:chOff x="0" y="0"/>
          <a:chExt cx="0" cy="0"/>
        </a:xfrm>
      </p:grpSpPr>
      <p:pic>
        <p:nvPicPr>
          <p:cNvPr id="2" name="Image 0" descr="assets/emblem-white.png">    </p:cNvPr>
          <p:cNvPicPr>
            <a:picLocks noChangeAspect="1"/>
          </p:cNvPicPr>
          <p:nvPr/>
        </p:nvPicPr>
        <p:blipFill>
          <a:blip r:embed="rId1"/>
          <a:stretch>
            <a:fillRect/>
          </a:stretch>
        </p:blipFill>
        <p:spPr>
          <a:xfrm>
            <a:off x="658368" y="658368"/>
            <a:ext cx="548640" cy="768096"/>
          </a:xfrm>
          <a:prstGeom prst="rect">
            <a:avLst/>
          </a:prstGeom>
        </p:spPr>
      </p:pic>
      <p:sp>
        <p:nvSpPr>
          <p:cNvPr id="3" name="Text 0"/>
          <p:cNvSpPr txBox="1"/>
          <p:nvPr/>
        </p:nvSpPr>
        <p:spPr>
          <a:xfrm>
            <a:off x="1389888" y="713232"/>
            <a:ext cx="6035040" cy="713232"/>
          </a:xfrm>
          <a:prstGeom prst="rect">
            <a:avLst/>
          </a:prstGeom>
          <a:noFill/>
          <a:ln/>
        </p:spPr>
        <p:txBody>
          <a:bodyPr wrap="square" lIns="0" tIns="0" rIns="0" bIns="0" rtlCol="0" anchor="ctr"/>
          <a:lstStyle/>
          <a:p>
            <a:pPr indent="0" marL="0">
              <a:lnSpc>
                <a:spcPct val="120000"/>
              </a:lnSpc>
              <a:buNone/>
            </a:pPr>
            <a:r>
              <a:rPr lang="en-US" sz="1150" dirty="0">
                <a:solidFill>
                  <a:srgbClr val="C0DBFF"/>
                </a:solidFill>
                <a:latin typeface="Noto Sans" pitchFamily="34" charset="0"/>
                <a:ea typeface="Noto Sans" pitchFamily="34" charset="-122"/>
                <a:cs typeface="Noto Sans" pitchFamily="34" charset="-120"/>
              </a:rPr>
              <a:t>Government of India</a:t>
            </a:r>
            <a:endParaRPr lang="en-US" sz="1150" dirty="0"/>
          </a:p>
          <a:p>
            <a:pPr indent="0" marL="0">
              <a:lnSpc>
                <a:spcPct val="120000"/>
              </a:lnSpc>
              <a:buNone/>
            </a:pPr>
            <a:r>
              <a:rPr lang="en-US" sz="1150" dirty="0">
                <a:solidFill>
                  <a:srgbClr val="C0DBFF"/>
                </a:solidFill>
                <a:latin typeface="Noto Sans" pitchFamily="34" charset="0"/>
                <a:ea typeface="Noto Sans" pitchFamily="34" charset="-122"/>
                <a:cs typeface="Noto Sans" pitchFamily="34" charset="-120"/>
              </a:rPr>
              <a:t>Ministry of Social Justice &amp; Empowerment</a:t>
            </a:r>
            <a:endParaRPr lang="en-US" sz="1150" dirty="0"/>
          </a:p>
          <a:p>
            <a:pPr indent="0" marL="0">
              <a:lnSpc>
                <a:spcPct val="120000"/>
              </a:lnSpc>
              <a:buNone/>
            </a:pPr>
            <a:r>
              <a:rPr lang="en-US" sz="1150" dirty="0">
                <a:solidFill>
                  <a:srgbClr val="C0DBFF"/>
                </a:solidFill>
                <a:latin typeface="Noto Sans" pitchFamily="34" charset="0"/>
                <a:ea typeface="Noto Sans" pitchFamily="34" charset="-122"/>
                <a:cs typeface="Noto Sans" pitchFamily="34" charset="-120"/>
              </a:rPr>
              <a:t>Department of Social Justice &amp; Empowerment</a:t>
            </a:r>
            <a:endParaRPr lang="en-US" sz="1150" dirty="0"/>
          </a:p>
        </p:txBody>
      </p:sp>
      <p:sp>
        <p:nvSpPr>
          <p:cNvPr id="4" name="Text 1"/>
          <p:cNvSpPr txBox="1"/>
          <p:nvPr/>
        </p:nvSpPr>
        <p:spPr>
          <a:xfrm>
            <a:off x="658368" y="2194560"/>
            <a:ext cx="7680960" cy="1554480"/>
          </a:xfrm>
          <a:prstGeom prst="rect">
            <a:avLst/>
          </a:prstGeom>
          <a:noFill/>
          <a:ln/>
        </p:spPr>
        <p:txBody>
          <a:bodyPr wrap="square" lIns="0" tIns="0" rIns="0" bIns="0" rtlCol="0" anchor="ctr"/>
          <a:lstStyle/>
          <a:p>
            <a:pPr indent="0" marL="0">
              <a:lnSpc>
                <a:spcPct val="108000"/>
              </a:lnSpc>
              <a:buNone/>
            </a:pPr>
            <a:r>
              <a:rPr lang="en-US" sz="3800" b="1" dirty="0">
                <a:solidFill>
                  <a:srgbClr val="FFFFFF"/>
                </a:solidFill>
                <a:latin typeface="Noto Sans" pitchFamily="34" charset="0"/>
                <a:ea typeface="Noto Sans" pitchFamily="34" charset="-122"/>
                <a:cs typeface="Noto Sans" pitchFamily="34" charset="-120"/>
              </a:rPr>
              <a:t>Helping a Citizen Find</a:t>
            </a:r>
            <a:endParaRPr lang="en-US" sz="3800" dirty="0"/>
          </a:p>
          <a:p>
            <a:pPr indent="0" marL="0">
              <a:lnSpc>
                <a:spcPct val="108000"/>
              </a:lnSpc>
              <a:buNone/>
            </a:pPr>
            <a:r>
              <a:rPr lang="en-US" sz="3800" b="1" dirty="0">
                <a:solidFill>
                  <a:srgbClr val="FFFFFF"/>
                </a:solidFill>
                <a:latin typeface="Noto Sans" pitchFamily="34" charset="0"/>
                <a:ea typeface="Noto Sans" pitchFamily="34" charset="-122"/>
                <a:cs typeface="Noto Sans" pitchFamily="34" charset="-120"/>
              </a:rPr>
              <a:t>What They Are Entitled To</a:t>
            </a:r>
            <a:endParaRPr lang="en-US" sz="3800" dirty="0"/>
          </a:p>
        </p:txBody>
      </p:sp>
      <p:sp>
        <p:nvSpPr>
          <p:cNvPr id="5" name="Text 2"/>
          <p:cNvSpPr txBox="1"/>
          <p:nvPr/>
        </p:nvSpPr>
        <p:spPr>
          <a:xfrm>
            <a:off x="658368" y="3858768"/>
            <a:ext cx="8503920" cy="329184"/>
          </a:xfrm>
          <a:prstGeom prst="rect">
            <a:avLst/>
          </a:prstGeom>
          <a:noFill/>
          <a:ln/>
        </p:spPr>
        <p:txBody>
          <a:bodyPr wrap="square" lIns="0" tIns="0" rIns="0" bIns="0" rtlCol="0" anchor="ctr"/>
          <a:lstStyle/>
          <a:p>
            <a:pPr indent="0" marL="0">
              <a:buNone/>
            </a:pPr>
            <a:r>
              <a:rPr lang="en-US" sz="1500" dirty="0">
                <a:solidFill>
                  <a:srgbClr val="C0DBFF"/>
                </a:solidFill>
                <a:latin typeface="Noto Sans" pitchFamily="34" charset="0"/>
                <a:ea typeface="Noto Sans" pitchFamily="34" charset="-122"/>
                <a:cs typeface="Noto Sans" pitchFamily="34" charset="-120"/>
              </a:rPr>
              <a:t>Six options for the Department to consider, on three parts of the website</a:t>
            </a:r>
            <a:endParaRPr lang="en-US" sz="1500" dirty="0"/>
          </a:p>
        </p:txBody>
      </p:sp>
      <p:sp>
        <p:nvSpPr>
          <p:cNvPr id="6" name="Text 3"/>
          <p:cNvSpPr txBox="1"/>
          <p:nvPr/>
        </p:nvSpPr>
        <p:spPr>
          <a:xfrm>
            <a:off x="9326880" y="2286000"/>
            <a:ext cx="2194560" cy="960120"/>
          </a:xfrm>
          <a:prstGeom prst="rect">
            <a:avLst/>
          </a:prstGeom>
          <a:noFill/>
          <a:ln/>
        </p:spPr>
        <p:txBody>
          <a:bodyPr wrap="square" lIns="0" tIns="0" rIns="0" bIns="0" rtlCol="0" anchor="ctr"/>
          <a:lstStyle/>
          <a:p>
            <a:pPr algn="r" indent="0" marL="0">
              <a:buNone/>
            </a:pPr>
            <a:r>
              <a:rPr lang="en-US" sz="5400" b="1" dirty="0">
                <a:solidFill>
                  <a:srgbClr val="92C2FF"/>
                </a:solidFill>
                <a:latin typeface="Noto Sans" pitchFamily="34" charset="0"/>
                <a:ea typeface="Noto Sans" pitchFamily="34" charset="-122"/>
                <a:cs typeface="Noto Sans" pitchFamily="34" charset="-120"/>
              </a:rPr>
              <a:t>141</a:t>
            </a:r>
            <a:endParaRPr lang="en-US" sz="5400" dirty="0"/>
          </a:p>
        </p:txBody>
      </p:sp>
      <p:sp>
        <p:nvSpPr>
          <p:cNvPr id="7" name="Text 4"/>
          <p:cNvSpPr txBox="1"/>
          <p:nvPr/>
        </p:nvSpPr>
        <p:spPr>
          <a:xfrm>
            <a:off x="9326880" y="3291840"/>
            <a:ext cx="2194560" cy="512064"/>
          </a:xfrm>
          <a:prstGeom prst="rect">
            <a:avLst/>
          </a:prstGeom>
          <a:noFill/>
          <a:ln/>
        </p:spPr>
        <p:txBody>
          <a:bodyPr wrap="square" lIns="0" tIns="0" rIns="0" bIns="0" rtlCol="0" anchor="ctr"/>
          <a:lstStyle/>
          <a:p>
            <a:pPr algn="r" indent="0" marL="0">
              <a:lnSpc>
                <a:spcPct val="118000"/>
              </a:lnSpc>
              <a:buNone/>
            </a:pPr>
            <a:r>
              <a:rPr lang="en-US" sz="1100" dirty="0">
                <a:solidFill>
                  <a:srgbClr val="C0DBFF"/>
                </a:solidFill>
                <a:latin typeface="Noto Sans" pitchFamily="34" charset="0"/>
                <a:ea typeface="Noto Sans" pitchFamily="34" charset="-122"/>
                <a:cs typeface="Noto Sans" pitchFamily="34" charset="-120"/>
              </a:rPr>
              <a:t>schemes published</a:t>
            </a:r>
            <a:endParaRPr lang="en-US" sz="1100" dirty="0"/>
          </a:p>
          <a:p>
            <a:pPr algn="r" indent="0" marL="0">
              <a:lnSpc>
                <a:spcPct val="118000"/>
              </a:lnSpc>
              <a:buNone/>
            </a:pPr>
            <a:r>
              <a:rPr lang="en-US" sz="1100" dirty="0">
                <a:solidFill>
                  <a:srgbClr val="C0DBFF"/>
                </a:solidFill>
                <a:latin typeface="Noto Sans" pitchFamily="34" charset="0"/>
                <a:ea typeface="Noto Sans" pitchFamily="34" charset="-122"/>
                <a:cs typeface="Noto Sans" pitchFamily="34" charset="-120"/>
              </a:rPr>
              <a:t>by the Department</a:t>
            </a:r>
            <a:endParaRPr lang="en-US" sz="1100" dirty="0"/>
          </a:p>
        </p:txBody>
      </p:sp>
      <p:sp>
        <p:nvSpPr>
          <p:cNvPr id="8" name="Shape 5"/>
          <p:cNvSpPr/>
          <p:nvPr/>
        </p:nvSpPr>
        <p:spPr>
          <a:xfrm>
            <a:off x="658368" y="4937760"/>
            <a:ext cx="10874959" cy="0"/>
          </a:xfrm>
          <a:prstGeom prst="line">
            <a:avLst/>
          </a:prstGeom>
          <a:noFill/>
          <a:ln w="12700">
            <a:solidFill>
              <a:srgbClr val="004B96"/>
            </a:solidFill>
            <a:prstDash val="solid"/>
          </a:ln>
        </p:spPr>
      </p:sp>
      <p:sp>
        <p:nvSpPr>
          <p:cNvPr id="9" name="Text 6"/>
          <p:cNvSpPr txBox="1"/>
          <p:nvPr/>
        </p:nvSpPr>
        <p:spPr>
          <a:xfrm>
            <a:off x="658368" y="5175504"/>
            <a:ext cx="8046720" cy="274320"/>
          </a:xfrm>
          <a:prstGeom prst="rect">
            <a:avLst/>
          </a:prstGeom>
          <a:noFill/>
          <a:ln/>
        </p:spPr>
        <p:txBody>
          <a:bodyPr wrap="square" lIns="0" tIns="0" rIns="0" bIns="0" rtlCol="0" anchor="ctr"/>
          <a:lstStyle/>
          <a:p>
            <a:pPr indent="0" marL="0">
              <a:buNone/>
            </a:pPr>
            <a:r>
              <a:rPr lang="en-US" sz="1250" dirty="0">
                <a:solidFill>
                  <a:srgbClr val="FFFFFF"/>
                </a:solidFill>
                <a:latin typeface="Noto Sans" pitchFamily="34" charset="0"/>
                <a:ea typeface="Noto Sans" pitchFamily="34" charset="-122"/>
                <a:cs typeface="Noto Sans" pitchFamily="34" charset="-120"/>
              </a:rPr>
              <a:t>A review of how people find schemes on dosje.gov.in and socialjustice.gov.in</a:t>
            </a:r>
            <a:endParaRPr lang="en-US" sz="1250" dirty="0"/>
          </a:p>
        </p:txBody>
      </p:sp>
      <p:sp>
        <p:nvSpPr>
          <p:cNvPr id="10" name="Text 7"/>
          <p:cNvSpPr txBox="1"/>
          <p:nvPr/>
        </p:nvSpPr>
        <p:spPr>
          <a:xfrm>
            <a:off x="658368" y="5468112"/>
            <a:ext cx="8046720" cy="274320"/>
          </a:xfrm>
          <a:prstGeom prst="rect">
            <a:avLst/>
          </a:prstGeom>
          <a:noFill/>
          <a:ln/>
        </p:spPr>
        <p:txBody>
          <a:bodyPr wrap="square" lIns="0" tIns="0" rIns="0" bIns="0" rtlCol="0" anchor="ctr"/>
          <a:lstStyle/>
          <a:p>
            <a:pPr indent="0" marL="0">
              <a:buNone/>
            </a:pPr>
            <a:r>
              <a:rPr lang="en-US" sz="1100" dirty="0">
                <a:solidFill>
                  <a:srgbClr val="C0DBFF"/>
                </a:solidFill>
                <a:latin typeface="Noto Sans" pitchFamily="34" charset="0"/>
                <a:ea typeface="Noto Sans" pitchFamily="34" charset="-122"/>
                <a:cs typeface="Noto Sans" pitchFamily="34" charset="-120"/>
              </a:rPr>
              <a:t>Site checked on 20 August 2026 · Scheme records as on 13 June 2026 · MoSJE Design Research</a:t>
            </a:r>
            <a:endParaRPr lang="en-US" sz="1100" dirty="0"/>
          </a:p>
        </p:txBody>
      </p:sp>
      <p:sp>
        <p:nvSpPr>
          <p:cNvPr id="11" name="Text 8"/>
          <p:cNvSpPr txBox="1"/>
          <p:nvPr/>
        </p:nvSpPr>
        <p:spPr>
          <a:xfrm>
            <a:off x="8778240" y="5175504"/>
            <a:ext cx="2743200" cy="548640"/>
          </a:xfrm>
          <a:prstGeom prst="rect">
            <a:avLst/>
          </a:prstGeom>
          <a:noFill/>
          <a:ln/>
        </p:spPr>
        <p:txBody>
          <a:bodyPr wrap="square" lIns="0" tIns="0" rIns="0" bIns="0" rtlCol="0" anchor="ctr"/>
          <a:lstStyle/>
          <a:p>
            <a:pPr algn="r" indent="0" marL="0">
              <a:lnSpc>
                <a:spcPct val="118000"/>
              </a:lnSpc>
              <a:buNone/>
            </a:pPr>
            <a:r>
              <a:rPr lang="en-US" sz="1100" dirty="0">
                <a:solidFill>
                  <a:srgbClr val="C0DBFF"/>
                </a:solidFill>
                <a:latin typeface="Noto Sans" pitchFamily="34" charset="0"/>
                <a:ea typeface="Noto Sans" pitchFamily="34" charset="-122"/>
                <a:cs typeface="Noto Sans" pitchFamily="34" charset="-120"/>
              </a:rPr>
              <a:t>Sent with the design file</a:t>
            </a:r>
            <a:endParaRPr lang="en-US" sz="1100" dirty="0"/>
          </a:p>
          <a:p>
            <a:pPr algn="r" indent="0" marL="0">
              <a:lnSpc>
                <a:spcPct val="118000"/>
              </a:lnSpc>
              <a:buNone/>
            </a:pPr>
            <a:r>
              <a:rPr lang="en-US" sz="1100" dirty="0">
                <a:solidFill>
                  <a:srgbClr val="C0DBFF"/>
                </a:solidFill>
                <a:latin typeface="Noto Sans" pitchFamily="34" charset="0"/>
                <a:ea typeface="Noto Sans" pitchFamily="34" charset="-122"/>
                <a:cs typeface="Noto Sans" pitchFamily="34" charset="-120"/>
              </a:rPr>
              <a:t>MoSJE (WIP) — Service Discovery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01168"/>
          </a:xfrm>
          <a:prstGeom prst="rect">
            <a:avLst/>
          </a:prstGeom>
          <a:noFill/>
          <a:ln/>
        </p:spPr>
        <p:txBody>
          <a:bodyPr wrap="square" lIns="0" tIns="0" rIns="0" bIns="0" rtlCol="0" anchor="ctr"/>
          <a:lstStyle/>
          <a:p>
            <a:pPr indent="0" marL="0">
              <a:buNone/>
            </a:pPr>
            <a:r>
              <a:rPr lang="en-US" sz="1000" b="1" spc="120" kern="0" dirty="0">
                <a:solidFill>
                  <a:srgbClr val="54585E"/>
                </a:solidFill>
                <a:latin typeface="Noto Sans" pitchFamily="34" charset="0"/>
                <a:ea typeface="Noto Sans" pitchFamily="34" charset="-122"/>
                <a:cs typeface="Noto Sans" pitchFamily="34" charset="-120"/>
              </a:rPr>
              <a:t>THE REASON FOR THIS REVIEW</a:t>
            </a:r>
            <a:endParaRPr lang="en-US" sz="1000" dirty="0"/>
          </a:p>
        </p:txBody>
      </p:sp>
      <p:sp>
        <p:nvSpPr>
          <p:cNvPr id="3" name="Text 1"/>
          <p:cNvSpPr txBox="1"/>
          <p:nvPr/>
        </p:nvSpPr>
        <p:spPr>
          <a:xfrm>
            <a:off x="658368" y="621792"/>
            <a:ext cx="10874959" cy="420624"/>
          </a:xfrm>
          <a:prstGeom prst="rect">
            <a:avLst/>
          </a:prstGeom>
          <a:noFill/>
          <a:ln/>
        </p:spPr>
        <p:txBody>
          <a:bodyPr wrap="square" lIns="0" tIns="0" rIns="0" bIns="0" rtlCol="0" anchor="ctr"/>
          <a:lstStyle/>
          <a:p>
            <a:pPr indent="0" marL="0">
              <a:buNone/>
            </a:pPr>
            <a:r>
              <a:rPr lang="en-US" sz="2600" b="1" dirty="0">
                <a:solidFill>
                  <a:srgbClr val="003975"/>
                </a:solidFill>
                <a:latin typeface="Noto Sans" pitchFamily="34" charset="0"/>
                <a:ea typeface="Noto Sans" pitchFamily="34" charset="-122"/>
                <a:cs typeface="Noto Sans" pitchFamily="34" charset="-120"/>
              </a:rPr>
              <a:t>Why a Citizen Cannot Find a Scheme Today</a:t>
            </a:r>
            <a:endParaRPr lang="en-US" sz="2600" dirty="0"/>
          </a:p>
        </p:txBody>
      </p:sp>
      <p:sp>
        <p:nvSpPr>
          <p:cNvPr id="4" name="Text 2"/>
          <p:cNvSpPr txBox="1"/>
          <p:nvPr/>
        </p:nvSpPr>
        <p:spPr>
          <a:xfrm>
            <a:off x="658368" y="1078992"/>
            <a:ext cx="10004962" cy="274320"/>
          </a:xfrm>
          <a:prstGeom prst="rect">
            <a:avLst/>
          </a:prstGeom>
          <a:noFill/>
          <a:ln/>
        </p:spPr>
        <p:txBody>
          <a:bodyPr wrap="square" lIns="0" tIns="0" rIns="0" bIns="0" rtlCol="0" anchor="ctr"/>
          <a:lstStyle/>
          <a:p>
            <a:pPr indent="0" marL="0">
              <a:buNone/>
            </a:pPr>
            <a:r>
              <a:rPr lang="en-US" sz="1200" dirty="0">
                <a:solidFill>
                  <a:srgbClr val="3A3D41"/>
                </a:solidFill>
                <a:latin typeface="Noto Sans" pitchFamily="34" charset="0"/>
                <a:ea typeface="Noto Sans" pitchFamily="34" charset="-122"/>
                <a:cs typeface="Noto Sans" pitchFamily="34" charset="-120"/>
              </a:rPr>
              <a:t>The Schemes page has a Target Group filter. For each group the Department serves, this shows how many schemes are meant for them, and how many the filter can actually find.</a:t>
            </a:r>
            <a:endParaRPr lang="en-US" sz="1200" dirty="0"/>
          </a:p>
        </p:txBody>
      </p:sp>
      <p:graphicFrame>
        <p:nvGraphicFramePr>
          <p:cNvPr id="5" name="Chart 0" descr=""/>
          <p:cNvGraphicFramePr/>
          <p:nvPr/>
        </p:nvGraphicFramePr>
        <p:xfrm>
          <a:off x="658368" y="1481328"/>
          <a:ext cx="7315200" cy="4279392"/>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385048" y="1481328"/>
            <a:ext cx="3148279" cy="1280160"/>
          </a:xfrm>
          <a:prstGeom prst="rect">
            <a:avLst/>
          </a:prstGeom>
          <a:solidFill>
            <a:srgbClr val="EEF0F3"/>
          </a:solidFill>
          <a:ln w="9525">
            <a:solidFill>
              <a:srgbClr val="DCDEE1"/>
            </a:solidFill>
            <a:prstDash val="solid"/>
          </a:ln>
        </p:spPr>
      </p:sp>
      <p:sp>
        <p:nvSpPr>
          <p:cNvPr id="7" name="Text 4"/>
          <p:cNvSpPr txBox="1"/>
          <p:nvPr/>
        </p:nvSpPr>
        <p:spPr>
          <a:xfrm>
            <a:off x="8604504" y="1627632"/>
            <a:ext cx="2709367" cy="512064"/>
          </a:xfrm>
          <a:prstGeom prst="rect">
            <a:avLst/>
          </a:prstGeom>
          <a:noFill/>
          <a:ln/>
        </p:spPr>
        <p:txBody>
          <a:bodyPr wrap="square" lIns="0" tIns="0" rIns="0" bIns="0" rtlCol="0" anchor="ctr"/>
          <a:lstStyle/>
          <a:p>
            <a:pPr indent="0" marL="0">
              <a:buNone/>
            </a:pPr>
            <a:r>
              <a:rPr lang="en-US" sz="3000" b="1" dirty="0">
                <a:solidFill>
                  <a:srgbClr val="005EB9"/>
                </a:solidFill>
                <a:latin typeface="Noto Sans" pitchFamily="34" charset="0"/>
                <a:ea typeface="Noto Sans" pitchFamily="34" charset="-122"/>
                <a:cs typeface="Noto Sans" pitchFamily="34" charset="-120"/>
              </a:rPr>
              <a:t>32</a:t>
            </a:r>
            <a:pPr indent="0" marL="0">
              <a:buNone/>
            </a:pPr>
            <a:r>
              <a:rPr lang="en-US" sz="1200" b="1" dirty="0">
                <a:solidFill>
                  <a:srgbClr val="54585E"/>
                </a:solidFill>
                <a:latin typeface="Noto Sans" pitchFamily="34" charset="0"/>
                <a:ea typeface="Noto Sans" pitchFamily="34" charset="-122"/>
                <a:cs typeface="Noto Sans" pitchFamily="34" charset="-120"/>
              </a:rPr>
              <a:t>   to   </a:t>
            </a:r>
            <a:pPr indent="0" marL="0">
              <a:buNone/>
            </a:pPr>
            <a:r>
              <a:rPr lang="en-US" sz="3000" b="1" dirty="0">
                <a:solidFill>
                  <a:srgbClr val="A43A00"/>
                </a:solidFill>
                <a:latin typeface="Noto Sans" pitchFamily="34" charset="0"/>
                <a:ea typeface="Noto Sans" pitchFamily="34" charset="-122"/>
                <a:cs typeface="Noto Sans" pitchFamily="34" charset="-120"/>
              </a:rPr>
              <a:t>5</a:t>
            </a:r>
            <a:endParaRPr lang="en-US" sz="3000" dirty="0"/>
          </a:p>
        </p:txBody>
      </p:sp>
      <p:sp>
        <p:nvSpPr>
          <p:cNvPr id="8" name="Text 5"/>
          <p:cNvSpPr txBox="1"/>
          <p:nvPr/>
        </p:nvSpPr>
        <p:spPr>
          <a:xfrm>
            <a:off x="8604504" y="2139696"/>
            <a:ext cx="2709367" cy="219456"/>
          </a:xfrm>
          <a:prstGeom prst="rect">
            <a:avLst/>
          </a:prstGeom>
          <a:noFill/>
          <a:ln/>
        </p:spPr>
        <p:txBody>
          <a:bodyPr wrap="square" lIns="0" tIns="0" rIns="0" bIns="0" rtlCol="0" anchor="ctr"/>
          <a:lstStyle/>
          <a:p>
            <a:pPr indent="0" marL="0">
              <a:buNone/>
            </a:pPr>
            <a:r>
              <a:rPr lang="en-US" sz="1200" b="1" dirty="0">
                <a:solidFill>
                  <a:srgbClr val="003975"/>
                </a:solidFill>
                <a:latin typeface="Noto Sans" pitchFamily="34" charset="0"/>
                <a:ea typeface="Noto Sans" pitchFamily="34" charset="-122"/>
                <a:cs typeface="Noto Sans" pitchFamily="34" charset="-120"/>
              </a:rPr>
              <a:t>Scheduled Castes</a:t>
            </a:r>
            <a:endParaRPr lang="en-US" sz="1200" dirty="0"/>
          </a:p>
        </p:txBody>
      </p:sp>
      <p:sp>
        <p:nvSpPr>
          <p:cNvPr id="9" name="Text 6"/>
          <p:cNvSpPr txBox="1"/>
          <p:nvPr/>
        </p:nvSpPr>
        <p:spPr>
          <a:xfrm>
            <a:off x="8604504" y="2377440"/>
            <a:ext cx="2709367" cy="347472"/>
          </a:xfrm>
          <a:prstGeom prst="rect">
            <a:avLst/>
          </a:prstGeom>
          <a:noFill/>
          <a:ln/>
        </p:spPr>
        <p:txBody>
          <a:bodyPr wrap="square" lIns="0" tIns="0" rIns="0" bIns="0" rtlCol="0" anchor="ctr"/>
          <a:lstStyle/>
          <a:p>
            <a:pPr indent="0" marL="0">
              <a:lnSpc>
                <a:spcPct val="114000"/>
              </a:lnSpc>
              <a:buNone/>
            </a:pPr>
            <a:r>
              <a:rPr lang="en-US" sz="950" dirty="0">
                <a:solidFill>
                  <a:srgbClr val="3A3D41"/>
                </a:solidFill>
                <a:latin typeface="Noto Sans" pitchFamily="34" charset="0"/>
                <a:ea typeface="Noto Sans" pitchFamily="34" charset="-122"/>
                <a:cs typeface="Noto Sans" pitchFamily="34" charset="-120"/>
              </a:rPr>
              <a:t>The Department's largest group. None of the five results is a scholarship.</a:t>
            </a:r>
            <a:endParaRPr lang="en-US" sz="950" dirty="0"/>
          </a:p>
        </p:txBody>
      </p:sp>
      <p:sp>
        <p:nvSpPr>
          <p:cNvPr id="10" name="Shape 7"/>
          <p:cNvSpPr/>
          <p:nvPr/>
        </p:nvSpPr>
        <p:spPr>
          <a:xfrm>
            <a:off x="8385048" y="2907792"/>
            <a:ext cx="3148279" cy="1280160"/>
          </a:xfrm>
          <a:prstGeom prst="rect">
            <a:avLst/>
          </a:prstGeom>
          <a:solidFill>
            <a:srgbClr val="EEF0F3"/>
          </a:solidFill>
          <a:ln w="9525">
            <a:solidFill>
              <a:srgbClr val="DCDEE1"/>
            </a:solidFill>
            <a:prstDash val="solid"/>
          </a:ln>
        </p:spPr>
      </p:sp>
      <p:sp>
        <p:nvSpPr>
          <p:cNvPr id="11" name="Text 8"/>
          <p:cNvSpPr txBox="1"/>
          <p:nvPr/>
        </p:nvSpPr>
        <p:spPr>
          <a:xfrm>
            <a:off x="8604504" y="3054096"/>
            <a:ext cx="2709367" cy="512064"/>
          </a:xfrm>
          <a:prstGeom prst="rect">
            <a:avLst/>
          </a:prstGeom>
          <a:noFill/>
          <a:ln/>
        </p:spPr>
        <p:txBody>
          <a:bodyPr wrap="square" lIns="0" tIns="0" rIns="0" bIns="0" rtlCol="0" anchor="ctr"/>
          <a:lstStyle/>
          <a:p>
            <a:pPr indent="0" marL="0">
              <a:buNone/>
            </a:pPr>
            <a:r>
              <a:rPr lang="en-US" sz="3000" b="1" dirty="0">
                <a:solidFill>
                  <a:srgbClr val="005EB9"/>
                </a:solidFill>
                <a:latin typeface="Noto Sans" pitchFamily="34" charset="0"/>
                <a:ea typeface="Noto Sans" pitchFamily="34" charset="-122"/>
                <a:cs typeface="Noto Sans" pitchFamily="34" charset="-120"/>
              </a:rPr>
              <a:t>23</a:t>
            </a:r>
            <a:pPr indent="0" marL="0">
              <a:buNone/>
            </a:pPr>
            <a:r>
              <a:rPr lang="en-US" sz="1200" b="1" dirty="0">
                <a:solidFill>
                  <a:srgbClr val="54585E"/>
                </a:solidFill>
                <a:latin typeface="Noto Sans" pitchFamily="34" charset="0"/>
                <a:ea typeface="Noto Sans" pitchFamily="34" charset="-122"/>
                <a:cs typeface="Noto Sans" pitchFamily="34" charset="-120"/>
              </a:rPr>
              <a:t>   to   </a:t>
            </a:r>
            <a:pPr indent="0" marL="0">
              <a:buNone/>
            </a:pPr>
            <a:r>
              <a:rPr lang="en-US" sz="3000" b="1" dirty="0">
                <a:solidFill>
                  <a:srgbClr val="A43A00"/>
                </a:solidFill>
                <a:latin typeface="Noto Sans" pitchFamily="34" charset="0"/>
                <a:ea typeface="Noto Sans" pitchFamily="34" charset="-122"/>
                <a:cs typeface="Noto Sans" pitchFamily="34" charset="-120"/>
              </a:rPr>
              <a:t>0</a:t>
            </a:r>
            <a:endParaRPr lang="en-US" sz="3000" dirty="0"/>
          </a:p>
        </p:txBody>
      </p:sp>
      <p:sp>
        <p:nvSpPr>
          <p:cNvPr id="12" name="Text 9"/>
          <p:cNvSpPr txBox="1"/>
          <p:nvPr/>
        </p:nvSpPr>
        <p:spPr>
          <a:xfrm>
            <a:off x="8604504" y="3566160"/>
            <a:ext cx="2709367" cy="219456"/>
          </a:xfrm>
          <a:prstGeom prst="rect">
            <a:avLst/>
          </a:prstGeom>
          <a:noFill/>
          <a:ln/>
        </p:spPr>
        <p:txBody>
          <a:bodyPr wrap="square" lIns="0" tIns="0" rIns="0" bIns="0" rtlCol="0" anchor="ctr"/>
          <a:lstStyle/>
          <a:p>
            <a:pPr indent="0" marL="0">
              <a:buNone/>
            </a:pPr>
            <a:r>
              <a:rPr lang="en-US" sz="1200" b="1" dirty="0">
                <a:solidFill>
                  <a:srgbClr val="003975"/>
                </a:solidFill>
                <a:latin typeface="Noto Sans" pitchFamily="34" charset="0"/>
                <a:ea typeface="Noto Sans" pitchFamily="34" charset="-122"/>
                <a:cs typeface="Noto Sans" pitchFamily="34" charset="-120"/>
              </a:rPr>
              <a:t>Women and Girls</a:t>
            </a:r>
            <a:endParaRPr lang="en-US" sz="1200" dirty="0"/>
          </a:p>
        </p:txBody>
      </p:sp>
      <p:sp>
        <p:nvSpPr>
          <p:cNvPr id="13" name="Text 10"/>
          <p:cNvSpPr txBox="1"/>
          <p:nvPr/>
        </p:nvSpPr>
        <p:spPr>
          <a:xfrm>
            <a:off x="8604504" y="3803904"/>
            <a:ext cx="2709367" cy="347472"/>
          </a:xfrm>
          <a:prstGeom prst="rect">
            <a:avLst/>
          </a:prstGeom>
          <a:noFill/>
          <a:ln/>
        </p:spPr>
        <p:txBody>
          <a:bodyPr wrap="square" lIns="0" tIns="0" rIns="0" bIns="0" rtlCol="0" anchor="ctr"/>
          <a:lstStyle/>
          <a:p>
            <a:pPr indent="0" marL="0">
              <a:lnSpc>
                <a:spcPct val="114000"/>
              </a:lnSpc>
              <a:buNone/>
            </a:pPr>
            <a:r>
              <a:rPr lang="en-US" sz="950" dirty="0">
                <a:solidFill>
                  <a:srgbClr val="3A3D41"/>
                </a:solidFill>
                <a:latin typeface="Noto Sans" pitchFamily="34" charset="0"/>
                <a:ea typeface="Noto Sans" pitchFamily="34" charset="-122"/>
                <a:cs typeface="Noto Sans" pitchFamily="34" charset="-120"/>
              </a:rPr>
              <a:t>Twenty-three schemes are meant for them. The filter finds none of them.</a:t>
            </a:r>
            <a:endParaRPr lang="en-US" sz="950" dirty="0"/>
          </a:p>
        </p:txBody>
      </p:sp>
      <p:sp>
        <p:nvSpPr>
          <p:cNvPr id="14" name="Shape 11"/>
          <p:cNvSpPr/>
          <p:nvPr/>
        </p:nvSpPr>
        <p:spPr>
          <a:xfrm>
            <a:off x="8385048" y="4334256"/>
            <a:ext cx="3148279" cy="1426464"/>
          </a:xfrm>
          <a:prstGeom prst="rect">
            <a:avLst/>
          </a:prstGeom>
          <a:solidFill>
            <a:srgbClr val="003975"/>
          </a:solidFill>
          <a:ln w="12700">
            <a:solidFill>
              <a:srgbClr val="003975"/>
            </a:solidFill>
            <a:prstDash val="solid"/>
          </a:ln>
        </p:spPr>
      </p:sp>
      <p:sp>
        <p:nvSpPr>
          <p:cNvPr id="15" name="Text 12"/>
          <p:cNvSpPr txBox="1"/>
          <p:nvPr/>
        </p:nvSpPr>
        <p:spPr>
          <a:xfrm>
            <a:off x="8604504" y="4498848"/>
            <a:ext cx="2709367" cy="768096"/>
          </a:xfrm>
          <a:prstGeom prst="rect">
            <a:avLst/>
          </a:prstGeom>
          <a:noFill/>
          <a:ln/>
        </p:spPr>
        <p:txBody>
          <a:bodyPr wrap="square" lIns="0" tIns="0" rIns="0" bIns="0" rtlCol="0" anchor="ctr"/>
          <a:lstStyle/>
          <a:p>
            <a:pPr indent="0" marL="0">
              <a:lnSpc>
                <a:spcPct val="114000"/>
              </a:lnSpc>
              <a:buNone/>
            </a:pPr>
            <a:r>
              <a:rPr lang="en-US" sz="1450" b="1" dirty="0">
                <a:solidFill>
                  <a:srgbClr val="FFFFFF"/>
                </a:solidFill>
                <a:latin typeface="Noto Sans" pitchFamily="34" charset="0"/>
                <a:ea typeface="Noto Sans" pitchFamily="34" charset="-122"/>
                <a:cs typeface="Noto Sans" pitchFamily="34" charset="-120"/>
              </a:rPr>
              <a:t>The filter works. The information behind it was never filled in.</a:t>
            </a:r>
            <a:endParaRPr lang="en-US" sz="1450" dirty="0"/>
          </a:p>
        </p:txBody>
      </p:sp>
      <p:sp>
        <p:nvSpPr>
          <p:cNvPr id="16" name="Text 13"/>
          <p:cNvSpPr txBox="1"/>
          <p:nvPr/>
        </p:nvSpPr>
        <p:spPr>
          <a:xfrm>
            <a:off x="8604504" y="5303520"/>
            <a:ext cx="2709367" cy="365760"/>
          </a:xfrm>
          <a:prstGeom prst="rect">
            <a:avLst/>
          </a:prstGeom>
          <a:noFill/>
          <a:ln/>
        </p:spPr>
        <p:txBody>
          <a:bodyPr wrap="square" lIns="0" tIns="0" rIns="0" bIns="0" rtlCol="0" anchor="ctr"/>
          <a:lstStyle/>
          <a:p>
            <a:pPr indent="0" marL="0">
              <a:lnSpc>
                <a:spcPct val="116000"/>
              </a:lnSpc>
              <a:buNone/>
            </a:pPr>
            <a:r>
              <a:rPr lang="en-US" sz="1000" dirty="0">
                <a:solidFill>
                  <a:srgbClr val="C0DBFF"/>
                </a:solidFill>
                <a:latin typeface="Noto Sans" pitchFamily="34" charset="0"/>
                <a:ea typeface="Noto Sans" pitchFamily="34" charset="-122"/>
                <a:cs typeface="Noto Sans" pitchFamily="34" charset="-120"/>
              </a:rPr>
              <a:t>Only 2 of the 141 scheme records name more than one group; 27 name none at all.</a:t>
            </a:r>
            <a:endParaRPr lang="en-US" sz="1000" dirty="0"/>
          </a:p>
        </p:txBody>
      </p:sp>
      <p:sp>
        <p:nvSpPr>
          <p:cNvPr id="17" name="Text 14"/>
          <p:cNvSpPr txBox="1"/>
          <p:nvPr/>
        </p:nvSpPr>
        <p:spPr>
          <a:xfrm>
            <a:off x="658368" y="6419088"/>
            <a:ext cx="10874959" cy="219456"/>
          </a:xfrm>
          <a:prstGeom prst="rect">
            <a:avLst/>
          </a:prstGeom>
          <a:noFill/>
          <a:ln/>
        </p:spPr>
        <p:txBody>
          <a:bodyPr wrap="square" lIns="0" tIns="0" rIns="0" bIns="0" rtlCol="0" anchor="ctr"/>
          <a:lstStyle/>
          <a:p>
            <a:pPr indent="0" marL="0">
              <a:buNone/>
            </a:pPr>
            <a:r>
              <a:rPr lang="en-US" sz="900" dirty="0">
                <a:solidFill>
                  <a:srgbClr val="54585E"/>
                </a:solidFill>
                <a:latin typeface="Noto Sans" pitchFamily="34" charset="0"/>
                <a:ea typeface="Noto Sans" pitchFamily="34" charset="-122"/>
                <a:cs typeface="Noto Sans" pitchFamily="34" charset="-120"/>
              </a:rPr>
              <a:t>Source: §1.3 of the review. Scheme records as on 13 June 2026; site behaviour checked on 20 August 2026. The counting method is generous, so the shortfall is at least this large.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3975"/>
        </a:solidFill>
      </p:bgPr>
    </p:bg>
    <p:spTree>
      <p:nvGrpSpPr>
        <p:cNvPr id="1" name=""/>
        <p:cNvGrpSpPr/>
        <p:nvPr/>
      </p:nvGrpSpPr>
      <p:grpSpPr>
        <a:xfrm>
          <a:off x="0" y="0"/>
          <a:ext cx="0" cy="0"/>
          <a:chOff x="0" y="0"/>
          <a:chExt cx="0" cy="0"/>
        </a:xfrm>
      </p:grpSpPr>
      <p:sp>
        <p:nvSpPr>
          <p:cNvPr id="2" name="Text 0"/>
          <p:cNvSpPr txBox="1"/>
          <p:nvPr/>
        </p:nvSpPr>
        <p:spPr>
          <a:xfrm>
            <a:off x="658368" y="731520"/>
            <a:ext cx="10874959" cy="219456"/>
          </a:xfrm>
          <a:prstGeom prst="rect">
            <a:avLst/>
          </a:prstGeom>
          <a:noFill/>
          <a:ln/>
        </p:spPr>
        <p:txBody>
          <a:bodyPr wrap="square" lIns="0" tIns="0" rIns="0" bIns="0" rtlCol="0" anchor="ctr"/>
          <a:lstStyle/>
          <a:p>
            <a:pPr indent="0" marL="0">
              <a:buNone/>
            </a:pPr>
            <a:r>
              <a:rPr lang="en-US" sz="1000" b="1" spc="130" kern="0" dirty="0">
                <a:solidFill>
                  <a:srgbClr val="C0DBFF"/>
                </a:solidFill>
                <a:latin typeface="Noto Sans" pitchFamily="34" charset="0"/>
                <a:ea typeface="Noto Sans" pitchFamily="34" charset="-122"/>
                <a:cs typeface="Noto Sans" pitchFamily="34" charset="-120"/>
              </a:rPr>
              <a:t>WHAT IS BEING PLACED BEFORE YOU</a:t>
            </a:r>
            <a:endParaRPr lang="en-US" sz="1000" dirty="0"/>
          </a:p>
        </p:txBody>
      </p:sp>
      <p:sp>
        <p:nvSpPr>
          <p:cNvPr id="3" name="Text 1"/>
          <p:cNvSpPr txBox="1"/>
          <p:nvPr/>
        </p:nvSpPr>
        <p:spPr>
          <a:xfrm>
            <a:off x="658368" y="1005840"/>
            <a:ext cx="10874959" cy="548640"/>
          </a:xfrm>
          <a:prstGeom prst="rect">
            <a:avLst/>
          </a:prstGeom>
          <a:noFill/>
          <a:ln/>
        </p:spPr>
        <p:txBody>
          <a:bodyPr wrap="square" lIns="0" tIns="0" rIns="0" bIns="0" rtlCol="0" anchor="ctr"/>
          <a:lstStyle/>
          <a:p>
            <a:pPr indent="0" marL="0">
              <a:buNone/>
            </a:pPr>
            <a:r>
              <a:rPr lang="en-US" sz="3200" b="1" dirty="0">
                <a:solidFill>
                  <a:srgbClr val="FFFFFF"/>
                </a:solidFill>
                <a:latin typeface="Noto Sans" pitchFamily="34" charset="0"/>
                <a:ea typeface="Noto Sans" pitchFamily="34" charset="-122"/>
                <a:cs typeface="Noto Sans" pitchFamily="34" charset="-120"/>
              </a:rPr>
              <a:t>Three Decisions. Six Options.</a:t>
            </a:r>
            <a:endParaRPr lang="en-US" sz="3200" dirty="0"/>
          </a:p>
        </p:txBody>
      </p:sp>
      <p:sp>
        <p:nvSpPr>
          <p:cNvPr id="4" name="Text 2"/>
          <p:cNvSpPr txBox="1"/>
          <p:nvPr/>
        </p:nvSpPr>
        <p:spPr>
          <a:xfrm>
            <a:off x="658368" y="1664208"/>
            <a:ext cx="9509760" cy="548640"/>
          </a:xfrm>
          <a:prstGeom prst="rect">
            <a:avLst/>
          </a:prstGeom>
          <a:noFill/>
          <a:ln/>
        </p:spPr>
        <p:txBody>
          <a:bodyPr wrap="square" lIns="0" tIns="0" rIns="0" bIns="0" rtlCol="0" anchor="ctr"/>
          <a:lstStyle/>
          <a:p>
            <a:pPr indent="0" marL="0">
              <a:lnSpc>
                <a:spcPct val="120000"/>
              </a:lnSpc>
              <a:buNone/>
            </a:pPr>
            <a:r>
              <a:rPr lang="en-US" sz="1300" dirty="0">
                <a:solidFill>
                  <a:srgbClr val="C0DBFF"/>
                </a:solidFill>
                <a:latin typeface="Noto Sans" pitchFamily="34" charset="0"/>
                <a:ea typeface="Noto Sans" pitchFamily="34" charset="-122"/>
                <a:cs typeface="Noto Sans" pitchFamily="34" charset="-120"/>
              </a:rPr>
              <a:t>Each option is placed on a page of its own, with what it is, what a citizen does, what is in its favour, what is against it, and what the Department would have to do first. The three parts are decided separately.</a:t>
            </a:r>
            <a:endParaRPr lang="en-US" sz="1300" dirty="0"/>
          </a:p>
        </p:txBody>
      </p:sp>
      <p:sp>
        <p:nvSpPr>
          <p:cNvPr id="5" name="Shape 3"/>
          <p:cNvSpPr/>
          <p:nvPr/>
        </p:nvSpPr>
        <p:spPr>
          <a:xfrm>
            <a:off x="658368" y="2487168"/>
            <a:ext cx="3429914" cy="3200400"/>
          </a:xfrm>
          <a:prstGeom prst="rect">
            <a:avLst/>
          </a:prstGeom>
          <a:solidFill>
            <a:srgbClr val="004B96"/>
          </a:solidFill>
          <a:ln w="12700">
            <a:solidFill>
              <a:srgbClr val="004B96"/>
            </a:solidFill>
            <a:prstDash val="solid"/>
          </a:ln>
        </p:spPr>
      </p:sp>
      <p:sp>
        <p:nvSpPr>
          <p:cNvPr id="6" name="Text 4"/>
          <p:cNvSpPr txBox="1"/>
          <p:nvPr/>
        </p:nvSpPr>
        <p:spPr>
          <a:xfrm>
            <a:off x="950976" y="2688336"/>
            <a:ext cx="2844698" cy="603504"/>
          </a:xfrm>
          <a:prstGeom prst="rect">
            <a:avLst/>
          </a:prstGeom>
          <a:noFill/>
          <a:ln/>
        </p:spPr>
        <p:txBody>
          <a:bodyPr wrap="square" lIns="0" tIns="0" rIns="0" bIns="0" rtlCol="0" anchor="ctr"/>
          <a:lstStyle/>
          <a:p>
            <a:pPr indent="0" marL="0">
              <a:buNone/>
            </a:pPr>
            <a:r>
              <a:rPr lang="en-US" sz="4000" b="1" dirty="0">
                <a:solidFill>
                  <a:srgbClr val="92C2FF"/>
                </a:solidFill>
                <a:latin typeface="Noto Sans" pitchFamily="34" charset="0"/>
                <a:ea typeface="Noto Sans" pitchFamily="34" charset="-122"/>
                <a:cs typeface="Noto Sans" pitchFamily="34" charset="-120"/>
              </a:rPr>
              <a:t>1</a:t>
            </a:r>
            <a:endParaRPr lang="en-US" sz="4000" dirty="0"/>
          </a:p>
        </p:txBody>
      </p:sp>
      <p:sp>
        <p:nvSpPr>
          <p:cNvPr id="7" name="Text 5"/>
          <p:cNvSpPr txBox="1"/>
          <p:nvPr/>
        </p:nvSpPr>
        <p:spPr>
          <a:xfrm>
            <a:off x="950976" y="3346704"/>
            <a:ext cx="2844698" cy="292608"/>
          </a:xfrm>
          <a:prstGeom prst="rect">
            <a:avLst/>
          </a:prstGeom>
          <a:noFill/>
          <a:ln/>
        </p:spPr>
        <p:txBody>
          <a:bodyPr wrap="square" lIns="0" tIns="0" rIns="0" bIns="0" rtlCol="0" anchor="ctr"/>
          <a:lstStyle/>
          <a:p>
            <a:pPr indent="0" marL="0">
              <a:buNone/>
            </a:pPr>
            <a:r>
              <a:rPr lang="en-US" sz="1800" b="1" dirty="0">
                <a:solidFill>
                  <a:srgbClr val="FFFFFF"/>
                </a:solidFill>
                <a:latin typeface="Noto Sans" pitchFamily="34" charset="0"/>
                <a:ea typeface="Noto Sans" pitchFamily="34" charset="-122"/>
                <a:cs typeface="Noto Sans" pitchFamily="34" charset="-120"/>
              </a:rPr>
              <a:t>The Home Page</a:t>
            </a:r>
            <a:endParaRPr lang="en-US" sz="1800" dirty="0"/>
          </a:p>
        </p:txBody>
      </p:sp>
      <p:sp>
        <p:nvSpPr>
          <p:cNvPr id="8" name="Text 6"/>
          <p:cNvSpPr txBox="1"/>
          <p:nvPr/>
        </p:nvSpPr>
        <p:spPr>
          <a:xfrm>
            <a:off x="950976" y="3675888"/>
            <a:ext cx="2844698" cy="201168"/>
          </a:xfrm>
          <a:prstGeom prst="rect">
            <a:avLst/>
          </a:prstGeom>
          <a:noFill/>
          <a:ln/>
        </p:spPr>
        <p:txBody>
          <a:bodyPr wrap="square" lIns="0" tIns="0" rIns="0" bIns="0" rtlCol="0" anchor="ctr"/>
          <a:lstStyle/>
          <a:p>
            <a:pPr indent="0" marL="0">
              <a:buNone/>
            </a:pPr>
            <a:r>
              <a:rPr lang="en-US" sz="900" b="1" spc="110" kern="0" dirty="0">
                <a:solidFill>
                  <a:srgbClr val="92C2FF"/>
                </a:solidFill>
                <a:latin typeface="Noto Sans" pitchFamily="34" charset="0"/>
                <a:ea typeface="Noto Sans" pitchFamily="34" charset="-122"/>
                <a:cs typeface="Noto Sans" pitchFamily="34" charset="-120"/>
              </a:rPr>
              <a:t>THREE OPTIONS</a:t>
            </a:r>
            <a:endParaRPr lang="en-US" sz="900" dirty="0"/>
          </a:p>
        </p:txBody>
      </p:sp>
      <p:sp>
        <p:nvSpPr>
          <p:cNvPr id="9" name="Text 7"/>
          <p:cNvSpPr txBox="1"/>
          <p:nvPr/>
        </p:nvSpPr>
        <p:spPr>
          <a:xfrm>
            <a:off x="950976" y="3931920"/>
            <a:ext cx="2844698" cy="548640"/>
          </a:xfrm>
          <a:prstGeom prst="rect">
            <a:avLst/>
          </a:prstGeom>
          <a:noFill/>
          <a:ln/>
        </p:spPr>
        <p:txBody>
          <a:bodyPr wrap="square" lIns="0" tIns="0" rIns="0" bIns="0" rtlCol="0" anchor="ctr"/>
          <a:lstStyle/>
          <a:p>
            <a:pPr indent="0" marL="0">
              <a:lnSpc>
                <a:spcPct val="118000"/>
              </a:lnSpc>
              <a:buNone/>
            </a:pPr>
            <a:r>
              <a:rPr lang="en-US" sz="1050" dirty="0">
                <a:solidFill>
                  <a:srgbClr val="C0DBFF"/>
                </a:solidFill>
                <a:latin typeface="Noto Sans" pitchFamily="34" charset="0"/>
                <a:ea typeface="Noto Sans" pitchFamily="34" charset="-122"/>
                <a:cs typeface="Noto Sans" pitchFamily="34" charset="-120"/>
              </a:rPr>
              <a:t>Where most people arrive for the first time.</a:t>
            </a:r>
            <a:endParaRPr lang="en-US" sz="1050" dirty="0"/>
          </a:p>
        </p:txBody>
      </p:sp>
      <p:sp>
        <p:nvSpPr>
          <p:cNvPr id="10" name="Text 8"/>
          <p:cNvSpPr txBox="1"/>
          <p:nvPr/>
        </p:nvSpPr>
        <p:spPr>
          <a:xfrm>
            <a:off x="950976" y="4535424"/>
            <a:ext cx="2844698" cy="1005840"/>
          </a:xfrm>
          <a:prstGeom prst="rect">
            <a:avLst/>
          </a:prstGeom>
          <a:noFill/>
          <a:ln/>
        </p:spPr>
        <p:txBody>
          <a:bodyPr wrap="square" lIns="0" tIns="0" rIns="0" bIns="0" rtlCol="0" anchor="ctr"/>
          <a:lstStyle/>
          <a:p>
            <a:pPr indent="0" marL="0">
              <a:lnSpc>
                <a:spcPct val="120000"/>
              </a:lnSpc>
              <a:buNone/>
            </a:pPr>
            <a:r>
              <a:rPr lang="en-US" sz="1000" dirty="0">
                <a:solidFill>
                  <a:srgbClr val="FFFFFF"/>
                </a:solidFill>
                <a:latin typeface="Noto Sans" pitchFamily="34" charset="0"/>
                <a:ea typeface="Noto Sans" pitchFamily="34" charset="-122"/>
                <a:cs typeface="Noto Sans" pitchFamily="34" charset="-120"/>
              </a:rPr>
              <a:t>A · Explore User Personas — on the site today</a:t>
            </a:r>
            <a:endParaRPr lang="en-US" sz="1000" dirty="0"/>
          </a:p>
          <a:p>
            <a:pPr indent="0" marL="0">
              <a:lnSpc>
                <a:spcPct val="120000"/>
              </a:lnSpc>
              <a:buNone/>
            </a:pPr>
            <a:r>
              <a:rPr lang="en-US" sz="1000" dirty="0">
                <a:solidFill>
                  <a:srgbClr val="FFFFFF"/>
                </a:solidFill>
                <a:latin typeface="Noto Sans" pitchFamily="34" charset="0"/>
                <a:ea typeface="Noto Sans" pitchFamily="34" charset="-122"/>
                <a:cs typeface="Noto Sans" pitchFamily="34" charset="-120"/>
              </a:rPr>
              <a:t>B · Find Schemes for You — five questions</a:t>
            </a:r>
            <a:endParaRPr lang="en-US" sz="1000" dirty="0"/>
          </a:p>
          <a:p>
            <a:pPr indent="0" marL="0">
              <a:lnSpc>
                <a:spcPct val="120000"/>
              </a:lnSpc>
              <a:buNone/>
            </a:pPr>
            <a:r>
              <a:rPr lang="en-US" sz="1000" dirty="0">
                <a:solidFill>
                  <a:srgbClr val="FFFFFF"/>
                </a:solidFill>
                <a:latin typeface="Noto Sans" pitchFamily="34" charset="0"/>
                <a:ea typeface="Noto Sans" pitchFamily="34" charset="-122"/>
                <a:cs typeface="Noto Sans" pitchFamily="34" charset="-120"/>
              </a:rPr>
              <a:t>C · Find Offerings for You — one tap</a:t>
            </a:r>
            <a:endParaRPr lang="en-US" sz="1000" dirty="0"/>
          </a:p>
        </p:txBody>
      </p:sp>
      <p:sp>
        <p:nvSpPr>
          <p:cNvPr id="11" name="Shape 9"/>
          <p:cNvSpPr/>
          <p:nvPr/>
        </p:nvSpPr>
        <p:spPr>
          <a:xfrm>
            <a:off x="4380890" y="2487168"/>
            <a:ext cx="3429914" cy="3200400"/>
          </a:xfrm>
          <a:prstGeom prst="rect">
            <a:avLst/>
          </a:prstGeom>
          <a:solidFill>
            <a:srgbClr val="004B96"/>
          </a:solidFill>
          <a:ln w="12700">
            <a:solidFill>
              <a:srgbClr val="004B96"/>
            </a:solidFill>
            <a:prstDash val="solid"/>
          </a:ln>
        </p:spPr>
      </p:sp>
      <p:sp>
        <p:nvSpPr>
          <p:cNvPr id="12" name="Text 10"/>
          <p:cNvSpPr txBox="1"/>
          <p:nvPr/>
        </p:nvSpPr>
        <p:spPr>
          <a:xfrm>
            <a:off x="4673498" y="2688336"/>
            <a:ext cx="2844698" cy="603504"/>
          </a:xfrm>
          <a:prstGeom prst="rect">
            <a:avLst/>
          </a:prstGeom>
          <a:noFill/>
          <a:ln/>
        </p:spPr>
        <p:txBody>
          <a:bodyPr wrap="square" lIns="0" tIns="0" rIns="0" bIns="0" rtlCol="0" anchor="ctr"/>
          <a:lstStyle/>
          <a:p>
            <a:pPr indent="0" marL="0">
              <a:buNone/>
            </a:pPr>
            <a:r>
              <a:rPr lang="en-US" sz="4000" b="1" dirty="0">
                <a:solidFill>
                  <a:srgbClr val="92C2FF"/>
                </a:solidFill>
                <a:latin typeface="Noto Sans" pitchFamily="34" charset="0"/>
                <a:ea typeface="Noto Sans" pitchFamily="34" charset="-122"/>
                <a:cs typeface="Noto Sans" pitchFamily="34" charset="-120"/>
              </a:rPr>
              <a:t>2</a:t>
            </a:r>
            <a:endParaRPr lang="en-US" sz="4000" dirty="0"/>
          </a:p>
        </p:txBody>
      </p:sp>
      <p:sp>
        <p:nvSpPr>
          <p:cNvPr id="13" name="Text 11"/>
          <p:cNvSpPr txBox="1"/>
          <p:nvPr/>
        </p:nvSpPr>
        <p:spPr>
          <a:xfrm>
            <a:off x="4673498" y="3346704"/>
            <a:ext cx="2844698" cy="292608"/>
          </a:xfrm>
          <a:prstGeom prst="rect">
            <a:avLst/>
          </a:prstGeom>
          <a:noFill/>
          <a:ln/>
        </p:spPr>
        <p:txBody>
          <a:bodyPr wrap="square" lIns="0" tIns="0" rIns="0" bIns="0" rtlCol="0" anchor="ctr"/>
          <a:lstStyle/>
          <a:p>
            <a:pPr indent="0" marL="0">
              <a:buNone/>
            </a:pPr>
            <a:r>
              <a:rPr lang="en-US" sz="1800" b="1" dirty="0">
                <a:solidFill>
                  <a:srgbClr val="FFFFFF"/>
                </a:solidFill>
                <a:latin typeface="Noto Sans" pitchFamily="34" charset="0"/>
                <a:ea typeface="Noto Sans" pitchFamily="34" charset="-122"/>
                <a:cs typeface="Noto Sans" pitchFamily="34" charset="-120"/>
              </a:rPr>
              <a:t>The Schemes Page</a:t>
            </a:r>
            <a:endParaRPr lang="en-US" sz="1800" dirty="0"/>
          </a:p>
        </p:txBody>
      </p:sp>
      <p:sp>
        <p:nvSpPr>
          <p:cNvPr id="14" name="Text 12"/>
          <p:cNvSpPr txBox="1"/>
          <p:nvPr/>
        </p:nvSpPr>
        <p:spPr>
          <a:xfrm>
            <a:off x="4673498" y="3675888"/>
            <a:ext cx="2844698" cy="201168"/>
          </a:xfrm>
          <a:prstGeom prst="rect">
            <a:avLst/>
          </a:prstGeom>
          <a:noFill/>
          <a:ln/>
        </p:spPr>
        <p:txBody>
          <a:bodyPr wrap="square" lIns="0" tIns="0" rIns="0" bIns="0" rtlCol="0" anchor="ctr"/>
          <a:lstStyle/>
          <a:p>
            <a:pPr indent="0" marL="0">
              <a:buNone/>
            </a:pPr>
            <a:r>
              <a:rPr lang="en-US" sz="900" b="1" spc="110" kern="0" dirty="0">
                <a:solidFill>
                  <a:srgbClr val="92C2FF"/>
                </a:solidFill>
                <a:latin typeface="Noto Sans" pitchFamily="34" charset="0"/>
                <a:ea typeface="Noto Sans" pitchFamily="34" charset="-122"/>
                <a:cs typeface="Noto Sans" pitchFamily="34" charset="-120"/>
              </a:rPr>
              <a:t>TWO OPTIONS</a:t>
            </a:r>
            <a:endParaRPr lang="en-US" sz="900" dirty="0"/>
          </a:p>
        </p:txBody>
      </p:sp>
      <p:sp>
        <p:nvSpPr>
          <p:cNvPr id="15" name="Text 13"/>
          <p:cNvSpPr txBox="1"/>
          <p:nvPr/>
        </p:nvSpPr>
        <p:spPr>
          <a:xfrm>
            <a:off x="4673498" y="3931920"/>
            <a:ext cx="2844698" cy="548640"/>
          </a:xfrm>
          <a:prstGeom prst="rect">
            <a:avLst/>
          </a:prstGeom>
          <a:noFill/>
          <a:ln/>
        </p:spPr>
        <p:txBody>
          <a:bodyPr wrap="square" lIns="0" tIns="0" rIns="0" bIns="0" rtlCol="0" anchor="ctr"/>
          <a:lstStyle/>
          <a:p>
            <a:pPr indent="0" marL="0">
              <a:lnSpc>
                <a:spcPct val="118000"/>
              </a:lnSpc>
              <a:buNone/>
            </a:pPr>
            <a:r>
              <a:rPr lang="en-US" sz="1050" dirty="0">
                <a:solidFill>
                  <a:srgbClr val="C0DBFF"/>
                </a:solidFill>
                <a:latin typeface="Noto Sans" pitchFamily="34" charset="0"/>
                <a:ea typeface="Noto Sans" pitchFamily="34" charset="-122"/>
                <a:cs typeface="Noto Sans" pitchFamily="34" charset="-120"/>
              </a:rPr>
              <a:t>Where a person decides, and where officers and voluntary organisations work.</a:t>
            </a:r>
            <a:endParaRPr lang="en-US" sz="1050" dirty="0"/>
          </a:p>
        </p:txBody>
      </p:sp>
      <p:sp>
        <p:nvSpPr>
          <p:cNvPr id="16" name="Text 14"/>
          <p:cNvSpPr txBox="1"/>
          <p:nvPr/>
        </p:nvSpPr>
        <p:spPr>
          <a:xfrm>
            <a:off x="4673498" y="4535424"/>
            <a:ext cx="2844698" cy="1005840"/>
          </a:xfrm>
          <a:prstGeom prst="rect">
            <a:avLst/>
          </a:prstGeom>
          <a:noFill/>
          <a:ln/>
        </p:spPr>
        <p:txBody>
          <a:bodyPr wrap="square" lIns="0" tIns="0" rIns="0" bIns="0" rtlCol="0" anchor="ctr"/>
          <a:lstStyle/>
          <a:p>
            <a:pPr indent="0" marL="0">
              <a:lnSpc>
                <a:spcPct val="120000"/>
              </a:lnSpc>
              <a:buNone/>
            </a:pPr>
            <a:r>
              <a:rPr lang="en-US" sz="1000" dirty="0">
                <a:solidFill>
                  <a:srgbClr val="FFFFFF"/>
                </a:solidFill>
                <a:latin typeface="Noto Sans" pitchFamily="34" charset="0"/>
                <a:ea typeface="Noto Sans" pitchFamily="34" charset="-122"/>
                <a:cs typeface="Noto Sans" pitchFamily="34" charset="-120"/>
              </a:rPr>
              <a:t>A · Pictures of the nine groups, with cards</a:t>
            </a:r>
            <a:endParaRPr lang="en-US" sz="1000" dirty="0"/>
          </a:p>
          <a:p>
            <a:pPr indent="0" marL="0">
              <a:lnSpc>
                <a:spcPct val="120000"/>
              </a:lnSpc>
              <a:buNone/>
            </a:pPr>
            <a:r>
              <a:rPr lang="en-US" sz="1000" dirty="0">
                <a:solidFill>
                  <a:srgbClr val="FFFFFF"/>
                </a:solidFill>
                <a:latin typeface="Noto Sans" pitchFamily="34" charset="0"/>
                <a:ea typeface="Noto Sans" pitchFamily="34" charset="-122"/>
                <a:cs typeface="Noto Sans" pitchFamily="34" charset="-120"/>
              </a:rPr>
              <a:t>B · Filter panel with a table of schemes</a:t>
            </a:r>
            <a:endParaRPr lang="en-US" sz="1000" dirty="0"/>
          </a:p>
        </p:txBody>
      </p:sp>
      <p:sp>
        <p:nvSpPr>
          <p:cNvPr id="17" name="Shape 15"/>
          <p:cNvSpPr/>
          <p:nvPr/>
        </p:nvSpPr>
        <p:spPr>
          <a:xfrm>
            <a:off x="8103413" y="2487168"/>
            <a:ext cx="3429914" cy="3200400"/>
          </a:xfrm>
          <a:prstGeom prst="rect">
            <a:avLst/>
          </a:prstGeom>
          <a:solidFill>
            <a:srgbClr val="004B96"/>
          </a:solidFill>
          <a:ln w="12700">
            <a:solidFill>
              <a:srgbClr val="004B96"/>
            </a:solidFill>
            <a:prstDash val="solid"/>
          </a:ln>
        </p:spPr>
      </p:sp>
      <p:sp>
        <p:nvSpPr>
          <p:cNvPr id="18" name="Text 16"/>
          <p:cNvSpPr txBox="1"/>
          <p:nvPr/>
        </p:nvSpPr>
        <p:spPr>
          <a:xfrm>
            <a:off x="8396021" y="2688336"/>
            <a:ext cx="2844698" cy="603504"/>
          </a:xfrm>
          <a:prstGeom prst="rect">
            <a:avLst/>
          </a:prstGeom>
          <a:noFill/>
          <a:ln/>
        </p:spPr>
        <p:txBody>
          <a:bodyPr wrap="square" lIns="0" tIns="0" rIns="0" bIns="0" rtlCol="0" anchor="ctr"/>
          <a:lstStyle/>
          <a:p>
            <a:pPr indent="0" marL="0">
              <a:buNone/>
            </a:pPr>
            <a:r>
              <a:rPr lang="en-US" sz="4000" b="1" dirty="0">
                <a:solidFill>
                  <a:srgbClr val="92C2FF"/>
                </a:solidFill>
                <a:latin typeface="Noto Sans" pitchFamily="34" charset="0"/>
                <a:ea typeface="Noto Sans" pitchFamily="34" charset="-122"/>
                <a:cs typeface="Noto Sans" pitchFamily="34" charset="-120"/>
              </a:rPr>
              <a:t>3</a:t>
            </a:r>
            <a:endParaRPr lang="en-US" sz="4000" dirty="0"/>
          </a:p>
        </p:txBody>
      </p:sp>
      <p:sp>
        <p:nvSpPr>
          <p:cNvPr id="19" name="Text 17"/>
          <p:cNvSpPr txBox="1"/>
          <p:nvPr/>
        </p:nvSpPr>
        <p:spPr>
          <a:xfrm>
            <a:off x="8396021" y="3346704"/>
            <a:ext cx="2844698" cy="292608"/>
          </a:xfrm>
          <a:prstGeom prst="rect">
            <a:avLst/>
          </a:prstGeom>
          <a:noFill/>
          <a:ln/>
        </p:spPr>
        <p:txBody>
          <a:bodyPr wrap="square" lIns="0" tIns="0" rIns="0" bIns="0" rtlCol="0" anchor="ctr"/>
          <a:lstStyle/>
          <a:p>
            <a:pPr indent="0" marL="0">
              <a:buNone/>
            </a:pPr>
            <a:r>
              <a:rPr lang="en-US" sz="1800" b="1" dirty="0">
                <a:solidFill>
                  <a:srgbClr val="FFFFFF"/>
                </a:solidFill>
                <a:latin typeface="Noto Sans" pitchFamily="34" charset="0"/>
                <a:ea typeface="Noto Sans" pitchFamily="34" charset="-122"/>
                <a:cs typeface="Noto Sans" pitchFamily="34" charset="-120"/>
              </a:rPr>
              <a:t>The Chatbot</a:t>
            </a:r>
            <a:endParaRPr lang="en-US" sz="1800" dirty="0"/>
          </a:p>
        </p:txBody>
      </p:sp>
      <p:sp>
        <p:nvSpPr>
          <p:cNvPr id="20" name="Text 18"/>
          <p:cNvSpPr txBox="1"/>
          <p:nvPr/>
        </p:nvSpPr>
        <p:spPr>
          <a:xfrm>
            <a:off x="8396021" y="3675888"/>
            <a:ext cx="2844698" cy="201168"/>
          </a:xfrm>
          <a:prstGeom prst="rect">
            <a:avLst/>
          </a:prstGeom>
          <a:noFill/>
          <a:ln/>
        </p:spPr>
        <p:txBody>
          <a:bodyPr wrap="square" lIns="0" tIns="0" rIns="0" bIns="0" rtlCol="0" anchor="ctr"/>
          <a:lstStyle/>
          <a:p>
            <a:pPr indent="0" marL="0">
              <a:buNone/>
            </a:pPr>
            <a:r>
              <a:rPr lang="en-US" sz="900" b="1" spc="110" kern="0" dirty="0">
                <a:solidFill>
                  <a:srgbClr val="92C2FF"/>
                </a:solidFill>
                <a:latin typeface="Noto Sans" pitchFamily="34" charset="0"/>
                <a:ea typeface="Noto Sans" pitchFamily="34" charset="-122"/>
                <a:cs typeface="Noto Sans" pitchFamily="34" charset="-120"/>
              </a:rPr>
              <a:t>ONE OPTION</a:t>
            </a:r>
            <a:endParaRPr lang="en-US" sz="900" dirty="0"/>
          </a:p>
        </p:txBody>
      </p:sp>
      <p:sp>
        <p:nvSpPr>
          <p:cNvPr id="21" name="Text 19"/>
          <p:cNvSpPr txBox="1"/>
          <p:nvPr/>
        </p:nvSpPr>
        <p:spPr>
          <a:xfrm>
            <a:off x="8396021" y="3931920"/>
            <a:ext cx="2844698" cy="548640"/>
          </a:xfrm>
          <a:prstGeom prst="rect">
            <a:avLst/>
          </a:prstGeom>
          <a:noFill/>
          <a:ln/>
        </p:spPr>
        <p:txBody>
          <a:bodyPr wrap="square" lIns="0" tIns="0" rIns="0" bIns="0" rtlCol="0" anchor="ctr"/>
          <a:lstStyle/>
          <a:p>
            <a:pPr indent="0" marL="0">
              <a:lnSpc>
                <a:spcPct val="118000"/>
              </a:lnSpc>
              <a:buNone/>
            </a:pPr>
            <a:r>
              <a:rPr lang="en-US" sz="1050" dirty="0">
                <a:solidFill>
                  <a:srgbClr val="C0DBFF"/>
                </a:solidFill>
                <a:latin typeface="Noto Sans" pitchFamily="34" charset="0"/>
                <a:ea typeface="Noto Sans" pitchFamily="34" charset="-122"/>
                <a:cs typeface="Noto Sans" pitchFamily="34" charset="-120"/>
              </a:rPr>
              <a:t>Reachable from every page, including pages that lead nowhere else.</a:t>
            </a:r>
            <a:endParaRPr lang="en-US" sz="1050" dirty="0"/>
          </a:p>
        </p:txBody>
      </p:sp>
      <p:sp>
        <p:nvSpPr>
          <p:cNvPr id="22" name="Text 20"/>
          <p:cNvSpPr txBox="1"/>
          <p:nvPr/>
        </p:nvSpPr>
        <p:spPr>
          <a:xfrm>
            <a:off x="8396021" y="4535424"/>
            <a:ext cx="2844698" cy="1005840"/>
          </a:xfrm>
          <a:prstGeom prst="rect">
            <a:avLst/>
          </a:prstGeom>
          <a:noFill/>
          <a:ln/>
        </p:spPr>
        <p:txBody>
          <a:bodyPr wrap="square" lIns="0" tIns="0" rIns="0" bIns="0" rtlCol="0" anchor="ctr"/>
          <a:lstStyle/>
          <a:p>
            <a:pPr indent="0" marL="0">
              <a:lnSpc>
                <a:spcPct val="120000"/>
              </a:lnSpc>
              <a:buNone/>
            </a:pPr>
            <a:r>
              <a:rPr lang="en-US" sz="1000" dirty="0">
                <a:solidFill>
                  <a:srgbClr val="FFFFFF"/>
                </a:solidFill>
                <a:latin typeface="Noto Sans" pitchFamily="34" charset="0"/>
                <a:ea typeface="Noto Sans" pitchFamily="34" charset="-122"/>
                <a:cs typeface="Noto Sans" pitchFamily="34" charset="-120"/>
              </a:rPr>
              <a:t>A · Samajik Sahayak — the same five questions, in chat</a:t>
            </a:r>
            <a:endParaRPr lang="en-US" sz="1000" dirty="0"/>
          </a:p>
        </p:txBody>
      </p:sp>
      <p:sp>
        <p:nvSpPr>
          <p:cNvPr id="23" name="Text 21"/>
          <p:cNvSpPr txBox="1"/>
          <p:nvPr/>
        </p:nvSpPr>
        <p:spPr>
          <a:xfrm>
            <a:off x="658368" y="5907024"/>
            <a:ext cx="10874959" cy="274320"/>
          </a:xfrm>
          <a:prstGeom prst="rect">
            <a:avLst/>
          </a:prstGeom>
          <a:noFill/>
          <a:ln/>
        </p:spPr>
        <p:txBody>
          <a:bodyPr wrap="square" lIns="0" tIns="0" rIns="0" bIns="0" rtlCol="0" anchor="ctr"/>
          <a:lstStyle/>
          <a:p>
            <a:pPr indent="0" marL="0">
              <a:buNone/>
            </a:pPr>
            <a:r>
              <a:rPr lang="en-US" sz="1100" dirty="0">
                <a:solidFill>
                  <a:srgbClr val="C0DBFF"/>
                </a:solidFill>
                <a:latin typeface="Noto Sans" pitchFamily="34" charset="0"/>
                <a:ea typeface="Noto Sans" pitchFamily="34" charset="-122"/>
                <a:cs typeface="Noto Sans" pitchFamily="34" charset="-120"/>
              </a:rPr>
              <a:t>Whichever options are chosen, the scheme records have to be tagged first. That work is set out on the page headed “What Has to Be Done First”.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01168"/>
          </a:xfrm>
          <a:prstGeom prst="rect">
            <a:avLst/>
          </a:prstGeom>
          <a:noFill/>
          <a:ln/>
        </p:spPr>
        <p:txBody>
          <a:bodyPr wrap="square" lIns="0" tIns="0" rIns="0" bIns="0" rtlCol="0" anchor="ctr"/>
          <a:lstStyle/>
          <a:p>
            <a:pPr indent="0" marL="0">
              <a:buNone/>
            </a:pPr>
            <a:r>
              <a:rPr lang="en-US" sz="1000" b="1" spc="120" kern="0" dirty="0">
                <a:solidFill>
                  <a:srgbClr val="54585E"/>
                </a:solidFill>
                <a:latin typeface="Noto Sans" pitchFamily="34" charset="0"/>
                <a:ea typeface="Noto Sans" pitchFamily="34" charset="-122"/>
                <a:cs typeface="Noto Sans" pitchFamily="34" charset="-120"/>
              </a:rPr>
              <a:t>DECISION 1 OF 3 · THE HOME PAGE · OPTION A OF 3</a:t>
            </a:r>
            <a:endParaRPr lang="en-US" sz="1000" dirty="0"/>
          </a:p>
        </p:txBody>
      </p:sp>
      <p:sp>
        <p:nvSpPr>
          <p:cNvPr id="3" name="Text 1"/>
          <p:cNvSpPr txBox="1"/>
          <p:nvPr/>
        </p:nvSpPr>
        <p:spPr>
          <a:xfrm>
            <a:off x="658368" y="621792"/>
            <a:ext cx="10874959" cy="420624"/>
          </a:xfrm>
          <a:prstGeom prst="rect">
            <a:avLst/>
          </a:prstGeom>
          <a:noFill/>
          <a:ln/>
        </p:spPr>
        <p:txBody>
          <a:bodyPr wrap="square" lIns="0" tIns="0" rIns="0" bIns="0" rtlCol="0" anchor="ctr"/>
          <a:lstStyle/>
          <a:p>
            <a:pPr indent="0" marL="0">
              <a:buNone/>
            </a:pPr>
            <a:r>
              <a:rPr lang="en-US" sz="2600" b="1" dirty="0">
                <a:solidFill>
                  <a:srgbClr val="003975"/>
                </a:solidFill>
                <a:latin typeface="Noto Sans" pitchFamily="34" charset="0"/>
                <a:ea typeface="Noto Sans" pitchFamily="34" charset="-122"/>
                <a:cs typeface="Noto Sans" pitchFamily="34" charset="-120"/>
              </a:rPr>
              <a:t>Explore User Personas</a:t>
            </a:r>
            <a:endParaRPr lang="en-US" sz="2600" dirty="0"/>
          </a:p>
        </p:txBody>
      </p:sp>
      <p:sp>
        <p:nvSpPr>
          <p:cNvPr id="4" name="Shape 2"/>
          <p:cNvSpPr/>
          <p:nvPr/>
        </p:nvSpPr>
        <p:spPr>
          <a:xfrm>
            <a:off x="658368" y="1097280"/>
            <a:ext cx="1455725" cy="237744"/>
          </a:xfrm>
          <a:prstGeom prst="roundRect">
            <a:avLst>
              <a:gd name="adj" fmla="val 50000"/>
            </a:avLst>
          </a:prstGeom>
          <a:solidFill>
            <a:srgbClr val="EEF0F3"/>
          </a:solidFill>
          <a:ln w="12700">
            <a:solidFill>
              <a:srgbClr val="EEF0F3"/>
            </a:solidFill>
            <a:prstDash val="solid"/>
          </a:ln>
        </p:spPr>
      </p:sp>
      <p:sp>
        <p:nvSpPr>
          <p:cNvPr id="5" name="Text 3"/>
          <p:cNvSpPr txBox="1"/>
          <p:nvPr/>
        </p:nvSpPr>
        <p:spPr>
          <a:xfrm>
            <a:off x="658368" y="1097280"/>
            <a:ext cx="1455725" cy="237744"/>
          </a:xfrm>
          <a:prstGeom prst="rect">
            <a:avLst/>
          </a:prstGeom>
          <a:noFill/>
          <a:ln/>
        </p:spPr>
        <p:txBody>
          <a:bodyPr wrap="square" lIns="0" tIns="0" rIns="0" bIns="0" rtlCol="0" anchor="ctr"/>
          <a:lstStyle/>
          <a:p>
            <a:pPr algn="ctr" indent="0" marL="0">
              <a:buNone/>
            </a:pPr>
            <a:r>
              <a:rPr lang="en-US" sz="850" b="1" spc="80" kern="0" dirty="0">
                <a:solidFill>
                  <a:srgbClr val="54585E"/>
                </a:solidFill>
                <a:latin typeface="Noto Sans" pitchFamily="34" charset="0"/>
                <a:ea typeface="Noto Sans" pitchFamily="34" charset="-122"/>
                <a:cs typeface="Noto Sans" pitchFamily="34" charset="-120"/>
              </a:rPr>
              <a:t>ON THE SITE TODAY</a:t>
            </a:r>
            <a:endParaRPr lang="en-US" sz="850" dirty="0"/>
          </a:p>
        </p:txBody>
      </p:sp>
      <p:sp>
        <p:nvSpPr>
          <p:cNvPr id="6" name="Shape 4"/>
          <p:cNvSpPr/>
          <p:nvPr/>
        </p:nvSpPr>
        <p:spPr>
          <a:xfrm>
            <a:off x="630936" y="1490472"/>
            <a:ext cx="6089904" cy="2703576"/>
          </a:xfrm>
          <a:prstGeom prst="rect">
            <a:avLst/>
          </a:prstGeom>
          <a:solidFill>
            <a:srgbClr val="FFFFFF"/>
          </a:solidFill>
          <a:ln w="9525">
            <a:solidFill>
              <a:srgbClr val="DCDEE1"/>
            </a:solidFill>
            <a:prstDash val="solid"/>
          </a:ln>
        </p:spPr>
      </p:sp>
      <p:pic>
        <p:nvPicPr>
          <p:cNvPr id="7" name="Image 0" descr="assets/home-optA.png">    </p:cNvPr>
          <p:cNvPicPr>
            <a:picLocks noChangeAspect="1"/>
          </p:cNvPicPr>
          <p:nvPr/>
        </p:nvPicPr>
        <p:blipFill>
          <a:blip r:embed="rId1"/>
          <a:stretch>
            <a:fillRect/>
          </a:stretch>
        </p:blipFill>
        <p:spPr>
          <a:xfrm>
            <a:off x="658368" y="1517904"/>
            <a:ext cx="6035040" cy="2648712"/>
          </a:xfrm>
          <a:prstGeom prst="rect">
            <a:avLst/>
          </a:prstGeom>
        </p:spPr>
      </p:pic>
      <p:sp>
        <p:nvSpPr>
          <p:cNvPr id="8" name="Text 5"/>
          <p:cNvSpPr txBox="1"/>
          <p:nvPr/>
        </p:nvSpPr>
        <p:spPr>
          <a:xfrm>
            <a:off x="658368" y="4294632"/>
            <a:ext cx="6035040" cy="274320"/>
          </a:xfrm>
          <a:prstGeom prst="rect">
            <a:avLst/>
          </a:prstGeom>
          <a:noFill/>
          <a:ln/>
        </p:spPr>
        <p:txBody>
          <a:bodyPr wrap="square" lIns="0" tIns="0" rIns="0" bIns="0" rtlCol="0" anchor="ctr"/>
          <a:lstStyle/>
          <a:p>
            <a:pPr indent="0" marL="0">
              <a:lnSpc>
                <a:spcPct val="110000"/>
              </a:lnSpc>
              <a:buNone/>
            </a:pPr>
            <a:r>
              <a:rPr lang="en-US" sz="900" dirty="0">
                <a:solidFill>
                  <a:srgbClr val="54585E"/>
                </a:solidFill>
                <a:latin typeface="Noto Sans" pitchFamily="34" charset="0"/>
                <a:ea typeface="Noto Sans" pitchFamily="34" charset="-122"/>
                <a:cs typeface="Noto Sans" pitchFamily="34" charset="-120"/>
              </a:rPr>
              <a:t>The persona panel as it appears on the home page today, beside Recent Documents.</a:t>
            </a:r>
            <a:endParaRPr lang="en-US" sz="900" dirty="0"/>
          </a:p>
        </p:txBody>
      </p:sp>
      <p:sp>
        <p:nvSpPr>
          <p:cNvPr id="9" name="Text 6"/>
          <p:cNvSpPr txBox="1"/>
          <p:nvPr/>
        </p:nvSpPr>
        <p:spPr>
          <a:xfrm>
            <a:off x="7150608" y="1517904"/>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IT IS</a:t>
            </a:r>
            <a:endParaRPr lang="en-US" sz="850" dirty="0"/>
          </a:p>
        </p:txBody>
      </p:sp>
      <p:sp>
        <p:nvSpPr>
          <p:cNvPr id="10" name="Text 7"/>
          <p:cNvSpPr txBox="1"/>
          <p:nvPr/>
        </p:nvSpPr>
        <p:spPr>
          <a:xfrm>
            <a:off x="7150608" y="1682496"/>
            <a:ext cx="4382719" cy="367589"/>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A picture of one kind of person at a time, with arrows to move between them.</a:t>
            </a:r>
            <a:endParaRPr lang="en-US" sz="950" dirty="0"/>
          </a:p>
        </p:txBody>
      </p:sp>
      <p:sp>
        <p:nvSpPr>
          <p:cNvPr id="11" name="Text 8"/>
          <p:cNvSpPr txBox="1"/>
          <p:nvPr/>
        </p:nvSpPr>
        <p:spPr>
          <a:xfrm>
            <a:off x="7150608" y="2141525"/>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A CITIZEN DOES</a:t>
            </a:r>
            <a:endParaRPr lang="en-US" sz="850" dirty="0"/>
          </a:p>
        </p:txBody>
      </p:sp>
      <p:sp>
        <p:nvSpPr>
          <p:cNvPr id="12" name="Text 9"/>
          <p:cNvSpPr txBox="1"/>
          <p:nvPr/>
        </p:nvSpPr>
        <p:spPr>
          <a:xfrm>
            <a:off x="7150608" y="2306117"/>
            <a:ext cx="4382719" cy="367589"/>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Looks at the pictures, sees one that matches them, and taps through to the Schemes page.</a:t>
            </a:r>
            <a:endParaRPr lang="en-US" sz="950" dirty="0"/>
          </a:p>
        </p:txBody>
      </p:sp>
      <p:sp>
        <p:nvSpPr>
          <p:cNvPr id="13" name="Text 10"/>
          <p:cNvSpPr txBox="1"/>
          <p:nvPr/>
        </p:nvSpPr>
        <p:spPr>
          <a:xfrm>
            <a:off x="7150608" y="2765146"/>
            <a:ext cx="4382719" cy="164592"/>
          </a:xfrm>
          <a:prstGeom prst="rect">
            <a:avLst/>
          </a:prstGeom>
          <a:noFill/>
          <a:ln/>
        </p:spPr>
        <p:txBody>
          <a:bodyPr wrap="square" lIns="0" tIns="0" rIns="0" bIns="0" rtlCol="0" anchor="ctr"/>
          <a:lstStyle/>
          <a:p>
            <a:pPr indent="0" marL="0">
              <a:buNone/>
            </a:pPr>
            <a:r>
              <a:rPr lang="en-US" sz="850" b="1" spc="100" kern="0" dirty="0">
                <a:solidFill>
                  <a:srgbClr val="005EB9"/>
                </a:solidFill>
                <a:latin typeface="Noto Sans" pitchFamily="34" charset="0"/>
                <a:ea typeface="Noto Sans" pitchFamily="34" charset="-122"/>
                <a:cs typeface="Noto Sans" pitchFamily="34" charset="-120"/>
              </a:rPr>
              <a:t>ADVANTAGES</a:t>
            </a:r>
            <a:endParaRPr lang="en-US" sz="850" dirty="0"/>
          </a:p>
        </p:txBody>
      </p:sp>
      <p:sp>
        <p:nvSpPr>
          <p:cNvPr id="14" name="Text 11"/>
          <p:cNvSpPr txBox="1"/>
          <p:nvPr/>
        </p:nvSpPr>
        <p:spPr>
          <a:xfrm>
            <a:off x="7150608" y="2929738"/>
            <a:ext cx="4382719" cy="574243"/>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Already on the page, so no extra space is needed</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Pictures help people who read slowly, or read another language</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Recognising yourself is easier than describing yourself</a:t>
            </a:r>
            <a:endParaRPr lang="en-US" sz="950" dirty="0"/>
          </a:p>
        </p:txBody>
      </p:sp>
      <p:sp>
        <p:nvSpPr>
          <p:cNvPr id="15" name="Text 12"/>
          <p:cNvSpPr txBox="1"/>
          <p:nvPr/>
        </p:nvSpPr>
        <p:spPr>
          <a:xfrm>
            <a:off x="7150608" y="3595421"/>
            <a:ext cx="4382719" cy="164592"/>
          </a:xfrm>
          <a:prstGeom prst="rect">
            <a:avLst/>
          </a:prstGeom>
          <a:noFill/>
          <a:ln/>
        </p:spPr>
        <p:txBody>
          <a:bodyPr wrap="square" lIns="0" tIns="0" rIns="0" bIns="0" rtlCol="0" anchor="ctr"/>
          <a:lstStyle/>
          <a:p>
            <a:pPr indent="0" marL="0">
              <a:buNone/>
            </a:pPr>
            <a:r>
              <a:rPr lang="en-US" sz="850" b="1" spc="100" kern="0" dirty="0">
                <a:solidFill>
                  <a:srgbClr val="A43A00"/>
                </a:solidFill>
                <a:latin typeface="Noto Sans" pitchFamily="34" charset="0"/>
                <a:ea typeface="Noto Sans" pitchFamily="34" charset="-122"/>
                <a:cs typeface="Noto Sans" pitchFamily="34" charset="-120"/>
              </a:rPr>
              <a:t>LIMITATIONS</a:t>
            </a:r>
            <a:endParaRPr lang="en-US" sz="850" dirty="0"/>
          </a:p>
        </p:txBody>
      </p:sp>
      <p:sp>
        <p:nvSpPr>
          <p:cNvPr id="16" name="Text 13"/>
          <p:cNvSpPr txBox="1"/>
          <p:nvPr/>
        </p:nvSpPr>
        <p:spPr>
          <a:xfrm>
            <a:off x="7150608" y="3760013"/>
            <a:ext cx="4382719" cy="574243"/>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Only one group is shown at a time, behind arrows</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Sorts by group alone — not by age, need or State</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Today, choosing a group does not filter the Schemes page</a:t>
            </a:r>
            <a:endParaRPr lang="en-US" sz="950" dirty="0"/>
          </a:p>
        </p:txBody>
      </p:sp>
      <p:sp>
        <p:nvSpPr>
          <p:cNvPr id="17" name="Text 14"/>
          <p:cNvSpPr txBox="1"/>
          <p:nvPr/>
        </p:nvSpPr>
        <p:spPr>
          <a:xfrm>
            <a:off x="7150608" y="4425696"/>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THE DEPARTMENT MUST DO FIRST</a:t>
            </a:r>
            <a:endParaRPr lang="en-US" sz="850" dirty="0"/>
          </a:p>
        </p:txBody>
      </p:sp>
      <p:sp>
        <p:nvSpPr>
          <p:cNvPr id="18" name="Text 15"/>
          <p:cNvSpPr txBox="1"/>
          <p:nvPr/>
        </p:nvSpPr>
        <p:spPr>
          <a:xfrm>
            <a:off x="7150608" y="4590288"/>
            <a:ext cx="4382719" cy="367589"/>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Make the choice actually open the Schemes page already filtered. Until that is done, the panel leads nowhere useful.</a:t>
            </a:r>
            <a:endParaRPr lang="en-US" sz="950" dirty="0"/>
          </a:p>
        </p:txBody>
      </p:sp>
      <p:sp>
        <p:nvSpPr>
          <p:cNvPr id="19" name="Shape 16"/>
          <p:cNvSpPr/>
          <p:nvPr/>
        </p:nvSpPr>
        <p:spPr>
          <a:xfrm>
            <a:off x="7150608" y="5687568"/>
            <a:ext cx="4382719" cy="658368"/>
          </a:xfrm>
          <a:prstGeom prst="rect">
            <a:avLst/>
          </a:prstGeom>
          <a:solidFill>
            <a:srgbClr val="EEF0F3"/>
          </a:solidFill>
          <a:ln w="9525">
            <a:solidFill>
              <a:srgbClr val="DCDEE1"/>
            </a:solidFill>
            <a:prstDash val="solid"/>
          </a:ln>
        </p:spPr>
      </p:sp>
      <p:sp>
        <p:nvSpPr>
          <p:cNvPr id="20" name="Text 17"/>
          <p:cNvSpPr txBox="1"/>
          <p:nvPr/>
        </p:nvSpPr>
        <p:spPr>
          <a:xfrm>
            <a:off x="7296912" y="5779008"/>
            <a:ext cx="4090111"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OUR VIEW</a:t>
            </a:r>
            <a:endParaRPr lang="en-US" sz="850" dirty="0"/>
          </a:p>
        </p:txBody>
      </p:sp>
      <p:sp>
        <p:nvSpPr>
          <p:cNvPr id="21" name="Text 18"/>
          <p:cNvSpPr txBox="1"/>
          <p:nvPr/>
        </p:nvSpPr>
        <p:spPr>
          <a:xfrm>
            <a:off x="7296912" y="5961888"/>
            <a:ext cx="4090111" cy="347472"/>
          </a:xfrm>
          <a:prstGeom prst="rect">
            <a:avLst/>
          </a:prstGeom>
          <a:noFill/>
          <a:ln/>
        </p:spPr>
        <p:txBody>
          <a:bodyPr wrap="square" lIns="0" tIns="0" rIns="0" bIns="0" rtlCol="0" anchor="ctr"/>
          <a:lstStyle/>
          <a:p>
            <a:pPr indent="0" marL="0">
              <a:lnSpc>
                <a:spcPct val="114000"/>
              </a:lnSpc>
              <a:buNone/>
            </a:pPr>
            <a:r>
              <a:rPr lang="en-US" sz="1000" b="1" dirty="0">
                <a:solidFill>
                  <a:srgbClr val="003975"/>
                </a:solidFill>
                <a:latin typeface="Noto Sans" pitchFamily="34" charset="0"/>
                <a:ea typeface="Noto Sans" pitchFamily="34" charset="-122"/>
                <a:cs typeface="Noto Sans" pitchFamily="34" charset="-120"/>
              </a:rPr>
              <a:t>Not recommended on its own. Keep it only if it is made to filter.</a:t>
            </a:r>
            <a:endParaRPr lang="en-US" sz="1000" dirty="0"/>
          </a:p>
        </p:txBody>
      </p:sp>
      <p:sp>
        <p:nvSpPr>
          <p:cNvPr id="22" name="Text 19"/>
          <p:cNvSpPr txBox="1"/>
          <p:nvPr/>
        </p:nvSpPr>
        <p:spPr>
          <a:xfrm>
            <a:off x="658368" y="6419088"/>
            <a:ext cx="10874959" cy="219456"/>
          </a:xfrm>
          <a:prstGeom prst="rect">
            <a:avLst/>
          </a:prstGeom>
          <a:noFill/>
          <a:ln/>
        </p:spPr>
        <p:txBody>
          <a:bodyPr wrap="square" lIns="0" tIns="0" rIns="0" bIns="0" rtlCol="0" anchor="ctr"/>
          <a:lstStyle/>
          <a:p>
            <a:pPr indent="0" marL="0">
              <a:buNone/>
            </a:pPr>
            <a:r>
              <a:rPr lang="en-US" sz="900" dirty="0">
                <a:solidFill>
                  <a:srgbClr val="54585E"/>
                </a:solidFill>
                <a:latin typeface="Noto Sans" pitchFamily="34" charset="0"/>
                <a:ea typeface="Noto Sans" pitchFamily="34" charset="-122"/>
                <a:cs typeface="Noto Sans" pitchFamily="34" charset="-120"/>
              </a:rPr>
              <a:t>Design file: MoSJE (WIP) — Service Discovery, Mode 1 Website / Home page / Option 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01168"/>
          </a:xfrm>
          <a:prstGeom prst="rect">
            <a:avLst/>
          </a:prstGeom>
          <a:noFill/>
          <a:ln/>
        </p:spPr>
        <p:txBody>
          <a:bodyPr wrap="square" lIns="0" tIns="0" rIns="0" bIns="0" rtlCol="0" anchor="ctr"/>
          <a:lstStyle/>
          <a:p>
            <a:pPr indent="0" marL="0">
              <a:buNone/>
            </a:pPr>
            <a:r>
              <a:rPr lang="en-US" sz="1000" b="1" spc="120" kern="0" dirty="0">
                <a:solidFill>
                  <a:srgbClr val="54585E"/>
                </a:solidFill>
                <a:latin typeface="Noto Sans" pitchFamily="34" charset="0"/>
                <a:ea typeface="Noto Sans" pitchFamily="34" charset="-122"/>
                <a:cs typeface="Noto Sans" pitchFamily="34" charset="-120"/>
              </a:rPr>
              <a:t>DECISION 1 OF 3 · THE HOME PAGE · OPTION B OF 3</a:t>
            </a:r>
            <a:endParaRPr lang="en-US" sz="1000" dirty="0"/>
          </a:p>
        </p:txBody>
      </p:sp>
      <p:sp>
        <p:nvSpPr>
          <p:cNvPr id="3" name="Text 1"/>
          <p:cNvSpPr txBox="1"/>
          <p:nvPr/>
        </p:nvSpPr>
        <p:spPr>
          <a:xfrm>
            <a:off x="658368" y="621792"/>
            <a:ext cx="10874959" cy="420624"/>
          </a:xfrm>
          <a:prstGeom prst="rect">
            <a:avLst/>
          </a:prstGeom>
          <a:noFill/>
          <a:ln/>
        </p:spPr>
        <p:txBody>
          <a:bodyPr wrap="square" lIns="0" tIns="0" rIns="0" bIns="0" rtlCol="0" anchor="ctr"/>
          <a:lstStyle/>
          <a:p>
            <a:pPr indent="0" marL="0">
              <a:buNone/>
            </a:pPr>
            <a:r>
              <a:rPr lang="en-US" sz="2600" b="1" dirty="0">
                <a:solidFill>
                  <a:srgbClr val="003975"/>
                </a:solidFill>
                <a:latin typeface="Noto Sans" pitchFamily="34" charset="0"/>
                <a:ea typeface="Noto Sans" pitchFamily="34" charset="-122"/>
                <a:cs typeface="Noto Sans" pitchFamily="34" charset="-120"/>
              </a:rPr>
              <a:t>Find Schemes for You</a:t>
            </a:r>
            <a:endParaRPr lang="en-US" sz="2600" dirty="0"/>
          </a:p>
        </p:txBody>
      </p:sp>
      <p:sp>
        <p:nvSpPr>
          <p:cNvPr id="4" name="Shape 2"/>
          <p:cNvSpPr/>
          <p:nvPr/>
        </p:nvSpPr>
        <p:spPr>
          <a:xfrm>
            <a:off x="658368" y="1097280"/>
            <a:ext cx="1038758" cy="237744"/>
          </a:xfrm>
          <a:prstGeom prst="roundRect">
            <a:avLst>
              <a:gd name="adj" fmla="val 50000"/>
            </a:avLst>
          </a:prstGeom>
          <a:solidFill>
            <a:srgbClr val="ECF4FF"/>
          </a:solidFill>
          <a:ln w="12700">
            <a:solidFill>
              <a:srgbClr val="ECF4FF"/>
            </a:solidFill>
            <a:prstDash val="solid"/>
          </a:ln>
        </p:spPr>
      </p:sp>
      <p:sp>
        <p:nvSpPr>
          <p:cNvPr id="5" name="Text 3"/>
          <p:cNvSpPr txBox="1"/>
          <p:nvPr/>
        </p:nvSpPr>
        <p:spPr>
          <a:xfrm>
            <a:off x="658368" y="1097280"/>
            <a:ext cx="1038758" cy="237744"/>
          </a:xfrm>
          <a:prstGeom prst="rect">
            <a:avLst/>
          </a:prstGeom>
          <a:noFill/>
          <a:ln/>
        </p:spPr>
        <p:txBody>
          <a:bodyPr wrap="square" lIns="0" tIns="0" rIns="0" bIns="0" rtlCol="0" anchor="ctr"/>
          <a:lstStyle/>
          <a:p>
            <a:pPr algn="ctr" indent="0" marL="0">
              <a:buNone/>
            </a:pPr>
            <a:r>
              <a:rPr lang="en-US" sz="850" b="1" spc="80" kern="0" dirty="0">
                <a:solidFill>
                  <a:srgbClr val="005EB9"/>
                </a:solidFill>
                <a:latin typeface="Noto Sans" pitchFamily="34" charset="0"/>
                <a:ea typeface="Noto Sans" pitchFamily="34" charset="-122"/>
                <a:cs typeface="Noto Sans" pitchFamily="34" charset="-120"/>
              </a:rPr>
              <a:t>TO BE BUILT</a:t>
            </a:r>
            <a:endParaRPr lang="en-US" sz="850" dirty="0"/>
          </a:p>
        </p:txBody>
      </p:sp>
      <p:sp>
        <p:nvSpPr>
          <p:cNvPr id="6" name="Shape 4"/>
          <p:cNvSpPr/>
          <p:nvPr/>
        </p:nvSpPr>
        <p:spPr>
          <a:xfrm>
            <a:off x="1825142" y="1097280"/>
            <a:ext cx="1038758" cy="237744"/>
          </a:xfrm>
          <a:prstGeom prst="roundRect">
            <a:avLst>
              <a:gd name="adj" fmla="val 50000"/>
            </a:avLst>
          </a:prstGeom>
          <a:solidFill>
            <a:srgbClr val="005EB9"/>
          </a:solidFill>
          <a:ln w="12700">
            <a:solidFill>
              <a:srgbClr val="005EB9"/>
            </a:solidFill>
            <a:prstDash val="solid"/>
          </a:ln>
        </p:spPr>
      </p:sp>
      <p:sp>
        <p:nvSpPr>
          <p:cNvPr id="7" name="Text 5"/>
          <p:cNvSpPr txBox="1"/>
          <p:nvPr/>
        </p:nvSpPr>
        <p:spPr>
          <a:xfrm>
            <a:off x="1825142" y="1097280"/>
            <a:ext cx="1038758" cy="237744"/>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Noto Sans" pitchFamily="34" charset="0"/>
                <a:ea typeface="Noto Sans" pitchFamily="34" charset="-122"/>
                <a:cs typeface="Noto Sans" pitchFamily="34" charset="-120"/>
              </a:rPr>
              <a:t>RECOMMENDED</a:t>
            </a:r>
            <a:endParaRPr lang="en-US" sz="850" dirty="0"/>
          </a:p>
        </p:txBody>
      </p:sp>
      <p:sp>
        <p:nvSpPr>
          <p:cNvPr id="8" name="Shape 6"/>
          <p:cNvSpPr/>
          <p:nvPr/>
        </p:nvSpPr>
        <p:spPr>
          <a:xfrm>
            <a:off x="630936" y="1490472"/>
            <a:ext cx="6089904" cy="3424428"/>
          </a:xfrm>
          <a:prstGeom prst="rect">
            <a:avLst/>
          </a:prstGeom>
          <a:solidFill>
            <a:srgbClr val="FFFFFF"/>
          </a:solidFill>
          <a:ln w="9525">
            <a:solidFill>
              <a:srgbClr val="DCDEE1"/>
            </a:solidFill>
            <a:prstDash val="solid"/>
          </a:ln>
        </p:spPr>
      </p:sp>
      <p:pic>
        <p:nvPicPr>
          <p:cNvPr id="9" name="Image 0" descr="assets/home-optB-question.png">    </p:cNvPr>
          <p:cNvPicPr>
            <a:picLocks noChangeAspect="1"/>
          </p:cNvPicPr>
          <p:nvPr/>
        </p:nvPicPr>
        <p:blipFill>
          <a:blip r:embed="rId1"/>
          <a:stretch>
            <a:fillRect/>
          </a:stretch>
        </p:blipFill>
        <p:spPr>
          <a:xfrm>
            <a:off x="658368" y="1517904"/>
            <a:ext cx="6035040" cy="3369564"/>
          </a:xfrm>
          <a:prstGeom prst="rect">
            <a:avLst/>
          </a:prstGeom>
        </p:spPr>
      </p:pic>
      <p:sp>
        <p:nvSpPr>
          <p:cNvPr id="10" name="Text 7"/>
          <p:cNvSpPr txBox="1"/>
          <p:nvPr/>
        </p:nvSpPr>
        <p:spPr>
          <a:xfrm>
            <a:off x="658368" y="5015484"/>
            <a:ext cx="6035040" cy="274320"/>
          </a:xfrm>
          <a:prstGeom prst="rect">
            <a:avLst/>
          </a:prstGeom>
          <a:noFill/>
          <a:ln/>
        </p:spPr>
        <p:txBody>
          <a:bodyPr wrap="square" lIns="0" tIns="0" rIns="0" bIns="0" rtlCol="0" anchor="ctr"/>
          <a:lstStyle/>
          <a:p>
            <a:pPr indent="0" marL="0">
              <a:lnSpc>
                <a:spcPct val="110000"/>
              </a:lnSpc>
              <a:buNone/>
            </a:pPr>
            <a:r>
              <a:rPr lang="en-US" sz="900" dirty="0">
                <a:solidFill>
                  <a:srgbClr val="54585E"/>
                </a:solidFill>
                <a:latin typeface="Noto Sans" pitchFamily="34" charset="0"/>
                <a:ea typeface="Noto Sans" pitchFamily="34" charset="-122"/>
                <a:cs typeface="Noto Sans" pitchFamily="34" charset="-120"/>
              </a:rPr>
              <a:t>Question 2 of 5. The number of schemes still matching is shown in the corner throughout.</a:t>
            </a:r>
            <a:endParaRPr lang="en-US" sz="900" dirty="0"/>
          </a:p>
        </p:txBody>
      </p:sp>
      <p:sp>
        <p:nvSpPr>
          <p:cNvPr id="11" name="Text 8"/>
          <p:cNvSpPr txBox="1"/>
          <p:nvPr/>
        </p:nvSpPr>
        <p:spPr>
          <a:xfrm>
            <a:off x="7150608" y="1517904"/>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IT IS</a:t>
            </a:r>
            <a:endParaRPr lang="en-US" sz="850" dirty="0"/>
          </a:p>
        </p:txBody>
      </p:sp>
      <p:sp>
        <p:nvSpPr>
          <p:cNvPr id="12" name="Text 9"/>
          <p:cNvSpPr txBox="1"/>
          <p:nvPr/>
        </p:nvSpPr>
        <p:spPr>
          <a:xfrm>
            <a:off x="7150608" y="1682496"/>
            <a:ext cx="4382719" cy="367589"/>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Five short questions, any of which may be skipped. Skipping widens the answer instead of stopping it.</a:t>
            </a:r>
            <a:endParaRPr lang="en-US" sz="950" dirty="0"/>
          </a:p>
        </p:txBody>
      </p:sp>
      <p:sp>
        <p:nvSpPr>
          <p:cNvPr id="13" name="Text 10"/>
          <p:cNvSpPr txBox="1"/>
          <p:nvPr/>
        </p:nvSpPr>
        <p:spPr>
          <a:xfrm>
            <a:off x="7150608" y="2141525"/>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A CITIZEN DOES</a:t>
            </a:r>
            <a:endParaRPr lang="en-US" sz="850" dirty="0"/>
          </a:p>
        </p:txBody>
      </p:sp>
      <p:sp>
        <p:nvSpPr>
          <p:cNvPr id="14" name="Text 11"/>
          <p:cNvSpPr txBox="1"/>
          <p:nvPr/>
        </p:nvSpPr>
        <p:spPr>
          <a:xfrm>
            <a:off x="7150608" y="2306117"/>
            <a:ext cx="4382719" cy="519379"/>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Answers up to five questions — who it is for, community, stage of life, kind of help and State — and is shown the schemes that fit, each with a place to apply.</a:t>
            </a:r>
            <a:endParaRPr lang="en-US" sz="950" dirty="0"/>
          </a:p>
        </p:txBody>
      </p:sp>
      <p:sp>
        <p:nvSpPr>
          <p:cNvPr id="15" name="Text 12"/>
          <p:cNvSpPr txBox="1"/>
          <p:nvPr/>
        </p:nvSpPr>
        <p:spPr>
          <a:xfrm>
            <a:off x="7150608" y="2916936"/>
            <a:ext cx="4382719" cy="164592"/>
          </a:xfrm>
          <a:prstGeom prst="rect">
            <a:avLst/>
          </a:prstGeom>
          <a:noFill/>
          <a:ln/>
        </p:spPr>
        <p:txBody>
          <a:bodyPr wrap="square" lIns="0" tIns="0" rIns="0" bIns="0" rtlCol="0" anchor="ctr"/>
          <a:lstStyle/>
          <a:p>
            <a:pPr indent="0" marL="0">
              <a:buNone/>
            </a:pPr>
            <a:r>
              <a:rPr lang="en-US" sz="850" b="1" spc="100" kern="0" dirty="0">
                <a:solidFill>
                  <a:srgbClr val="005EB9"/>
                </a:solidFill>
                <a:latin typeface="Noto Sans" pitchFamily="34" charset="0"/>
                <a:ea typeface="Noto Sans" pitchFamily="34" charset="-122"/>
                <a:cs typeface="Noto Sans" pitchFamily="34" charset="-120"/>
              </a:rPr>
              <a:t>ADVANTAGES</a:t>
            </a:r>
            <a:endParaRPr lang="en-US" sz="850" dirty="0"/>
          </a:p>
        </p:txBody>
      </p:sp>
      <p:sp>
        <p:nvSpPr>
          <p:cNvPr id="16" name="Text 13"/>
          <p:cNvSpPr txBox="1"/>
          <p:nvPr/>
        </p:nvSpPr>
        <p:spPr>
          <a:xfrm>
            <a:off x="7150608" y="3081528"/>
            <a:ext cx="4382719" cy="932688"/>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Narrows 141 schemes down to the few that fit</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Reads stage of life, need and State, not only community</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No sign-in and no Aadhaar; nothing is stored</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A running count shows the citizen it is working as they answer</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Ends at a place to apply, not at a page of text</a:t>
            </a:r>
            <a:endParaRPr lang="en-US" sz="950" dirty="0"/>
          </a:p>
        </p:txBody>
      </p:sp>
      <p:sp>
        <p:nvSpPr>
          <p:cNvPr id="17" name="Text 14"/>
          <p:cNvSpPr txBox="1"/>
          <p:nvPr/>
        </p:nvSpPr>
        <p:spPr>
          <a:xfrm>
            <a:off x="7150608" y="4105656"/>
            <a:ext cx="4382719" cy="164592"/>
          </a:xfrm>
          <a:prstGeom prst="rect">
            <a:avLst/>
          </a:prstGeom>
          <a:noFill/>
          <a:ln/>
        </p:spPr>
        <p:txBody>
          <a:bodyPr wrap="square" lIns="0" tIns="0" rIns="0" bIns="0" rtlCol="0" anchor="ctr"/>
          <a:lstStyle/>
          <a:p>
            <a:pPr indent="0" marL="0">
              <a:buNone/>
            </a:pPr>
            <a:r>
              <a:rPr lang="en-US" sz="850" b="1" spc="100" kern="0" dirty="0">
                <a:solidFill>
                  <a:srgbClr val="A43A00"/>
                </a:solidFill>
                <a:latin typeface="Noto Sans" pitchFamily="34" charset="0"/>
                <a:ea typeface="Noto Sans" pitchFamily="34" charset="-122"/>
                <a:cs typeface="Noto Sans" pitchFamily="34" charset="-120"/>
              </a:rPr>
              <a:t>LIMITATIONS</a:t>
            </a:r>
            <a:endParaRPr lang="en-US" sz="850" dirty="0"/>
          </a:p>
        </p:txBody>
      </p:sp>
      <p:sp>
        <p:nvSpPr>
          <p:cNvPr id="18" name="Text 15"/>
          <p:cNvSpPr txBox="1"/>
          <p:nvPr/>
        </p:nvSpPr>
        <p:spPr>
          <a:xfrm>
            <a:off x="7150608" y="4270248"/>
            <a:ext cx="4382719" cy="574243"/>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The scheme records must be tagged before it can work</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Needs space on the home page, unless it replaces Our Offerings</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The wording for caste categories needs Ministry approval</a:t>
            </a:r>
            <a:endParaRPr lang="en-US" sz="950" dirty="0"/>
          </a:p>
        </p:txBody>
      </p:sp>
      <p:sp>
        <p:nvSpPr>
          <p:cNvPr id="19" name="Text 16"/>
          <p:cNvSpPr txBox="1"/>
          <p:nvPr/>
        </p:nvSpPr>
        <p:spPr>
          <a:xfrm>
            <a:off x="7150608" y="4935931"/>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THE DEPARTMENT MUST DO FIRST</a:t>
            </a:r>
            <a:endParaRPr lang="en-US" sz="850" dirty="0"/>
          </a:p>
        </p:txBody>
      </p:sp>
      <p:sp>
        <p:nvSpPr>
          <p:cNvPr id="20" name="Text 17"/>
          <p:cNvSpPr txBox="1"/>
          <p:nvPr/>
        </p:nvSpPr>
        <p:spPr>
          <a:xfrm>
            <a:off x="7150608" y="5100523"/>
            <a:ext cx="4382719" cy="367589"/>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Tag all 141 scheme records — the same work every other option needs. Agree the wording for the community question.</a:t>
            </a:r>
            <a:endParaRPr lang="en-US" sz="950" dirty="0"/>
          </a:p>
        </p:txBody>
      </p:sp>
      <p:sp>
        <p:nvSpPr>
          <p:cNvPr id="21" name="Shape 18"/>
          <p:cNvSpPr/>
          <p:nvPr/>
        </p:nvSpPr>
        <p:spPr>
          <a:xfrm>
            <a:off x="7150608" y="5687568"/>
            <a:ext cx="4382719" cy="658368"/>
          </a:xfrm>
          <a:prstGeom prst="rect">
            <a:avLst/>
          </a:prstGeom>
          <a:solidFill>
            <a:srgbClr val="ECF4FF"/>
          </a:solidFill>
          <a:ln w="15875">
            <a:solidFill>
              <a:srgbClr val="0373DF"/>
            </a:solidFill>
            <a:prstDash val="solid"/>
          </a:ln>
        </p:spPr>
      </p:sp>
      <p:sp>
        <p:nvSpPr>
          <p:cNvPr id="22" name="Text 19"/>
          <p:cNvSpPr txBox="1"/>
          <p:nvPr/>
        </p:nvSpPr>
        <p:spPr>
          <a:xfrm>
            <a:off x="7296912" y="5779008"/>
            <a:ext cx="4090111"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OUR VIEW</a:t>
            </a:r>
            <a:endParaRPr lang="en-US" sz="850" dirty="0"/>
          </a:p>
        </p:txBody>
      </p:sp>
      <p:sp>
        <p:nvSpPr>
          <p:cNvPr id="23" name="Text 20"/>
          <p:cNvSpPr txBox="1"/>
          <p:nvPr/>
        </p:nvSpPr>
        <p:spPr>
          <a:xfrm>
            <a:off x="7296912" y="5961888"/>
            <a:ext cx="4090111" cy="347472"/>
          </a:xfrm>
          <a:prstGeom prst="rect">
            <a:avLst/>
          </a:prstGeom>
          <a:noFill/>
          <a:ln/>
        </p:spPr>
        <p:txBody>
          <a:bodyPr wrap="square" lIns="0" tIns="0" rIns="0" bIns="0" rtlCol="0" anchor="ctr"/>
          <a:lstStyle/>
          <a:p>
            <a:pPr indent="0" marL="0">
              <a:lnSpc>
                <a:spcPct val="114000"/>
              </a:lnSpc>
              <a:buNone/>
            </a:pPr>
            <a:r>
              <a:rPr lang="en-US" sz="1000" b="1" dirty="0">
                <a:solidFill>
                  <a:srgbClr val="003975"/>
                </a:solidFill>
                <a:latin typeface="Noto Sans" pitchFamily="34" charset="0"/>
                <a:ea typeface="Noto Sans" pitchFamily="34" charset="-122"/>
                <a:cs typeface="Noto Sans" pitchFamily="34" charset="-120"/>
              </a:rPr>
              <a:t>Recommended for the home page. It answers the question a citizen actually has.</a:t>
            </a:r>
            <a:endParaRPr lang="en-US" sz="1000" dirty="0"/>
          </a:p>
        </p:txBody>
      </p:sp>
      <p:sp>
        <p:nvSpPr>
          <p:cNvPr id="24" name="Text 21"/>
          <p:cNvSpPr txBox="1"/>
          <p:nvPr/>
        </p:nvSpPr>
        <p:spPr>
          <a:xfrm>
            <a:off x="658368" y="6419088"/>
            <a:ext cx="10874959" cy="219456"/>
          </a:xfrm>
          <a:prstGeom prst="rect">
            <a:avLst/>
          </a:prstGeom>
          <a:noFill/>
          <a:ln/>
        </p:spPr>
        <p:txBody>
          <a:bodyPr wrap="square" lIns="0" tIns="0" rIns="0" bIns="0" rtlCol="0" anchor="ctr"/>
          <a:lstStyle/>
          <a:p>
            <a:pPr indent="0" marL="0">
              <a:buNone/>
            </a:pPr>
            <a:r>
              <a:rPr lang="en-US" sz="900" dirty="0">
                <a:solidFill>
                  <a:srgbClr val="54585E"/>
                </a:solidFill>
                <a:latin typeface="Noto Sans" pitchFamily="34" charset="0"/>
                <a:ea typeface="Noto Sans" pitchFamily="34" charset="-122"/>
                <a:cs typeface="Noto Sans" pitchFamily="34" charset="-120"/>
              </a:rPr>
              <a:t>Design file: Mode 1 Website / Home page / Option B. This is recommendation R3 of the review.</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01168"/>
          </a:xfrm>
          <a:prstGeom prst="rect">
            <a:avLst/>
          </a:prstGeom>
          <a:noFill/>
          <a:ln/>
        </p:spPr>
        <p:txBody>
          <a:bodyPr wrap="square" lIns="0" tIns="0" rIns="0" bIns="0" rtlCol="0" anchor="ctr"/>
          <a:lstStyle/>
          <a:p>
            <a:pPr indent="0" marL="0">
              <a:buNone/>
            </a:pPr>
            <a:r>
              <a:rPr lang="en-US" sz="1000" b="1" spc="120" kern="0" dirty="0">
                <a:solidFill>
                  <a:srgbClr val="54585E"/>
                </a:solidFill>
                <a:latin typeface="Noto Sans" pitchFamily="34" charset="0"/>
                <a:ea typeface="Noto Sans" pitchFamily="34" charset="-122"/>
                <a:cs typeface="Noto Sans" pitchFamily="34" charset="-120"/>
              </a:rPr>
              <a:t>DECISION 1 OF 3 · THE HOME PAGE · OPTION C OF 3</a:t>
            </a:r>
            <a:endParaRPr lang="en-US" sz="1000" dirty="0"/>
          </a:p>
        </p:txBody>
      </p:sp>
      <p:sp>
        <p:nvSpPr>
          <p:cNvPr id="3" name="Text 1"/>
          <p:cNvSpPr txBox="1"/>
          <p:nvPr/>
        </p:nvSpPr>
        <p:spPr>
          <a:xfrm>
            <a:off x="658368" y="621792"/>
            <a:ext cx="10874959" cy="420624"/>
          </a:xfrm>
          <a:prstGeom prst="rect">
            <a:avLst/>
          </a:prstGeom>
          <a:noFill/>
          <a:ln/>
        </p:spPr>
        <p:txBody>
          <a:bodyPr wrap="square" lIns="0" tIns="0" rIns="0" bIns="0" rtlCol="0" anchor="ctr"/>
          <a:lstStyle/>
          <a:p>
            <a:pPr indent="0" marL="0">
              <a:buNone/>
            </a:pPr>
            <a:r>
              <a:rPr lang="en-US" sz="2600" b="1" dirty="0">
                <a:solidFill>
                  <a:srgbClr val="003975"/>
                </a:solidFill>
                <a:latin typeface="Noto Sans" pitchFamily="34" charset="0"/>
                <a:ea typeface="Noto Sans" pitchFamily="34" charset="-122"/>
                <a:cs typeface="Noto Sans" pitchFamily="34" charset="-120"/>
              </a:rPr>
              <a:t>Find Offerings for You</a:t>
            </a:r>
            <a:endParaRPr lang="en-US" sz="2600" dirty="0"/>
          </a:p>
        </p:txBody>
      </p:sp>
      <p:sp>
        <p:nvSpPr>
          <p:cNvPr id="4" name="Shape 2"/>
          <p:cNvSpPr/>
          <p:nvPr/>
        </p:nvSpPr>
        <p:spPr>
          <a:xfrm>
            <a:off x="658368" y="1097280"/>
            <a:ext cx="1038758" cy="237744"/>
          </a:xfrm>
          <a:prstGeom prst="roundRect">
            <a:avLst>
              <a:gd name="adj" fmla="val 50000"/>
            </a:avLst>
          </a:prstGeom>
          <a:solidFill>
            <a:srgbClr val="ECF4FF"/>
          </a:solidFill>
          <a:ln w="12700">
            <a:solidFill>
              <a:srgbClr val="ECF4FF"/>
            </a:solidFill>
            <a:prstDash val="solid"/>
          </a:ln>
        </p:spPr>
      </p:sp>
      <p:sp>
        <p:nvSpPr>
          <p:cNvPr id="5" name="Text 3"/>
          <p:cNvSpPr txBox="1"/>
          <p:nvPr/>
        </p:nvSpPr>
        <p:spPr>
          <a:xfrm>
            <a:off x="658368" y="1097280"/>
            <a:ext cx="1038758" cy="237744"/>
          </a:xfrm>
          <a:prstGeom prst="rect">
            <a:avLst/>
          </a:prstGeom>
          <a:noFill/>
          <a:ln/>
        </p:spPr>
        <p:txBody>
          <a:bodyPr wrap="square" lIns="0" tIns="0" rIns="0" bIns="0" rtlCol="0" anchor="ctr"/>
          <a:lstStyle/>
          <a:p>
            <a:pPr algn="ctr" indent="0" marL="0">
              <a:buNone/>
            </a:pPr>
            <a:r>
              <a:rPr lang="en-US" sz="850" b="1" spc="80" kern="0" dirty="0">
                <a:solidFill>
                  <a:srgbClr val="005EB9"/>
                </a:solidFill>
                <a:latin typeface="Noto Sans" pitchFamily="34" charset="0"/>
                <a:ea typeface="Noto Sans" pitchFamily="34" charset="-122"/>
                <a:cs typeface="Noto Sans" pitchFamily="34" charset="-120"/>
              </a:rPr>
              <a:t>TO BE BUILT</a:t>
            </a:r>
            <a:endParaRPr lang="en-US" sz="850" dirty="0"/>
          </a:p>
        </p:txBody>
      </p:sp>
      <p:sp>
        <p:nvSpPr>
          <p:cNvPr id="6" name="Shape 4"/>
          <p:cNvSpPr/>
          <p:nvPr/>
        </p:nvSpPr>
        <p:spPr>
          <a:xfrm>
            <a:off x="630936" y="1490472"/>
            <a:ext cx="6089904" cy="3483102"/>
          </a:xfrm>
          <a:prstGeom prst="rect">
            <a:avLst/>
          </a:prstGeom>
          <a:solidFill>
            <a:srgbClr val="FFFFFF"/>
          </a:solidFill>
          <a:ln w="9525">
            <a:solidFill>
              <a:srgbClr val="DCDEE1"/>
            </a:solidFill>
            <a:prstDash val="solid"/>
          </a:ln>
        </p:spPr>
      </p:sp>
      <p:pic>
        <p:nvPicPr>
          <p:cNvPr id="7" name="Image 0" descr="assets/home-optC.png">    </p:cNvPr>
          <p:cNvPicPr>
            <a:picLocks noChangeAspect="1"/>
          </p:cNvPicPr>
          <p:nvPr/>
        </p:nvPicPr>
        <p:blipFill>
          <a:blip r:embed="rId1"/>
          <a:stretch>
            <a:fillRect/>
          </a:stretch>
        </p:blipFill>
        <p:spPr>
          <a:xfrm>
            <a:off x="658368" y="1517904"/>
            <a:ext cx="6035040" cy="3428238"/>
          </a:xfrm>
          <a:prstGeom prst="rect">
            <a:avLst/>
          </a:prstGeom>
        </p:spPr>
      </p:pic>
      <p:sp>
        <p:nvSpPr>
          <p:cNvPr id="8" name="Text 5"/>
          <p:cNvSpPr txBox="1"/>
          <p:nvPr/>
        </p:nvSpPr>
        <p:spPr>
          <a:xfrm>
            <a:off x="658368" y="5074158"/>
            <a:ext cx="6035040" cy="274320"/>
          </a:xfrm>
          <a:prstGeom prst="rect">
            <a:avLst/>
          </a:prstGeom>
          <a:noFill/>
          <a:ln/>
        </p:spPr>
        <p:txBody>
          <a:bodyPr wrap="square" lIns="0" tIns="0" rIns="0" bIns="0" rtlCol="0" anchor="ctr"/>
          <a:lstStyle/>
          <a:p>
            <a:pPr indent="0" marL="0">
              <a:lnSpc>
                <a:spcPct val="110000"/>
              </a:lnSpc>
              <a:buNone/>
            </a:pPr>
            <a:r>
              <a:rPr lang="en-US" sz="900" dirty="0">
                <a:solidFill>
                  <a:srgbClr val="54585E"/>
                </a:solidFill>
                <a:latin typeface="Noto Sans" pitchFamily="34" charset="0"/>
                <a:ea typeface="Noto Sans" pitchFamily="34" charset="-122"/>
                <a:cs typeface="Noto Sans" pitchFamily="34" charset="-120"/>
              </a:rPr>
              <a:t>Home page, Option C — Transgender Person selected, showing the three rows returned.</a:t>
            </a:r>
            <a:endParaRPr lang="en-US" sz="900" dirty="0"/>
          </a:p>
        </p:txBody>
      </p:sp>
      <p:sp>
        <p:nvSpPr>
          <p:cNvPr id="9" name="Text 6"/>
          <p:cNvSpPr txBox="1"/>
          <p:nvPr/>
        </p:nvSpPr>
        <p:spPr>
          <a:xfrm>
            <a:off x="7150608" y="1517904"/>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IT IS</a:t>
            </a:r>
            <a:endParaRPr lang="en-US" sz="850" dirty="0"/>
          </a:p>
        </p:txBody>
      </p:sp>
      <p:sp>
        <p:nvSpPr>
          <p:cNvPr id="10" name="Text 7"/>
          <p:cNvSpPr txBox="1"/>
          <p:nvPr/>
        </p:nvSpPr>
        <p:spPr>
          <a:xfrm>
            <a:off x="7150608" y="1682496"/>
            <a:ext cx="4382719" cy="367589"/>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A row of groups. Tapping one shows the portal, the scheme and the complaint route for that group.</a:t>
            </a:r>
            <a:endParaRPr lang="en-US" sz="950" dirty="0"/>
          </a:p>
        </p:txBody>
      </p:sp>
      <p:sp>
        <p:nvSpPr>
          <p:cNvPr id="11" name="Text 8"/>
          <p:cNvSpPr txBox="1"/>
          <p:nvPr/>
        </p:nvSpPr>
        <p:spPr>
          <a:xfrm>
            <a:off x="7150608" y="2141525"/>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A CITIZEN DOES</a:t>
            </a:r>
            <a:endParaRPr lang="en-US" sz="850" dirty="0"/>
          </a:p>
        </p:txBody>
      </p:sp>
      <p:sp>
        <p:nvSpPr>
          <p:cNvPr id="12" name="Text 9"/>
          <p:cNvSpPr txBox="1"/>
          <p:nvPr/>
        </p:nvSpPr>
        <p:spPr>
          <a:xfrm>
            <a:off x="7150608" y="2306117"/>
            <a:ext cx="4382719" cy="367589"/>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Taps the group that describes them and sees three things they can act on at once, without answering anything.</a:t>
            </a:r>
            <a:endParaRPr lang="en-US" sz="950" dirty="0"/>
          </a:p>
        </p:txBody>
      </p:sp>
      <p:sp>
        <p:nvSpPr>
          <p:cNvPr id="13" name="Text 10"/>
          <p:cNvSpPr txBox="1"/>
          <p:nvPr/>
        </p:nvSpPr>
        <p:spPr>
          <a:xfrm>
            <a:off x="7150608" y="2765146"/>
            <a:ext cx="4382719" cy="164592"/>
          </a:xfrm>
          <a:prstGeom prst="rect">
            <a:avLst/>
          </a:prstGeom>
          <a:noFill/>
          <a:ln/>
        </p:spPr>
        <p:txBody>
          <a:bodyPr wrap="square" lIns="0" tIns="0" rIns="0" bIns="0" rtlCol="0" anchor="ctr"/>
          <a:lstStyle/>
          <a:p>
            <a:pPr indent="0" marL="0">
              <a:buNone/>
            </a:pPr>
            <a:r>
              <a:rPr lang="en-US" sz="850" b="1" spc="100" kern="0" dirty="0">
                <a:solidFill>
                  <a:srgbClr val="005EB9"/>
                </a:solidFill>
                <a:latin typeface="Noto Sans" pitchFamily="34" charset="0"/>
                <a:ea typeface="Noto Sans" pitchFamily="34" charset="-122"/>
                <a:cs typeface="Noto Sans" pitchFamily="34" charset="-120"/>
              </a:rPr>
              <a:t>ADVANTAGES</a:t>
            </a:r>
            <a:endParaRPr lang="en-US" sz="850" dirty="0"/>
          </a:p>
        </p:txBody>
      </p:sp>
      <p:sp>
        <p:nvSpPr>
          <p:cNvPr id="14" name="Text 11"/>
          <p:cNvSpPr txBox="1"/>
          <p:nvPr/>
        </p:nvSpPr>
        <p:spPr>
          <a:xfrm>
            <a:off x="7150608" y="2929738"/>
            <a:ext cx="4382719" cy="932688"/>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One tap, with no questions to answer</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Shows portals, schemes and complaint routes together</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Each row ends at Apply Now, on the card itself</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Puts the single-window promise on the home page itself</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Compact — one strip and three rows</a:t>
            </a:r>
            <a:endParaRPr lang="en-US" sz="950" dirty="0"/>
          </a:p>
        </p:txBody>
      </p:sp>
      <p:sp>
        <p:nvSpPr>
          <p:cNvPr id="15" name="Text 12"/>
          <p:cNvSpPr txBox="1"/>
          <p:nvPr/>
        </p:nvSpPr>
        <p:spPr>
          <a:xfrm>
            <a:off x="7150608" y="3953866"/>
            <a:ext cx="4382719" cy="164592"/>
          </a:xfrm>
          <a:prstGeom prst="rect">
            <a:avLst/>
          </a:prstGeom>
          <a:noFill/>
          <a:ln/>
        </p:spPr>
        <p:txBody>
          <a:bodyPr wrap="square" lIns="0" tIns="0" rIns="0" bIns="0" rtlCol="0" anchor="ctr"/>
          <a:lstStyle/>
          <a:p>
            <a:pPr indent="0" marL="0">
              <a:buNone/>
            </a:pPr>
            <a:r>
              <a:rPr lang="en-US" sz="850" b="1" spc="100" kern="0" dirty="0">
                <a:solidFill>
                  <a:srgbClr val="A43A00"/>
                </a:solidFill>
                <a:latin typeface="Noto Sans" pitchFamily="34" charset="0"/>
                <a:ea typeface="Noto Sans" pitchFamily="34" charset="-122"/>
                <a:cs typeface="Noto Sans" pitchFamily="34" charset="-120"/>
              </a:rPr>
              <a:t>LIMITATIONS</a:t>
            </a:r>
            <a:endParaRPr lang="en-US" sz="850" dirty="0"/>
          </a:p>
        </p:txBody>
      </p:sp>
      <p:sp>
        <p:nvSpPr>
          <p:cNvPr id="16" name="Text 13"/>
          <p:cNvSpPr txBox="1"/>
          <p:nvPr/>
        </p:nvSpPr>
        <p:spPr>
          <a:xfrm>
            <a:off x="7150608" y="4118458"/>
            <a:ext cx="4382719" cy="574243"/>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The scheme records must be tagged before it can work</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Needs space on the home page, unless it replaces Our Offerings</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Less exact than five questions, because it reads group alone</a:t>
            </a:r>
            <a:endParaRPr lang="en-US" sz="950" dirty="0"/>
          </a:p>
        </p:txBody>
      </p:sp>
      <p:sp>
        <p:nvSpPr>
          <p:cNvPr id="17" name="Text 14"/>
          <p:cNvSpPr txBox="1"/>
          <p:nvPr/>
        </p:nvSpPr>
        <p:spPr>
          <a:xfrm>
            <a:off x="7150608" y="4784141"/>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THE DEPARTMENT MUST DO FIRST</a:t>
            </a:r>
            <a:endParaRPr lang="en-US" sz="850" dirty="0"/>
          </a:p>
        </p:txBody>
      </p:sp>
      <p:sp>
        <p:nvSpPr>
          <p:cNvPr id="18" name="Text 15"/>
          <p:cNvSpPr txBox="1"/>
          <p:nvPr/>
        </p:nvSpPr>
        <p:spPr>
          <a:xfrm>
            <a:off x="7150608" y="4948733"/>
            <a:ext cx="4382719" cy="367589"/>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Tag all 141 scheme records, and decide the three items shown for each group.</a:t>
            </a:r>
            <a:endParaRPr lang="en-US" sz="950" dirty="0"/>
          </a:p>
        </p:txBody>
      </p:sp>
      <p:sp>
        <p:nvSpPr>
          <p:cNvPr id="19" name="Shape 16"/>
          <p:cNvSpPr/>
          <p:nvPr/>
        </p:nvSpPr>
        <p:spPr>
          <a:xfrm>
            <a:off x="7150608" y="5687568"/>
            <a:ext cx="4382719" cy="658368"/>
          </a:xfrm>
          <a:prstGeom prst="rect">
            <a:avLst/>
          </a:prstGeom>
          <a:solidFill>
            <a:srgbClr val="EEF0F3"/>
          </a:solidFill>
          <a:ln w="9525">
            <a:solidFill>
              <a:srgbClr val="DCDEE1"/>
            </a:solidFill>
            <a:prstDash val="solid"/>
          </a:ln>
        </p:spPr>
      </p:sp>
      <p:sp>
        <p:nvSpPr>
          <p:cNvPr id="20" name="Text 17"/>
          <p:cNvSpPr txBox="1"/>
          <p:nvPr/>
        </p:nvSpPr>
        <p:spPr>
          <a:xfrm>
            <a:off x="7296912" y="5779008"/>
            <a:ext cx="4090111"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OUR VIEW</a:t>
            </a:r>
            <a:endParaRPr lang="en-US" sz="850" dirty="0"/>
          </a:p>
        </p:txBody>
      </p:sp>
      <p:sp>
        <p:nvSpPr>
          <p:cNvPr id="21" name="Text 18"/>
          <p:cNvSpPr txBox="1"/>
          <p:nvPr/>
        </p:nvSpPr>
        <p:spPr>
          <a:xfrm>
            <a:off x="7296912" y="5961888"/>
            <a:ext cx="4090111" cy="347472"/>
          </a:xfrm>
          <a:prstGeom prst="rect">
            <a:avLst/>
          </a:prstGeom>
          <a:noFill/>
          <a:ln/>
        </p:spPr>
        <p:txBody>
          <a:bodyPr wrap="square" lIns="0" tIns="0" rIns="0" bIns="0" rtlCol="0" anchor="ctr"/>
          <a:lstStyle/>
          <a:p>
            <a:pPr indent="0" marL="0">
              <a:lnSpc>
                <a:spcPct val="114000"/>
              </a:lnSpc>
              <a:buNone/>
            </a:pPr>
            <a:r>
              <a:rPr lang="en-US" sz="1000" b="1" dirty="0">
                <a:solidFill>
                  <a:srgbClr val="003975"/>
                </a:solidFill>
                <a:latin typeface="Noto Sans" pitchFamily="34" charset="0"/>
                <a:ea typeface="Noto Sans" pitchFamily="34" charset="-122"/>
                <a:cs typeface="Noto Sans" pitchFamily="34" charset="-120"/>
              </a:rPr>
              <a:t>A good companion to Option B for people who will not answer questions. Not a replacement for it.</a:t>
            </a:r>
            <a:endParaRPr lang="en-US" sz="1000" dirty="0"/>
          </a:p>
        </p:txBody>
      </p:sp>
      <p:sp>
        <p:nvSpPr>
          <p:cNvPr id="22" name="Text 19"/>
          <p:cNvSpPr txBox="1"/>
          <p:nvPr/>
        </p:nvSpPr>
        <p:spPr>
          <a:xfrm>
            <a:off x="658368" y="6419088"/>
            <a:ext cx="10874959" cy="219456"/>
          </a:xfrm>
          <a:prstGeom prst="rect">
            <a:avLst/>
          </a:prstGeom>
          <a:noFill/>
          <a:ln/>
        </p:spPr>
        <p:txBody>
          <a:bodyPr wrap="square" lIns="0" tIns="0" rIns="0" bIns="0" rtlCol="0" anchor="ctr"/>
          <a:lstStyle/>
          <a:p>
            <a:pPr indent="0" marL="0">
              <a:buNone/>
            </a:pPr>
            <a:r>
              <a:rPr lang="en-US" sz="900" dirty="0">
                <a:solidFill>
                  <a:srgbClr val="54585E"/>
                </a:solidFill>
                <a:latin typeface="Noto Sans" pitchFamily="34" charset="0"/>
                <a:ea typeface="Noto Sans" pitchFamily="34" charset="-122"/>
                <a:cs typeface="Noto Sans" pitchFamily="34" charset="-120"/>
              </a:rPr>
              <a:t>Design file: Mode 1 Website / Home page / Option C. This is recommendation R4 of the review.</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01168"/>
          </a:xfrm>
          <a:prstGeom prst="rect">
            <a:avLst/>
          </a:prstGeom>
          <a:noFill/>
          <a:ln/>
        </p:spPr>
        <p:txBody>
          <a:bodyPr wrap="square" lIns="0" tIns="0" rIns="0" bIns="0" rtlCol="0" anchor="ctr"/>
          <a:lstStyle/>
          <a:p>
            <a:pPr indent="0" marL="0">
              <a:buNone/>
            </a:pPr>
            <a:r>
              <a:rPr lang="en-US" sz="1000" b="1" spc="120" kern="0" dirty="0">
                <a:solidFill>
                  <a:srgbClr val="54585E"/>
                </a:solidFill>
                <a:latin typeface="Noto Sans" pitchFamily="34" charset="0"/>
                <a:ea typeface="Noto Sans" pitchFamily="34" charset="-122"/>
                <a:cs typeface="Noto Sans" pitchFamily="34" charset="-120"/>
              </a:rPr>
              <a:t>DECISION 2 OF 3 · THE SCHEMES PAGE · OPTION A OF 2</a:t>
            </a:r>
            <a:endParaRPr lang="en-US" sz="1000" dirty="0"/>
          </a:p>
        </p:txBody>
      </p:sp>
      <p:sp>
        <p:nvSpPr>
          <p:cNvPr id="3" name="Text 1"/>
          <p:cNvSpPr txBox="1"/>
          <p:nvPr/>
        </p:nvSpPr>
        <p:spPr>
          <a:xfrm>
            <a:off x="658368" y="621792"/>
            <a:ext cx="10874959" cy="420624"/>
          </a:xfrm>
          <a:prstGeom prst="rect">
            <a:avLst/>
          </a:prstGeom>
          <a:noFill/>
          <a:ln/>
        </p:spPr>
        <p:txBody>
          <a:bodyPr wrap="square" lIns="0" tIns="0" rIns="0" bIns="0" rtlCol="0" anchor="ctr"/>
          <a:lstStyle/>
          <a:p>
            <a:pPr indent="0" marL="0">
              <a:buNone/>
            </a:pPr>
            <a:r>
              <a:rPr lang="en-US" sz="2600" b="1" dirty="0">
                <a:solidFill>
                  <a:srgbClr val="003975"/>
                </a:solidFill>
                <a:latin typeface="Noto Sans" pitchFamily="34" charset="0"/>
                <a:ea typeface="Noto Sans" pitchFamily="34" charset="-122"/>
                <a:cs typeface="Noto Sans" pitchFamily="34" charset="-120"/>
              </a:rPr>
              <a:t>Pictures of the Nine Groups, with Cards</a:t>
            </a:r>
            <a:endParaRPr lang="en-US" sz="2600" dirty="0"/>
          </a:p>
        </p:txBody>
      </p:sp>
      <p:sp>
        <p:nvSpPr>
          <p:cNvPr id="4" name="Shape 2"/>
          <p:cNvSpPr/>
          <p:nvPr/>
        </p:nvSpPr>
        <p:spPr>
          <a:xfrm>
            <a:off x="658368" y="1097280"/>
            <a:ext cx="1038758" cy="237744"/>
          </a:xfrm>
          <a:prstGeom prst="roundRect">
            <a:avLst>
              <a:gd name="adj" fmla="val 50000"/>
            </a:avLst>
          </a:prstGeom>
          <a:solidFill>
            <a:srgbClr val="ECF4FF"/>
          </a:solidFill>
          <a:ln w="12700">
            <a:solidFill>
              <a:srgbClr val="ECF4FF"/>
            </a:solidFill>
            <a:prstDash val="solid"/>
          </a:ln>
        </p:spPr>
      </p:sp>
      <p:sp>
        <p:nvSpPr>
          <p:cNvPr id="5" name="Text 3"/>
          <p:cNvSpPr txBox="1"/>
          <p:nvPr/>
        </p:nvSpPr>
        <p:spPr>
          <a:xfrm>
            <a:off x="658368" y="1097280"/>
            <a:ext cx="1038758" cy="237744"/>
          </a:xfrm>
          <a:prstGeom prst="rect">
            <a:avLst/>
          </a:prstGeom>
          <a:noFill/>
          <a:ln/>
        </p:spPr>
        <p:txBody>
          <a:bodyPr wrap="square" lIns="0" tIns="0" rIns="0" bIns="0" rtlCol="0" anchor="ctr"/>
          <a:lstStyle/>
          <a:p>
            <a:pPr algn="ctr" indent="0" marL="0">
              <a:buNone/>
            </a:pPr>
            <a:r>
              <a:rPr lang="en-US" sz="850" b="1" spc="80" kern="0" dirty="0">
                <a:solidFill>
                  <a:srgbClr val="005EB9"/>
                </a:solidFill>
                <a:latin typeface="Noto Sans" pitchFamily="34" charset="0"/>
                <a:ea typeface="Noto Sans" pitchFamily="34" charset="-122"/>
                <a:cs typeface="Noto Sans" pitchFamily="34" charset="-120"/>
              </a:rPr>
              <a:t>TO BE BUILT</a:t>
            </a:r>
            <a:endParaRPr lang="en-US" sz="850" dirty="0"/>
          </a:p>
        </p:txBody>
      </p:sp>
      <p:sp>
        <p:nvSpPr>
          <p:cNvPr id="6" name="Shape 4"/>
          <p:cNvSpPr/>
          <p:nvPr/>
        </p:nvSpPr>
        <p:spPr>
          <a:xfrm>
            <a:off x="630936" y="1490472"/>
            <a:ext cx="6089904" cy="3930816"/>
          </a:xfrm>
          <a:prstGeom prst="rect">
            <a:avLst/>
          </a:prstGeom>
          <a:solidFill>
            <a:srgbClr val="FFFFFF"/>
          </a:solidFill>
          <a:ln w="9525">
            <a:solidFill>
              <a:srgbClr val="DCDEE1"/>
            </a:solidFill>
            <a:prstDash val="solid"/>
          </a:ln>
        </p:spPr>
      </p:sp>
      <p:pic>
        <p:nvPicPr>
          <p:cNvPr id="7" name="Image 0" descr="assets/scheme-optA-crop3.png">    </p:cNvPr>
          <p:cNvPicPr>
            <a:picLocks noChangeAspect="1"/>
          </p:cNvPicPr>
          <p:nvPr/>
        </p:nvPicPr>
        <p:blipFill>
          <a:blip r:embed="rId1"/>
          <a:stretch>
            <a:fillRect/>
          </a:stretch>
        </p:blipFill>
        <p:spPr>
          <a:xfrm>
            <a:off x="658368" y="1517904"/>
            <a:ext cx="6035040" cy="3875952"/>
          </a:xfrm>
          <a:prstGeom prst="rect">
            <a:avLst/>
          </a:prstGeom>
        </p:spPr>
      </p:pic>
      <p:sp>
        <p:nvSpPr>
          <p:cNvPr id="8" name="Text 5"/>
          <p:cNvSpPr txBox="1"/>
          <p:nvPr/>
        </p:nvSpPr>
        <p:spPr>
          <a:xfrm>
            <a:off x="658368" y="5521872"/>
            <a:ext cx="6035040" cy="274320"/>
          </a:xfrm>
          <a:prstGeom prst="rect">
            <a:avLst/>
          </a:prstGeom>
          <a:noFill/>
          <a:ln/>
        </p:spPr>
        <p:txBody>
          <a:bodyPr wrap="square" lIns="0" tIns="0" rIns="0" bIns="0" rtlCol="0" anchor="ctr"/>
          <a:lstStyle/>
          <a:p>
            <a:pPr indent="0" marL="0">
              <a:lnSpc>
                <a:spcPct val="110000"/>
              </a:lnSpc>
              <a:buNone/>
            </a:pPr>
            <a:r>
              <a:rPr lang="en-US" sz="900" dirty="0">
                <a:solidFill>
                  <a:srgbClr val="54585E"/>
                </a:solidFill>
                <a:latin typeface="Noto Sans" pitchFamily="34" charset="0"/>
                <a:ea typeface="Noto Sans" pitchFamily="34" charset="-122"/>
                <a:cs typeface="Noto Sans" pitchFamily="34" charset="-120"/>
              </a:rPr>
              <a:t>Cropped below the masthead and hero, and below the second row of cards.</a:t>
            </a:r>
            <a:endParaRPr lang="en-US" sz="900" dirty="0"/>
          </a:p>
        </p:txBody>
      </p:sp>
      <p:sp>
        <p:nvSpPr>
          <p:cNvPr id="9" name="Text 6"/>
          <p:cNvSpPr txBox="1"/>
          <p:nvPr/>
        </p:nvSpPr>
        <p:spPr>
          <a:xfrm>
            <a:off x="7150608" y="1517904"/>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IT IS</a:t>
            </a:r>
            <a:endParaRPr lang="en-US" sz="850" dirty="0"/>
          </a:p>
        </p:txBody>
      </p:sp>
      <p:sp>
        <p:nvSpPr>
          <p:cNvPr id="10" name="Text 7"/>
          <p:cNvSpPr txBox="1"/>
          <p:nvPr/>
        </p:nvSpPr>
        <p:spPr>
          <a:xfrm>
            <a:off x="7150608" y="1682496"/>
            <a:ext cx="4382719" cy="215798"/>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A row of pictures for the nine groups, above cards for each scheme.</a:t>
            </a:r>
            <a:endParaRPr lang="en-US" sz="950" dirty="0"/>
          </a:p>
        </p:txBody>
      </p:sp>
      <p:sp>
        <p:nvSpPr>
          <p:cNvPr id="11" name="Text 8"/>
          <p:cNvSpPr txBox="1"/>
          <p:nvPr/>
        </p:nvSpPr>
        <p:spPr>
          <a:xfrm>
            <a:off x="7150608" y="1989734"/>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A CITIZEN DOES</a:t>
            </a:r>
            <a:endParaRPr lang="en-US" sz="850" dirty="0"/>
          </a:p>
        </p:txBody>
      </p:sp>
      <p:sp>
        <p:nvSpPr>
          <p:cNvPr id="12" name="Text 9"/>
          <p:cNvSpPr txBox="1"/>
          <p:nvPr/>
        </p:nvSpPr>
        <p:spPr>
          <a:xfrm>
            <a:off x="7150608" y="2154326"/>
            <a:ext cx="4382719" cy="215798"/>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Picks their group from the pictures, then reads the scheme cards below.</a:t>
            </a:r>
            <a:endParaRPr lang="en-US" sz="950" dirty="0"/>
          </a:p>
        </p:txBody>
      </p:sp>
      <p:sp>
        <p:nvSpPr>
          <p:cNvPr id="13" name="Text 10"/>
          <p:cNvSpPr txBox="1"/>
          <p:nvPr/>
        </p:nvSpPr>
        <p:spPr>
          <a:xfrm>
            <a:off x="7150608" y="2461565"/>
            <a:ext cx="4382719" cy="164592"/>
          </a:xfrm>
          <a:prstGeom prst="rect">
            <a:avLst/>
          </a:prstGeom>
          <a:noFill/>
          <a:ln/>
        </p:spPr>
        <p:txBody>
          <a:bodyPr wrap="square" lIns="0" tIns="0" rIns="0" bIns="0" rtlCol="0" anchor="ctr"/>
          <a:lstStyle/>
          <a:p>
            <a:pPr indent="0" marL="0">
              <a:buNone/>
            </a:pPr>
            <a:r>
              <a:rPr lang="en-US" sz="850" b="1" spc="100" kern="0" dirty="0">
                <a:solidFill>
                  <a:srgbClr val="005EB9"/>
                </a:solidFill>
                <a:latin typeface="Noto Sans" pitchFamily="34" charset="0"/>
                <a:ea typeface="Noto Sans" pitchFamily="34" charset="-122"/>
                <a:cs typeface="Noto Sans" pitchFamily="34" charset="-120"/>
              </a:rPr>
              <a:t>ADVANTAGES</a:t>
            </a:r>
            <a:endParaRPr lang="en-US" sz="850" dirty="0"/>
          </a:p>
        </p:txBody>
      </p:sp>
      <p:sp>
        <p:nvSpPr>
          <p:cNvPr id="14" name="Text 11"/>
          <p:cNvSpPr txBox="1"/>
          <p:nvPr/>
        </p:nvSpPr>
        <p:spPr>
          <a:xfrm>
            <a:off x="7150608" y="2626157"/>
            <a:ext cx="4382719" cy="574243"/>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All nine groups are visible at once, without arrows</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Pictures work across languages and reading levels</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Cards feel welcoming rather than administrative</a:t>
            </a:r>
            <a:endParaRPr lang="en-US" sz="950" dirty="0"/>
          </a:p>
        </p:txBody>
      </p:sp>
      <p:sp>
        <p:nvSpPr>
          <p:cNvPr id="15" name="Text 12"/>
          <p:cNvSpPr txBox="1"/>
          <p:nvPr/>
        </p:nvSpPr>
        <p:spPr>
          <a:xfrm>
            <a:off x="7150608" y="3291840"/>
            <a:ext cx="4382719" cy="164592"/>
          </a:xfrm>
          <a:prstGeom prst="rect">
            <a:avLst/>
          </a:prstGeom>
          <a:noFill/>
          <a:ln/>
        </p:spPr>
        <p:txBody>
          <a:bodyPr wrap="square" lIns="0" tIns="0" rIns="0" bIns="0" rtlCol="0" anchor="ctr"/>
          <a:lstStyle/>
          <a:p>
            <a:pPr indent="0" marL="0">
              <a:buNone/>
            </a:pPr>
            <a:r>
              <a:rPr lang="en-US" sz="850" b="1" spc="100" kern="0" dirty="0">
                <a:solidFill>
                  <a:srgbClr val="A43A00"/>
                </a:solidFill>
                <a:latin typeface="Noto Sans" pitchFamily="34" charset="0"/>
                <a:ea typeface="Noto Sans" pitchFamily="34" charset="-122"/>
                <a:cs typeface="Noto Sans" pitchFamily="34" charset="-120"/>
              </a:rPr>
              <a:t>LIMITATIONS</a:t>
            </a:r>
            <a:endParaRPr lang="en-US" sz="850" dirty="0"/>
          </a:p>
        </p:txBody>
      </p:sp>
      <p:sp>
        <p:nvSpPr>
          <p:cNvPr id="16" name="Text 13"/>
          <p:cNvSpPr txBox="1"/>
          <p:nvPr/>
        </p:nvSpPr>
        <p:spPr>
          <a:xfrm>
            <a:off x="7150608" y="3456432"/>
            <a:ext cx="4382719" cy="753466"/>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Far fewer schemes fit on one screen</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No room to show who runs the scheme, or whether it is Central or State</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Two schemes cannot be compared side by side</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Nine illustrations to draw and to keep up to date</a:t>
            </a:r>
            <a:endParaRPr lang="en-US" sz="950" dirty="0"/>
          </a:p>
        </p:txBody>
      </p:sp>
      <p:sp>
        <p:nvSpPr>
          <p:cNvPr id="17" name="Text 14"/>
          <p:cNvSpPr txBox="1"/>
          <p:nvPr/>
        </p:nvSpPr>
        <p:spPr>
          <a:xfrm>
            <a:off x="7150608" y="4301338"/>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THE DEPARTMENT MUST DO FIRST</a:t>
            </a:r>
            <a:endParaRPr lang="en-US" sz="850" dirty="0"/>
          </a:p>
        </p:txBody>
      </p:sp>
      <p:sp>
        <p:nvSpPr>
          <p:cNvPr id="18" name="Text 15"/>
          <p:cNvSpPr txBox="1"/>
          <p:nvPr/>
        </p:nvSpPr>
        <p:spPr>
          <a:xfrm>
            <a:off x="7150608" y="4465930"/>
            <a:ext cx="4382719" cy="215798"/>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Tag all 141 scheme records, and commission nine illustrations.</a:t>
            </a:r>
            <a:endParaRPr lang="en-US" sz="950" dirty="0"/>
          </a:p>
        </p:txBody>
      </p:sp>
      <p:sp>
        <p:nvSpPr>
          <p:cNvPr id="19" name="Shape 16"/>
          <p:cNvSpPr/>
          <p:nvPr/>
        </p:nvSpPr>
        <p:spPr>
          <a:xfrm>
            <a:off x="7150608" y="5687568"/>
            <a:ext cx="4382719" cy="658368"/>
          </a:xfrm>
          <a:prstGeom prst="rect">
            <a:avLst/>
          </a:prstGeom>
          <a:solidFill>
            <a:srgbClr val="EEF0F3"/>
          </a:solidFill>
          <a:ln w="9525">
            <a:solidFill>
              <a:srgbClr val="DCDEE1"/>
            </a:solidFill>
            <a:prstDash val="solid"/>
          </a:ln>
        </p:spPr>
      </p:sp>
      <p:sp>
        <p:nvSpPr>
          <p:cNvPr id="20" name="Text 17"/>
          <p:cNvSpPr txBox="1"/>
          <p:nvPr/>
        </p:nvSpPr>
        <p:spPr>
          <a:xfrm>
            <a:off x="7296912" y="5779008"/>
            <a:ext cx="4090111"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OUR VIEW</a:t>
            </a:r>
            <a:endParaRPr lang="en-US" sz="850" dirty="0"/>
          </a:p>
        </p:txBody>
      </p:sp>
      <p:sp>
        <p:nvSpPr>
          <p:cNvPr id="21" name="Text 18"/>
          <p:cNvSpPr txBox="1"/>
          <p:nvPr/>
        </p:nvSpPr>
        <p:spPr>
          <a:xfrm>
            <a:off x="7296912" y="5961888"/>
            <a:ext cx="4090111" cy="347472"/>
          </a:xfrm>
          <a:prstGeom prst="rect">
            <a:avLst/>
          </a:prstGeom>
          <a:noFill/>
          <a:ln/>
        </p:spPr>
        <p:txBody>
          <a:bodyPr wrap="square" lIns="0" tIns="0" rIns="0" bIns="0" rtlCol="0" anchor="ctr"/>
          <a:lstStyle/>
          <a:p>
            <a:pPr indent="0" marL="0">
              <a:lnSpc>
                <a:spcPct val="114000"/>
              </a:lnSpc>
              <a:buNone/>
            </a:pPr>
            <a:r>
              <a:rPr lang="en-US" sz="1000" b="1" dirty="0">
                <a:solidFill>
                  <a:srgbClr val="003975"/>
                </a:solidFill>
                <a:latin typeface="Noto Sans" pitchFamily="34" charset="0"/>
                <a:ea typeface="Noto Sans" pitchFamily="34" charset="-122"/>
                <a:cs typeface="Noto Sans" pitchFamily="34" charset="-120"/>
              </a:rPr>
              <a:t>Not recommended for this page. The pictures are welcoming, but this is the page where people compare.</a:t>
            </a:r>
            <a:endParaRPr lang="en-US" sz="1000" dirty="0"/>
          </a:p>
        </p:txBody>
      </p:sp>
      <p:sp>
        <p:nvSpPr>
          <p:cNvPr id="22" name="Text 19"/>
          <p:cNvSpPr txBox="1"/>
          <p:nvPr/>
        </p:nvSpPr>
        <p:spPr>
          <a:xfrm>
            <a:off x="658368" y="6419088"/>
            <a:ext cx="10874959" cy="219456"/>
          </a:xfrm>
          <a:prstGeom prst="rect">
            <a:avLst/>
          </a:prstGeom>
          <a:noFill/>
          <a:ln/>
        </p:spPr>
        <p:txBody>
          <a:bodyPr wrap="square" lIns="0" tIns="0" rIns="0" bIns="0" rtlCol="0" anchor="ctr"/>
          <a:lstStyle/>
          <a:p>
            <a:pPr indent="0" marL="0">
              <a:buNone/>
            </a:pPr>
            <a:r>
              <a:rPr lang="en-US" sz="900" dirty="0">
                <a:solidFill>
                  <a:srgbClr val="54585E"/>
                </a:solidFill>
                <a:latin typeface="Noto Sans" pitchFamily="34" charset="0"/>
                <a:ea typeface="Noto Sans" pitchFamily="34" charset="-122"/>
                <a:cs typeface="Noto Sans" pitchFamily="34" charset="-120"/>
              </a:rPr>
              <a:t>Design file: Mode 1 Website / Scheme / Option A.</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01168"/>
          </a:xfrm>
          <a:prstGeom prst="rect">
            <a:avLst/>
          </a:prstGeom>
          <a:noFill/>
          <a:ln/>
        </p:spPr>
        <p:txBody>
          <a:bodyPr wrap="square" lIns="0" tIns="0" rIns="0" bIns="0" rtlCol="0" anchor="ctr"/>
          <a:lstStyle/>
          <a:p>
            <a:pPr indent="0" marL="0">
              <a:buNone/>
            </a:pPr>
            <a:r>
              <a:rPr lang="en-US" sz="1000" b="1" spc="120" kern="0" dirty="0">
                <a:solidFill>
                  <a:srgbClr val="54585E"/>
                </a:solidFill>
                <a:latin typeface="Noto Sans" pitchFamily="34" charset="0"/>
                <a:ea typeface="Noto Sans" pitchFamily="34" charset="-122"/>
                <a:cs typeface="Noto Sans" pitchFamily="34" charset="-120"/>
              </a:rPr>
              <a:t>DECISION 2 OF 3 · THE SCHEMES PAGE · OPTION B OF 2</a:t>
            </a:r>
            <a:endParaRPr lang="en-US" sz="1000" dirty="0"/>
          </a:p>
        </p:txBody>
      </p:sp>
      <p:sp>
        <p:nvSpPr>
          <p:cNvPr id="3" name="Text 1"/>
          <p:cNvSpPr txBox="1"/>
          <p:nvPr/>
        </p:nvSpPr>
        <p:spPr>
          <a:xfrm>
            <a:off x="658368" y="621792"/>
            <a:ext cx="10874959" cy="420624"/>
          </a:xfrm>
          <a:prstGeom prst="rect">
            <a:avLst/>
          </a:prstGeom>
          <a:noFill/>
          <a:ln/>
        </p:spPr>
        <p:txBody>
          <a:bodyPr wrap="square" lIns="0" tIns="0" rIns="0" bIns="0" rtlCol="0" anchor="ctr"/>
          <a:lstStyle/>
          <a:p>
            <a:pPr indent="0" marL="0">
              <a:buNone/>
            </a:pPr>
            <a:r>
              <a:rPr lang="en-US" sz="2600" b="1" dirty="0">
                <a:solidFill>
                  <a:srgbClr val="003975"/>
                </a:solidFill>
                <a:latin typeface="Noto Sans" pitchFamily="34" charset="0"/>
                <a:ea typeface="Noto Sans" pitchFamily="34" charset="-122"/>
                <a:cs typeface="Noto Sans" pitchFamily="34" charset="-120"/>
              </a:rPr>
              <a:t>Filter Panel with a Table of Schemes</a:t>
            </a:r>
            <a:endParaRPr lang="en-US" sz="2600" dirty="0"/>
          </a:p>
        </p:txBody>
      </p:sp>
      <p:sp>
        <p:nvSpPr>
          <p:cNvPr id="4" name="Shape 2"/>
          <p:cNvSpPr/>
          <p:nvPr/>
        </p:nvSpPr>
        <p:spPr>
          <a:xfrm>
            <a:off x="658368" y="1097280"/>
            <a:ext cx="1038758" cy="237744"/>
          </a:xfrm>
          <a:prstGeom prst="roundRect">
            <a:avLst>
              <a:gd name="adj" fmla="val 50000"/>
            </a:avLst>
          </a:prstGeom>
          <a:solidFill>
            <a:srgbClr val="ECF4FF"/>
          </a:solidFill>
          <a:ln w="12700">
            <a:solidFill>
              <a:srgbClr val="ECF4FF"/>
            </a:solidFill>
            <a:prstDash val="solid"/>
          </a:ln>
        </p:spPr>
      </p:sp>
      <p:sp>
        <p:nvSpPr>
          <p:cNvPr id="5" name="Text 3"/>
          <p:cNvSpPr txBox="1"/>
          <p:nvPr/>
        </p:nvSpPr>
        <p:spPr>
          <a:xfrm>
            <a:off x="658368" y="1097280"/>
            <a:ext cx="1038758" cy="237744"/>
          </a:xfrm>
          <a:prstGeom prst="rect">
            <a:avLst/>
          </a:prstGeom>
          <a:noFill/>
          <a:ln/>
        </p:spPr>
        <p:txBody>
          <a:bodyPr wrap="square" lIns="0" tIns="0" rIns="0" bIns="0" rtlCol="0" anchor="ctr"/>
          <a:lstStyle/>
          <a:p>
            <a:pPr algn="ctr" indent="0" marL="0">
              <a:buNone/>
            </a:pPr>
            <a:r>
              <a:rPr lang="en-US" sz="850" b="1" spc="80" kern="0" dirty="0">
                <a:solidFill>
                  <a:srgbClr val="005EB9"/>
                </a:solidFill>
                <a:latin typeface="Noto Sans" pitchFamily="34" charset="0"/>
                <a:ea typeface="Noto Sans" pitchFamily="34" charset="-122"/>
                <a:cs typeface="Noto Sans" pitchFamily="34" charset="-120"/>
              </a:rPr>
              <a:t>TO BE BUILT</a:t>
            </a:r>
            <a:endParaRPr lang="en-US" sz="850" dirty="0"/>
          </a:p>
        </p:txBody>
      </p:sp>
      <p:sp>
        <p:nvSpPr>
          <p:cNvPr id="6" name="Shape 4"/>
          <p:cNvSpPr/>
          <p:nvPr/>
        </p:nvSpPr>
        <p:spPr>
          <a:xfrm>
            <a:off x="1825142" y="1097280"/>
            <a:ext cx="1038758" cy="237744"/>
          </a:xfrm>
          <a:prstGeom prst="roundRect">
            <a:avLst>
              <a:gd name="adj" fmla="val 50000"/>
            </a:avLst>
          </a:prstGeom>
          <a:solidFill>
            <a:srgbClr val="005EB9"/>
          </a:solidFill>
          <a:ln w="12700">
            <a:solidFill>
              <a:srgbClr val="005EB9"/>
            </a:solidFill>
            <a:prstDash val="solid"/>
          </a:ln>
        </p:spPr>
      </p:sp>
      <p:sp>
        <p:nvSpPr>
          <p:cNvPr id="7" name="Text 5"/>
          <p:cNvSpPr txBox="1"/>
          <p:nvPr/>
        </p:nvSpPr>
        <p:spPr>
          <a:xfrm>
            <a:off x="1825142" y="1097280"/>
            <a:ext cx="1038758" cy="237744"/>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Noto Sans" pitchFamily="34" charset="0"/>
                <a:ea typeface="Noto Sans" pitchFamily="34" charset="-122"/>
                <a:cs typeface="Noto Sans" pitchFamily="34" charset="-120"/>
              </a:rPr>
              <a:t>RECOMMENDED</a:t>
            </a:r>
            <a:endParaRPr lang="en-US" sz="850" dirty="0"/>
          </a:p>
        </p:txBody>
      </p:sp>
      <p:sp>
        <p:nvSpPr>
          <p:cNvPr id="8" name="Shape 6"/>
          <p:cNvSpPr/>
          <p:nvPr/>
        </p:nvSpPr>
        <p:spPr>
          <a:xfrm>
            <a:off x="630936" y="1490472"/>
            <a:ext cx="6089904" cy="4171827"/>
          </a:xfrm>
          <a:prstGeom prst="rect">
            <a:avLst/>
          </a:prstGeom>
          <a:solidFill>
            <a:srgbClr val="FFFFFF"/>
          </a:solidFill>
          <a:ln w="9525">
            <a:solidFill>
              <a:srgbClr val="DCDEE1"/>
            </a:solidFill>
            <a:prstDash val="solid"/>
          </a:ln>
        </p:spPr>
      </p:sp>
      <p:pic>
        <p:nvPicPr>
          <p:cNvPr id="9" name="Image 0" descr="assets/scheme-optB-crop.png">    </p:cNvPr>
          <p:cNvPicPr>
            <a:picLocks noChangeAspect="1"/>
          </p:cNvPicPr>
          <p:nvPr/>
        </p:nvPicPr>
        <p:blipFill>
          <a:blip r:embed="rId1"/>
          <a:stretch>
            <a:fillRect/>
          </a:stretch>
        </p:blipFill>
        <p:spPr>
          <a:xfrm>
            <a:off x="658368" y="1517904"/>
            <a:ext cx="6035040" cy="4116963"/>
          </a:xfrm>
          <a:prstGeom prst="rect">
            <a:avLst/>
          </a:prstGeom>
        </p:spPr>
      </p:pic>
      <p:sp>
        <p:nvSpPr>
          <p:cNvPr id="10" name="Text 7"/>
          <p:cNvSpPr txBox="1"/>
          <p:nvPr/>
        </p:nvSpPr>
        <p:spPr>
          <a:xfrm>
            <a:off x="658368" y="5762883"/>
            <a:ext cx="6035040" cy="274320"/>
          </a:xfrm>
          <a:prstGeom prst="rect">
            <a:avLst/>
          </a:prstGeom>
          <a:noFill/>
          <a:ln/>
        </p:spPr>
        <p:txBody>
          <a:bodyPr wrap="square" lIns="0" tIns="0" rIns="0" bIns="0" rtlCol="0" anchor="ctr"/>
          <a:lstStyle/>
          <a:p>
            <a:pPr indent="0" marL="0">
              <a:lnSpc>
                <a:spcPct val="110000"/>
              </a:lnSpc>
              <a:buNone/>
            </a:pPr>
            <a:r>
              <a:rPr lang="en-US" sz="900" dirty="0">
                <a:solidFill>
                  <a:srgbClr val="54585E"/>
                </a:solidFill>
                <a:latin typeface="Noto Sans" pitchFamily="34" charset="0"/>
                <a:ea typeface="Noto Sans" pitchFamily="34" charset="-122"/>
                <a:cs typeface="Noto Sans" pitchFamily="34" charset="-120"/>
              </a:rPr>
              <a:t>Cropped below the masthead and hero. Two groups ticked, showing 19 schemes.</a:t>
            </a:r>
            <a:endParaRPr lang="en-US" sz="900" dirty="0"/>
          </a:p>
        </p:txBody>
      </p:sp>
      <p:sp>
        <p:nvSpPr>
          <p:cNvPr id="11" name="Text 8"/>
          <p:cNvSpPr txBox="1"/>
          <p:nvPr/>
        </p:nvSpPr>
        <p:spPr>
          <a:xfrm>
            <a:off x="7150608" y="1517904"/>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IT IS</a:t>
            </a:r>
            <a:endParaRPr lang="en-US" sz="850" dirty="0"/>
          </a:p>
        </p:txBody>
      </p:sp>
      <p:sp>
        <p:nvSpPr>
          <p:cNvPr id="12" name="Text 9"/>
          <p:cNvSpPr txBox="1"/>
          <p:nvPr/>
        </p:nvSpPr>
        <p:spPr>
          <a:xfrm>
            <a:off x="7150608" y="1682496"/>
            <a:ext cx="4382719" cy="367589"/>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Filters on the left; a table on the right showing what a person gets, who runs it, and whether it is Central or State.</a:t>
            </a:r>
            <a:endParaRPr lang="en-US" sz="950" dirty="0"/>
          </a:p>
        </p:txBody>
      </p:sp>
      <p:sp>
        <p:nvSpPr>
          <p:cNvPr id="13" name="Text 10"/>
          <p:cNvSpPr txBox="1"/>
          <p:nvPr/>
        </p:nvSpPr>
        <p:spPr>
          <a:xfrm>
            <a:off x="7150608" y="2141525"/>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A CITIZEN DOES</a:t>
            </a:r>
            <a:endParaRPr lang="en-US" sz="850" dirty="0"/>
          </a:p>
        </p:txBody>
      </p:sp>
      <p:sp>
        <p:nvSpPr>
          <p:cNvPr id="14" name="Text 11"/>
          <p:cNvSpPr txBox="1"/>
          <p:nvPr/>
        </p:nvSpPr>
        <p:spPr>
          <a:xfrm>
            <a:off x="7150608" y="2306117"/>
            <a:ext cx="4382719" cy="367589"/>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Ticks the groups that apply to them, and reads the schemes side by side to see which one to apply for.</a:t>
            </a:r>
            <a:endParaRPr lang="en-US" sz="950" dirty="0"/>
          </a:p>
        </p:txBody>
      </p:sp>
      <p:sp>
        <p:nvSpPr>
          <p:cNvPr id="15" name="Text 12"/>
          <p:cNvSpPr txBox="1"/>
          <p:nvPr/>
        </p:nvSpPr>
        <p:spPr>
          <a:xfrm>
            <a:off x="7150608" y="2765146"/>
            <a:ext cx="4382719" cy="164592"/>
          </a:xfrm>
          <a:prstGeom prst="rect">
            <a:avLst/>
          </a:prstGeom>
          <a:noFill/>
          <a:ln/>
        </p:spPr>
        <p:txBody>
          <a:bodyPr wrap="square" lIns="0" tIns="0" rIns="0" bIns="0" rtlCol="0" anchor="ctr"/>
          <a:lstStyle/>
          <a:p>
            <a:pPr indent="0" marL="0">
              <a:buNone/>
            </a:pPr>
            <a:r>
              <a:rPr lang="en-US" sz="850" b="1" spc="100" kern="0" dirty="0">
                <a:solidFill>
                  <a:srgbClr val="005EB9"/>
                </a:solidFill>
                <a:latin typeface="Noto Sans" pitchFamily="34" charset="0"/>
                <a:ea typeface="Noto Sans" pitchFamily="34" charset="-122"/>
                <a:cs typeface="Noto Sans" pitchFamily="34" charset="-120"/>
              </a:rPr>
              <a:t>ADVANTAGES</a:t>
            </a:r>
            <a:endParaRPr lang="en-US" sz="850" dirty="0"/>
          </a:p>
        </p:txBody>
      </p:sp>
      <p:sp>
        <p:nvSpPr>
          <p:cNvPr id="16" name="Text 13"/>
          <p:cNvSpPr txBox="1"/>
          <p:nvPr/>
        </p:nvSpPr>
        <p:spPr>
          <a:xfrm>
            <a:off x="7150608" y="2929738"/>
            <a:ext cx="4382719" cy="753466"/>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Filters combine — group, stage of life and need can be ticked together</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Shows who runs each scheme, and whether it is Central or State</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Many more schemes are visible, and can be compared</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A count beside each filter warns before an empty result</a:t>
            </a:r>
            <a:endParaRPr lang="en-US" sz="950" dirty="0"/>
          </a:p>
        </p:txBody>
      </p:sp>
      <p:sp>
        <p:nvSpPr>
          <p:cNvPr id="17" name="Text 14"/>
          <p:cNvSpPr txBox="1"/>
          <p:nvPr/>
        </p:nvSpPr>
        <p:spPr>
          <a:xfrm>
            <a:off x="7150608" y="3774643"/>
            <a:ext cx="4382719" cy="164592"/>
          </a:xfrm>
          <a:prstGeom prst="rect">
            <a:avLst/>
          </a:prstGeom>
          <a:noFill/>
          <a:ln/>
        </p:spPr>
        <p:txBody>
          <a:bodyPr wrap="square" lIns="0" tIns="0" rIns="0" bIns="0" rtlCol="0" anchor="ctr"/>
          <a:lstStyle/>
          <a:p>
            <a:pPr indent="0" marL="0">
              <a:buNone/>
            </a:pPr>
            <a:r>
              <a:rPr lang="en-US" sz="850" b="1" spc="100" kern="0" dirty="0">
                <a:solidFill>
                  <a:srgbClr val="A43A00"/>
                </a:solidFill>
                <a:latin typeface="Noto Sans" pitchFamily="34" charset="0"/>
                <a:ea typeface="Noto Sans" pitchFamily="34" charset="-122"/>
                <a:cs typeface="Noto Sans" pitchFamily="34" charset="-120"/>
              </a:rPr>
              <a:t>LIMITATIONS</a:t>
            </a:r>
            <a:endParaRPr lang="en-US" sz="850" dirty="0"/>
          </a:p>
        </p:txBody>
      </p:sp>
      <p:sp>
        <p:nvSpPr>
          <p:cNvPr id="18" name="Text 15"/>
          <p:cNvSpPr txBox="1"/>
          <p:nvPr/>
        </p:nvSpPr>
        <p:spPr>
          <a:xfrm>
            <a:off x="7150608" y="3939235"/>
            <a:ext cx="4382719" cy="574243"/>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A table reads as a record rather than an invitation</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Asks the citizen to use the site's own words</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Needs more care on a small screen</a:t>
            </a:r>
            <a:endParaRPr lang="en-US" sz="950" dirty="0"/>
          </a:p>
        </p:txBody>
      </p:sp>
      <p:sp>
        <p:nvSpPr>
          <p:cNvPr id="19" name="Text 16"/>
          <p:cNvSpPr txBox="1"/>
          <p:nvPr/>
        </p:nvSpPr>
        <p:spPr>
          <a:xfrm>
            <a:off x="7150608" y="4604918"/>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THE DEPARTMENT MUST DO FIRST</a:t>
            </a:r>
            <a:endParaRPr lang="en-US" sz="850" dirty="0"/>
          </a:p>
        </p:txBody>
      </p:sp>
      <p:sp>
        <p:nvSpPr>
          <p:cNvPr id="20" name="Text 17"/>
          <p:cNvSpPr txBox="1"/>
          <p:nvPr/>
        </p:nvSpPr>
        <p:spPr>
          <a:xfrm>
            <a:off x="7150608" y="4769510"/>
            <a:ext cx="4382719" cy="367589"/>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Tag all 141 scheme records, including who runs each one and whether it is Central or State.</a:t>
            </a:r>
            <a:endParaRPr lang="en-US" sz="950" dirty="0"/>
          </a:p>
        </p:txBody>
      </p:sp>
      <p:sp>
        <p:nvSpPr>
          <p:cNvPr id="21" name="Shape 18"/>
          <p:cNvSpPr/>
          <p:nvPr/>
        </p:nvSpPr>
        <p:spPr>
          <a:xfrm>
            <a:off x="7150608" y="5687568"/>
            <a:ext cx="4382719" cy="658368"/>
          </a:xfrm>
          <a:prstGeom prst="rect">
            <a:avLst/>
          </a:prstGeom>
          <a:solidFill>
            <a:srgbClr val="ECF4FF"/>
          </a:solidFill>
          <a:ln w="15875">
            <a:solidFill>
              <a:srgbClr val="0373DF"/>
            </a:solidFill>
            <a:prstDash val="solid"/>
          </a:ln>
        </p:spPr>
      </p:sp>
      <p:sp>
        <p:nvSpPr>
          <p:cNvPr id="22" name="Text 19"/>
          <p:cNvSpPr txBox="1"/>
          <p:nvPr/>
        </p:nvSpPr>
        <p:spPr>
          <a:xfrm>
            <a:off x="7296912" y="5779008"/>
            <a:ext cx="4090111"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OUR VIEW</a:t>
            </a:r>
            <a:endParaRPr lang="en-US" sz="850" dirty="0"/>
          </a:p>
        </p:txBody>
      </p:sp>
      <p:sp>
        <p:nvSpPr>
          <p:cNvPr id="23" name="Text 20"/>
          <p:cNvSpPr txBox="1"/>
          <p:nvPr/>
        </p:nvSpPr>
        <p:spPr>
          <a:xfrm>
            <a:off x="7296912" y="5961888"/>
            <a:ext cx="4090111" cy="347472"/>
          </a:xfrm>
          <a:prstGeom prst="rect">
            <a:avLst/>
          </a:prstGeom>
          <a:noFill/>
          <a:ln/>
        </p:spPr>
        <p:txBody>
          <a:bodyPr wrap="square" lIns="0" tIns="0" rIns="0" bIns="0" rtlCol="0" anchor="ctr"/>
          <a:lstStyle/>
          <a:p>
            <a:pPr indent="0" marL="0">
              <a:lnSpc>
                <a:spcPct val="114000"/>
              </a:lnSpc>
              <a:buNone/>
            </a:pPr>
            <a:r>
              <a:rPr lang="en-US" sz="1000" b="1" dirty="0">
                <a:solidFill>
                  <a:srgbClr val="003975"/>
                </a:solidFill>
                <a:latin typeface="Noto Sans" pitchFamily="34" charset="0"/>
                <a:ea typeface="Noto Sans" pitchFamily="34" charset="-122"/>
                <a:cs typeface="Noto Sans" pitchFamily="34" charset="-120"/>
              </a:rPr>
              <a:t>Recommended for the Schemes page. Option A's pictures can sit above this panel if the Department wishes to keep them.</a:t>
            </a:r>
            <a:endParaRPr lang="en-US" sz="1000" dirty="0"/>
          </a:p>
        </p:txBody>
      </p:sp>
      <p:sp>
        <p:nvSpPr>
          <p:cNvPr id="24" name="Text 21"/>
          <p:cNvSpPr txBox="1"/>
          <p:nvPr/>
        </p:nvSpPr>
        <p:spPr>
          <a:xfrm>
            <a:off x="658368" y="6419088"/>
            <a:ext cx="10874959" cy="219456"/>
          </a:xfrm>
          <a:prstGeom prst="rect">
            <a:avLst/>
          </a:prstGeom>
          <a:noFill/>
          <a:ln/>
        </p:spPr>
        <p:txBody>
          <a:bodyPr wrap="square" lIns="0" tIns="0" rIns="0" bIns="0" rtlCol="0" anchor="ctr"/>
          <a:lstStyle/>
          <a:p>
            <a:pPr indent="0" marL="0">
              <a:buNone/>
            </a:pPr>
            <a:r>
              <a:rPr lang="en-US" sz="900" dirty="0">
                <a:solidFill>
                  <a:srgbClr val="54585E"/>
                </a:solidFill>
                <a:latin typeface="Noto Sans" pitchFamily="34" charset="0"/>
                <a:ea typeface="Noto Sans" pitchFamily="34" charset="-122"/>
                <a:cs typeface="Noto Sans" pitchFamily="34" charset="-120"/>
              </a:rPr>
              <a:t>Design file: Mode 1 Website / Scheme / Option B. This is recommendation R5 of the review.</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01168"/>
          </a:xfrm>
          <a:prstGeom prst="rect">
            <a:avLst/>
          </a:prstGeom>
          <a:noFill/>
          <a:ln/>
        </p:spPr>
        <p:txBody>
          <a:bodyPr wrap="square" lIns="0" tIns="0" rIns="0" bIns="0" rtlCol="0" anchor="ctr"/>
          <a:lstStyle/>
          <a:p>
            <a:pPr indent="0" marL="0">
              <a:buNone/>
            </a:pPr>
            <a:r>
              <a:rPr lang="en-US" sz="1000" b="1" spc="120" kern="0" dirty="0">
                <a:solidFill>
                  <a:srgbClr val="54585E"/>
                </a:solidFill>
                <a:latin typeface="Noto Sans" pitchFamily="34" charset="0"/>
                <a:ea typeface="Noto Sans" pitchFamily="34" charset="-122"/>
                <a:cs typeface="Noto Sans" pitchFamily="34" charset="-120"/>
              </a:rPr>
              <a:t>DECISION 3 OF 3 · THE CHATBOT · OPTION A OF 1</a:t>
            </a:r>
            <a:endParaRPr lang="en-US" sz="1000" dirty="0"/>
          </a:p>
        </p:txBody>
      </p:sp>
      <p:sp>
        <p:nvSpPr>
          <p:cNvPr id="3" name="Text 1"/>
          <p:cNvSpPr txBox="1"/>
          <p:nvPr/>
        </p:nvSpPr>
        <p:spPr>
          <a:xfrm>
            <a:off x="658368" y="621792"/>
            <a:ext cx="10874959" cy="420624"/>
          </a:xfrm>
          <a:prstGeom prst="rect">
            <a:avLst/>
          </a:prstGeom>
          <a:noFill/>
          <a:ln/>
        </p:spPr>
        <p:txBody>
          <a:bodyPr wrap="square" lIns="0" tIns="0" rIns="0" bIns="0" rtlCol="0" anchor="ctr"/>
          <a:lstStyle/>
          <a:p>
            <a:pPr indent="0" marL="0">
              <a:buNone/>
            </a:pPr>
            <a:r>
              <a:rPr lang="en-US" sz="2600" b="1" dirty="0">
                <a:solidFill>
                  <a:srgbClr val="003975"/>
                </a:solidFill>
                <a:latin typeface="Noto Sans" pitchFamily="34" charset="0"/>
                <a:ea typeface="Noto Sans" pitchFamily="34" charset="-122"/>
                <a:cs typeface="Noto Sans" pitchFamily="34" charset="-120"/>
              </a:rPr>
              <a:t>Samajik Sahayak — the Same Five Questions, in Chat</a:t>
            </a:r>
            <a:endParaRPr lang="en-US" sz="2600" dirty="0"/>
          </a:p>
        </p:txBody>
      </p:sp>
      <p:sp>
        <p:nvSpPr>
          <p:cNvPr id="4" name="Shape 2"/>
          <p:cNvSpPr/>
          <p:nvPr/>
        </p:nvSpPr>
        <p:spPr>
          <a:xfrm>
            <a:off x="658368" y="1097280"/>
            <a:ext cx="1455725" cy="237744"/>
          </a:xfrm>
          <a:prstGeom prst="roundRect">
            <a:avLst>
              <a:gd name="adj" fmla="val 50000"/>
            </a:avLst>
          </a:prstGeom>
          <a:solidFill>
            <a:srgbClr val="EEF0F3"/>
          </a:solidFill>
          <a:ln w="12700">
            <a:solidFill>
              <a:srgbClr val="EEF0F3"/>
            </a:solidFill>
            <a:prstDash val="solid"/>
          </a:ln>
        </p:spPr>
      </p:sp>
      <p:sp>
        <p:nvSpPr>
          <p:cNvPr id="5" name="Text 3"/>
          <p:cNvSpPr txBox="1"/>
          <p:nvPr/>
        </p:nvSpPr>
        <p:spPr>
          <a:xfrm>
            <a:off x="658368" y="1097280"/>
            <a:ext cx="1455725" cy="237744"/>
          </a:xfrm>
          <a:prstGeom prst="rect">
            <a:avLst/>
          </a:prstGeom>
          <a:noFill/>
          <a:ln/>
        </p:spPr>
        <p:txBody>
          <a:bodyPr wrap="square" lIns="0" tIns="0" rIns="0" bIns="0" rtlCol="0" anchor="ctr"/>
          <a:lstStyle/>
          <a:p>
            <a:pPr algn="ctr" indent="0" marL="0">
              <a:buNone/>
            </a:pPr>
            <a:r>
              <a:rPr lang="en-US" sz="850" b="1" spc="80" kern="0" dirty="0">
                <a:solidFill>
                  <a:srgbClr val="54585E"/>
                </a:solidFill>
                <a:latin typeface="Noto Sans" pitchFamily="34" charset="0"/>
                <a:ea typeface="Noto Sans" pitchFamily="34" charset="-122"/>
                <a:cs typeface="Noto Sans" pitchFamily="34" charset="-120"/>
              </a:rPr>
              <a:t>ON THE SITE TODAY</a:t>
            </a:r>
            <a:endParaRPr lang="en-US" sz="850" dirty="0"/>
          </a:p>
        </p:txBody>
      </p:sp>
      <p:sp>
        <p:nvSpPr>
          <p:cNvPr id="6" name="Shape 4"/>
          <p:cNvSpPr/>
          <p:nvPr/>
        </p:nvSpPr>
        <p:spPr>
          <a:xfrm>
            <a:off x="2242109" y="1097280"/>
            <a:ext cx="1038758" cy="237744"/>
          </a:xfrm>
          <a:prstGeom prst="roundRect">
            <a:avLst>
              <a:gd name="adj" fmla="val 50000"/>
            </a:avLst>
          </a:prstGeom>
          <a:solidFill>
            <a:srgbClr val="005EB9"/>
          </a:solidFill>
          <a:ln w="12700">
            <a:solidFill>
              <a:srgbClr val="005EB9"/>
            </a:solidFill>
            <a:prstDash val="solid"/>
          </a:ln>
        </p:spPr>
      </p:sp>
      <p:sp>
        <p:nvSpPr>
          <p:cNvPr id="7" name="Text 5"/>
          <p:cNvSpPr txBox="1"/>
          <p:nvPr/>
        </p:nvSpPr>
        <p:spPr>
          <a:xfrm>
            <a:off x="2242109" y="1097280"/>
            <a:ext cx="1038758" cy="237744"/>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Noto Sans" pitchFamily="34" charset="0"/>
                <a:ea typeface="Noto Sans" pitchFamily="34" charset="-122"/>
                <a:cs typeface="Noto Sans" pitchFamily="34" charset="-120"/>
              </a:rPr>
              <a:t>RECOMMENDED</a:t>
            </a:r>
            <a:endParaRPr lang="en-US" sz="850" dirty="0"/>
          </a:p>
        </p:txBody>
      </p:sp>
      <p:sp>
        <p:nvSpPr>
          <p:cNvPr id="8" name="Shape 6"/>
          <p:cNvSpPr/>
          <p:nvPr/>
        </p:nvSpPr>
        <p:spPr>
          <a:xfrm>
            <a:off x="630936" y="1490472"/>
            <a:ext cx="6089904" cy="3169723"/>
          </a:xfrm>
          <a:prstGeom prst="rect">
            <a:avLst/>
          </a:prstGeom>
          <a:solidFill>
            <a:srgbClr val="FFFFFF"/>
          </a:solidFill>
          <a:ln w="9525">
            <a:solidFill>
              <a:srgbClr val="DCDEE1"/>
            </a:solidFill>
            <a:prstDash val="solid"/>
          </a:ln>
        </p:spPr>
      </p:sp>
      <p:pic>
        <p:nvPicPr>
          <p:cNvPr id="9" name="Image 0" descr="assets/chatbot-3up.png">    </p:cNvPr>
          <p:cNvPicPr>
            <a:picLocks noChangeAspect="1"/>
          </p:cNvPicPr>
          <p:nvPr/>
        </p:nvPicPr>
        <p:blipFill>
          <a:blip r:embed="rId1"/>
          <a:stretch>
            <a:fillRect/>
          </a:stretch>
        </p:blipFill>
        <p:spPr>
          <a:xfrm>
            <a:off x="658368" y="1517904"/>
            <a:ext cx="6035040" cy="3114859"/>
          </a:xfrm>
          <a:prstGeom prst="rect">
            <a:avLst/>
          </a:prstGeom>
        </p:spPr>
      </p:pic>
      <p:sp>
        <p:nvSpPr>
          <p:cNvPr id="10" name="Text 7"/>
          <p:cNvSpPr txBox="1"/>
          <p:nvPr/>
        </p:nvSpPr>
        <p:spPr>
          <a:xfrm>
            <a:off x="658368" y="4760779"/>
            <a:ext cx="6035040" cy="274320"/>
          </a:xfrm>
          <a:prstGeom prst="rect">
            <a:avLst/>
          </a:prstGeom>
          <a:noFill/>
          <a:ln/>
        </p:spPr>
        <p:txBody>
          <a:bodyPr wrap="square" lIns="0" tIns="0" rIns="0" bIns="0" rtlCol="0" anchor="ctr"/>
          <a:lstStyle/>
          <a:p>
            <a:pPr indent="0" marL="0">
              <a:lnSpc>
                <a:spcPct val="110000"/>
              </a:lnSpc>
              <a:buNone/>
            </a:pPr>
            <a:r>
              <a:rPr lang="en-US" sz="900" dirty="0">
                <a:solidFill>
                  <a:srgbClr val="54585E"/>
                </a:solidFill>
                <a:latin typeface="Noto Sans" pitchFamily="34" charset="0"/>
                <a:ea typeface="Noto Sans" pitchFamily="34" charset="-122"/>
                <a:cs typeface="Noto Sans" pitchFamily="34" charset="-120"/>
              </a:rPr>
              <a:t>Three of the six states drawn: the opening, the branch for an organisation, and the answer with schemes to open.</a:t>
            </a:r>
            <a:endParaRPr lang="en-US" sz="900" dirty="0"/>
          </a:p>
        </p:txBody>
      </p:sp>
      <p:sp>
        <p:nvSpPr>
          <p:cNvPr id="11" name="Text 8"/>
          <p:cNvSpPr txBox="1"/>
          <p:nvPr/>
        </p:nvSpPr>
        <p:spPr>
          <a:xfrm>
            <a:off x="7150608" y="1517904"/>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IT IS</a:t>
            </a:r>
            <a:endParaRPr lang="en-US" sz="850" dirty="0"/>
          </a:p>
        </p:txBody>
      </p:sp>
      <p:sp>
        <p:nvSpPr>
          <p:cNvPr id="12" name="Text 9"/>
          <p:cNvSpPr txBox="1"/>
          <p:nvPr/>
        </p:nvSpPr>
        <p:spPr>
          <a:xfrm>
            <a:off x="7150608" y="1682496"/>
            <a:ext cx="4382719" cy="367589"/>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The same five questions, asked one at a time in a chat window that is already built and reachable from every page.</a:t>
            </a:r>
            <a:endParaRPr lang="en-US" sz="950" dirty="0"/>
          </a:p>
        </p:txBody>
      </p:sp>
      <p:sp>
        <p:nvSpPr>
          <p:cNvPr id="13" name="Text 10"/>
          <p:cNvSpPr txBox="1"/>
          <p:nvPr/>
        </p:nvSpPr>
        <p:spPr>
          <a:xfrm>
            <a:off x="7150608" y="2141525"/>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A CITIZEN DOES</a:t>
            </a:r>
            <a:endParaRPr lang="en-US" sz="850" dirty="0"/>
          </a:p>
        </p:txBody>
      </p:sp>
      <p:sp>
        <p:nvSpPr>
          <p:cNvPr id="14" name="Text 11"/>
          <p:cNvSpPr txBox="1"/>
          <p:nvPr/>
        </p:nvSpPr>
        <p:spPr>
          <a:xfrm>
            <a:off x="7150608" y="2306117"/>
            <a:ext cx="4382719" cy="367589"/>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Opens the chat from whichever page they are on, answers the questions on their phone, and is given schemes to open.</a:t>
            </a:r>
            <a:endParaRPr lang="en-US" sz="950" dirty="0"/>
          </a:p>
        </p:txBody>
      </p:sp>
      <p:sp>
        <p:nvSpPr>
          <p:cNvPr id="15" name="Text 12"/>
          <p:cNvSpPr txBox="1"/>
          <p:nvPr/>
        </p:nvSpPr>
        <p:spPr>
          <a:xfrm>
            <a:off x="7150608" y="2765146"/>
            <a:ext cx="4382719" cy="164592"/>
          </a:xfrm>
          <a:prstGeom prst="rect">
            <a:avLst/>
          </a:prstGeom>
          <a:noFill/>
          <a:ln/>
        </p:spPr>
        <p:txBody>
          <a:bodyPr wrap="square" lIns="0" tIns="0" rIns="0" bIns="0" rtlCol="0" anchor="ctr"/>
          <a:lstStyle/>
          <a:p>
            <a:pPr indent="0" marL="0">
              <a:buNone/>
            </a:pPr>
            <a:r>
              <a:rPr lang="en-US" sz="850" b="1" spc="100" kern="0" dirty="0">
                <a:solidFill>
                  <a:srgbClr val="005EB9"/>
                </a:solidFill>
                <a:latin typeface="Noto Sans" pitchFamily="34" charset="0"/>
                <a:ea typeface="Noto Sans" pitchFamily="34" charset="-122"/>
                <a:cs typeface="Noto Sans" pitchFamily="34" charset="-120"/>
              </a:rPr>
              <a:t>ADVANTAGES</a:t>
            </a:r>
            <a:endParaRPr lang="en-US" sz="850" dirty="0"/>
          </a:p>
        </p:txBody>
      </p:sp>
      <p:sp>
        <p:nvSpPr>
          <p:cNvPr id="16" name="Text 13"/>
          <p:cNvSpPr txBox="1"/>
          <p:nvPr/>
        </p:nvSpPr>
        <p:spPr>
          <a:xfrm>
            <a:off x="7150608" y="2929738"/>
            <a:ext cx="4382719" cy="932688"/>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Reachable from every page, including pages that lead nowhere else</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One question per screen suits a mobile phone</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Works in Hindi without a second design</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Already built — only the scheme branch is new</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States plainly that it cannot decide or change an application</a:t>
            </a:r>
            <a:endParaRPr lang="en-US" sz="950" dirty="0"/>
          </a:p>
        </p:txBody>
      </p:sp>
      <p:sp>
        <p:nvSpPr>
          <p:cNvPr id="17" name="Text 14"/>
          <p:cNvSpPr txBox="1"/>
          <p:nvPr/>
        </p:nvSpPr>
        <p:spPr>
          <a:xfrm>
            <a:off x="7150608" y="3953866"/>
            <a:ext cx="4382719" cy="164592"/>
          </a:xfrm>
          <a:prstGeom prst="rect">
            <a:avLst/>
          </a:prstGeom>
          <a:noFill/>
          <a:ln/>
        </p:spPr>
        <p:txBody>
          <a:bodyPr wrap="square" lIns="0" tIns="0" rIns="0" bIns="0" rtlCol="0" anchor="ctr"/>
          <a:lstStyle/>
          <a:p>
            <a:pPr indent="0" marL="0">
              <a:buNone/>
            </a:pPr>
            <a:r>
              <a:rPr lang="en-US" sz="850" b="1" spc="100" kern="0" dirty="0">
                <a:solidFill>
                  <a:srgbClr val="A43A00"/>
                </a:solidFill>
                <a:latin typeface="Noto Sans" pitchFamily="34" charset="0"/>
                <a:ea typeface="Noto Sans" pitchFamily="34" charset="-122"/>
                <a:cs typeface="Noto Sans" pitchFamily="34" charset="-120"/>
              </a:rPr>
              <a:t>LIMITATIONS</a:t>
            </a:r>
            <a:endParaRPr lang="en-US" sz="850" dirty="0"/>
          </a:p>
        </p:txBody>
      </p:sp>
      <p:sp>
        <p:nvSpPr>
          <p:cNvPr id="18" name="Text 15"/>
          <p:cNvSpPr txBox="1"/>
          <p:nvPr/>
        </p:nvSpPr>
        <p:spPr>
          <a:xfrm>
            <a:off x="7150608" y="4118458"/>
            <a:ext cx="4382719" cy="574243"/>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A button in the corner is found only by those looking for it</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It covers the page on a small screen</a:t>
            </a:r>
            <a:endParaRPr lang="en-US" sz="950" dirty="0"/>
          </a:p>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  Harder to use with a screen reader</a:t>
            </a:r>
            <a:endParaRPr lang="en-US" sz="950" dirty="0"/>
          </a:p>
        </p:txBody>
      </p:sp>
      <p:sp>
        <p:nvSpPr>
          <p:cNvPr id="19" name="Text 16"/>
          <p:cNvSpPr txBox="1"/>
          <p:nvPr/>
        </p:nvSpPr>
        <p:spPr>
          <a:xfrm>
            <a:off x="7150608" y="4784141"/>
            <a:ext cx="4382719"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WHAT THE DEPARTMENT MUST DO FIRST</a:t>
            </a:r>
            <a:endParaRPr lang="en-US" sz="850" dirty="0"/>
          </a:p>
        </p:txBody>
      </p:sp>
      <p:sp>
        <p:nvSpPr>
          <p:cNvPr id="20" name="Text 17"/>
          <p:cNvSpPr txBox="1"/>
          <p:nvPr/>
        </p:nvSpPr>
        <p:spPr>
          <a:xfrm>
            <a:off x="7150608" y="4948733"/>
            <a:ext cx="4382719" cy="367589"/>
          </a:xfrm>
          <a:prstGeom prst="rect">
            <a:avLst/>
          </a:prstGeom>
          <a:noFill/>
          <a:ln/>
        </p:spPr>
        <p:txBody>
          <a:bodyPr wrap="square" lIns="0" tIns="0" rIns="0" bIns="0" rtlCol="0" anchor="ctr"/>
          <a:lstStyle/>
          <a:p>
            <a:pPr indent="0" marL="0">
              <a:lnSpc>
                <a:spcPct val="116000"/>
              </a:lnSpc>
              <a:buNone/>
            </a:pPr>
            <a:r>
              <a:rPr lang="en-US" sz="950" dirty="0">
                <a:solidFill>
                  <a:srgbClr val="1E2124"/>
                </a:solidFill>
                <a:latin typeface="Noto Sans" pitchFamily="34" charset="0"/>
                <a:ea typeface="Noto Sans" pitchFamily="34" charset="-122"/>
                <a:cs typeface="Noto Sans" pitchFamily="34" charset="-120"/>
              </a:rPr>
              <a:t>Tag all 141 scheme records, and ask the existing chatbot vendor to add the scheme branch.</a:t>
            </a:r>
            <a:endParaRPr lang="en-US" sz="950" dirty="0"/>
          </a:p>
        </p:txBody>
      </p:sp>
      <p:sp>
        <p:nvSpPr>
          <p:cNvPr id="21" name="Shape 18"/>
          <p:cNvSpPr/>
          <p:nvPr/>
        </p:nvSpPr>
        <p:spPr>
          <a:xfrm>
            <a:off x="7150608" y="5687568"/>
            <a:ext cx="4382719" cy="658368"/>
          </a:xfrm>
          <a:prstGeom prst="rect">
            <a:avLst/>
          </a:prstGeom>
          <a:solidFill>
            <a:srgbClr val="ECF4FF"/>
          </a:solidFill>
          <a:ln w="15875">
            <a:solidFill>
              <a:srgbClr val="0373DF"/>
            </a:solidFill>
            <a:prstDash val="solid"/>
          </a:ln>
        </p:spPr>
      </p:sp>
      <p:sp>
        <p:nvSpPr>
          <p:cNvPr id="22" name="Text 19"/>
          <p:cNvSpPr txBox="1"/>
          <p:nvPr/>
        </p:nvSpPr>
        <p:spPr>
          <a:xfrm>
            <a:off x="7296912" y="5779008"/>
            <a:ext cx="4090111" cy="164592"/>
          </a:xfrm>
          <a:prstGeom prst="rect">
            <a:avLst/>
          </a:prstGeom>
          <a:noFill/>
          <a:ln/>
        </p:spPr>
        <p:txBody>
          <a:bodyPr wrap="square" lIns="0" tIns="0" rIns="0" bIns="0" rtlCol="0" anchor="ctr"/>
          <a:lstStyle/>
          <a:p>
            <a:pPr indent="0" marL="0">
              <a:buNone/>
            </a:pPr>
            <a:r>
              <a:rPr lang="en-US" sz="850" b="1" spc="100" kern="0" dirty="0">
                <a:solidFill>
                  <a:srgbClr val="54585E"/>
                </a:solidFill>
                <a:latin typeface="Noto Sans" pitchFamily="34" charset="0"/>
                <a:ea typeface="Noto Sans" pitchFamily="34" charset="-122"/>
                <a:cs typeface="Noto Sans" pitchFamily="34" charset="-120"/>
              </a:rPr>
              <a:t>OUR VIEW</a:t>
            </a:r>
            <a:endParaRPr lang="en-US" sz="850" dirty="0"/>
          </a:p>
        </p:txBody>
      </p:sp>
      <p:sp>
        <p:nvSpPr>
          <p:cNvPr id="23" name="Text 20"/>
          <p:cNvSpPr txBox="1"/>
          <p:nvPr/>
        </p:nvSpPr>
        <p:spPr>
          <a:xfrm>
            <a:off x="7296912" y="5961888"/>
            <a:ext cx="4090111" cy="347472"/>
          </a:xfrm>
          <a:prstGeom prst="rect">
            <a:avLst/>
          </a:prstGeom>
          <a:noFill/>
          <a:ln/>
        </p:spPr>
        <p:txBody>
          <a:bodyPr wrap="square" lIns="0" tIns="0" rIns="0" bIns="0" rtlCol="0" anchor="ctr"/>
          <a:lstStyle/>
          <a:p>
            <a:pPr indent="0" marL="0">
              <a:lnSpc>
                <a:spcPct val="114000"/>
              </a:lnSpc>
              <a:buNone/>
            </a:pPr>
            <a:r>
              <a:rPr lang="en-US" sz="1000" b="1" dirty="0">
                <a:solidFill>
                  <a:srgbClr val="003975"/>
                </a:solidFill>
                <a:latin typeface="Noto Sans" pitchFamily="34" charset="0"/>
                <a:ea typeface="Noto Sans" pitchFamily="34" charset="-122"/>
                <a:cs typeface="Noto Sans" pitchFamily="34" charset="-120"/>
              </a:rPr>
              <a:t>Recommended, alongside whichever home page option is chosen. It reaches the person who is already lost on a page.</a:t>
            </a:r>
            <a:endParaRPr lang="en-US" sz="1000" dirty="0"/>
          </a:p>
        </p:txBody>
      </p:sp>
      <p:sp>
        <p:nvSpPr>
          <p:cNvPr id="24" name="Text 21"/>
          <p:cNvSpPr txBox="1"/>
          <p:nvPr/>
        </p:nvSpPr>
        <p:spPr>
          <a:xfrm>
            <a:off x="658368" y="6419088"/>
            <a:ext cx="10874959" cy="219456"/>
          </a:xfrm>
          <a:prstGeom prst="rect">
            <a:avLst/>
          </a:prstGeom>
          <a:noFill/>
          <a:ln/>
        </p:spPr>
        <p:txBody>
          <a:bodyPr wrap="square" lIns="0" tIns="0" rIns="0" bIns="0" rtlCol="0" anchor="ctr"/>
          <a:lstStyle/>
          <a:p>
            <a:pPr indent="0" marL="0">
              <a:buNone/>
            </a:pPr>
            <a:r>
              <a:rPr lang="en-US" sz="900" dirty="0">
                <a:solidFill>
                  <a:srgbClr val="54585E"/>
                </a:solidFill>
                <a:latin typeface="Noto Sans" pitchFamily="34" charset="0"/>
                <a:ea typeface="Noto Sans" pitchFamily="34" charset="-122"/>
                <a:cs typeface="Noto Sans" pitchFamily="34" charset="-120"/>
              </a:rPr>
              <a:t>Design file: Mode 2 Chatbot / Option A.</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01168"/>
          </a:xfrm>
          <a:prstGeom prst="rect">
            <a:avLst/>
          </a:prstGeom>
          <a:noFill/>
          <a:ln/>
        </p:spPr>
        <p:txBody>
          <a:bodyPr wrap="square" lIns="0" tIns="0" rIns="0" bIns="0" rtlCol="0" anchor="ctr"/>
          <a:lstStyle/>
          <a:p>
            <a:pPr indent="0" marL="0">
              <a:buNone/>
            </a:pPr>
            <a:r>
              <a:rPr lang="en-US" sz="1000" b="1" spc="120" kern="0" dirty="0">
                <a:solidFill>
                  <a:srgbClr val="54585E"/>
                </a:solidFill>
                <a:latin typeface="Noto Sans" pitchFamily="34" charset="0"/>
                <a:ea typeface="Noto Sans" pitchFamily="34" charset="-122"/>
                <a:cs typeface="Noto Sans" pitchFamily="34" charset="-120"/>
              </a:rPr>
              <a:t>SEQUENCING</a:t>
            </a:r>
            <a:endParaRPr lang="en-US" sz="1000" dirty="0"/>
          </a:p>
        </p:txBody>
      </p:sp>
      <p:sp>
        <p:nvSpPr>
          <p:cNvPr id="3" name="Text 1"/>
          <p:cNvSpPr txBox="1"/>
          <p:nvPr/>
        </p:nvSpPr>
        <p:spPr>
          <a:xfrm>
            <a:off x="658368" y="621792"/>
            <a:ext cx="10874959" cy="420624"/>
          </a:xfrm>
          <a:prstGeom prst="rect">
            <a:avLst/>
          </a:prstGeom>
          <a:noFill/>
          <a:ln/>
        </p:spPr>
        <p:txBody>
          <a:bodyPr wrap="square" lIns="0" tIns="0" rIns="0" bIns="0" rtlCol="0" anchor="ctr"/>
          <a:lstStyle/>
          <a:p>
            <a:pPr indent="0" marL="0">
              <a:buNone/>
            </a:pPr>
            <a:r>
              <a:rPr lang="en-US" sz="2600" b="1" dirty="0">
                <a:solidFill>
                  <a:srgbClr val="003975"/>
                </a:solidFill>
                <a:latin typeface="Noto Sans" pitchFamily="34" charset="0"/>
                <a:ea typeface="Noto Sans" pitchFamily="34" charset="-122"/>
                <a:cs typeface="Noto Sans" pitchFamily="34" charset="-120"/>
              </a:rPr>
              <a:t>What Has to Be Done First</a:t>
            </a:r>
            <a:endParaRPr lang="en-US" sz="2600" dirty="0"/>
          </a:p>
        </p:txBody>
      </p:sp>
      <p:sp>
        <p:nvSpPr>
          <p:cNvPr id="4" name="Text 2"/>
          <p:cNvSpPr txBox="1"/>
          <p:nvPr/>
        </p:nvSpPr>
        <p:spPr>
          <a:xfrm>
            <a:off x="658368" y="1078992"/>
            <a:ext cx="10004962" cy="274320"/>
          </a:xfrm>
          <a:prstGeom prst="rect">
            <a:avLst/>
          </a:prstGeom>
          <a:noFill/>
          <a:ln/>
        </p:spPr>
        <p:txBody>
          <a:bodyPr wrap="square" lIns="0" tIns="0" rIns="0" bIns="0" rtlCol="0" anchor="ctr"/>
          <a:lstStyle/>
          <a:p>
            <a:pPr indent="0" marL="0">
              <a:buNone/>
            </a:pPr>
            <a:r>
              <a:rPr lang="en-US" sz="1200" dirty="0">
                <a:solidFill>
                  <a:srgbClr val="3A3D41"/>
                </a:solidFill>
                <a:latin typeface="Noto Sans" pitchFamily="34" charset="0"/>
                <a:ea typeface="Noto Sans" pitchFamily="34" charset="-122"/>
                <a:cs typeface="Noto Sans" pitchFamily="34" charset="-120"/>
              </a:rPr>
              <a:t>Every option above reads the same information about each scheme. Until that information is filled in, none of them can work — which is why the tagging comes before the design.</a:t>
            </a:r>
            <a:endParaRPr lang="en-US" sz="1200" dirty="0"/>
          </a:p>
        </p:txBody>
      </p:sp>
      <p:sp>
        <p:nvSpPr>
          <p:cNvPr id="5" name="Shape 3"/>
          <p:cNvSpPr/>
          <p:nvPr/>
        </p:nvSpPr>
        <p:spPr>
          <a:xfrm>
            <a:off x="658368" y="1481328"/>
            <a:ext cx="2014057" cy="3767328"/>
          </a:xfrm>
          <a:prstGeom prst="rect">
            <a:avLst/>
          </a:prstGeom>
          <a:solidFill>
            <a:srgbClr val="EEF0F3"/>
          </a:solidFill>
          <a:ln w="9525">
            <a:solidFill>
              <a:srgbClr val="DCDEE1"/>
            </a:solidFill>
            <a:prstDash val="solid"/>
          </a:ln>
        </p:spPr>
      </p:sp>
      <p:sp>
        <p:nvSpPr>
          <p:cNvPr id="6" name="Text 4"/>
          <p:cNvSpPr txBox="1"/>
          <p:nvPr/>
        </p:nvSpPr>
        <p:spPr>
          <a:xfrm>
            <a:off x="859536" y="1700784"/>
            <a:ext cx="1611721" cy="201168"/>
          </a:xfrm>
          <a:prstGeom prst="rect">
            <a:avLst/>
          </a:prstGeom>
          <a:noFill/>
          <a:ln/>
        </p:spPr>
        <p:txBody>
          <a:bodyPr wrap="square" lIns="0" tIns="0" rIns="0" bIns="0" rtlCol="0" anchor="ctr"/>
          <a:lstStyle/>
          <a:p>
            <a:pPr indent="0" marL="0">
              <a:buNone/>
            </a:pPr>
            <a:r>
              <a:rPr lang="en-US" sz="950" b="1" spc="110" kern="0" dirty="0">
                <a:solidFill>
                  <a:srgbClr val="54585E"/>
                </a:solidFill>
                <a:latin typeface="Noto Sans" pitchFamily="34" charset="0"/>
                <a:ea typeface="Noto Sans" pitchFamily="34" charset="-122"/>
                <a:cs typeface="Noto Sans" pitchFamily="34" charset="-120"/>
              </a:rPr>
              <a:t>STAGE 0</a:t>
            </a:r>
            <a:endParaRPr lang="en-US" sz="950" dirty="0"/>
          </a:p>
        </p:txBody>
      </p:sp>
      <p:sp>
        <p:nvSpPr>
          <p:cNvPr id="7" name="Text 5"/>
          <p:cNvSpPr txBox="1"/>
          <p:nvPr/>
        </p:nvSpPr>
        <p:spPr>
          <a:xfrm>
            <a:off x="859536" y="1938528"/>
            <a:ext cx="1611721" cy="585216"/>
          </a:xfrm>
          <a:prstGeom prst="rect">
            <a:avLst/>
          </a:prstGeom>
          <a:noFill/>
          <a:ln/>
        </p:spPr>
        <p:txBody>
          <a:bodyPr wrap="square" lIns="0" tIns="0" rIns="0" bIns="0" rtlCol="0" anchor="ctr"/>
          <a:lstStyle/>
          <a:p>
            <a:pPr indent="0" marL="0">
              <a:lnSpc>
                <a:spcPct val="108000"/>
              </a:lnSpc>
              <a:buNone/>
            </a:pPr>
            <a:r>
              <a:rPr lang="en-US" sz="1400" b="1" dirty="0">
                <a:solidFill>
                  <a:srgbClr val="003975"/>
                </a:solidFill>
                <a:latin typeface="Noto Sans" pitchFamily="34" charset="0"/>
                <a:ea typeface="Noto Sans" pitchFamily="34" charset="-122"/>
                <a:cs typeface="Noto Sans" pitchFamily="34" charset="-120"/>
              </a:rPr>
              <a:t>Correcting What Is Wrong</a:t>
            </a:r>
            <a:endParaRPr lang="en-US" sz="1400" dirty="0"/>
          </a:p>
        </p:txBody>
      </p:sp>
      <p:sp>
        <p:nvSpPr>
          <p:cNvPr id="8" name="Text 6"/>
          <p:cNvSpPr txBox="1"/>
          <p:nvPr/>
        </p:nvSpPr>
        <p:spPr>
          <a:xfrm>
            <a:off x="859536" y="2578608"/>
            <a:ext cx="1611721" cy="219456"/>
          </a:xfrm>
          <a:prstGeom prst="rect">
            <a:avLst/>
          </a:prstGeom>
          <a:noFill/>
          <a:ln/>
        </p:spPr>
        <p:txBody>
          <a:bodyPr wrap="square" lIns="0" tIns="0" rIns="0" bIns="0" rtlCol="0" anchor="ctr"/>
          <a:lstStyle/>
          <a:p>
            <a:pPr indent="0" marL="0">
              <a:buNone/>
            </a:pPr>
            <a:r>
              <a:rPr lang="en-US" sz="1150" b="1" dirty="0">
                <a:solidFill>
                  <a:srgbClr val="005EB9"/>
                </a:solidFill>
                <a:latin typeface="Noto Sans" pitchFamily="34" charset="0"/>
                <a:ea typeface="Noto Sans" pitchFamily="34" charset="-122"/>
                <a:cs typeface="Noto Sans" pitchFamily="34" charset="-120"/>
              </a:rPr>
              <a:t>2–3 weeks</a:t>
            </a:r>
            <a:endParaRPr lang="en-US" sz="1150" dirty="0"/>
          </a:p>
        </p:txBody>
      </p:sp>
      <p:sp>
        <p:nvSpPr>
          <p:cNvPr id="9" name="Text 7"/>
          <p:cNvSpPr txBox="1"/>
          <p:nvPr/>
        </p:nvSpPr>
        <p:spPr>
          <a:xfrm>
            <a:off x="859536" y="2834640"/>
            <a:ext cx="1611721" cy="310896"/>
          </a:xfrm>
          <a:prstGeom prst="rect">
            <a:avLst/>
          </a:prstGeom>
          <a:noFill/>
          <a:ln/>
        </p:spPr>
        <p:txBody>
          <a:bodyPr wrap="square" lIns="0" tIns="0" rIns="0" bIns="0" rtlCol="0" anchor="ctr"/>
          <a:lstStyle/>
          <a:p>
            <a:pPr indent="0" marL="0">
              <a:lnSpc>
                <a:spcPct val="112000"/>
              </a:lnSpc>
              <a:buNone/>
            </a:pPr>
            <a:r>
              <a:rPr lang="en-US" sz="950" dirty="0">
                <a:solidFill>
                  <a:srgbClr val="54585E"/>
                </a:solidFill>
                <a:latin typeface="Noto Sans" pitchFamily="34" charset="0"/>
                <a:ea typeface="Noto Sans" pitchFamily="34" charset="-122"/>
                <a:cs typeface="Noto Sans" pitchFamily="34" charset="-120"/>
              </a:rPr>
              <a:t>Small effort · useful</a:t>
            </a:r>
            <a:endParaRPr lang="en-US" sz="950" dirty="0"/>
          </a:p>
        </p:txBody>
      </p:sp>
      <p:sp>
        <p:nvSpPr>
          <p:cNvPr id="10" name="Text 8"/>
          <p:cNvSpPr txBox="1"/>
          <p:nvPr/>
        </p:nvSpPr>
        <p:spPr>
          <a:xfrm>
            <a:off x="859536" y="3218688"/>
            <a:ext cx="1611721" cy="1828800"/>
          </a:xfrm>
          <a:prstGeom prst="rect">
            <a:avLst/>
          </a:prstGeom>
          <a:noFill/>
          <a:ln/>
        </p:spPr>
        <p:txBody>
          <a:bodyPr wrap="square" lIns="0" tIns="0" rIns="0" bIns="0" rtlCol="0" anchor="ctr"/>
          <a:lstStyle/>
          <a:p>
            <a:pPr indent="0" marL="0">
              <a:lnSpc>
                <a:spcPct val="120000"/>
              </a:lnSpc>
              <a:buNone/>
            </a:pPr>
            <a:r>
              <a:rPr lang="en-US" sz="1000" dirty="0">
                <a:solidFill>
                  <a:srgbClr val="1E2124"/>
                </a:solidFill>
                <a:latin typeface="Noto Sans" pitchFamily="34" charset="0"/>
                <a:ea typeface="Noto Sans" pitchFamily="34" charset="-122"/>
                <a:cs typeface="Noto Sans" pitchFamily="34" charset="-120"/>
              </a:rPr>
              <a:t>Remove the leftover control in the footer, correct the two spelling errors, make missing pages return a proper error, restore the accessibility page, and take down the 24 empty scheme pages.</a:t>
            </a:r>
            <a:endParaRPr lang="en-US" sz="1000" dirty="0"/>
          </a:p>
        </p:txBody>
      </p:sp>
      <p:sp>
        <p:nvSpPr>
          <p:cNvPr id="11" name="Shape 9"/>
          <p:cNvSpPr/>
          <p:nvPr/>
        </p:nvSpPr>
        <p:spPr>
          <a:xfrm>
            <a:off x="2873593" y="1481328"/>
            <a:ext cx="2014057" cy="3767328"/>
          </a:xfrm>
          <a:prstGeom prst="rect">
            <a:avLst/>
          </a:prstGeom>
          <a:solidFill>
            <a:srgbClr val="003975"/>
          </a:solidFill>
          <a:ln w="9525">
            <a:solidFill>
              <a:srgbClr val="003975"/>
            </a:solidFill>
            <a:prstDash val="solid"/>
          </a:ln>
        </p:spPr>
      </p:sp>
      <p:sp>
        <p:nvSpPr>
          <p:cNvPr id="12" name="Text 10"/>
          <p:cNvSpPr txBox="1"/>
          <p:nvPr/>
        </p:nvSpPr>
        <p:spPr>
          <a:xfrm>
            <a:off x="3074761" y="1700784"/>
            <a:ext cx="1611721" cy="201168"/>
          </a:xfrm>
          <a:prstGeom prst="rect">
            <a:avLst/>
          </a:prstGeom>
          <a:noFill/>
          <a:ln/>
        </p:spPr>
        <p:txBody>
          <a:bodyPr wrap="square" lIns="0" tIns="0" rIns="0" bIns="0" rtlCol="0" anchor="ctr"/>
          <a:lstStyle/>
          <a:p>
            <a:pPr indent="0" marL="0">
              <a:buNone/>
            </a:pPr>
            <a:r>
              <a:rPr lang="en-US" sz="950" b="1" spc="110" kern="0" dirty="0">
                <a:solidFill>
                  <a:srgbClr val="92C2FF"/>
                </a:solidFill>
                <a:latin typeface="Noto Sans" pitchFamily="34" charset="0"/>
                <a:ea typeface="Noto Sans" pitchFamily="34" charset="-122"/>
                <a:cs typeface="Noto Sans" pitchFamily="34" charset="-120"/>
              </a:rPr>
              <a:t>STAGE 1</a:t>
            </a:r>
            <a:endParaRPr lang="en-US" sz="950" dirty="0"/>
          </a:p>
        </p:txBody>
      </p:sp>
      <p:sp>
        <p:nvSpPr>
          <p:cNvPr id="13" name="Text 11"/>
          <p:cNvSpPr txBox="1"/>
          <p:nvPr/>
        </p:nvSpPr>
        <p:spPr>
          <a:xfrm>
            <a:off x="3074761" y="1938528"/>
            <a:ext cx="1611721" cy="585216"/>
          </a:xfrm>
          <a:prstGeom prst="rect">
            <a:avLst/>
          </a:prstGeom>
          <a:noFill/>
          <a:ln/>
        </p:spPr>
        <p:txBody>
          <a:bodyPr wrap="square" lIns="0" tIns="0" rIns="0" bIns="0" rtlCol="0" anchor="ctr"/>
          <a:lstStyle/>
          <a:p>
            <a:pPr indent="0" marL="0">
              <a:lnSpc>
                <a:spcPct val="108000"/>
              </a:lnSpc>
              <a:buNone/>
            </a:pPr>
            <a:r>
              <a:rPr lang="en-US" sz="1400" b="1" dirty="0">
                <a:solidFill>
                  <a:srgbClr val="FFFFFF"/>
                </a:solidFill>
                <a:latin typeface="Noto Sans" pitchFamily="34" charset="0"/>
                <a:ea typeface="Noto Sans" pitchFamily="34" charset="-122"/>
                <a:cs typeface="Noto Sans" pitchFamily="34" charset="-120"/>
              </a:rPr>
              <a:t>Filling In the Information</a:t>
            </a:r>
            <a:endParaRPr lang="en-US" sz="1400" dirty="0"/>
          </a:p>
        </p:txBody>
      </p:sp>
      <p:sp>
        <p:nvSpPr>
          <p:cNvPr id="14" name="Text 12"/>
          <p:cNvSpPr txBox="1"/>
          <p:nvPr/>
        </p:nvSpPr>
        <p:spPr>
          <a:xfrm>
            <a:off x="3074761" y="2578608"/>
            <a:ext cx="1611721" cy="219456"/>
          </a:xfrm>
          <a:prstGeom prst="rect">
            <a:avLst/>
          </a:prstGeom>
          <a:noFill/>
          <a:ln/>
        </p:spPr>
        <p:txBody>
          <a:bodyPr wrap="square" lIns="0" tIns="0" rIns="0" bIns="0" rtlCol="0" anchor="ctr"/>
          <a:lstStyle/>
          <a:p>
            <a:pPr indent="0" marL="0">
              <a:buNone/>
            </a:pPr>
            <a:r>
              <a:rPr lang="en-US" sz="1150" b="1" dirty="0">
                <a:solidFill>
                  <a:srgbClr val="92C2FF"/>
                </a:solidFill>
                <a:latin typeface="Noto Sans" pitchFamily="34" charset="0"/>
                <a:ea typeface="Noto Sans" pitchFamily="34" charset="-122"/>
                <a:cs typeface="Noto Sans" pitchFamily="34" charset="-120"/>
              </a:rPr>
              <a:t>4–8 weeks</a:t>
            </a:r>
            <a:endParaRPr lang="en-US" sz="1150" dirty="0"/>
          </a:p>
        </p:txBody>
      </p:sp>
      <p:sp>
        <p:nvSpPr>
          <p:cNvPr id="15" name="Text 13"/>
          <p:cNvSpPr txBox="1"/>
          <p:nvPr/>
        </p:nvSpPr>
        <p:spPr>
          <a:xfrm>
            <a:off x="3074761" y="2834640"/>
            <a:ext cx="1611721" cy="310896"/>
          </a:xfrm>
          <a:prstGeom prst="rect">
            <a:avLst/>
          </a:prstGeom>
          <a:noFill/>
          <a:ln/>
        </p:spPr>
        <p:txBody>
          <a:bodyPr wrap="square" lIns="0" tIns="0" rIns="0" bIns="0" rtlCol="0" anchor="ctr"/>
          <a:lstStyle/>
          <a:p>
            <a:pPr indent="0" marL="0">
              <a:lnSpc>
                <a:spcPct val="112000"/>
              </a:lnSpc>
              <a:buNone/>
            </a:pPr>
            <a:r>
              <a:rPr lang="en-US" sz="950" dirty="0">
                <a:solidFill>
                  <a:srgbClr val="C0DBFF"/>
                </a:solidFill>
                <a:latin typeface="Noto Sans" pitchFamily="34" charset="0"/>
                <a:ea typeface="Noto Sans" pitchFamily="34" charset="-122"/>
                <a:cs typeface="Noto Sans" pitchFamily="34" charset="-120"/>
              </a:rPr>
              <a:t>Large effort · essential</a:t>
            </a:r>
            <a:endParaRPr lang="en-US" sz="950" dirty="0"/>
          </a:p>
        </p:txBody>
      </p:sp>
      <p:sp>
        <p:nvSpPr>
          <p:cNvPr id="16" name="Text 14"/>
          <p:cNvSpPr txBox="1"/>
          <p:nvPr/>
        </p:nvSpPr>
        <p:spPr>
          <a:xfrm>
            <a:off x="3074761" y="3218688"/>
            <a:ext cx="1611721" cy="1828800"/>
          </a:xfrm>
          <a:prstGeom prst="rect">
            <a:avLst/>
          </a:prstGeom>
          <a:noFill/>
          <a:ln/>
        </p:spPr>
        <p:txBody>
          <a:bodyPr wrap="square" lIns="0" tIns="0" rIns="0" bIns="0" rtlCol="0" anchor="ctr"/>
          <a:lstStyle/>
          <a:p>
            <a:pPr indent="0" marL="0">
              <a:lnSpc>
                <a:spcPct val="120000"/>
              </a:lnSpc>
              <a:buNone/>
            </a:pPr>
            <a:r>
              <a:rPr lang="en-US" sz="1000" dirty="0">
                <a:solidFill>
                  <a:srgbClr val="C0DBFF"/>
                </a:solidFill>
                <a:latin typeface="Noto Sans" pitchFamily="34" charset="0"/>
                <a:ea typeface="Noto Sans" pitchFamily="34" charset="-122"/>
                <a:cs typeface="Noto Sans" pitchFamily="34" charset="-120"/>
              </a:rPr>
              <a:t>Decide what is recorded about each scheme, and fill it in for all 141. Add the seven major schemes that are missing from dosje.gov.in. Rewrite the list of categories and groups.</a:t>
            </a:r>
            <a:endParaRPr lang="en-US" sz="1000" dirty="0"/>
          </a:p>
        </p:txBody>
      </p:sp>
      <p:sp>
        <p:nvSpPr>
          <p:cNvPr id="17" name="Shape 15"/>
          <p:cNvSpPr/>
          <p:nvPr/>
        </p:nvSpPr>
        <p:spPr>
          <a:xfrm>
            <a:off x="5088819" y="1481328"/>
            <a:ext cx="2014057" cy="3767328"/>
          </a:xfrm>
          <a:prstGeom prst="rect">
            <a:avLst/>
          </a:prstGeom>
          <a:solidFill>
            <a:srgbClr val="EEF0F3"/>
          </a:solidFill>
          <a:ln w="9525">
            <a:solidFill>
              <a:srgbClr val="DCDEE1"/>
            </a:solidFill>
            <a:prstDash val="solid"/>
          </a:ln>
        </p:spPr>
      </p:sp>
      <p:sp>
        <p:nvSpPr>
          <p:cNvPr id="18" name="Text 16"/>
          <p:cNvSpPr txBox="1"/>
          <p:nvPr/>
        </p:nvSpPr>
        <p:spPr>
          <a:xfrm>
            <a:off x="5289987" y="1700784"/>
            <a:ext cx="1611721" cy="201168"/>
          </a:xfrm>
          <a:prstGeom prst="rect">
            <a:avLst/>
          </a:prstGeom>
          <a:noFill/>
          <a:ln/>
        </p:spPr>
        <p:txBody>
          <a:bodyPr wrap="square" lIns="0" tIns="0" rIns="0" bIns="0" rtlCol="0" anchor="ctr"/>
          <a:lstStyle/>
          <a:p>
            <a:pPr indent="0" marL="0">
              <a:buNone/>
            </a:pPr>
            <a:r>
              <a:rPr lang="en-US" sz="950" b="1" spc="110" kern="0" dirty="0">
                <a:solidFill>
                  <a:srgbClr val="54585E"/>
                </a:solidFill>
                <a:latin typeface="Noto Sans" pitchFamily="34" charset="0"/>
                <a:ea typeface="Noto Sans" pitchFamily="34" charset="-122"/>
                <a:cs typeface="Noto Sans" pitchFamily="34" charset="-120"/>
              </a:rPr>
              <a:t>STAGE 2</a:t>
            </a:r>
            <a:endParaRPr lang="en-US" sz="950" dirty="0"/>
          </a:p>
        </p:txBody>
      </p:sp>
      <p:sp>
        <p:nvSpPr>
          <p:cNvPr id="19" name="Text 17"/>
          <p:cNvSpPr txBox="1"/>
          <p:nvPr/>
        </p:nvSpPr>
        <p:spPr>
          <a:xfrm>
            <a:off x="5289987" y="1938528"/>
            <a:ext cx="1611721" cy="585216"/>
          </a:xfrm>
          <a:prstGeom prst="rect">
            <a:avLst/>
          </a:prstGeom>
          <a:noFill/>
          <a:ln/>
        </p:spPr>
        <p:txBody>
          <a:bodyPr wrap="square" lIns="0" tIns="0" rIns="0" bIns="0" rtlCol="0" anchor="ctr"/>
          <a:lstStyle/>
          <a:p>
            <a:pPr indent="0" marL="0">
              <a:lnSpc>
                <a:spcPct val="108000"/>
              </a:lnSpc>
              <a:buNone/>
            </a:pPr>
            <a:r>
              <a:rPr lang="en-US" sz="1400" b="1" dirty="0">
                <a:solidFill>
                  <a:srgbClr val="003975"/>
                </a:solidFill>
                <a:latin typeface="Noto Sans" pitchFamily="34" charset="0"/>
                <a:ea typeface="Noto Sans" pitchFamily="34" charset="-122"/>
                <a:cs typeface="Noto Sans" pitchFamily="34" charset="-120"/>
              </a:rPr>
              <a:t>Rebuilding the Pages</a:t>
            </a:r>
            <a:endParaRPr lang="en-US" sz="1400" dirty="0"/>
          </a:p>
        </p:txBody>
      </p:sp>
      <p:sp>
        <p:nvSpPr>
          <p:cNvPr id="20" name="Text 18"/>
          <p:cNvSpPr txBox="1"/>
          <p:nvPr/>
        </p:nvSpPr>
        <p:spPr>
          <a:xfrm>
            <a:off x="5289987" y="2578608"/>
            <a:ext cx="1611721" cy="219456"/>
          </a:xfrm>
          <a:prstGeom prst="rect">
            <a:avLst/>
          </a:prstGeom>
          <a:noFill/>
          <a:ln/>
        </p:spPr>
        <p:txBody>
          <a:bodyPr wrap="square" lIns="0" tIns="0" rIns="0" bIns="0" rtlCol="0" anchor="ctr"/>
          <a:lstStyle/>
          <a:p>
            <a:pPr indent="0" marL="0">
              <a:buNone/>
            </a:pPr>
            <a:r>
              <a:rPr lang="en-US" sz="1150" b="1" dirty="0">
                <a:solidFill>
                  <a:srgbClr val="005EB9"/>
                </a:solidFill>
                <a:latin typeface="Noto Sans" pitchFamily="34" charset="0"/>
                <a:ea typeface="Noto Sans" pitchFamily="34" charset="-122"/>
                <a:cs typeface="Noto Sans" pitchFamily="34" charset="-120"/>
              </a:rPr>
              <a:t>6–10 weeks</a:t>
            </a:r>
            <a:endParaRPr lang="en-US" sz="1150" dirty="0"/>
          </a:p>
        </p:txBody>
      </p:sp>
      <p:sp>
        <p:nvSpPr>
          <p:cNvPr id="21" name="Text 19"/>
          <p:cNvSpPr txBox="1"/>
          <p:nvPr/>
        </p:nvSpPr>
        <p:spPr>
          <a:xfrm>
            <a:off x="5289987" y="2834640"/>
            <a:ext cx="1611721" cy="310896"/>
          </a:xfrm>
          <a:prstGeom prst="rect">
            <a:avLst/>
          </a:prstGeom>
          <a:noFill/>
          <a:ln/>
        </p:spPr>
        <p:txBody>
          <a:bodyPr wrap="square" lIns="0" tIns="0" rIns="0" bIns="0" rtlCol="0" anchor="ctr"/>
          <a:lstStyle/>
          <a:p>
            <a:pPr indent="0" marL="0">
              <a:lnSpc>
                <a:spcPct val="112000"/>
              </a:lnSpc>
              <a:buNone/>
            </a:pPr>
            <a:r>
              <a:rPr lang="en-US" sz="950" dirty="0">
                <a:solidFill>
                  <a:srgbClr val="54585E"/>
                </a:solidFill>
                <a:latin typeface="Noto Sans" pitchFamily="34" charset="0"/>
                <a:ea typeface="Noto Sans" pitchFamily="34" charset="-122"/>
                <a:cs typeface="Noto Sans" pitchFamily="34" charset="-120"/>
              </a:rPr>
              <a:t>Sizeable effort · large gain</a:t>
            </a:r>
            <a:endParaRPr lang="en-US" sz="950" dirty="0"/>
          </a:p>
        </p:txBody>
      </p:sp>
      <p:sp>
        <p:nvSpPr>
          <p:cNvPr id="22" name="Text 20"/>
          <p:cNvSpPr txBox="1"/>
          <p:nvPr/>
        </p:nvSpPr>
        <p:spPr>
          <a:xfrm>
            <a:off x="5289987" y="3218688"/>
            <a:ext cx="1611721" cy="1828800"/>
          </a:xfrm>
          <a:prstGeom prst="rect">
            <a:avLst/>
          </a:prstGeom>
          <a:noFill/>
          <a:ln/>
        </p:spPr>
        <p:txBody>
          <a:bodyPr wrap="square" lIns="0" tIns="0" rIns="0" bIns="0" rtlCol="0" anchor="ctr"/>
          <a:lstStyle/>
          <a:p>
            <a:pPr indent="0" marL="0">
              <a:lnSpc>
                <a:spcPct val="120000"/>
              </a:lnSpc>
              <a:buNone/>
            </a:pPr>
            <a:r>
              <a:rPr lang="en-US" sz="1000" dirty="0">
                <a:solidFill>
                  <a:srgbClr val="1E2124"/>
                </a:solidFill>
                <a:latin typeface="Noto Sans" pitchFamily="34" charset="0"/>
                <a:ea typeface="Noto Sans" pitchFamily="34" charset="-122"/>
                <a:cs typeface="Noto Sans" pitchFamily="34" charset="-120"/>
              </a:rPr>
              <a:t>The Schemes page with working filters and shareable links. Pages for each group. Four plain actions on the home page. A simpler main menu.</a:t>
            </a:r>
            <a:endParaRPr lang="en-US" sz="1000" dirty="0"/>
          </a:p>
        </p:txBody>
      </p:sp>
      <p:sp>
        <p:nvSpPr>
          <p:cNvPr id="23" name="Shape 21"/>
          <p:cNvSpPr/>
          <p:nvPr/>
        </p:nvSpPr>
        <p:spPr>
          <a:xfrm>
            <a:off x="7304044" y="1481328"/>
            <a:ext cx="2014057" cy="3767328"/>
          </a:xfrm>
          <a:prstGeom prst="rect">
            <a:avLst/>
          </a:prstGeom>
          <a:solidFill>
            <a:srgbClr val="EEF0F3"/>
          </a:solidFill>
          <a:ln w="9525">
            <a:solidFill>
              <a:srgbClr val="DCDEE1"/>
            </a:solidFill>
            <a:prstDash val="solid"/>
          </a:ln>
        </p:spPr>
      </p:sp>
      <p:sp>
        <p:nvSpPr>
          <p:cNvPr id="24" name="Text 22"/>
          <p:cNvSpPr txBox="1"/>
          <p:nvPr/>
        </p:nvSpPr>
        <p:spPr>
          <a:xfrm>
            <a:off x="7505212" y="1700784"/>
            <a:ext cx="1611721" cy="201168"/>
          </a:xfrm>
          <a:prstGeom prst="rect">
            <a:avLst/>
          </a:prstGeom>
          <a:noFill/>
          <a:ln/>
        </p:spPr>
        <p:txBody>
          <a:bodyPr wrap="square" lIns="0" tIns="0" rIns="0" bIns="0" rtlCol="0" anchor="ctr"/>
          <a:lstStyle/>
          <a:p>
            <a:pPr indent="0" marL="0">
              <a:buNone/>
            </a:pPr>
            <a:r>
              <a:rPr lang="en-US" sz="950" b="1" spc="110" kern="0" dirty="0">
                <a:solidFill>
                  <a:srgbClr val="54585E"/>
                </a:solidFill>
                <a:latin typeface="Noto Sans" pitchFamily="34" charset="0"/>
                <a:ea typeface="Noto Sans" pitchFamily="34" charset="-122"/>
                <a:cs typeface="Noto Sans" pitchFamily="34" charset="-120"/>
              </a:rPr>
              <a:t>STAGE 3</a:t>
            </a:r>
            <a:endParaRPr lang="en-US" sz="950" dirty="0"/>
          </a:p>
        </p:txBody>
      </p:sp>
      <p:sp>
        <p:nvSpPr>
          <p:cNvPr id="25" name="Text 23"/>
          <p:cNvSpPr txBox="1"/>
          <p:nvPr/>
        </p:nvSpPr>
        <p:spPr>
          <a:xfrm>
            <a:off x="7505212" y="1938528"/>
            <a:ext cx="1611721" cy="585216"/>
          </a:xfrm>
          <a:prstGeom prst="rect">
            <a:avLst/>
          </a:prstGeom>
          <a:noFill/>
          <a:ln/>
        </p:spPr>
        <p:txBody>
          <a:bodyPr wrap="square" lIns="0" tIns="0" rIns="0" bIns="0" rtlCol="0" anchor="ctr"/>
          <a:lstStyle/>
          <a:p>
            <a:pPr indent="0" marL="0">
              <a:lnSpc>
                <a:spcPct val="108000"/>
              </a:lnSpc>
              <a:buNone/>
            </a:pPr>
            <a:r>
              <a:rPr lang="en-US" sz="1400" b="1" dirty="0">
                <a:solidFill>
                  <a:srgbClr val="003975"/>
                </a:solidFill>
                <a:latin typeface="Noto Sans" pitchFamily="34" charset="0"/>
                <a:ea typeface="Noto Sans" pitchFamily="34" charset="-122"/>
                <a:cs typeface="Noto Sans" pitchFamily="34" charset="-120"/>
              </a:rPr>
              <a:t>The Questions and the Search</a:t>
            </a:r>
            <a:endParaRPr lang="en-US" sz="1400" dirty="0"/>
          </a:p>
        </p:txBody>
      </p:sp>
      <p:sp>
        <p:nvSpPr>
          <p:cNvPr id="26" name="Text 24"/>
          <p:cNvSpPr txBox="1"/>
          <p:nvPr/>
        </p:nvSpPr>
        <p:spPr>
          <a:xfrm>
            <a:off x="7505212" y="2578608"/>
            <a:ext cx="1611721" cy="219456"/>
          </a:xfrm>
          <a:prstGeom prst="rect">
            <a:avLst/>
          </a:prstGeom>
          <a:noFill/>
          <a:ln/>
        </p:spPr>
        <p:txBody>
          <a:bodyPr wrap="square" lIns="0" tIns="0" rIns="0" bIns="0" rtlCol="0" anchor="ctr"/>
          <a:lstStyle/>
          <a:p>
            <a:pPr indent="0" marL="0">
              <a:buNone/>
            </a:pPr>
            <a:r>
              <a:rPr lang="en-US" sz="1150" b="1" dirty="0">
                <a:solidFill>
                  <a:srgbClr val="005EB9"/>
                </a:solidFill>
                <a:latin typeface="Noto Sans" pitchFamily="34" charset="0"/>
                <a:ea typeface="Noto Sans" pitchFamily="34" charset="-122"/>
                <a:cs typeface="Noto Sans" pitchFamily="34" charset="-120"/>
              </a:rPr>
              <a:t>6–8 weeks</a:t>
            </a:r>
            <a:endParaRPr lang="en-US" sz="1150" dirty="0"/>
          </a:p>
        </p:txBody>
      </p:sp>
      <p:sp>
        <p:nvSpPr>
          <p:cNvPr id="27" name="Text 25"/>
          <p:cNvSpPr txBox="1"/>
          <p:nvPr/>
        </p:nvSpPr>
        <p:spPr>
          <a:xfrm>
            <a:off x="7505212" y="2834640"/>
            <a:ext cx="1611721" cy="310896"/>
          </a:xfrm>
          <a:prstGeom prst="rect">
            <a:avLst/>
          </a:prstGeom>
          <a:noFill/>
          <a:ln/>
        </p:spPr>
        <p:txBody>
          <a:bodyPr wrap="square" lIns="0" tIns="0" rIns="0" bIns="0" rtlCol="0" anchor="ctr"/>
          <a:lstStyle/>
          <a:p>
            <a:pPr indent="0" marL="0">
              <a:lnSpc>
                <a:spcPct val="112000"/>
              </a:lnSpc>
              <a:buNone/>
            </a:pPr>
            <a:r>
              <a:rPr lang="en-US" sz="950" dirty="0">
                <a:solidFill>
                  <a:srgbClr val="54585E"/>
                </a:solidFill>
                <a:latin typeface="Noto Sans" pitchFamily="34" charset="0"/>
                <a:ea typeface="Noto Sans" pitchFamily="34" charset="-122"/>
                <a:cs typeface="Noto Sans" pitchFamily="34" charset="-120"/>
              </a:rPr>
              <a:t>Moderate effort · large gain</a:t>
            </a:r>
            <a:endParaRPr lang="en-US" sz="950" dirty="0"/>
          </a:p>
        </p:txBody>
      </p:sp>
      <p:sp>
        <p:nvSpPr>
          <p:cNvPr id="28" name="Text 26"/>
          <p:cNvSpPr txBox="1"/>
          <p:nvPr/>
        </p:nvSpPr>
        <p:spPr>
          <a:xfrm>
            <a:off x="7505212" y="3218688"/>
            <a:ext cx="1611721" cy="1828800"/>
          </a:xfrm>
          <a:prstGeom prst="rect">
            <a:avLst/>
          </a:prstGeom>
          <a:noFill/>
          <a:ln/>
        </p:spPr>
        <p:txBody>
          <a:bodyPr wrap="square" lIns="0" tIns="0" rIns="0" bIns="0" rtlCol="0" anchor="ctr"/>
          <a:lstStyle/>
          <a:p>
            <a:pPr indent="0" marL="0">
              <a:lnSpc>
                <a:spcPct val="120000"/>
              </a:lnSpc>
              <a:buNone/>
            </a:pPr>
            <a:r>
              <a:rPr lang="en-US" sz="1000" dirty="0">
                <a:solidFill>
                  <a:srgbClr val="1E2124"/>
                </a:solidFill>
                <a:latin typeface="Noto Sans" pitchFamily="34" charset="0"/>
                <a:ea typeface="Noto Sans" pitchFamily="34" charset="-122"/>
                <a:cs typeface="Noto Sans" pitchFamily="34" charset="-120"/>
              </a:rPr>
              <a:t>Build Find Schemes for You, check it against accessibility standards, and test it with at least eight people from the groups it serves, in Hindi and one other language.</a:t>
            </a:r>
            <a:endParaRPr lang="en-US" sz="1000" dirty="0"/>
          </a:p>
        </p:txBody>
      </p:sp>
      <p:sp>
        <p:nvSpPr>
          <p:cNvPr id="29" name="Shape 27"/>
          <p:cNvSpPr/>
          <p:nvPr/>
        </p:nvSpPr>
        <p:spPr>
          <a:xfrm>
            <a:off x="9519270" y="1481328"/>
            <a:ext cx="2014057" cy="3767328"/>
          </a:xfrm>
          <a:prstGeom prst="rect">
            <a:avLst/>
          </a:prstGeom>
          <a:solidFill>
            <a:srgbClr val="EEF0F3"/>
          </a:solidFill>
          <a:ln w="9525">
            <a:solidFill>
              <a:srgbClr val="DCDEE1"/>
            </a:solidFill>
            <a:prstDash val="solid"/>
          </a:ln>
        </p:spPr>
      </p:sp>
      <p:sp>
        <p:nvSpPr>
          <p:cNvPr id="30" name="Text 28"/>
          <p:cNvSpPr txBox="1"/>
          <p:nvPr/>
        </p:nvSpPr>
        <p:spPr>
          <a:xfrm>
            <a:off x="9720438" y="1700784"/>
            <a:ext cx="1611721" cy="201168"/>
          </a:xfrm>
          <a:prstGeom prst="rect">
            <a:avLst/>
          </a:prstGeom>
          <a:noFill/>
          <a:ln/>
        </p:spPr>
        <p:txBody>
          <a:bodyPr wrap="square" lIns="0" tIns="0" rIns="0" bIns="0" rtlCol="0" anchor="ctr"/>
          <a:lstStyle/>
          <a:p>
            <a:pPr indent="0" marL="0">
              <a:buNone/>
            </a:pPr>
            <a:r>
              <a:rPr lang="en-US" sz="950" b="1" spc="110" kern="0" dirty="0">
                <a:solidFill>
                  <a:srgbClr val="54585E"/>
                </a:solidFill>
                <a:latin typeface="Noto Sans" pitchFamily="34" charset="0"/>
                <a:ea typeface="Noto Sans" pitchFamily="34" charset="-122"/>
                <a:cs typeface="Noto Sans" pitchFamily="34" charset="-120"/>
              </a:rPr>
              <a:t>STAGE 4</a:t>
            </a:r>
            <a:endParaRPr lang="en-US" sz="950" dirty="0"/>
          </a:p>
        </p:txBody>
      </p:sp>
      <p:sp>
        <p:nvSpPr>
          <p:cNvPr id="31" name="Text 29"/>
          <p:cNvSpPr txBox="1"/>
          <p:nvPr/>
        </p:nvSpPr>
        <p:spPr>
          <a:xfrm>
            <a:off x="9720438" y="1938528"/>
            <a:ext cx="1611721" cy="585216"/>
          </a:xfrm>
          <a:prstGeom prst="rect">
            <a:avLst/>
          </a:prstGeom>
          <a:noFill/>
          <a:ln/>
        </p:spPr>
        <p:txBody>
          <a:bodyPr wrap="square" lIns="0" tIns="0" rIns="0" bIns="0" rtlCol="0" anchor="ctr"/>
          <a:lstStyle/>
          <a:p>
            <a:pPr indent="0" marL="0">
              <a:lnSpc>
                <a:spcPct val="108000"/>
              </a:lnSpc>
              <a:buNone/>
            </a:pPr>
            <a:r>
              <a:rPr lang="en-US" sz="1400" b="1" dirty="0">
                <a:solidFill>
                  <a:srgbClr val="003975"/>
                </a:solidFill>
                <a:latin typeface="Noto Sans" pitchFamily="34" charset="0"/>
                <a:ea typeface="Noto Sans" pitchFamily="34" charset="-122"/>
                <a:cs typeface="Noto Sans" pitchFamily="34" charset="-120"/>
              </a:rPr>
              <a:t>Bringing the Two Sites Together</a:t>
            </a:r>
            <a:endParaRPr lang="en-US" sz="1400" dirty="0"/>
          </a:p>
        </p:txBody>
      </p:sp>
      <p:sp>
        <p:nvSpPr>
          <p:cNvPr id="32" name="Text 30"/>
          <p:cNvSpPr txBox="1"/>
          <p:nvPr/>
        </p:nvSpPr>
        <p:spPr>
          <a:xfrm>
            <a:off x="9720438" y="2578608"/>
            <a:ext cx="1611721" cy="219456"/>
          </a:xfrm>
          <a:prstGeom prst="rect">
            <a:avLst/>
          </a:prstGeom>
          <a:noFill/>
          <a:ln/>
        </p:spPr>
        <p:txBody>
          <a:bodyPr wrap="square" lIns="0" tIns="0" rIns="0" bIns="0" rtlCol="0" anchor="ctr"/>
          <a:lstStyle/>
          <a:p>
            <a:pPr indent="0" marL="0">
              <a:buNone/>
            </a:pPr>
            <a:r>
              <a:rPr lang="en-US" sz="1150" b="1" dirty="0">
                <a:solidFill>
                  <a:srgbClr val="005EB9"/>
                </a:solidFill>
                <a:latin typeface="Noto Sans" pitchFamily="34" charset="0"/>
                <a:ea typeface="Noto Sans" pitchFamily="34" charset="-122"/>
                <a:cs typeface="Noto Sans" pitchFamily="34" charset="-120"/>
              </a:rPr>
              <a:t>Ongoing</a:t>
            </a:r>
            <a:endParaRPr lang="en-US" sz="1150" dirty="0"/>
          </a:p>
        </p:txBody>
      </p:sp>
      <p:sp>
        <p:nvSpPr>
          <p:cNvPr id="33" name="Text 31"/>
          <p:cNvSpPr txBox="1"/>
          <p:nvPr/>
        </p:nvSpPr>
        <p:spPr>
          <a:xfrm>
            <a:off x="9720438" y="2834640"/>
            <a:ext cx="1611721" cy="310896"/>
          </a:xfrm>
          <a:prstGeom prst="rect">
            <a:avLst/>
          </a:prstGeom>
          <a:noFill/>
          <a:ln/>
        </p:spPr>
        <p:txBody>
          <a:bodyPr wrap="square" lIns="0" tIns="0" rIns="0" bIns="0" rtlCol="0" anchor="ctr"/>
          <a:lstStyle/>
          <a:p>
            <a:pPr indent="0" marL="0">
              <a:lnSpc>
                <a:spcPct val="112000"/>
              </a:lnSpc>
              <a:buNone/>
            </a:pPr>
            <a:r>
              <a:rPr lang="en-US" sz="950" dirty="0">
                <a:solidFill>
                  <a:srgbClr val="54585E"/>
                </a:solidFill>
                <a:latin typeface="Noto Sans" pitchFamily="34" charset="0"/>
                <a:ea typeface="Noto Sans" pitchFamily="34" charset="-122"/>
                <a:cs typeface="Noto Sans" pitchFamily="34" charset="-120"/>
              </a:rPr>
              <a:t>Moderate effort · steady gain</a:t>
            </a:r>
            <a:endParaRPr lang="en-US" sz="950" dirty="0"/>
          </a:p>
        </p:txBody>
      </p:sp>
      <p:sp>
        <p:nvSpPr>
          <p:cNvPr id="34" name="Text 32"/>
          <p:cNvSpPr txBox="1"/>
          <p:nvPr/>
        </p:nvSpPr>
        <p:spPr>
          <a:xfrm>
            <a:off x="9720438" y="3218688"/>
            <a:ext cx="1611721" cy="1828800"/>
          </a:xfrm>
          <a:prstGeom prst="rect">
            <a:avLst/>
          </a:prstGeom>
          <a:noFill/>
          <a:ln/>
        </p:spPr>
        <p:txBody>
          <a:bodyPr wrap="square" lIns="0" tIns="0" rIns="0" bIns="0" rtlCol="0" anchor="ctr"/>
          <a:lstStyle/>
          <a:p>
            <a:pPr indent="0" marL="0">
              <a:lnSpc>
                <a:spcPct val="120000"/>
              </a:lnSpc>
              <a:buNone/>
            </a:pPr>
            <a:r>
              <a:rPr lang="en-US" sz="1000" dirty="0">
                <a:solidFill>
                  <a:srgbClr val="1E2124"/>
                </a:solidFill>
                <a:latin typeface="Noto Sans" pitchFamily="34" charset="0"/>
                <a:ea typeface="Noto Sans" pitchFamily="34" charset="-122"/>
                <a:cs typeface="Noto Sans" pitchFamily="34" charset="-120"/>
              </a:rPr>
              <a:t>Publish the scheme information for myScheme. Move socialjustice.gov.in on to dosje.gov.in and close the older site. Make the fields compulsory when a scheme is added.</a:t>
            </a:r>
            <a:endParaRPr lang="en-US" sz="1000" dirty="0"/>
          </a:p>
        </p:txBody>
      </p:sp>
      <p:sp>
        <p:nvSpPr>
          <p:cNvPr id="35" name="Text 33"/>
          <p:cNvSpPr txBox="1"/>
          <p:nvPr/>
        </p:nvSpPr>
        <p:spPr>
          <a:xfrm>
            <a:off x="658368" y="5449824"/>
            <a:ext cx="10874959" cy="274320"/>
          </a:xfrm>
          <a:prstGeom prst="rect">
            <a:avLst/>
          </a:prstGeom>
          <a:noFill/>
          <a:ln/>
        </p:spPr>
        <p:txBody>
          <a:bodyPr wrap="square" lIns="0" tIns="0" rIns="0" bIns="0" rtlCol="0" anchor="ctr"/>
          <a:lstStyle/>
          <a:p>
            <a:pPr indent="0" marL="0">
              <a:buNone/>
            </a:pPr>
            <a:r>
              <a:rPr lang="en-US" sz="1150" b="1" dirty="0">
                <a:solidFill>
                  <a:srgbClr val="003975"/>
                </a:solidFill>
                <a:latin typeface="Noto Sans" pitchFamily="34" charset="0"/>
                <a:ea typeface="Noto Sans" pitchFamily="34" charset="-122"/>
                <a:cs typeface="Noto Sans" pitchFamily="34" charset="-120"/>
              </a:rPr>
              <a:t>Stage 1 is the one piece only the Department can do. The Schemes page, the questions, the group pages and the chatbot all wait on it.</a:t>
            </a:r>
            <a:endParaRPr lang="en-US" sz="1150" dirty="0"/>
          </a:p>
        </p:txBody>
      </p:sp>
      <p:sp>
        <p:nvSpPr>
          <p:cNvPr id="36" name="Text 34"/>
          <p:cNvSpPr txBox="1"/>
          <p:nvPr/>
        </p:nvSpPr>
        <p:spPr>
          <a:xfrm>
            <a:off x="658368" y="6419088"/>
            <a:ext cx="10874959" cy="219456"/>
          </a:xfrm>
          <a:prstGeom prst="rect">
            <a:avLst/>
          </a:prstGeom>
          <a:noFill/>
          <a:ln/>
        </p:spPr>
        <p:txBody>
          <a:bodyPr wrap="square" lIns="0" tIns="0" rIns="0" bIns="0" rtlCol="0" anchor="ctr"/>
          <a:lstStyle/>
          <a:p>
            <a:pPr indent="0" marL="0">
              <a:buNone/>
            </a:pPr>
            <a:r>
              <a:rPr lang="en-US" sz="900" dirty="0">
                <a:solidFill>
                  <a:srgbClr val="54585E"/>
                </a:solidFill>
                <a:latin typeface="Noto Sans" pitchFamily="34" charset="0"/>
                <a:ea typeface="Noto Sans" pitchFamily="34" charset="-122"/>
                <a:cs typeface="Noto Sans" pitchFamily="34" charset="-120"/>
              </a:rPr>
              <a:t>Source: §5 of the review. The times shown are estimates, not commitments.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3975"/>
        </a:solidFill>
      </p:bgPr>
    </p:bg>
    <p:spTree>
      <p:nvGrpSpPr>
        <p:cNvPr id="1" name=""/>
        <p:cNvGrpSpPr/>
        <p:nvPr/>
      </p:nvGrpSpPr>
      <p:grpSpPr>
        <a:xfrm>
          <a:off x="0" y="0"/>
          <a:ext cx="0" cy="0"/>
          <a:chOff x="0" y="0"/>
          <a:chExt cx="0" cy="0"/>
        </a:xfrm>
      </p:grpSpPr>
      <p:sp>
        <p:nvSpPr>
          <p:cNvPr id="2" name="Text 0"/>
          <p:cNvSpPr txBox="1"/>
          <p:nvPr/>
        </p:nvSpPr>
        <p:spPr>
          <a:xfrm>
            <a:off x="658368" y="658368"/>
            <a:ext cx="10874959" cy="219456"/>
          </a:xfrm>
          <a:prstGeom prst="rect">
            <a:avLst/>
          </a:prstGeom>
          <a:noFill/>
          <a:ln/>
        </p:spPr>
        <p:txBody>
          <a:bodyPr wrap="square" lIns="0" tIns="0" rIns="0" bIns="0" rtlCol="0" anchor="ctr"/>
          <a:lstStyle/>
          <a:p>
            <a:pPr indent="0" marL="0">
              <a:buNone/>
            </a:pPr>
            <a:r>
              <a:rPr lang="en-US" sz="1000" b="1" spc="130" kern="0" dirty="0">
                <a:solidFill>
                  <a:srgbClr val="C0DBFF"/>
                </a:solidFill>
                <a:latin typeface="Noto Sans" pitchFamily="34" charset="0"/>
                <a:ea typeface="Noto Sans" pitchFamily="34" charset="-122"/>
                <a:cs typeface="Noto Sans" pitchFamily="34" charset="-120"/>
              </a:rPr>
              <a:t>FOR YOUR DECISION</a:t>
            </a:r>
            <a:endParaRPr lang="en-US" sz="1000" dirty="0"/>
          </a:p>
        </p:txBody>
      </p:sp>
      <p:sp>
        <p:nvSpPr>
          <p:cNvPr id="3" name="Text 1"/>
          <p:cNvSpPr txBox="1"/>
          <p:nvPr/>
        </p:nvSpPr>
        <p:spPr>
          <a:xfrm>
            <a:off x="658368" y="932688"/>
            <a:ext cx="10874959" cy="548640"/>
          </a:xfrm>
          <a:prstGeom prst="rect">
            <a:avLst/>
          </a:prstGeom>
          <a:noFill/>
          <a:ln/>
        </p:spPr>
        <p:txBody>
          <a:bodyPr wrap="square" lIns="0" tIns="0" rIns="0" bIns="0" rtlCol="0" anchor="ctr"/>
          <a:lstStyle/>
          <a:p>
            <a:pPr indent="0" marL="0">
              <a:buNone/>
            </a:pPr>
            <a:r>
              <a:rPr lang="en-US" sz="3200" b="1" dirty="0">
                <a:solidFill>
                  <a:srgbClr val="FFFFFF"/>
                </a:solidFill>
                <a:latin typeface="Noto Sans" pitchFamily="34" charset="0"/>
                <a:ea typeface="Noto Sans" pitchFamily="34" charset="-122"/>
                <a:cs typeface="Noto Sans" pitchFamily="34" charset="-120"/>
              </a:rPr>
              <a:t>Decisions Required</a:t>
            </a:r>
            <a:endParaRPr lang="en-US" sz="3200" dirty="0"/>
          </a:p>
        </p:txBody>
      </p:sp>
      <p:sp>
        <p:nvSpPr>
          <p:cNvPr id="4" name="Text 2"/>
          <p:cNvSpPr txBox="1"/>
          <p:nvPr/>
        </p:nvSpPr>
        <p:spPr>
          <a:xfrm>
            <a:off x="1298448" y="1664208"/>
            <a:ext cx="4023360" cy="201168"/>
          </a:xfrm>
          <a:prstGeom prst="rect">
            <a:avLst/>
          </a:prstGeom>
          <a:noFill/>
          <a:ln/>
        </p:spPr>
        <p:txBody>
          <a:bodyPr wrap="square" lIns="0" tIns="0" rIns="0" bIns="0" rtlCol="0" anchor="ctr"/>
          <a:lstStyle/>
          <a:p>
            <a:pPr indent="0" marL="0">
              <a:buNone/>
            </a:pPr>
            <a:r>
              <a:rPr lang="en-US" sz="900" b="1" spc="110" kern="0" dirty="0">
                <a:solidFill>
                  <a:srgbClr val="92C2FF"/>
                </a:solidFill>
                <a:latin typeface="Noto Sans" pitchFamily="34" charset="0"/>
                <a:ea typeface="Noto Sans" pitchFamily="34" charset="-122"/>
                <a:cs typeface="Noto Sans" pitchFamily="34" charset="-120"/>
              </a:rPr>
              <a:t>THE DECISION</a:t>
            </a:r>
            <a:endParaRPr lang="en-US" sz="900" dirty="0"/>
          </a:p>
        </p:txBody>
      </p:sp>
      <p:sp>
        <p:nvSpPr>
          <p:cNvPr id="5" name="Text 3"/>
          <p:cNvSpPr txBox="1"/>
          <p:nvPr/>
        </p:nvSpPr>
        <p:spPr>
          <a:xfrm>
            <a:off x="5413248" y="1664208"/>
            <a:ext cx="3840480" cy="201168"/>
          </a:xfrm>
          <a:prstGeom prst="rect">
            <a:avLst/>
          </a:prstGeom>
          <a:noFill/>
          <a:ln/>
        </p:spPr>
        <p:txBody>
          <a:bodyPr wrap="square" lIns="0" tIns="0" rIns="0" bIns="0" rtlCol="0" anchor="ctr"/>
          <a:lstStyle/>
          <a:p>
            <a:pPr indent="0" marL="0">
              <a:buNone/>
            </a:pPr>
            <a:r>
              <a:rPr lang="en-US" sz="900" b="1" spc="110" kern="0" dirty="0">
                <a:solidFill>
                  <a:srgbClr val="92C2FF"/>
                </a:solidFill>
                <a:latin typeface="Noto Sans" pitchFamily="34" charset="0"/>
                <a:ea typeface="Noto Sans" pitchFamily="34" charset="-122"/>
                <a:cs typeface="Noto Sans" pitchFamily="34" charset="-120"/>
              </a:rPr>
              <a:t>WHAT WE SUGGEST</a:t>
            </a:r>
            <a:endParaRPr lang="en-US" sz="900" dirty="0"/>
          </a:p>
        </p:txBody>
      </p:sp>
      <p:sp>
        <p:nvSpPr>
          <p:cNvPr id="6" name="Text 4"/>
          <p:cNvSpPr txBox="1"/>
          <p:nvPr/>
        </p:nvSpPr>
        <p:spPr>
          <a:xfrm>
            <a:off x="9345168" y="1664208"/>
            <a:ext cx="2194560" cy="201168"/>
          </a:xfrm>
          <a:prstGeom prst="rect">
            <a:avLst/>
          </a:prstGeom>
          <a:noFill/>
          <a:ln/>
        </p:spPr>
        <p:txBody>
          <a:bodyPr wrap="square" lIns="0" tIns="0" rIns="0" bIns="0" rtlCol="0" anchor="ctr"/>
          <a:lstStyle/>
          <a:p>
            <a:pPr indent="0" marL="0">
              <a:buNone/>
            </a:pPr>
            <a:r>
              <a:rPr lang="en-US" sz="900" b="1" spc="110" kern="0" dirty="0">
                <a:solidFill>
                  <a:srgbClr val="92C2FF"/>
                </a:solidFill>
                <a:latin typeface="Noto Sans" pitchFamily="34" charset="0"/>
                <a:ea typeface="Noto Sans" pitchFamily="34" charset="-122"/>
                <a:cs typeface="Noto Sans" pitchFamily="34" charset="-120"/>
              </a:rPr>
              <a:t>WHO DECIDES</a:t>
            </a:r>
            <a:endParaRPr lang="en-US" sz="900" dirty="0"/>
          </a:p>
        </p:txBody>
      </p:sp>
      <p:sp>
        <p:nvSpPr>
          <p:cNvPr id="7" name="Shape 5"/>
          <p:cNvSpPr/>
          <p:nvPr/>
        </p:nvSpPr>
        <p:spPr>
          <a:xfrm>
            <a:off x="658368" y="1883664"/>
            <a:ext cx="10874959" cy="0"/>
          </a:xfrm>
          <a:prstGeom prst="line">
            <a:avLst/>
          </a:prstGeom>
          <a:noFill/>
          <a:ln w="12700">
            <a:solidFill>
              <a:srgbClr val="004B96"/>
            </a:solidFill>
            <a:prstDash val="solid"/>
          </a:ln>
        </p:spPr>
      </p:sp>
      <p:sp>
        <p:nvSpPr>
          <p:cNvPr id="8" name="Text 6"/>
          <p:cNvSpPr txBox="1"/>
          <p:nvPr/>
        </p:nvSpPr>
        <p:spPr>
          <a:xfrm>
            <a:off x="658368" y="2066544"/>
            <a:ext cx="548640" cy="365760"/>
          </a:xfrm>
          <a:prstGeom prst="rect">
            <a:avLst/>
          </a:prstGeom>
          <a:noFill/>
          <a:ln/>
        </p:spPr>
        <p:txBody>
          <a:bodyPr wrap="square" lIns="0" tIns="0" rIns="0" bIns="0" rtlCol="0" anchor="ctr"/>
          <a:lstStyle/>
          <a:p>
            <a:pPr indent="0" marL="0">
              <a:buNone/>
            </a:pPr>
            <a:r>
              <a:rPr lang="en-US" sz="2100" b="1" dirty="0">
                <a:solidFill>
                  <a:srgbClr val="92C2FF"/>
                </a:solidFill>
                <a:latin typeface="Noto Sans" pitchFamily="34" charset="0"/>
                <a:ea typeface="Noto Sans" pitchFamily="34" charset="-122"/>
                <a:cs typeface="Noto Sans" pitchFamily="34" charset="-120"/>
              </a:rPr>
              <a:t>1</a:t>
            </a:r>
            <a:endParaRPr lang="en-US" sz="2100" dirty="0"/>
          </a:p>
        </p:txBody>
      </p:sp>
      <p:sp>
        <p:nvSpPr>
          <p:cNvPr id="9" name="Text 7"/>
          <p:cNvSpPr txBox="1"/>
          <p:nvPr/>
        </p:nvSpPr>
        <p:spPr>
          <a:xfrm>
            <a:off x="1298448" y="2084832"/>
            <a:ext cx="4023360" cy="512064"/>
          </a:xfrm>
          <a:prstGeom prst="rect">
            <a:avLst/>
          </a:prstGeom>
          <a:noFill/>
          <a:ln/>
        </p:spPr>
        <p:txBody>
          <a:bodyPr wrap="square" lIns="0" tIns="0" rIns="0" bIns="0" rtlCol="0" anchor="ctr"/>
          <a:lstStyle/>
          <a:p>
            <a:pPr indent="0" marL="0">
              <a:lnSpc>
                <a:spcPct val="112000"/>
              </a:lnSpc>
              <a:buNone/>
            </a:pPr>
            <a:r>
              <a:rPr lang="en-US" sz="1300" dirty="0">
                <a:solidFill>
                  <a:srgbClr val="C0DBFF"/>
                </a:solidFill>
                <a:latin typeface="Noto Sans" pitchFamily="34" charset="0"/>
                <a:ea typeface="Noto Sans" pitchFamily="34" charset="-122"/>
                <a:cs typeface="Noto Sans" pitchFamily="34" charset="-120"/>
              </a:rPr>
              <a:t>Which option for the home page</a:t>
            </a:r>
            <a:endParaRPr lang="en-US" sz="1300" dirty="0"/>
          </a:p>
        </p:txBody>
      </p:sp>
      <p:sp>
        <p:nvSpPr>
          <p:cNvPr id="10" name="Text 8"/>
          <p:cNvSpPr txBox="1"/>
          <p:nvPr/>
        </p:nvSpPr>
        <p:spPr>
          <a:xfrm>
            <a:off x="5413248" y="2084832"/>
            <a:ext cx="3840480" cy="512064"/>
          </a:xfrm>
          <a:prstGeom prst="rect">
            <a:avLst/>
          </a:prstGeom>
          <a:noFill/>
          <a:ln/>
        </p:spPr>
        <p:txBody>
          <a:bodyPr wrap="square" lIns="0" tIns="0" rIns="0" bIns="0" rtlCol="0" anchor="ctr"/>
          <a:lstStyle/>
          <a:p>
            <a:pPr indent="0" marL="0">
              <a:lnSpc>
                <a:spcPct val="112000"/>
              </a:lnSpc>
              <a:buNone/>
            </a:pPr>
            <a:r>
              <a:rPr lang="en-US" sz="1300" b="1" dirty="0">
                <a:solidFill>
                  <a:srgbClr val="FFFFFF"/>
                </a:solidFill>
                <a:latin typeface="Noto Sans" pitchFamily="34" charset="0"/>
                <a:ea typeface="Noto Sans" pitchFamily="34" charset="-122"/>
                <a:cs typeface="Noto Sans" pitchFamily="34" charset="-120"/>
              </a:rPr>
              <a:t>Option B — Find Schemes for You</a:t>
            </a:r>
            <a:endParaRPr lang="en-US" sz="1300" dirty="0"/>
          </a:p>
        </p:txBody>
      </p:sp>
      <p:sp>
        <p:nvSpPr>
          <p:cNvPr id="11" name="Text 9"/>
          <p:cNvSpPr txBox="1"/>
          <p:nvPr/>
        </p:nvSpPr>
        <p:spPr>
          <a:xfrm>
            <a:off x="9345168" y="2084832"/>
            <a:ext cx="2194560" cy="512064"/>
          </a:xfrm>
          <a:prstGeom prst="rect">
            <a:avLst/>
          </a:prstGeom>
          <a:noFill/>
          <a:ln/>
        </p:spPr>
        <p:txBody>
          <a:bodyPr wrap="square" lIns="0" tIns="0" rIns="0" bIns="0" rtlCol="0" anchor="ctr"/>
          <a:lstStyle/>
          <a:p>
            <a:pPr indent="0" marL="0">
              <a:lnSpc>
                <a:spcPct val="112000"/>
              </a:lnSpc>
              <a:buNone/>
            </a:pPr>
            <a:r>
              <a:rPr lang="en-US" sz="1100" dirty="0">
                <a:solidFill>
                  <a:srgbClr val="C0DBFF"/>
                </a:solidFill>
                <a:latin typeface="Noto Sans" pitchFamily="34" charset="0"/>
                <a:ea typeface="Noto Sans" pitchFamily="34" charset="-122"/>
                <a:cs typeface="Noto Sans" pitchFamily="34" charset="-120"/>
              </a:rPr>
              <a:t>Department of Social Justice &amp; Empowerment</a:t>
            </a:r>
            <a:endParaRPr lang="en-US" sz="1100" dirty="0"/>
          </a:p>
        </p:txBody>
      </p:sp>
      <p:sp>
        <p:nvSpPr>
          <p:cNvPr id="12" name="Shape 10"/>
          <p:cNvSpPr/>
          <p:nvPr/>
        </p:nvSpPr>
        <p:spPr>
          <a:xfrm>
            <a:off x="658368" y="2706624"/>
            <a:ext cx="10874959" cy="0"/>
          </a:xfrm>
          <a:prstGeom prst="line">
            <a:avLst/>
          </a:prstGeom>
          <a:noFill/>
          <a:ln w="12700">
            <a:solidFill>
              <a:srgbClr val="004B96"/>
            </a:solidFill>
            <a:prstDash val="solid"/>
          </a:ln>
        </p:spPr>
      </p:sp>
      <p:sp>
        <p:nvSpPr>
          <p:cNvPr id="13" name="Text 11"/>
          <p:cNvSpPr txBox="1"/>
          <p:nvPr/>
        </p:nvSpPr>
        <p:spPr>
          <a:xfrm>
            <a:off x="658368" y="2889504"/>
            <a:ext cx="548640" cy="365760"/>
          </a:xfrm>
          <a:prstGeom prst="rect">
            <a:avLst/>
          </a:prstGeom>
          <a:noFill/>
          <a:ln/>
        </p:spPr>
        <p:txBody>
          <a:bodyPr wrap="square" lIns="0" tIns="0" rIns="0" bIns="0" rtlCol="0" anchor="ctr"/>
          <a:lstStyle/>
          <a:p>
            <a:pPr indent="0" marL="0">
              <a:buNone/>
            </a:pPr>
            <a:r>
              <a:rPr lang="en-US" sz="2100" b="1" dirty="0">
                <a:solidFill>
                  <a:srgbClr val="92C2FF"/>
                </a:solidFill>
                <a:latin typeface="Noto Sans" pitchFamily="34" charset="0"/>
                <a:ea typeface="Noto Sans" pitchFamily="34" charset="-122"/>
                <a:cs typeface="Noto Sans" pitchFamily="34" charset="-120"/>
              </a:rPr>
              <a:t>2</a:t>
            </a:r>
            <a:endParaRPr lang="en-US" sz="2100" dirty="0"/>
          </a:p>
        </p:txBody>
      </p:sp>
      <p:sp>
        <p:nvSpPr>
          <p:cNvPr id="14" name="Text 12"/>
          <p:cNvSpPr txBox="1"/>
          <p:nvPr/>
        </p:nvSpPr>
        <p:spPr>
          <a:xfrm>
            <a:off x="1298448" y="2907792"/>
            <a:ext cx="4023360" cy="512064"/>
          </a:xfrm>
          <a:prstGeom prst="rect">
            <a:avLst/>
          </a:prstGeom>
          <a:noFill/>
          <a:ln/>
        </p:spPr>
        <p:txBody>
          <a:bodyPr wrap="square" lIns="0" tIns="0" rIns="0" bIns="0" rtlCol="0" anchor="ctr"/>
          <a:lstStyle/>
          <a:p>
            <a:pPr indent="0" marL="0">
              <a:lnSpc>
                <a:spcPct val="112000"/>
              </a:lnSpc>
              <a:buNone/>
            </a:pPr>
            <a:r>
              <a:rPr lang="en-US" sz="1300" dirty="0">
                <a:solidFill>
                  <a:srgbClr val="C0DBFF"/>
                </a:solidFill>
                <a:latin typeface="Noto Sans" pitchFamily="34" charset="0"/>
                <a:ea typeface="Noto Sans" pitchFamily="34" charset="-122"/>
                <a:cs typeface="Noto Sans" pitchFamily="34" charset="-120"/>
              </a:rPr>
              <a:t>Which option for the Schemes page</a:t>
            </a:r>
            <a:endParaRPr lang="en-US" sz="1300" dirty="0"/>
          </a:p>
        </p:txBody>
      </p:sp>
      <p:sp>
        <p:nvSpPr>
          <p:cNvPr id="15" name="Text 13"/>
          <p:cNvSpPr txBox="1"/>
          <p:nvPr/>
        </p:nvSpPr>
        <p:spPr>
          <a:xfrm>
            <a:off x="5413248" y="2907792"/>
            <a:ext cx="3840480" cy="512064"/>
          </a:xfrm>
          <a:prstGeom prst="rect">
            <a:avLst/>
          </a:prstGeom>
          <a:noFill/>
          <a:ln/>
        </p:spPr>
        <p:txBody>
          <a:bodyPr wrap="square" lIns="0" tIns="0" rIns="0" bIns="0" rtlCol="0" anchor="ctr"/>
          <a:lstStyle/>
          <a:p>
            <a:pPr indent="0" marL="0">
              <a:lnSpc>
                <a:spcPct val="112000"/>
              </a:lnSpc>
              <a:buNone/>
            </a:pPr>
            <a:r>
              <a:rPr lang="en-US" sz="1300" b="1" dirty="0">
                <a:solidFill>
                  <a:srgbClr val="FFFFFF"/>
                </a:solidFill>
                <a:latin typeface="Noto Sans" pitchFamily="34" charset="0"/>
                <a:ea typeface="Noto Sans" pitchFamily="34" charset="-122"/>
                <a:cs typeface="Noto Sans" pitchFamily="34" charset="-120"/>
              </a:rPr>
              <a:t>Option B — filter panel with a table</a:t>
            </a:r>
            <a:endParaRPr lang="en-US" sz="1300" dirty="0"/>
          </a:p>
        </p:txBody>
      </p:sp>
      <p:sp>
        <p:nvSpPr>
          <p:cNvPr id="16" name="Text 14"/>
          <p:cNvSpPr txBox="1"/>
          <p:nvPr/>
        </p:nvSpPr>
        <p:spPr>
          <a:xfrm>
            <a:off x="9345168" y="2907792"/>
            <a:ext cx="2194560" cy="512064"/>
          </a:xfrm>
          <a:prstGeom prst="rect">
            <a:avLst/>
          </a:prstGeom>
          <a:noFill/>
          <a:ln/>
        </p:spPr>
        <p:txBody>
          <a:bodyPr wrap="square" lIns="0" tIns="0" rIns="0" bIns="0" rtlCol="0" anchor="ctr"/>
          <a:lstStyle/>
          <a:p>
            <a:pPr indent="0" marL="0">
              <a:lnSpc>
                <a:spcPct val="112000"/>
              </a:lnSpc>
              <a:buNone/>
            </a:pPr>
            <a:r>
              <a:rPr lang="en-US" sz="1100" dirty="0">
                <a:solidFill>
                  <a:srgbClr val="C0DBFF"/>
                </a:solidFill>
                <a:latin typeface="Noto Sans" pitchFamily="34" charset="0"/>
                <a:ea typeface="Noto Sans" pitchFamily="34" charset="-122"/>
                <a:cs typeface="Noto Sans" pitchFamily="34" charset="-120"/>
              </a:rPr>
              <a:t>Department of Social Justice &amp; Empowerment</a:t>
            </a:r>
            <a:endParaRPr lang="en-US" sz="1100" dirty="0"/>
          </a:p>
        </p:txBody>
      </p:sp>
      <p:sp>
        <p:nvSpPr>
          <p:cNvPr id="17" name="Shape 15"/>
          <p:cNvSpPr/>
          <p:nvPr/>
        </p:nvSpPr>
        <p:spPr>
          <a:xfrm>
            <a:off x="658368" y="3529584"/>
            <a:ext cx="10874959" cy="0"/>
          </a:xfrm>
          <a:prstGeom prst="line">
            <a:avLst/>
          </a:prstGeom>
          <a:noFill/>
          <a:ln w="12700">
            <a:solidFill>
              <a:srgbClr val="004B96"/>
            </a:solidFill>
            <a:prstDash val="solid"/>
          </a:ln>
        </p:spPr>
      </p:sp>
      <p:sp>
        <p:nvSpPr>
          <p:cNvPr id="18" name="Text 16"/>
          <p:cNvSpPr txBox="1"/>
          <p:nvPr/>
        </p:nvSpPr>
        <p:spPr>
          <a:xfrm>
            <a:off x="658368" y="3712464"/>
            <a:ext cx="548640" cy="365760"/>
          </a:xfrm>
          <a:prstGeom prst="rect">
            <a:avLst/>
          </a:prstGeom>
          <a:noFill/>
          <a:ln/>
        </p:spPr>
        <p:txBody>
          <a:bodyPr wrap="square" lIns="0" tIns="0" rIns="0" bIns="0" rtlCol="0" anchor="ctr"/>
          <a:lstStyle/>
          <a:p>
            <a:pPr indent="0" marL="0">
              <a:buNone/>
            </a:pPr>
            <a:r>
              <a:rPr lang="en-US" sz="2100" b="1" dirty="0">
                <a:solidFill>
                  <a:srgbClr val="92C2FF"/>
                </a:solidFill>
                <a:latin typeface="Noto Sans" pitchFamily="34" charset="0"/>
                <a:ea typeface="Noto Sans" pitchFamily="34" charset="-122"/>
                <a:cs typeface="Noto Sans" pitchFamily="34" charset="-120"/>
              </a:rPr>
              <a:t>3</a:t>
            </a:r>
            <a:endParaRPr lang="en-US" sz="2100" dirty="0"/>
          </a:p>
        </p:txBody>
      </p:sp>
      <p:sp>
        <p:nvSpPr>
          <p:cNvPr id="19" name="Text 17"/>
          <p:cNvSpPr txBox="1"/>
          <p:nvPr/>
        </p:nvSpPr>
        <p:spPr>
          <a:xfrm>
            <a:off x="1298448" y="3730752"/>
            <a:ext cx="4023360" cy="512064"/>
          </a:xfrm>
          <a:prstGeom prst="rect">
            <a:avLst/>
          </a:prstGeom>
          <a:noFill/>
          <a:ln/>
        </p:spPr>
        <p:txBody>
          <a:bodyPr wrap="square" lIns="0" tIns="0" rIns="0" bIns="0" rtlCol="0" anchor="ctr"/>
          <a:lstStyle/>
          <a:p>
            <a:pPr indent="0" marL="0">
              <a:lnSpc>
                <a:spcPct val="112000"/>
              </a:lnSpc>
              <a:buNone/>
            </a:pPr>
            <a:r>
              <a:rPr lang="en-US" sz="1300" dirty="0">
                <a:solidFill>
                  <a:srgbClr val="C0DBFF"/>
                </a:solidFill>
                <a:latin typeface="Noto Sans" pitchFamily="34" charset="0"/>
                <a:ea typeface="Noto Sans" pitchFamily="34" charset="-122"/>
                <a:cs typeface="Noto Sans" pitchFamily="34" charset="-120"/>
              </a:rPr>
              <a:t>Whether the chatbot asks the same questions</a:t>
            </a:r>
            <a:endParaRPr lang="en-US" sz="1300" dirty="0"/>
          </a:p>
        </p:txBody>
      </p:sp>
      <p:sp>
        <p:nvSpPr>
          <p:cNvPr id="20" name="Text 18"/>
          <p:cNvSpPr txBox="1"/>
          <p:nvPr/>
        </p:nvSpPr>
        <p:spPr>
          <a:xfrm>
            <a:off x="5413248" y="3730752"/>
            <a:ext cx="3840480" cy="512064"/>
          </a:xfrm>
          <a:prstGeom prst="rect">
            <a:avLst/>
          </a:prstGeom>
          <a:noFill/>
          <a:ln/>
        </p:spPr>
        <p:txBody>
          <a:bodyPr wrap="square" lIns="0" tIns="0" rIns="0" bIns="0" rtlCol="0" anchor="ctr"/>
          <a:lstStyle/>
          <a:p>
            <a:pPr indent="0" marL="0">
              <a:lnSpc>
                <a:spcPct val="112000"/>
              </a:lnSpc>
              <a:buNone/>
            </a:pPr>
            <a:r>
              <a:rPr lang="en-US" sz="1300" b="1" dirty="0">
                <a:solidFill>
                  <a:srgbClr val="FFFFFF"/>
                </a:solidFill>
                <a:latin typeface="Noto Sans" pitchFamily="34" charset="0"/>
                <a:ea typeface="Noto Sans" pitchFamily="34" charset="-122"/>
                <a:cs typeface="Noto Sans" pitchFamily="34" charset="-120"/>
              </a:rPr>
              <a:t>Yes — it is already built</a:t>
            </a:r>
            <a:endParaRPr lang="en-US" sz="1300" dirty="0"/>
          </a:p>
        </p:txBody>
      </p:sp>
      <p:sp>
        <p:nvSpPr>
          <p:cNvPr id="21" name="Text 19"/>
          <p:cNvSpPr txBox="1"/>
          <p:nvPr/>
        </p:nvSpPr>
        <p:spPr>
          <a:xfrm>
            <a:off x="9345168" y="3730752"/>
            <a:ext cx="2194560" cy="512064"/>
          </a:xfrm>
          <a:prstGeom prst="rect">
            <a:avLst/>
          </a:prstGeom>
          <a:noFill/>
          <a:ln/>
        </p:spPr>
        <p:txBody>
          <a:bodyPr wrap="square" lIns="0" tIns="0" rIns="0" bIns="0" rtlCol="0" anchor="ctr"/>
          <a:lstStyle/>
          <a:p>
            <a:pPr indent="0" marL="0">
              <a:lnSpc>
                <a:spcPct val="112000"/>
              </a:lnSpc>
              <a:buNone/>
            </a:pPr>
            <a:r>
              <a:rPr lang="en-US" sz="1100" dirty="0">
                <a:solidFill>
                  <a:srgbClr val="C0DBFF"/>
                </a:solidFill>
                <a:latin typeface="Noto Sans" pitchFamily="34" charset="0"/>
                <a:ea typeface="Noto Sans" pitchFamily="34" charset="-122"/>
                <a:cs typeface="Noto Sans" pitchFamily="34" charset="-120"/>
              </a:rPr>
              <a:t>Department, with the existing chatbot vendor</a:t>
            </a:r>
            <a:endParaRPr lang="en-US" sz="1100" dirty="0"/>
          </a:p>
        </p:txBody>
      </p:sp>
      <p:sp>
        <p:nvSpPr>
          <p:cNvPr id="22" name="Shape 20"/>
          <p:cNvSpPr/>
          <p:nvPr/>
        </p:nvSpPr>
        <p:spPr>
          <a:xfrm>
            <a:off x="658368" y="4352544"/>
            <a:ext cx="10874959" cy="0"/>
          </a:xfrm>
          <a:prstGeom prst="line">
            <a:avLst/>
          </a:prstGeom>
          <a:noFill/>
          <a:ln w="12700">
            <a:solidFill>
              <a:srgbClr val="004B96"/>
            </a:solidFill>
            <a:prstDash val="solid"/>
          </a:ln>
        </p:spPr>
      </p:sp>
      <p:sp>
        <p:nvSpPr>
          <p:cNvPr id="23" name="Shape 21"/>
          <p:cNvSpPr/>
          <p:nvPr/>
        </p:nvSpPr>
        <p:spPr>
          <a:xfrm>
            <a:off x="658368" y="4700016"/>
            <a:ext cx="10874959" cy="1133856"/>
          </a:xfrm>
          <a:prstGeom prst="rect">
            <a:avLst/>
          </a:prstGeom>
          <a:solidFill>
            <a:srgbClr val="004B96"/>
          </a:solidFill>
          <a:ln w="12700">
            <a:solidFill>
              <a:srgbClr val="004B96"/>
            </a:solidFill>
            <a:prstDash val="solid"/>
          </a:ln>
        </p:spPr>
      </p:sp>
      <p:sp>
        <p:nvSpPr>
          <p:cNvPr id="24" name="Text 22"/>
          <p:cNvSpPr txBox="1"/>
          <p:nvPr/>
        </p:nvSpPr>
        <p:spPr>
          <a:xfrm>
            <a:off x="969264" y="4846320"/>
            <a:ext cx="10253167" cy="347472"/>
          </a:xfrm>
          <a:prstGeom prst="rect">
            <a:avLst/>
          </a:prstGeom>
          <a:noFill/>
          <a:ln/>
        </p:spPr>
        <p:txBody>
          <a:bodyPr wrap="square" lIns="0" tIns="0" rIns="0" bIns="0" rtlCol="0" anchor="ctr"/>
          <a:lstStyle/>
          <a:p>
            <a:pPr indent="0" marL="0">
              <a:buNone/>
            </a:pPr>
            <a:r>
              <a:rPr lang="en-US" sz="1900" b="1" dirty="0">
                <a:solidFill>
                  <a:srgbClr val="FFFFFF"/>
                </a:solidFill>
                <a:latin typeface="Noto Sans" pitchFamily="34" charset="0"/>
                <a:ea typeface="Noto Sans" pitchFamily="34" charset="-122"/>
                <a:cs typeface="Noto Sans" pitchFamily="34" charset="-120"/>
              </a:rPr>
              <a:t>And one approval sought: to begin Stage 1.</a:t>
            </a:r>
            <a:endParaRPr lang="en-US" sz="1900" dirty="0"/>
          </a:p>
        </p:txBody>
      </p:sp>
      <p:sp>
        <p:nvSpPr>
          <p:cNvPr id="25" name="Text 23"/>
          <p:cNvSpPr txBox="1"/>
          <p:nvPr/>
        </p:nvSpPr>
        <p:spPr>
          <a:xfrm>
            <a:off x="969264" y="5248656"/>
            <a:ext cx="10253167" cy="420624"/>
          </a:xfrm>
          <a:prstGeom prst="rect">
            <a:avLst/>
          </a:prstGeom>
          <a:noFill/>
          <a:ln/>
        </p:spPr>
        <p:txBody>
          <a:bodyPr wrap="square" lIns="0" tIns="0" rIns="0" bIns="0" rtlCol="0" anchor="ctr"/>
          <a:lstStyle/>
          <a:p>
            <a:pPr indent="0" marL="0">
              <a:lnSpc>
                <a:spcPct val="116000"/>
              </a:lnSpc>
              <a:buNone/>
            </a:pPr>
            <a:r>
              <a:rPr lang="en-US" sz="1150" dirty="0">
                <a:solidFill>
                  <a:srgbClr val="C0DBFF"/>
                </a:solidFill>
                <a:latin typeface="Noto Sans" pitchFamily="34" charset="0"/>
                <a:ea typeface="Noto Sans" pitchFamily="34" charset="-122"/>
                <a:cs typeface="Noto Sans" pitchFamily="34" charset="-120"/>
              </a:rPr>
              <a:t>Filling in the information for all 141 schemes is the one piece of work every option above depends on. Whichever options are chosen, this has to begin first, and only the Department can do it.</a:t>
            </a:r>
            <a:endParaRPr lang="en-US" sz="1150" dirty="0"/>
          </a:p>
        </p:txBody>
      </p:sp>
      <p:sp>
        <p:nvSpPr>
          <p:cNvPr id="26" name="Text 24"/>
          <p:cNvSpPr txBox="1"/>
          <p:nvPr/>
        </p:nvSpPr>
        <p:spPr>
          <a:xfrm>
            <a:off x="658368" y="5998464"/>
            <a:ext cx="10874959" cy="256032"/>
          </a:xfrm>
          <a:prstGeom prst="rect">
            <a:avLst/>
          </a:prstGeom>
          <a:noFill/>
          <a:ln/>
        </p:spPr>
        <p:txBody>
          <a:bodyPr wrap="square" lIns="0" tIns="0" rIns="0" bIns="0" rtlCol="0" anchor="ctr"/>
          <a:lstStyle/>
          <a:p>
            <a:pPr indent="0" marL="0">
              <a:buNone/>
            </a:pPr>
            <a:r>
              <a:rPr lang="en-US" sz="1050" dirty="0">
                <a:solidFill>
                  <a:srgbClr val="C0DBFF"/>
                </a:solidFill>
                <a:latin typeface="Noto Sans" pitchFamily="34" charset="0"/>
                <a:ea typeface="Noto Sans" pitchFamily="34" charset="-122"/>
                <a:cs typeface="Noto Sans" pitchFamily="34" charset="-120"/>
              </a:rPr>
              <a:t>Orders are sought before the Department's next review meeting.</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01168"/>
          </a:xfrm>
          <a:prstGeom prst="rect">
            <a:avLst/>
          </a:prstGeom>
          <a:noFill/>
          <a:ln/>
        </p:spPr>
        <p:txBody>
          <a:bodyPr wrap="square" lIns="0" tIns="0" rIns="0" bIns="0" rtlCol="0" anchor="ctr"/>
          <a:lstStyle/>
          <a:p>
            <a:pPr indent="0" marL="0">
              <a:buNone/>
            </a:pPr>
            <a:r>
              <a:rPr lang="en-US" sz="1000" b="1" spc="120" kern="0" dirty="0">
                <a:solidFill>
                  <a:srgbClr val="54585E"/>
                </a:solidFill>
                <a:latin typeface="Noto Sans" pitchFamily="34" charset="0"/>
                <a:ea typeface="Noto Sans" pitchFamily="34" charset="-122"/>
                <a:cs typeface="Noto Sans" pitchFamily="34" charset="-120"/>
              </a:rPr>
              <a:t>FOR THE RECORD</a:t>
            </a:r>
            <a:endParaRPr lang="en-US" sz="1000" dirty="0"/>
          </a:p>
        </p:txBody>
      </p:sp>
      <p:sp>
        <p:nvSpPr>
          <p:cNvPr id="3" name="Text 1"/>
          <p:cNvSpPr txBox="1"/>
          <p:nvPr/>
        </p:nvSpPr>
        <p:spPr>
          <a:xfrm>
            <a:off x="658368" y="621792"/>
            <a:ext cx="10874959" cy="420624"/>
          </a:xfrm>
          <a:prstGeom prst="rect">
            <a:avLst/>
          </a:prstGeom>
          <a:noFill/>
          <a:ln/>
        </p:spPr>
        <p:txBody>
          <a:bodyPr wrap="square" lIns="0" tIns="0" rIns="0" bIns="0" rtlCol="0" anchor="ctr"/>
          <a:lstStyle/>
          <a:p>
            <a:pPr indent="0" marL="0">
              <a:buNone/>
            </a:pPr>
            <a:r>
              <a:rPr lang="en-US" sz="2600" b="1" dirty="0">
                <a:solidFill>
                  <a:srgbClr val="003975"/>
                </a:solidFill>
                <a:latin typeface="Noto Sans" pitchFamily="34" charset="0"/>
                <a:ea typeface="Noto Sans" pitchFamily="34" charset="-122"/>
                <a:cs typeface="Noto Sans" pitchFamily="34" charset="-120"/>
              </a:rPr>
              <a:t>What This Review Does Not Establish</a:t>
            </a:r>
            <a:endParaRPr lang="en-US" sz="2600" dirty="0"/>
          </a:p>
        </p:txBody>
      </p:sp>
      <p:sp>
        <p:nvSpPr>
          <p:cNvPr id="4" name="Text 2"/>
          <p:cNvSpPr txBox="1"/>
          <p:nvPr/>
        </p:nvSpPr>
        <p:spPr>
          <a:xfrm>
            <a:off x="658368" y="1335024"/>
            <a:ext cx="457200" cy="365760"/>
          </a:xfrm>
          <a:prstGeom prst="rect">
            <a:avLst/>
          </a:prstGeom>
          <a:noFill/>
          <a:ln/>
        </p:spPr>
        <p:txBody>
          <a:bodyPr wrap="square" lIns="0" tIns="0" rIns="0" bIns="0" rtlCol="0" anchor="ctr"/>
          <a:lstStyle/>
          <a:p>
            <a:pPr indent="0" marL="0">
              <a:buNone/>
            </a:pPr>
            <a:r>
              <a:rPr lang="en-US" sz="2100" b="1" dirty="0">
                <a:solidFill>
                  <a:srgbClr val="A43A00"/>
                </a:solidFill>
                <a:latin typeface="Noto Sans" pitchFamily="34" charset="0"/>
                <a:ea typeface="Noto Sans" pitchFamily="34" charset="-122"/>
                <a:cs typeface="Noto Sans" pitchFamily="34" charset="-120"/>
              </a:rPr>
              <a:t>1</a:t>
            </a:r>
            <a:endParaRPr lang="en-US" sz="2100" dirty="0"/>
          </a:p>
        </p:txBody>
      </p:sp>
      <p:sp>
        <p:nvSpPr>
          <p:cNvPr id="5" name="Text 3"/>
          <p:cNvSpPr txBox="1"/>
          <p:nvPr/>
        </p:nvSpPr>
        <p:spPr>
          <a:xfrm>
            <a:off x="1207008" y="1316736"/>
            <a:ext cx="10326319" cy="274320"/>
          </a:xfrm>
          <a:prstGeom prst="rect">
            <a:avLst/>
          </a:prstGeom>
          <a:noFill/>
          <a:ln/>
        </p:spPr>
        <p:txBody>
          <a:bodyPr wrap="square" lIns="0" tIns="0" rIns="0" bIns="0" rtlCol="0" anchor="ctr"/>
          <a:lstStyle/>
          <a:p>
            <a:pPr indent="0" marL="0">
              <a:buNone/>
            </a:pPr>
            <a:r>
              <a:rPr lang="en-US" sz="1400" b="1" dirty="0">
                <a:solidFill>
                  <a:srgbClr val="003975"/>
                </a:solidFill>
                <a:latin typeface="Noto Sans" pitchFamily="34" charset="0"/>
                <a:ea typeface="Noto Sans" pitchFamily="34" charset="-122"/>
                <a:cs typeface="Noto Sans" pitchFamily="34" charset="-120"/>
              </a:rPr>
              <a:t>No citizens were interviewed.</a:t>
            </a:r>
            <a:endParaRPr lang="en-US" sz="1400" dirty="0"/>
          </a:p>
        </p:txBody>
      </p:sp>
      <p:sp>
        <p:nvSpPr>
          <p:cNvPr id="6" name="Text 4"/>
          <p:cNvSpPr txBox="1"/>
          <p:nvPr/>
        </p:nvSpPr>
        <p:spPr>
          <a:xfrm>
            <a:off x="1207008" y="1609344"/>
            <a:ext cx="10326319" cy="822960"/>
          </a:xfrm>
          <a:prstGeom prst="rect">
            <a:avLst/>
          </a:prstGeom>
          <a:noFill/>
          <a:ln/>
        </p:spPr>
        <p:txBody>
          <a:bodyPr wrap="square" lIns="0" tIns="0" rIns="0" bIns="0" rtlCol="0" anchor="ctr"/>
          <a:lstStyle/>
          <a:p>
            <a:pPr indent="0" marL="0">
              <a:lnSpc>
                <a:spcPct val="124000"/>
              </a:lnSpc>
              <a:buNone/>
            </a:pPr>
            <a:r>
              <a:rPr lang="en-US" sz="1150" dirty="0">
                <a:solidFill>
                  <a:srgbClr val="1E2124"/>
                </a:solidFill>
                <a:latin typeface="Noto Sans" pitchFamily="34" charset="0"/>
                <a:ea typeface="Noto Sans" pitchFamily="34" charset="-122"/>
                <a:cs typeface="Noto Sans" pitchFamily="34" charset="-120"/>
              </a:rPr>
              <a:t>The findings come from examining the two websites and comparing them with myScheme, the disability department's site, the National Scholarship Portal and GOV.UK. The groups described are taken from the Department's own Acts, schemes and organisations, not from interviews. Before Stage 3 is built, the questions should be tested with people from those groups.</a:t>
            </a:r>
            <a:endParaRPr lang="en-US" sz="1150" dirty="0"/>
          </a:p>
        </p:txBody>
      </p:sp>
      <p:sp>
        <p:nvSpPr>
          <p:cNvPr id="7" name="Shape 5"/>
          <p:cNvSpPr/>
          <p:nvPr/>
        </p:nvSpPr>
        <p:spPr>
          <a:xfrm>
            <a:off x="658368" y="2505456"/>
            <a:ext cx="10874959" cy="0"/>
          </a:xfrm>
          <a:prstGeom prst="line">
            <a:avLst/>
          </a:prstGeom>
          <a:noFill/>
          <a:ln w="9525">
            <a:solidFill>
              <a:srgbClr val="DCDEE1"/>
            </a:solidFill>
            <a:prstDash val="solid"/>
          </a:ln>
        </p:spPr>
      </p:sp>
      <p:sp>
        <p:nvSpPr>
          <p:cNvPr id="8" name="Text 6"/>
          <p:cNvSpPr txBox="1"/>
          <p:nvPr/>
        </p:nvSpPr>
        <p:spPr>
          <a:xfrm>
            <a:off x="658368" y="2706624"/>
            <a:ext cx="457200" cy="365760"/>
          </a:xfrm>
          <a:prstGeom prst="rect">
            <a:avLst/>
          </a:prstGeom>
          <a:noFill/>
          <a:ln/>
        </p:spPr>
        <p:txBody>
          <a:bodyPr wrap="square" lIns="0" tIns="0" rIns="0" bIns="0" rtlCol="0" anchor="ctr"/>
          <a:lstStyle/>
          <a:p>
            <a:pPr indent="0" marL="0">
              <a:buNone/>
            </a:pPr>
            <a:r>
              <a:rPr lang="en-US" sz="2100" b="1" dirty="0">
                <a:solidFill>
                  <a:srgbClr val="A43A00"/>
                </a:solidFill>
                <a:latin typeface="Noto Sans" pitchFamily="34" charset="0"/>
                <a:ea typeface="Noto Sans" pitchFamily="34" charset="-122"/>
                <a:cs typeface="Noto Sans" pitchFamily="34" charset="-120"/>
              </a:rPr>
              <a:t>2</a:t>
            </a:r>
            <a:endParaRPr lang="en-US" sz="2100" dirty="0"/>
          </a:p>
        </p:txBody>
      </p:sp>
      <p:sp>
        <p:nvSpPr>
          <p:cNvPr id="9" name="Text 7"/>
          <p:cNvSpPr txBox="1"/>
          <p:nvPr/>
        </p:nvSpPr>
        <p:spPr>
          <a:xfrm>
            <a:off x="1207008" y="2688336"/>
            <a:ext cx="10326319" cy="274320"/>
          </a:xfrm>
          <a:prstGeom prst="rect">
            <a:avLst/>
          </a:prstGeom>
          <a:noFill/>
          <a:ln/>
        </p:spPr>
        <p:txBody>
          <a:bodyPr wrap="square" lIns="0" tIns="0" rIns="0" bIns="0" rtlCol="0" anchor="ctr"/>
          <a:lstStyle/>
          <a:p>
            <a:pPr indent="0" marL="0">
              <a:buNone/>
            </a:pPr>
            <a:r>
              <a:rPr lang="en-US" sz="1400" b="1" dirty="0">
                <a:solidFill>
                  <a:srgbClr val="003975"/>
                </a:solidFill>
                <a:latin typeface="Noto Sans" pitchFamily="34" charset="0"/>
                <a:ea typeface="Noto Sans" pitchFamily="34" charset="-122"/>
                <a:cs typeface="Noto Sans" pitchFamily="34" charset="-120"/>
              </a:rPr>
              <a:t>The scheme records are dated, and the counts are approximate.</a:t>
            </a:r>
            <a:endParaRPr lang="en-US" sz="1400" dirty="0"/>
          </a:p>
        </p:txBody>
      </p:sp>
      <p:sp>
        <p:nvSpPr>
          <p:cNvPr id="10" name="Text 8"/>
          <p:cNvSpPr txBox="1"/>
          <p:nvPr/>
        </p:nvSpPr>
        <p:spPr>
          <a:xfrm>
            <a:off x="1207008" y="2980944"/>
            <a:ext cx="10326319" cy="822960"/>
          </a:xfrm>
          <a:prstGeom prst="rect">
            <a:avLst/>
          </a:prstGeom>
          <a:noFill/>
          <a:ln/>
        </p:spPr>
        <p:txBody>
          <a:bodyPr wrap="square" lIns="0" tIns="0" rIns="0" bIns="0" rtlCol="0" anchor="ctr"/>
          <a:lstStyle/>
          <a:p>
            <a:pPr indent="0" marL="0">
              <a:lnSpc>
                <a:spcPct val="124000"/>
              </a:lnSpc>
              <a:buNone/>
            </a:pPr>
            <a:r>
              <a:rPr lang="en-US" sz="1150" dirty="0">
                <a:solidFill>
                  <a:srgbClr val="1E2124"/>
                </a:solidFill>
                <a:latin typeface="Noto Sans" pitchFamily="34" charset="0"/>
                <a:ea typeface="Noto Sans" pitchFamily="34" charset="-122"/>
                <a:cs typeface="Noto Sans" pitchFamily="34" charset="-120"/>
              </a:rPr>
              <a:t>The counts of 141 schemes come from records as on 13 June 2026. Everything said about the menus, the filters and the search was checked on the live sites on 20 August 2026. Schemes were matched to groups by looking for words in the title and text, which counts generously — so the shortfall shown is at least as large as stated, and probably larger.</a:t>
            </a:r>
            <a:endParaRPr lang="en-US" sz="1150" dirty="0"/>
          </a:p>
        </p:txBody>
      </p:sp>
      <p:sp>
        <p:nvSpPr>
          <p:cNvPr id="11" name="Shape 9"/>
          <p:cNvSpPr/>
          <p:nvPr/>
        </p:nvSpPr>
        <p:spPr>
          <a:xfrm>
            <a:off x="658368" y="3877056"/>
            <a:ext cx="10874959" cy="0"/>
          </a:xfrm>
          <a:prstGeom prst="line">
            <a:avLst/>
          </a:prstGeom>
          <a:noFill/>
          <a:ln w="9525">
            <a:solidFill>
              <a:srgbClr val="DCDEE1"/>
            </a:solidFill>
            <a:prstDash val="solid"/>
          </a:ln>
        </p:spPr>
      </p:sp>
      <p:sp>
        <p:nvSpPr>
          <p:cNvPr id="12" name="Text 10"/>
          <p:cNvSpPr txBox="1"/>
          <p:nvPr/>
        </p:nvSpPr>
        <p:spPr>
          <a:xfrm>
            <a:off x="658368" y="4096512"/>
            <a:ext cx="10874959" cy="201168"/>
          </a:xfrm>
          <a:prstGeom prst="rect">
            <a:avLst/>
          </a:prstGeom>
          <a:noFill/>
          <a:ln/>
        </p:spPr>
        <p:txBody>
          <a:bodyPr wrap="square" lIns="0" tIns="0" rIns="0" bIns="0" rtlCol="0" anchor="ctr"/>
          <a:lstStyle/>
          <a:p>
            <a:pPr indent="0" marL="0">
              <a:buNone/>
            </a:pPr>
            <a:r>
              <a:rPr lang="en-US" sz="950" b="1" spc="120" kern="0" dirty="0">
                <a:solidFill>
                  <a:srgbClr val="54585E"/>
                </a:solidFill>
                <a:latin typeface="Noto Sans" pitchFamily="34" charset="0"/>
                <a:ea typeface="Noto Sans" pitchFamily="34" charset="-122"/>
                <a:cs typeface="Noto Sans" pitchFamily="34" charset="-120"/>
              </a:rPr>
              <a:t>WHAT WAS EXAMINED</a:t>
            </a:r>
            <a:endParaRPr lang="en-US" sz="950" dirty="0"/>
          </a:p>
        </p:txBody>
      </p:sp>
      <p:sp>
        <p:nvSpPr>
          <p:cNvPr id="13" name="Text 11"/>
          <p:cNvSpPr txBox="1"/>
          <p:nvPr/>
        </p:nvSpPr>
        <p:spPr>
          <a:xfrm>
            <a:off x="658368" y="4334256"/>
            <a:ext cx="3108960" cy="237744"/>
          </a:xfrm>
          <a:prstGeom prst="rect">
            <a:avLst/>
          </a:prstGeom>
          <a:noFill/>
          <a:ln/>
        </p:spPr>
        <p:txBody>
          <a:bodyPr wrap="square" lIns="0" tIns="0" rIns="0" bIns="0" rtlCol="0" anchor="ctr"/>
          <a:lstStyle/>
          <a:p>
            <a:pPr indent="0" marL="0">
              <a:buNone/>
            </a:pPr>
            <a:r>
              <a:rPr lang="en-US" sz="1050" b="1" dirty="0">
                <a:solidFill>
                  <a:srgbClr val="005EB9"/>
                </a:solidFill>
                <a:latin typeface="Noto Sans" pitchFamily="34" charset="0"/>
                <a:ea typeface="Noto Sans" pitchFamily="34" charset="-122"/>
                <a:cs typeface="Noto Sans" pitchFamily="34" charset="-120"/>
              </a:rPr>
              <a:t>The two Ministry websites</a:t>
            </a:r>
            <a:endParaRPr lang="en-US" sz="1050" dirty="0"/>
          </a:p>
        </p:txBody>
      </p:sp>
      <p:sp>
        <p:nvSpPr>
          <p:cNvPr id="14" name="Text 12"/>
          <p:cNvSpPr txBox="1"/>
          <p:nvPr/>
        </p:nvSpPr>
        <p:spPr>
          <a:xfrm>
            <a:off x="3950208" y="4334256"/>
            <a:ext cx="7583119" cy="237744"/>
          </a:xfrm>
          <a:prstGeom prst="rect">
            <a:avLst/>
          </a:prstGeom>
          <a:noFill/>
          <a:ln/>
        </p:spPr>
        <p:txBody>
          <a:bodyPr wrap="square" lIns="0" tIns="0" rIns="0" bIns="0" rtlCol="0" anchor="ctr"/>
          <a:lstStyle/>
          <a:p>
            <a:pPr indent="0" marL="0">
              <a:buNone/>
            </a:pPr>
            <a:r>
              <a:rPr lang="en-US" sz="1050" dirty="0">
                <a:solidFill>
                  <a:srgbClr val="1E2124"/>
                </a:solidFill>
                <a:latin typeface="Noto Sans" pitchFamily="34" charset="0"/>
                <a:ea typeface="Noto Sans" pitchFamily="34" charset="-122"/>
                <a:cs typeface="Noto Sans" pitchFamily="34" charset="-120"/>
              </a:rPr>
              <a:t>dosje.gov.in, marked BETA, and socialjustice.gov.in — read on 20 August 2026.</a:t>
            </a:r>
            <a:endParaRPr lang="en-US" sz="1050" dirty="0"/>
          </a:p>
        </p:txBody>
      </p:sp>
      <p:sp>
        <p:nvSpPr>
          <p:cNvPr id="15" name="Text 13"/>
          <p:cNvSpPr txBox="1"/>
          <p:nvPr/>
        </p:nvSpPr>
        <p:spPr>
          <a:xfrm>
            <a:off x="658368" y="4663440"/>
            <a:ext cx="3108960" cy="237744"/>
          </a:xfrm>
          <a:prstGeom prst="rect">
            <a:avLst/>
          </a:prstGeom>
          <a:noFill/>
          <a:ln/>
        </p:spPr>
        <p:txBody>
          <a:bodyPr wrap="square" lIns="0" tIns="0" rIns="0" bIns="0" rtlCol="0" anchor="ctr"/>
          <a:lstStyle/>
          <a:p>
            <a:pPr indent="0" marL="0">
              <a:buNone/>
            </a:pPr>
            <a:r>
              <a:rPr lang="en-US" sz="1050" b="1" dirty="0">
                <a:solidFill>
                  <a:srgbClr val="005EB9"/>
                </a:solidFill>
                <a:latin typeface="Noto Sans" pitchFamily="34" charset="0"/>
                <a:ea typeface="Noto Sans" pitchFamily="34" charset="-122"/>
                <a:cs typeface="Noto Sans" pitchFamily="34" charset="-120"/>
              </a:rPr>
              <a:t>The Department's scheme records</a:t>
            </a:r>
            <a:endParaRPr lang="en-US" sz="1050" dirty="0"/>
          </a:p>
        </p:txBody>
      </p:sp>
      <p:sp>
        <p:nvSpPr>
          <p:cNvPr id="16" name="Text 14"/>
          <p:cNvSpPr txBox="1"/>
          <p:nvPr/>
        </p:nvSpPr>
        <p:spPr>
          <a:xfrm>
            <a:off x="3950208" y="4663440"/>
            <a:ext cx="7583119" cy="237744"/>
          </a:xfrm>
          <a:prstGeom prst="rect">
            <a:avLst/>
          </a:prstGeom>
          <a:noFill/>
          <a:ln/>
        </p:spPr>
        <p:txBody>
          <a:bodyPr wrap="square" lIns="0" tIns="0" rIns="0" bIns="0" rtlCol="0" anchor="ctr"/>
          <a:lstStyle/>
          <a:p>
            <a:pPr indent="0" marL="0">
              <a:buNone/>
            </a:pPr>
            <a:r>
              <a:rPr lang="en-US" sz="1050" dirty="0">
                <a:solidFill>
                  <a:srgbClr val="1E2124"/>
                </a:solidFill>
                <a:latin typeface="Noto Sans" pitchFamily="34" charset="0"/>
                <a:ea typeface="Noto Sans" pitchFamily="34" charset="-122"/>
                <a:cs typeface="Noto Sans" pitchFamily="34" charset="-120"/>
              </a:rPr>
              <a:t>141 schemes, 175 organisation pages, 1,624 documents, 305 tenders, 137 vacancies, as on 13 June 2026.</a:t>
            </a:r>
            <a:endParaRPr lang="en-US" sz="1050" dirty="0"/>
          </a:p>
        </p:txBody>
      </p:sp>
      <p:sp>
        <p:nvSpPr>
          <p:cNvPr id="17" name="Text 15"/>
          <p:cNvSpPr txBox="1"/>
          <p:nvPr/>
        </p:nvSpPr>
        <p:spPr>
          <a:xfrm>
            <a:off x="658368" y="4992624"/>
            <a:ext cx="3108960" cy="237744"/>
          </a:xfrm>
          <a:prstGeom prst="rect">
            <a:avLst/>
          </a:prstGeom>
          <a:noFill/>
          <a:ln/>
        </p:spPr>
        <p:txBody>
          <a:bodyPr wrap="square" lIns="0" tIns="0" rIns="0" bIns="0" rtlCol="0" anchor="ctr"/>
          <a:lstStyle/>
          <a:p>
            <a:pPr indent="0" marL="0">
              <a:buNone/>
            </a:pPr>
            <a:r>
              <a:rPr lang="en-US" sz="1050" b="1" dirty="0">
                <a:solidFill>
                  <a:srgbClr val="005EB9"/>
                </a:solidFill>
                <a:latin typeface="Noto Sans" pitchFamily="34" charset="0"/>
                <a:ea typeface="Noto Sans" pitchFamily="34" charset="-122"/>
                <a:cs typeface="Noto Sans" pitchFamily="34" charset="-120"/>
              </a:rPr>
              <a:t>Other government websites</a:t>
            </a:r>
            <a:endParaRPr lang="en-US" sz="1050" dirty="0"/>
          </a:p>
        </p:txBody>
      </p:sp>
      <p:sp>
        <p:nvSpPr>
          <p:cNvPr id="18" name="Text 16"/>
          <p:cNvSpPr txBox="1"/>
          <p:nvPr/>
        </p:nvSpPr>
        <p:spPr>
          <a:xfrm>
            <a:off x="3950208" y="4992624"/>
            <a:ext cx="7583119" cy="237744"/>
          </a:xfrm>
          <a:prstGeom prst="rect">
            <a:avLst/>
          </a:prstGeom>
          <a:noFill/>
          <a:ln/>
        </p:spPr>
        <p:txBody>
          <a:bodyPr wrap="square" lIns="0" tIns="0" rIns="0" bIns="0" rtlCol="0" anchor="ctr"/>
          <a:lstStyle/>
          <a:p>
            <a:pPr indent="0" marL="0">
              <a:buNone/>
            </a:pPr>
            <a:r>
              <a:rPr lang="en-US" sz="1050" dirty="0">
                <a:solidFill>
                  <a:srgbClr val="1E2124"/>
                </a:solidFill>
                <a:latin typeface="Noto Sans" pitchFamily="34" charset="0"/>
                <a:ea typeface="Noto Sans" pitchFamily="34" charset="-122"/>
                <a:cs typeface="Noto Sans" pitchFamily="34" charset="-120"/>
              </a:rPr>
              <a:t>myscheme.gov.in · depwd.gov.in · scholarships.gov.in · GOV.UK, for comparison.</a:t>
            </a:r>
            <a:endParaRPr lang="en-US" sz="1050" dirty="0"/>
          </a:p>
        </p:txBody>
      </p:sp>
      <p:sp>
        <p:nvSpPr>
          <p:cNvPr id="19" name="Text 17"/>
          <p:cNvSpPr txBox="1"/>
          <p:nvPr/>
        </p:nvSpPr>
        <p:spPr>
          <a:xfrm>
            <a:off x="658368" y="5321808"/>
            <a:ext cx="3108960" cy="237744"/>
          </a:xfrm>
          <a:prstGeom prst="rect">
            <a:avLst/>
          </a:prstGeom>
          <a:noFill/>
          <a:ln/>
        </p:spPr>
        <p:txBody>
          <a:bodyPr wrap="square" lIns="0" tIns="0" rIns="0" bIns="0" rtlCol="0" anchor="ctr"/>
          <a:lstStyle/>
          <a:p>
            <a:pPr indent="0" marL="0">
              <a:buNone/>
            </a:pPr>
            <a:r>
              <a:rPr lang="en-US" sz="1050" b="1" dirty="0">
                <a:solidFill>
                  <a:srgbClr val="005EB9"/>
                </a:solidFill>
                <a:latin typeface="Noto Sans" pitchFamily="34" charset="0"/>
                <a:ea typeface="Noto Sans" pitchFamily="34" charset="-122"/>
                <a:cs typeface="Noto Sans" pitchFamily="34" charset="-120"/>
              </a:rPr>
              <a:t>Standards applied</a:t>
            </a:r>
            <a:endParaRPr lang="en-US" sz="1050" dirty="0"/>
          </a:p>
        </p:txBody>
      </p:sp>
      <p:sp>
        <p:nvSpPr>
          <p:cNvPr id="20" name="Text 18"/>
          <p:cNvSpPr txBox="1"/>
          <p:nvPr/>
        </p:nvSpPr>
        <p:spPr>
          <a:xfrm>
            <a:off x="3950208" y="5321808"/>
            <a:ext cx="7583119" cy="237744"/>
          </a:xfrm>
          <a:prstGeom prst="rect">
            <a:avLst/>
          </a:prstGeom>
          <a:noFill/>
          <a:ln/>
        </p:spPr>
        <p:txBody>
          <a:bodyPr wrap="square" lIns="0" tIns="0" rIns="0" bIns="0" rtlCol="0" anchor="ctr"/>
          <a:lstStyle/>
          <a:p>
            <a:pPr indent="0" marL="0">
              <a:buNone/>
            </a:pPr>
            <a:r>
              <a:rPr lang="en-US" sz="1050" dirty="0">
                <a:solidFill>
                  <a:srgbClr val="1E2124"/>
                </a:solidFill>
                <a:latin typeface="Noto Sans" pitchFamily="34" charset="0"/>
                <a:ea typeface="Noto Sans" pitchFamily="34" charset="-122"/>
                <a:cs typeface="Noto Sans" pitchFamily="34" charset="-120"/>
              </a:rPr>
              <a:t>GIGW 3.0, DBIM 3.0 and WCAG 2.2 AA.</a:t>
            </a:r>
            <a:endParaRPr lang="en-US" sz="1050" dirty="0"/>
          </a:p>
        </p:txBody>
      </p:sp>
      <p:sp>
        <p:nvSpPr>
          <p:cNvPr id="21" name="Text 19"/>
          <p:cNvSpPr txBox="1"/>
          <p:nvPr/>
        </p:nvSpPr>
        <p:spPr>
          <a:xfrm>
            <a:off x="658368" y="5650992"/>
            <a:ext cx="3108960" cy="237744"/>
          </a:xfrm>
          <a:prstGeom prst="rect">
            <a:avLst/>
          </a:prstGeom>
          <a:noFill/>
          <a:ln/>
        </p:spPr>
        <p:txBody>
          <a:bodyPr wrap="square" lIns="0" tIns="0" rIns="0" bIns="0" rtlCol="0" anchor="ctr"/>
          <a:lstStyle/>
          <a:p>
            <a:pPr indent="0" marL="0">
              <a:buNone/>
            </a:pPr>
            <a:r>
              <a:rPr lang="en-US" sz="1050" b="1" dirty="0">
                <a:solidFill>
                  <a:srgbClr val="005EB9"/>
                </a:solidFill>
                <a:latin typeface="Noto Sans" pitchFamily="34" charset="0"/>
                <a:ea typeface="Noto Sans" pitchFamily="34" charset="-122"/>
                <a:cs typeface="Noto Sans" pitchFamily="34" charset="-120"/>
              </a:rPr>
              <a:t>The design file</a:t>
            </a:r>
            <a:endParaRPr lang="en-US" sz="1050" dirty="0"/>
          </a:p>
        </p:txBody>
      </p:sp>
      <p:sp>
        <p:nvSpPr>
          <p:cNvPr id="22" name="Text 20"/>
          <p:cNvSpPr txBox="1"/>
          <p:nvPr/>
        </p:nvSpPr>
        <p:spPr>
          <a:xfrm>
            <a:off x="3950208" y="5650992"/>
            <a:ext cx="7583119" cy="237744"/>
          </a:xfrm>
          <a:prstGeom prst="rect">
            <a:avLst/>
          </a:prstGeom>
          <a:noFill/>
          <a:ln/>
        </p:spPr>
        <p:txBody>
          <a:bodyPr wrap="square" lIns="0" tIns="0" rIns="0" bIns="0" rtlCol="0" anchor="ctr"/>
          <a:lstStyle/>
          <a:p>
            <a:pPr indent="0" marL="0">
              <a:buNone/>
            </a:pPr>
            <a:r>
              <a:rPr lang="en-US" sz="1050" dirty="0">
                <a:solidFill>
                  <a:srgbClr val="1E2124"/>
                </a:solidFill>
                <a:latin typeface="Noto Sans" pitchFamily="34" charset="0"/>
                <a:ea typeface="Noto Sans" pitchFamily="34" charset="-122"/>
                <a:cs typeface="Noto Sans" pitchFamily="34" charset="-120"/>
              </a:rPr>
              <a:t>MoSJE (WIP) — Service Discovery. Every screen shown here is taken from it, cropped only where noted.</a:t>
            </a:r>
            <a:endParaRPr lang="en-US" sz="1050" dirty="0"/>
          </a:p>
        </p:txBody>
      </p:sp>
      <p:sp>
        <p:nvSpPr>
          <p:cNvPr id="23" name="Text 21"/>
          <p:cNvSpPr txBox="1"/>
          <p:nvPr/>
        </p:nvSpPr>
        <p:spPr>
          <a:xfrm>
            <a:off x="658368" y="6419088"/>
            <a:ext cx="10874959" cy="219456"/>
          </a:xfrm>
          <a:prstGeom prst="rect">
            <a:avLst/>
          </a:prstGeom>
          <a:noFill/>
          <a:ln/>
        </p:spPr>
        <p:txBody>
          <a:bodyPr wrap="square" lIns="0" tIns="0" rIns="0" bIns="0" rtlCol="0" anchor="ctr"/>
          <a:lstStyle/>
          <a:p>
            <a:pPr indent="0" marL="0">
              <a:buNone/>
            </a:pPr>
            <a:r>
              <a:rPr lang="en-US" sz="900" dirty="0">
                <a:solidFill>
                  <a:srgbClr val="54585E"/>
                </a:solidFill>
                <a:latin typeface="Noto Sans" pitchFamily="34" charset="0"/>
                <a:ea typeface="Noto Sans" pitchFamily="34" charset="-122"/>
                <a:cs typeface="Noto Sans" pitchFamily="34" charset="-120"/>
              </a:rPr>
              <a:t>Finding What You Are Entitled To — a review of how people find schemes on the Department's websites. MoSJE Design Research, 20 August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Finding What You Are Entitled To</dc:title>
  <dc:subject>PptxGenJS Presentation</dc:subject>
  <dc:creator>MoSJE Design Research</dc:creator>
  <cp:lastModifiedBy>MoSJE Design Research</cp:lastModifiedBy>
  <cp:revision>1</cp:revision>
  <dcterms:created xsi:type="dcterms:W3CDTF">2026-09-07T16:14:17Z</dcterms:created>
  <dcterms:modified xsi:type="dcterms:W3CDTF">2026-09-07T16:14:17Z</dcterms:modified>
</cp:coreProperties>
</file>