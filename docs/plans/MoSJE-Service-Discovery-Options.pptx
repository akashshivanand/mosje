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 ahead of the meeting, so it reads without a presenter. Six options, one to a page, each with the screen drawn for it. Approval is sought on three parts of the site, and for the preparatory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User Personas.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support for you. A working prototype of this option can be shown live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offerings for you. A working prototype of this option can be shown live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Pictures of the Nine Groups, with Cards. A working prototype of this option can be shown live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Panel with a Table of Schemes. A working prototype of this option can be shown live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Samajik Sahayak — the Same Five Questions, in Chat. Press play —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decided separately. If only one is settled today, the Schemes page is the one that changes most for the most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7863840" cy="1463040"/>
          </a:xfrm>
          <a:prstGeom prst="rect">
            <a:avLst/>
          </a:prstGeom>
          <a:noFill/>
          <a:ln/>
        </p:spPr>
        <p:txBody>
          <a:bodyPr wrap="square" lIns="0" tIns="0" rIns="0" bIns="0" rtlCol="0" anchor="ctr"/>
          <a:lstStyle/>
          <a:p>
            <a:pPr indent="0" marL="0">
              <a:lnSpc>
                <a:spcPct val="106000"/>
              </a:lnSpc>
              <a:buNone/>
            </a:pPr>
            <a:r>
              <a:rPr lang="en-US" sz="4000" b="1" dirty="0">
                <a:solidFill>
                  <a:srgbClr val="FFFFFF"/>
                </a:solidFill>
                <a:latin typeface="Noto Sans" pitchFamily="34" charset="0"/>
                <a:ea typeface="Noto Sans" pitchFamily="34" charset="-122"/>
                <a:cs typeface="Noto Sans" pitchFamily="34" charset="-120"/>
              </a:rPr>
              <a:t>How Citizens Find Schemes</a:t>
            </a:r>
            <a:endParaRPr lang="en-US" sz="4000" dirty="0"/>
          </a:p>
        </p:txBody>
      </p:sp>
      <p:sp>
        <p:nvSpPr>
          <p:cNvPr id="5" name="Text 2"/>
          <p:cNvSpPr txBox="1"/>
          <p:nvPr/>
        </p:nvSpPr>
        <p:spPr>
          <a:xfrm>
            <a:off x="658368" y="3803904"/>
            <a:ext cx="8503920" cy="329184"/>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Six options placed before the Department, on three parts of the website</a:t>
            </a:r>
            <a:endParaRPr lang="en-US" sz="1500" dirty="0"/>
          </a:p>
        </p:txBody>
      </p:sp>
      <p:sp>
        <p:nvSpPr>
          <p:cNvPr id="6" name="Text 3"/>
          <p:cNvSpPr txBox="1"/>
          <p:nvPr/>
        </p:nvSpPr>
        <p:spPr>
          <a:xfrm>
            <a:off x="9326880" y="2286000"/>
            <a:ext cx="2194560" cy="960120"/>
          </a:xfrm>
          <a:prstGeom prst="rect">
            <a:avLst/>
          </a:prstGeom>
          <a:noFill/>
          <a:ln/>
        </p:spPr>
        <p:txBody>
          <a:bodyPr wrap="square" lIns="0" tIns="0" rIns="0" bIns="0" rtlCol="0" anchor="ctr"/>
          <a:lstStyle/>
          <a:p>
            <a:pPr algn="r" indent="0" marL="0">
              <a:buNone/>
            </a:pPr>
            <a:r>
              <a:rPr lang="en-US" sz="5400" b="1" dirty="0">
                <a:solidFill>
                  <a:srgbClr val="92C2FF"/>
                </a:solidFill>
                <a:latin typeface="Noto Sans" pitchFamily="34" charset="0"/>
                <a:ea typeface="Noto Sans" pitchFamily="34" charset="-122"/>
                <a:cs typeface="Noto Sans" pitchFamily="34" charset="-120"/>
              </a:rPr>
              <a:t>134</a:t>
            </a:r>
            <a:endParaRPr lang="en-US" sz="5400" dirty="0"/>
          </a:p>
        </p:txBody>
      </p:sp>
      <p:sp>
        <p:nvSpPr>
          <p:cNvPr id="7" name="Text 4"/>
          <p:cNvSpPr txBox="1"/>
          <p:nvPr/>
        </p:nvSpPr>
        <p:spPr>
          <a:xfrm>
            <a:off x="9326880" y="3291840"/>
            <a:ext cx="2194560" cy="512064"/>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schemes published</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on dosje.gov.in</a:t>
            </a:r>
            <a:endParaRPr lang="en-US" sz="1100" dirty="0"/>
          </a:p>
        </p:txBody>
      </p:sp>
      <p:sp>
        <p:nvSpPr>
          <p:cNvPr id="8" name="Shape 5"/>
          <p:cNvSpPr/>
          <p:nvPr/>
        </p:nvSpPr>
        <p:spPr>
          <a:xfrm>
            <a:off x="658368" y="4937760"/>
            <a:ext cx="10874959" cy="0"/>
          </a:xfrm>
          <a:prstGeom prst="line">
            <a:avLst/>
          </a:prstGeom>
          <a:noFill/>
          <a:ln w="12700">
            <a:solidFill>
              <a:srgbClr val="004B96"/>
            </a:solidFill>
            <a:prstDash val="solid"/>
          </a:ln>
        </p:spPr>
      </p:sp>
      <p:sp>
        <p:nvSpPr>
          <p:cNvPr id="9" name="Text 6"/>
          <p:cNvSpPr txBox="1"/>
          <p:nvPr/>
        </p:nvSpPr>
        <p:spPr>
          <a:xfrm>
            <a:off x="658368" y="5175504"/>
            <a:ext cx="8046720" cy="274320"/>
          </a:xfrm>
          <a:prstGeom prst="rect">
            <a:avLst/>
          </a:prstGeom>
          <a:noFill/>
          <a:ln/>
        </p:spPr>
        <p:txBody>
          <a:bodyPr wrap="square" lIns="0" tIns="0" rIns="0" bIns="0" rtlCol="0" anchor="ctr"/>
          <a:lstStyle/>
          <a:p>
            <a:pPr indent="0" marL="0">
              <a:buNone/>
            </a:pPr>
            <a:r>
              <a:rPr lang="en-US" sz="1250" dirty="0">
                <a:solidFill>
                  <a:srgbClr val="FFFFFF"/>
                </a:solidFill>
                <a:latin typeface="Noto Sans" pitchFamily="34" charset="0"/>
                <a:ea typeface="Noto Sans" pitchFamily="34" charset="-122"/>
                <a:cs typeface="Noto Sans" pitchFamily="34" charset="-120"/>
              </a:rPr>
              <a:t>Each option is shown as the screen built for it, with what it does, what favours it and what counts against it. The persona panel and the assistant carry recorded walkthroughs.</a:t>
            </a:r>
            <a:endParaRPr lang="en-US" sz="1250" dirty="0"/>
          </a:p>
        </p:txBody>
      </p:sp>
      <p:sp>
        <p:nvSpPr>
          <p:cNvPr id="10" name="Text 7"/>
          <p:cNvSpPr txBox="1"/>
          <p:nvPr/>
        </p:nvSpPr>
        <p:spPr>
          <a:xfrm>
            <a:off x="658368" y="5468112"/>
            <a:ext cx="804672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Counts taken from dosje.gov.in on 8 September 2026 · MoSJE Design Research</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713232"/>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WHAT IS PLACED BEFORE YOU</a:t>
            </a:r>
            <a:endParaRPr lang="en-US" sz="1000" dirty="0"/>
          </a:p>
        </p:txBody>
      </p:sp>
      <p:sp>
        <p:nvSpPr>
          <p:cNvPr id="3" name="Text 1"/>
          <p:cNvSpPr txBox="1"/>
          <p:nvPr/>
        </p:nvSpPr>
        <p:spPr>
          <a:xfrm>
            <a:off x="658368" y="987552"/>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Three Parts of the Site. Six Options.</a:t>
            </a:r>
            <a:endParaRPr lang="en-US" sz="3200" dirty="0"/>
          </a:p>
        </p:txBody>
      </p:sp>
      <p:sp>
        <p:nvSpPr>
          <p:cNvPr id="4" name="Text 2"/>
          <p:cNvSpPr txBox="1"/>
          <p:nvPr/>
        </p:nvSpPr>
        <p:spPr>
          <a:xfrm>
            <a:off x="658368" y="1645920"/>
            <a:ext cx="9692640" cy="603504"/>
          </a:xfrm>
          <a:prstGeom prst="rect">
            <a:avLst/>
          </a:prstGeom>
          <a:noFill/>
          <a:ln/>
        </p:spPr>
        <p:txBody>
          <a:bodyPr wrap="square" lIns="0" tIns="0" rIns="0" bIns="0" rtlCol="0" anchor="ctr"/>
          <a:lstStyle/>
          <a:p>
            <a:pPr indent="0" marL="0">
              <a:lnSpc>
                <a:spcPct val="122000"/>
              </a:lnSpc>
              <a:buNone/>
            </a:pPr>
            <a:r>
              <a:rPr lang="en-US" sz="1300" dirty="0">
                <a:solidFill>
                  <a:srgbClr val="C0DBFF"/>
                </a:solidFill>
                <a:latin typeface="Noto Sans" pitchFamily="34" charset="0"/>
                <a:ea typeface="Noto Sans" pitchFamily="34" charset="-122"/>
                <a:cs typeface="Noto Sans" pitchFamily="34" charset="-120"/>
              </a:rPr>
              <a:t>The site publishes 134 schemes. Its Target Group filter offers no value for women and girls, transgender persons, persons with disabilities, victims of atrocities or voluntary organisations — and 23 schemes carry no group at all. These options address that. Each part is settled on its own.</a:t>
            </a:r>
            <a:endParaRPr lang="en-US" sz="1300" dirty="0"/>
          </a:p>
        </p:txBody>
      </p:sp>
      <p:sp>
        <p:nvSpPr>
          <p:cNvPr id="5" name="Shape 3"/>
          <p:cNvSpPr/>
          <p:nvPr/>
        </p:nvSpPr>
        <p:spPr>
          <a:xfrm>
            <a:off x="658368" y="2542032"/>
            <a:ext cx="3429914" cy="3145536"/>
          </a:xfrm>
          <a:prstGeom prst="rect">
            <a:avLst/>
          </a:prstGeom>
          <a:solidFill>
            <a:srgbClr val="004B96"/>
          </a:solidFill>
          <a:ln w="12700">
            <a:solidFill>
              <a:srgbClr val="004B96"/>
            </a:solidFill>
            <a:prstDash val="solid"/>
          </a:ln>
        </p:spPr>
      </p:sp>
      <p:sp>
        <p:nvSpPr>
          <p:cNvPr id="6" name="Text 4"/>
          <p:cNvSpPr txBox="1"/>
          <p:nvPr/>
        </p:nvSpPr>
        <p:spPr>
          <a:xfrm>
            <a:off x="950976"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1</a:t>
            </a:r>
            <a:endParaRPr lang="en-US" sz="4000" dirty="0"/>
          </a:p>
        </p:txBody>
      </p:sp>
      <p:sp>
        <p:nvSpPr>
          <p:cNvPr id="7" name="Text 5"/>
          <p:cNvSpPr txBox="1"/>
          <p:nvPr/>
        </p:nvSpPr>
        <p:spPr>
          <a:xfrm>
            <a:off x="950976"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Home Page</a:t>
            </a:r>
            <a:endParaRPr lang="en-US" sz="1800" dirty="0"/>
          </a:p>
        </p:txBody>
      </p:sp>
      <p:sp>
        <p:nvSpPr>
          <p:cNvPr id="8" name="Text 6"/>
          <p:cNvSpPr txBox="1"/>
          <p:nvPr/>
        </p:nvSpPr>
        <p:spPr>
          <a:xfrm>
            <a:off x="950976"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THREE OPTIONS</a:t>
            </a:r>
            <a:endParaRPr lang="en-US" sz="900" dirty="0"/>
          </a:p>
        </p:txBody>
      </p:sp>
      <p:sp>
        <p:nvSpPr>
          <p:cNvPr id="9" name="Text 7"/>
          <p:cNvSpPr txBox="1"/>
          <p:nvPr/>
        </p:nvSpPr>
        <p:spPr>
          <a:xfrm>
            <a:off x="950976"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most people arrive for the first time.</a:t>
            </a:r>
            <a:endParaRPr lang="en-US" sz="1050" dirty="0"/>
          </a:p>
        </p:txBody>
      </p:sp>
      <p:sp>
        <p:nvSpPr>
          <p:cNvPr id="10" name="Text 8"/>
          <p:cNvSpPr txBox="1"/>
          <p:nvPr/>
        </p:nvSpPr>
        <p:spPr>
          <a:xfrm>
            <a:off x="950976"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Explore User Personas — already on the site</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Find support for you — five questions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C · Find offerings for you — one tap</a:t>
            </a:r>
            <a:endParaRPr lang="en-US" sz="1000" dirty="0"/>
          </a:p>
        </p:txBody>
      </p:sp>
      <p:sp>
        <p:nvSpPr>
          <p:cNvPr id="11" name="Shape 9"/>
          <p:cNvSpPr/>
          <p:nvPr/>
        </p:nvSpPr>
        <p:spPr>
          <a:xfrm>
            <a:off x="4380890" y="2542032"/>
            <a:ext cx="3429914" cy="3145536"/>
          </a:xfrm>
          <a:prstGeom prst="rect">
            <a:avLst/>
          </a:prstGeom>
          <a:solidFill>
            <a:srgbClr val="004B96"/>
          </a:solidFill>
          <a:ln w="12700">
            <a:solidFill>
              <a:srgbClr val="004B96"/>
            </a:solidFill>
            <a:prstDash val="solid"/>
          </a:ln>
        </p:spPr>
      </p:sp>
      <p:sp>
        <p:nvSpPr>
          <p:cNvPr id="12" name="Text 10"/>
          <p:cNvSpPr txBox="1"/>
          <p:nvPr/>
        </p:nvSpPr>
        <p:spPr>
          <a:xfrm>
            <a:off x="4673498"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2</a:t>
            </a:r>
            <a:endParaRPr lang="en-US" sz="4000" dirty="0"/>
          </a:p>
        </p:txBody>
      </p:sp>
      <p:sp>
        <p:nvSpPr>
          <p:cNvPr id="13" name="Text 11"/>
          <p:cNvSpPr txBox="1"/>
          <p:nvPr/>
        </p:nvSpPr>
        <p:spPr>
          <a:xfrm>
            <a:off x="4673498"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Schemes Page</a:t>
            </a:r>
            <a:endParaRPr lang="en-US" sz="1800" dirty="0"/>
          </a:p>
        </p:txBody>
      </p:sp>
      <p:sp>
        <p:nvSpPr>
          <p:cNvPr id="14" name="Text 12"/>
          <p:cNvSpPr txBox="1"/>
          <p:nvPr/>
        </p:nvSpPr>
        <p:spPr>
          <a:xfrm>
            <a:off x="4673498"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TWO OPTIONS</a:t>
            </a:r>
            <a:endParaRPr lang="en-US" sz="900" dirty="0"/>
          </a:p>
        </p:txBody>
      </p:sp>
      <p:sp>
        <p:nvSpPr>
          <p:cNvPr id="15" name="Text 13"/>
          <p:cNvSpPr txBox="1"/>
          <p:nvPr/>
        </p:nvSpPr>
        <p:spPr>
          <a:xfrm>
            <a:off x="4673498"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a person compares, and where officers and voluntary organisations work.</a:t>
            </a:r>
            <a:endParaRPr lang="en-US" sz="1050" dirty="0"/>
          </a:p>
        </p:txBody>
      </p:sp>
      <p:sp>
        <p:nvSpPr>
          <p:cNvPr id="16" name="Text 14"/>
          <p:cNvSpPr txBox="1"/>
          <p:nvPr/>
        </p:nvSpPr>
        <p:spPr>
          <a:xfrm>
            <a:off x="4673498"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Pictures of the nine groups, with cards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Filter panel with a table of schemes</a:t>
            </a:r>
            <a:endParaRPr lang="en-US" sz="1000" dirty="0"/>
          </a:p>
        </p:txBody>
      </p:sp>
      <p:sp>
        <p:nvSpPr>
          <p:cNvPr id="17" name="Shape 15"/>
          <p:cNvSpPr/>
          <p:nvPr/>
        </p:nvSpPr>
        <p:spPr>
          <a:xfrm>
            <a:off x="8103413" y="2542032"/>
            <a:ext cx="3429914" cy="3145536"/>
          </a:xfrm>
          <a:prstGeom prst="rect">
            <a:avLst/>
          </a:prstGeom>
          <a:solidFill>
            <a:srgbClr val="004B96"/>
          </a:solidFill>
          <a:ln w="12700">
            <a:solidFill>
              <a:srgbClr val="004B96"/>
            </a:solidFill>
            <a:prstDash val="solid"/>
          </a:ln>
        </p:spPr>
      </p:sp>
      <p:sp>
        <p:nvSpPr>
          <p:cNvPr id="18" name="Text 16"/>
          <p:cNvSpPr txBox="1"/>
          <p:nvPr/>
        </p:nvSpPr>
        <p:spPr>
          <a:xfrm>
            <a:off x="8396021"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3</a:t>
            </a:r>
            <a:endParaRPr lang="en-US" sz="4000" dirty="0"/>
          </a:p>
        </p:txBody>
      </p:sp>
      <p:sp>
        <p:nvSpPr>
          <p:cNvPr id="19" name="Text 17"/>
          <p:cNvSpPr txBox="1"/>
          <p:nvPr/>
        </p:nvSpPr>
        <p:spPr>
          <a:xfrm>
            <a:off x="8396021"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Assistant</a:t>
            </a:r>
            <a:endParaRPr lang="en-US" sz="1800" dirty="0"/>
          </a:p>
        </p:txBody>
      </p:sp>
      <p:sp>
        <p:nvSpPr>
          <p:cNvPr id="20" name="Text 18"/>
          <p:cNvSpPr txBox="1"/>
          <p:nvPr/>
        </p:nvSpPr>
        <p:spPr>
          <a:xfrm>
            <a:off x="8396021"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ONE OPTION</a:t>
            </a:r>
            <a:endParaRPr lang="en-US" sz="900" dirty="0"/>
          </a:p>
        </p:txBody>
      </p:sp>
      <p:sp>
        <p:nvSpPr>
          <p:cNvPr id="21" name="Text 19"/>
          <p:cNvSpPr txBox="1"/>
          <p:nvPr/>
        </p:nvSpPr>
        <p:spPr>
          <a:xfrm>
            <a:off x="8396021"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Reachable from every page, including pages that lead nowhere else.</a:t>
            </a:r>
            <a:endParaRPr lang="en-US" sz="1050" dirty="0"/>
          </a:p>
        </p:txBody>
      </p:sp>
      <p:sp>
        <p:nvSpPr>
          <p:cNvPr id="22" name="Text 20"/>
          <p:cNvSpPr txBox="1"/>
          <p:nvPr/>
        </p:nvSpPr>
        <p:spPr>
          <a:xfrm>
            <a:off x="8396021"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Samajik Sahayak — the same five questions, in chat</a:t>
            </a:r>
            <a:endParaRPr lang="en-US" sz="1000" dirty="0"/>
          </a:p>
        </p:txBody>
      </p:sp>
      <p:sp>
        <p:nvSpPr>
          <p:cNvPr id="23" name="Text 21"/>
          <p:cNvSpPr txBox="1"/>
          <p:nvPr/>
        </p:nvSpPr>
        <p:spPr>
          <a:xfrm>
            <a:off x="658368" y="5888736"/>
            <a:ext cx="10874959"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Whichever options are approved, the scheme records must be tagged first. That work is set out under “What Has to Be Done First”.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A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Explore User Personas</a:t>
            </a:r>
            <a:endParaRPr lang="en-US" sz="1500" dirty="0"/>
          </a:p>
        </p:txBody>
      </p:sp>
      <p:sp>
        <p:nvSpPr>
          <p:cNvPr id="4" name="Shape 2"/>
          <p:cNvSpPr/>
          <p:nvPr/>
        </p:nvSpPr>
        <p:spPr>
          <a:xfrm>
            <a:off x="658368" y="1335024"/>
            <a:ext cx="1543507"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335024"/>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6" name="Shape 4"/>
          <p:cNvSpPr/>
          <p:nvPr/>
        </p:nvSpPr>
        <p:spPr>
          <a:xfrm>
            <a:off x="630936" y="1728216"/>
            <a:ext cx="5449824" cy="2906486"/>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2851622"/>
          </a:xfrm>
          <a:prstGeom prst="rect">
            <a:avLst/>
          </a:prstGeom>
        </p:spPr>
      </p:pic>
      <p:sp>
        <p:nvSpPr>
          <p:cNvPr id="8" name="Text 5"/>
          <p:cNvSpPr txBox="1"/>
          <p:nvPr/>
        </p:nvSpPr>
        <p:spPr>
          <a:xfrm>
            <a:off x="658368" y="4735286"/>
            <a:ext cx="5394960" cy="310896"/>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The panel as built, played through all nine groups: one at a time, moved with the arrows beneath it.</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picture of one group at a time, with arrows to move between them. It is on the home page today.</a:t>
            </a:r>
            <a:endParaRPr lang="en-US" sz="1000" dirty="0"/>
          </a:p>
        </p:txBody>
      </p:sp>
      <p:sp>
        <p:nvSpPr>
          <p:cNvPr id="11" name="Text 8"/>
          <p:cNvSpPr txBox="1"/>
          <p:nvPr/>
        </p:nvSpPr>
        <p:spPr>
          <a:xfrm>
            <a:off x="6510528" y="249174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68376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Looks at the pictures, sees one that matches, and taps through to the Schemes page.</a:t>
            </a:r>
            <a:endParaRPr lang="en-US" sz="1000" dirty="0"/>
          </a:p>
        </p:txBody>
      </p:sp>
      <p:sp>
        <p:nvSpPr>
          <p:cNvPr id="13" name="Text 10"/>
          <p:cNvSpPr txBox="1"/>
          <p:nvPr/>
        </p:nvSpPr>
        <p:spPr>
          <a:xfrm>
            <a:off x="6510528" y="322783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41985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Already built and already on the page — the cheapest of all six</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Pictures help people who read slowly, or read another language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Recognising yourself is easier than describing yourself</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Adds no height to a home page that already runs long</a:t>
            </a:r>
            <a:endParaRPr lang="en-US" sz="1000" dirty="0"/>
          </a:p>
        </p:txBody>
      </p:sp>
      <p:sp>
        <p:nvSpPr>
          <p:cNvPr id="15" name="Text 12"/>
          <p:cNvSpPr txBox="1"/>
          <p:nvPr/>
        </p:nvSpPr>
        <p:spPr>
          <a:xfrm>
            <a:off x="6510528" y="437997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572000"/>
            <a:ext cx="5022799" cy="93268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group at a time, behind arrows — you cannot see whether you are represented without clicking</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Sorts by group alone, not by stage of life, need or State</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Today, choosing a group does not filter the Schemes page; the panel's own promise goes unmet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B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Find support for you</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1803197"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03197"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067050"/>
          </a:xfrm>
          <a:prstGeom prst="rect">
            <a:avLst/>
          </a:prstGeom>
          <a:solidFill>
            <a:srgbClr val="FFFFFF"/>
          </a:solidFill>
          <a:ln w="9525">
            <a:solidFill>
              <a:srgbClr val="DCDEE1"/>
            </a:solidFill>
            <a:prstDash val="solid"/>
          </a:ln>
        </p:spPr>
      </p:sp>
      <p:pic>
        <p:nvPicPr>
          <p:cNvPr id="9" name="Image 0" descr="assets/figma/home-b.png">    </p:cNvPr>
          <p:cNvPicPr>
            <a:picLocks noChangeAspect="1"/>
          </p:cNvPicPr>
          <p:nvPr/>
        </p:nvPicPr>
        <p:blipFill>
          <a:blip r:embed="rId1"/>
          <a:stretch>
            <a:fillRect/>
          </a:stretch>
        </p:blipFill>
        <p:spPr>
          <a:xfrm>
            <a:off x="658368" y="1755648"/>
            <a:ext cx="5394960" cy="3012186"/>
          </a:xfrm>
          <a:prstGeom prst="rect">
            <a:avLst/>
          </a:prstGeom>
        </p:spPr>
      </p:pic>
      <p:sp>
        <p:nvSpPr>
          <p:cNvPr id="10" name="Text 7"/>
          <p:cNvSpPr txBox="1"/>
          <p:nvPr/>
        </p:nvSpPr>
        <p:spPr>
          <a:xfrm>
            <a:off x="658368" y="4895850"/>
            <a:ext cx="5394960" cy="310896"/>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Question two of five, and the count at the top right — 45 here, and 6 once all five are answered.</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Five short questions, any of which may be skipped. Skipping widens the answer rather than ending it.</a:t>
            </a:r>
            <a:endParaRPr lang="en-US" sz="1000" dirty="0"/>
          </a:p>
        </p:txBody>
      </p:sp>
      <p:sp>
        <p:nvSpPr>
          <p:cNvPr id="13" name="Text 10"/>
          <p:cNvSpPr txBox="1"/>
          <p:nvPr/>
        </p:nvSpPr>
        <p:spPr>
          <a:xfrm>
            <a:off x="6510528" y="249174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68376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Answers up to five questions — group, stage of life, kind of help, State — and is shown the schemes that list them, each with a place to apply.</a:t>
            </a:r>
            <a:endParaRPr lang="en-US" sz="1000" dirty="0"/>
          </a:p>
        </p:txBody>
      </p:sp>
      <p:sp>
        <p:nvSpPr>
          <p:cNvPr id="15" name="Text 12"/>
          <p:cNvSpPr txBox="1"/>
          <p:nvPr/>
        </p:nvSpPr>
        <p:spPr>
          <a:xfrm>
            <a:off x="6510528" y="322783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419856"/>
            <a:ext cx="5022799" cy="1156716"/>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Reads stage of life, need and State, not group alone — which is how entitlement actually works</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No sign-in, no Aadhaar; nothing answered is stored</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falling count is honest feedback — the visitor watches the answer narrow</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Directs a person with a disability to DEPwD, rather than showing an empty page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Ends at a place to apply, not at a page of text</a:t>
            </a:r>
            <a:endParaRPr lang="en-US" sz="1000" dirty="0"/>
          </a:p>
        </p:txBody>
      </p:sp>
      <p:sp>
        <p:nvSpPr>
          <p:cNvPr id="17" name="Text 14"/>
          <p:cNvSpPr txBox="1"/>
          <p:nvPr/>
        </p:nvSpPr>
        <p:spPr>
          <a:xfrm>
            <a:off x="6510528" y="4732020"/>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924044"/>
            <a:ext cx="5022799" cy="77266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scheme must be tagged on four axes before it works at all</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Adds roughly 150 pixels to the home page, unless it replaces Our Offerings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Asks about caste at the second question — the wording needs the Department's approval</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Home Page · Option C of 3</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Find offerings for you</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630936" y="1728216"/>
            <a:ext cx="5449824" cy="3119501"/>
          </a:xfrm>
          <a:prstGeom prst="rect">
            <a:avLst/>
          </a:prstGeom>
          <a:solidFill>
            <a:srgbClr val="FFFFFF"/>
          </a:solidFill>
          <a:ln w="9525">
            <a:solidFill>
              <a:srgbClr val="DCDEE1"/>
            </a:solidFill>
            <a:prstDash val="solid"/>
          </a:ln>
        </p:spPr>
      </p:sp>
      <p:pic>
        <p:nvPicPr>
          <p:cNvPr id="7" name="Image 0" descr="assets/figma/home-c.png">    </p:cNvPr>
          <p:cNvPicPr>
            <a:picLocks noChangeAspect="1"/>
          </p:cNvPicPr>
          <p:nvPr/>
        </p:nvPicPr>
        <p:blipFill>
          <a:blip r:embed="rId1"/>
          <a:stretch>
            <a:fillRect/>
          </a:stretch>
        </p:blipFill>
        <p:spPr>
          <a:xfrm>
            <a:off x="658368" y="1755648"/>
            <a:ext cx="5394960" cy="3064637"/>
          </a:xfrm>
          <a:prstGeom prst="rect">
            <a:avLst/>
          </a:prstGeom>
        </p:spPr>
      </p:pic>
      <p:sp>
        <p:nvSpPr>
          <p:cNvPr id="8" name="Text 5"/>
          <p:cNvSpPr txBox="1"/>
          <p:nvPr/>
        </p:nvSpPr>
        <p:spPr>
          <a:xfrm>
            <a:off x="658368" y="4948301"/>
            <a:ext cx="5394960" cy="310896"/>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nine groups as a single row. Choosing one opens the portal, the scheme and the complaint route beneath it.</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row of groups. Tapping one shows the portal, the scheme and the complaint route for that group.</a:t>
            </a:r>
            <a:endParaRPr lang="en-US" sz="1000" dirty="0"/>
          </a:p>
        </p:txBody>
      </p:sp>
      <p:sp>
        <p:nvSpPr>
          <p:cNvPr id="11" name="Text 8"/>
          <p:cNvSpPr txBox="1"/>
          <p:nvPr/>
        </p:nvSpPr>
        <p:spPr>
          <a:xfrm>
            <a:off x="6510528" y="249174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68376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Taps the group that describes them and sees three things they can act on, without answering anything.</a:t>
            </a:r>
            <a:endParaRPr lang="en-US" sz="1000" dirty="0"/>
          </a:p>
        </p:txBody>
      </p:sp>
      <p:sp>
        <p:nvSpPr>
          <p:cNvPr id="13" name="Text 10"/>
          <p:cNvSpPr txBox="1"/>
          <p:nvPr/>
        </p:nvSpPr>
        <p:spPr>
          <a:xfrm>
            <a:off x="6510528" y="322783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419856"/>
            <a:ext cx="5022799" cy="1156716"/>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tap, with no questions to answer</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Shows portals, schemes and complaint routes together, which no other option does</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Each row ends at a real place to apply</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Puts the single-window promise on the home page itself</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Compact — one strip and three rows</a:t>
            </a:r>
            <a:endParaRPr lang="en-US" sz="1000" dirty="0"/>
          </a:p>
        </p:txBody>
      </p:sp>
      <p:sp>
        <p:nvSpPr>
          <p:cNvPr id="15" name="Text 12"/>
          <p:cNvSpPr txBox="1"/>
          <p:nvPr/>
        </p:nvSpPr>
        <p:spPr>
          <a:xfrm>
            <a:off x="6510528" y="4732020"/>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924044"/>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Every scheme must be tagged before it works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Reads group alone, so it is less exact than the five questions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Needs space on the home page, unless it replaces Our Offerings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Schemes Page · Option A of 2</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Pictures of the Nine Groups, with Cards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739328" y="1728216"/>
            <a:ext cx="5233039" cy="3895344"/>
          </a:xfrm>
          <a:prstGeom prst="rect">
            <a:avLst/>
          </a:prstGeom>
          <a:solidFill>
            <a:srgbClr val="FFFFFF"/>
          </a:solidFill>
          <a:ln w="9525">
            <a:solidFill>
              <a:srgbClr val="DCDEE1"/>
            </a:solidFill>
            <a:prstDash val="solid"/>
          </a:ln>
        </p:spPr>
      </p:sp>
      <p:pic>
        <p:nvPicPr>
          <p:cNvPr id="7" name="Image 0" descr="assets/figma/scheme-a.png">    </p:cNvPr>
          <p:cNvPicPr>
            <a:picLocks noChangeAspect="1"/>
          </p:cNvPicPr>
          <p:nvPr/>
        </p:nvPicPr>
        <p:blipFill>
          <a:blip r:embed="rId1"/>
          <a:stretch>
            <a:fillRect/>
          </a:stretch>
        </p:blipFill>
        <p:spPr>
          <a:xfrm>
            <a:off x="766760" y="1755648"/>
            <a:ext cx="5178175" cy="3840480"/>
          </a:xfrm>
          <a:prstGeom prst="rect">
            <a:avLst/>
          </a:prstGeom>
        </p:spPr>
      </p:pic>
      <p:sp>
        <p:nvSpPr>
          <p:cNvPr id="8" name="Text 5"/>
          <p:cNvSpPr txBox="1"/>
          <p:nvPr/>
        </p:nvSpPr>
        <p:spPr>
          <a:xfrm>
            <a:off x="658368" y="5724144"/>
            <a:ext cx="5394960" cy="310896"/>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All nine groups shown at once, above a card for each scheme.</a:t>
            </a:r>
            <a:endParaRPr lang="en-US" sz="850" dirty="0"/>
          </a:p>
        </p:txBody>
      </p:sp>
      <p:sp>
        <p:nvSpPr>
          <p:cNvPr id="9" name="Text 6"/>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0" name="Text 7"/>
          <p:cNvSpPr txBox="1"/>
          <p:nvPr/>
        </p:nvSpPr>
        <p:spPr>
          <a:xfrm>
            <a:off x="6510528" y="1947672"/>
            <a:ext cx="5022799" cy="2286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row of pictures for the nine groups, above cards for each scheme.</a:t>
            </a:r>
            <a:endParaRPr lang="en-US" sz="1000" dirty="0"/>
          </a:p>
        </p:txBody>
      </p:sp>
      <p:sp>
        <p:nvSpPr>
          <p:cNvPr id="11" name="Text 8"/>
          <p:cNvSpPr txBox="1"/>
          <p:nvPr/>
        </p:nvSpPr>
        <p:spPr>
          <a:xfrm>
            <a:off x="6510528" y="233172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2" name="Text 9"/>
          <p:cNvSpPr txBox="1"/>
          <p:nvPr/>
        </p:nvSpPr>
        <p:spPr>
          <a:xfrm>
            <a:off x="6510528" y="2523744"/>
            <a:ext cx="5022799" cy="2286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Picks their group from the pictures, then reads the scheme cards below.</a:t>
            </a:r>
            <a:endParaRPr lang="en-US" sz="1000" dirty="0"/>
          </a:p>
        </p:txBody>
      </p:sp>
      <p:sp>
        <p:nvSpPr>
          <p:cNvPr id="13" name="Text 10"/>
          <p:cNvSpPr txBox="1"/>
          <p:nvPr/>
        </p:nvSpPr>
        <p:spPr>
          <a:xfrm>
            <a:off x="6510528" y="290779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4" name="Text 11"/>
          <p:cNvSpPr txBox="1"/>
          <p:nvPr/>
        </p:nvSpPr>
        <p:spPr>
          <a:xfrm>
            <a:off x="6510528" y="3099816"/>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All nine groups visible at once — no arrows, no scrolling to find yourself</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Pictures work across languages and reading levels</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Cards feel welcoming rather than administrative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Consistent with how the home page presents groups, so the idea is met twice</a:t>
            </a:r>
            <a:endParaRPr lang="en-US" sz="1000" dirty="0"/>
          </a:p>
        </p:txBody>
      </p:sp>
      <p:sp>
        <p:nvSpPr>
          <p:cNvPr id="15" name="Text 12"/>
          <p:cNvSpPr txBox="1"/>
          <p:nvPr/>
        </p:nvSpPr>
        <p:spPr>
          <a:xfrm>
            <a:off x="6510528" y="405993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6" name="Text 13"/>
          <p:cNvSpPr txBox="1"/>
          <p:nvPr/>
        </p:nvSpPr>
        <p:spPr>
          <a:xfrm>
            <a:off x="6510528" y="4251960"/>
            <a:ext cx="5022799" cy="804672"/>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Far fewer schemes fit on one screen</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card has no room for who runs the scheme, or whether it is Central or State</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Two schemes cannot be compared side by side</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Nine illustrations to commission and to keep up to date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Schemes Page · Option B of 2</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Filter Panel with a Table of Schemes</a:t>
            </a:r>
            <a:endParaRPr lang="en-US" sz="1500" dirty="0"/>
          </a:p>
        </p:txBody>
      </p:sp>
      <p:sp>
        <p:nvSpPr>
          <p:cNvPr id="4" name="Shape 2"/>
          <p:cNvSpPr/>
          <p:nvPr/>
        </p:nvSpPr>
        <p:spPr>
          <a:xfrm>
            <a:off x="658368" y="1335024"/>
            <a:ext cx="1016813"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005EB9"/>
                </a:solidFill>
                <a:latin typeface="Noto Sans" pitchFamily="34" charset="0"/>
                <a:ea typeface="Noto Sans" pitchFamily="34" charset="-122"/>
                <a:cs typeface="Noto Sans" pitchFamily="34" charset="-120"/>
              </a:rPr>
              <a:t>TO BE BUILT</a:t>
            </a:r>
            <a:endParaRPr lang="en-US" sz="800" dirty="0"/>
          </a:p>
        </p:txBody>
      </p:sp>
      <p:sp>
        <p:nvSpPr>
          <p:cNvPr id="6" name="Shape 4"/>
          <p:cNvSpPr/>
          <p:nvPr/>
        </p:nvSpPr>
        <p:spPr>
          <a:xfrm>
            <a:off x="1803197"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03197"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19221"/>
          </a:xfrm>
          <a:prstGeom prst="rect">
            <a:avLst/>
          </a:prstGeom>
          <a:solidFill>
            <a:srgbClr val="FFFFFF"/>
          </a:solidFill>
          <a:ln w="9525">
            <a:solidFill>
              <a:srgbClr val="DCDEE1"/>
            </a:solidFill>
            <a:prstDash val="solid"/>
          </a:ln>
        </p:spPr>
      </p:sp>
      <p:pic>
        <p:nvPicPr>
          <p:cNvPr id="9" name="Image 0" descr="assets/figma/scheme-b.png">    </p:cNvPr>
          <p:cNvPicPr>
            <a:picLocks noChangeAspect="1"/>
          </p:cNvPicPr>
          <p:nvPr/>
        </p:nvPicPr>
        <p:blipFill>
          <a:blip r:embed="rId1"/>
          <a:stretch>
            <a:fillRect/>
          </a:stretch>
        </p:blipFill>
        <p:spPr>
          <a:xfrm>
            <a:off x="658368" y="1755648"/>
            <a:ext cx="5394960" cy="3364357"/>
          </a:xfrm>
          <a:prstGeom prst="rect">
            <a:avLst/>
          </a:prstGeom>
        </p:spPr>
      </p:pic>
      <p:sp>
        <p:nvSpPr>
          <p:cNvPr id="10" name="Text 7"/>
          <p:cNvSpPr txBox="1"/>
          <p:nvPr/>
        </p:nvSpPr>
        <p:spPr>
          <a:xfrm>
            <a:off x="658368" y="5248021"/>
            <a:ext cx="5394960" cy="310896"/>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Two filters ticked together — Scheduled Caste and OBC — and the table beside them, showing who runs each scheme.</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down the left; a table on the right showing what a person gets, who runs it, and whether it is Central or State.</a:t>
            </a:r>
            <a:endParaRPr lang="en-US" sz="1000" dirty="0"/>
          </a:p>
        </p:txBody>
      </p:sp>
      <p:sp>
        <p:nvSpPr>
          <p:cNvPr id="13" name="Text 10"/>
          <p:cNvSpPr txBox="1"/>
          <p:nvPr/>
        </p:nvSpPr>
        <p:spPr>
          <a:xfrm>
            <a:off x="6510528" y="249174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68376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Ticks the filters that apply and reads the schemes side by side to see which to apply for.</a:t>
            </a:r>
            <a:endParaRPr lang="en-US" sz="1000" dirty="0"/>
          </a:p>
        </p:txBody>
      </p:sp>
      <p:sp>
        <p:nvSpPr>
          <p:cNvPr id="15" name="Text 12"/>
          <p:cNvSpPr txBox="1"/>
          <p:nvPr/>
        </p:nvSpPr>
        <p:spPr>
          <a:xfrm>
            <a:off x="6510528" y="322783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419856"/>
            <a:ext cx="5022799" cy="964692"/>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Filters combine — group and stage of life and kind of help can be asked for together</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Shows who runs each scheme, and whether it is Central or State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Many more schemes visible, and comparable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count beside each filter warns before an empty result, rather than after it</a:t>
            </a:r>
            <a:endParaRPr lang="en-US" sz="1000" dirty="0"/>
          </a:p>
        </p:txBody>
      </p:sp>
      <p:sp>
        <p:nvSpPr>
          <p:cNvPr id="17" name="Text 14"/>
          <p:cNvSpPr txBox="1"/>
          <p:nvPr/>
        </p:nvSpPr>
        <p:spPr>
          <a:xfrm>
            <a:off x="6510528" y="4539996"/>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732020"/>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table reads as a record rather than an invitation</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Asks the citizen to use the site's own words</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Needs more care on a small screen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02336"/>
            <a:ext cx="10874959" cy="457200"/>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The Assistant · Option A of 1</a:t>
            </a:r>
            <a:endParaRPr lang="en-US" sz="2700" dirty="0"/>
          </a:p>
        </p:txBody>
      </p:sp>
      <p:sp>
        <p:nvSpPr>
          <p:cNvPr id="3" name="Text 1"/>
          <p:cNvSpPr txBox="1"/>
          <p:nvPr/>
        </p:nvSpPr>
        <p:spPr>
          <a:xfrm>
            <a:off x="658368" y="914400"/>
            <a:ext cx="10874959" cy="310896"/>
          </a:xfrm>
          <a:prstGeom prst="rect">
            <a:avLst/>
          </a:prstGeom>
          <a:noFill/>
          <a:ln/>
        </p:spPr>
        <p:txBody>
          <a:bodyPr wrap="square" lIns="0" tIns="0" rIns="0" bIns="0" rtlCol="0" anchor="ctr"/>
          <a:lstStyle/>
          <a:p>
            <a:pPr indent="0" marL="0">
              <a:buNone/>
            </a:pPr>
            <a:r>
              <a:rPr lang="en-US" sz="1500" dirty="0">
                <a:solidFill>
                  <a:srgbClr val="005EB9"/>
                </a:solidFill>
                <a:latin typeface="Noto Sans" pitchFamily="34" charset="0"/>
                <a:ea typeface="Noto Sans" pitchFamily="34" charset="-122"/>
                <a:cs typeface="Noto Sans" pitchFamily="34" charset="-120"/>
              </a:rPr>
              <a:t>Samajik Sahayak — the Same Five Questions, in Chat</a:t>
            </a:r>
            <a:endParaRPr lang="en-US" sz="1500" dirty="0"/>
          </a:p>
        </p:txBody>
      </p:sp>
      <p:sp>
        <p:nvSpPr>
          <p:cNvPr id="4" name="Shape 2"/>
          <p:cNvSpPr/>
          <p:nvPr/>
        </p:nvSpPr>
        <p:spPr>
          <a:xfrm>
            <a:off x="658368" y="1335024"/>
            <a:ext cx="1543507"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335024"/>
            <a:ext cx="1543507" cy="237744"/>
          </a:xfrm>
          <a:prstGeom prst="rect">
            <a:avLst/>
          </a:prstGeom>
          <a:noFill/>
          <a:ln/>
        </p:spPr>
        <p:txBody>
          <a:bodyPr wrap="square" lIns="0" tIns="0" rIns="0" bIns="0" rtlCol="0" anchor="ctr"/>
          <a:lstStyle/>
          <a:p>
            <a:pPr algn="ctr" indent="0" marL="0">
              <a:buNone/>
            </a:pPr>
            <a:r>
              <a:rPr lang="en-US" sz="800" b="1" spc="50" kern="0" dirty="0">
                <a:solidFill>
                  <a:srgbClr val="54585E"/>
                </a:solidFill>
                <a:latin typeface="Noto Sans" pitchFamily="34" charset="0"/>
                <a:ea typeface="Noto Sans" pitchFamily="34" charset="-122"/>
                <a:cs typeface="Noto Sans" pitchFamily="34" charset="-120"/>
              </a:rPr>
              <a:t>ALREADY ON THE SITE</a:t>
            </a:r>
            <a:endParaRPr lang="en-US" sz="800" dirty="0"/>
          </a:p>
        </p:txBody>
      </p:sp>
      <p:sp>
        <p:nvSpPr>
          <p:cNvPr id="6" name="Shape 4"/>
          <p:cNvSpPr/>
          <p:nvPr/>
        </p:nvSpPr>
        <p:spPr>
          <a:xfrm>
            <a:off x="2329891" y="1335024"/>
            <a:ext cx="1016813"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29891" y="1335024"/>
            <a:ext cx="1016813" cy="237744"/>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Noto Sans" pitchFamily="34" charset="0"/>
                <a:ea typeface="Noto Sans" pitchFamily="34" charset="-122"/>
                <a:cs typeface="Noto Sans" pitchFamily="34" charset="-120"/>
              </a:rPr>
              <a:t>RECOMMENDED</a:t>
            </a:r>
            <a:endParaRPr lang="en-US" sz="800" dirty="0"/>
          </a:p>
        </p:txBody>
      </p:sp>
      <p:sp>
        <p:nvSpPr>
          <p:cNvPr id="8" name="Shape 6"/>
          <p:cNvSpPr/>
          <p:nvPr/>
        </p:nvSpPr>
        <p:spPr>
          <a:xfrm>
            <a:off x="630936" y="1728216"/>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755648"/>
            <a:ext cx="5394960" cy="3371850"/>
          </a:xfrm>
          <a:prstGeom prst="rect">
            <a:avLst/>
          </a:prstGeom>
        </p:spPr>
      </p:pic>
      <p:sp>
        <p:nvSpPr>
          <p:cNvPr id="10" name="Text 7"/>
          <p:cNvSpPr txBox="1"/>
          <p:nvPr/>
        </p:nvSpPr>
        <p:spPr>
          <a:xfrm>
            <a:off x="658368" y="5255514"/>
            <a:ext cx="5394960" cy="310896"/>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walkthrough of the assistant the design system ships, opened from an ordinary page and answered one question at a time.</a:t>
            </a:r>
            <a:endParaRPr lang="en-US" sz="850" dirty="0"/>
          </a:p>
        </p:txBody>
      </p:sp>
      <p:sp>
        <p:nvSpPr>
          <p:cNvPr id="11" name="Text 8"/>
          <p:cNvSpPr txBox="1"/>
          <p:nvPr/>
        </p:nvSpPr>
        <p:spPr>
          <a:xfrm>
            <a:off x="6510528" y="1755648"/>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IT IS</a:t>
            </a:r>
            <a:endParaRPr lang="en-US" sz="900" dirty="0"/>
          </a:p>
        </p:txBody>
      </p:sp>
      <p:sp>
        <p:nvSpPr>
          <p:cNvPr id="12" name="Text 9"/>
          <p:cNvSpPr txBox="1"/>
          <p:nvPr/>
        </p:nvSpPr>
        <p:spPr>
          <a:xfrm>
            <a:off x="6510528" y="1947672"/>
            <a:ext cx="5022799" cy="54864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same five questions, asked one at a time in a chat window that is already built and reachable from every page. What is shown is the design system's own assistant, not a copy of it.</a:t>
            </a:r>
            <a:endParaRPr lang="en-US" sz="1000" dirty="0"/>
          </a:p>
        </p:txBody>
      </p:sp>
      <p:sp>
        <p:nvSpPr>
          <p:cNvPr id="13" name="Text 10"/>
          <p:cNvSpPr txBox="1"/>
          <p:nvPr/>
        </p:nvSpPr>
        <p:spPr>
          <a:xfrm>
            <a:off x="6510528" y="2651760"/>
            <a:ext cx="5022799" cy="173736"/>
          </a:xfrm>
          <a:prstGeom prst="rect">
            <a:avLst/>
          </a:prstGeom>
          <a:noFill/>
          <a:ln/>
        </p:spPr>
        <p:txBody>
          <a:bodyPr wrap="square" lIns="0" tIns="0" rIns="0" bIns="0" rtlCol="0" anchor="ctr"/>
          <a:lstStyle/>
          <a:p>
            <a:pPr indent="0" marL="0">
              <a:buNone/>
            </a:pPr>
            <a:r>
              <a:rPr lang="en-US" sz="900" b="1" spc="60" kern="0" dirty="0">
                <a:solidFill>
                  <a:srgbClr val="54585E"/>
                </a:solidFill>
                <a:latin typeface="Noto Sans" pitchFamily="34" charset="0"/>
                <a:ea typeface="Noto Sans" pitchFamily="34" charset="-122"/>
                <a:cs typeface="Noto Sans" pitchFamily="34" charset="-120"/>
              </a:rPr>
              <a:t>WHAT A CITIZEN DOES</a:t>
            </a:r>
            <a:endParaRPr lang="en-US" sz="900" dirty="0"/>
          </a:p>
        </p:txBody>
      </p:sp>
      <p:sp>
        <p:nvSpPr>
          <p:cNvPr id="14" name="Text 11"/>
          <p:cNvSpPr txBox="1"/>
          <p:nvPr/>
        </p:nvSpPr>
        <p:spPr>
          <a:xfrm>
            <a:off x="6510528" y="2843784"/>
            <a:ext cx="5022799" cy="38862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Opens the assistant from whichever page they are on, answers on their phone, and is given schemes to open.</a:t>
            </a:r>
            <a:endParaRPr lang="en-US" sz="1000" dirty="0"/>
          </a:p>
        </p:txBody>
      </p:sp>
      <p:sp>
        <p:nvSpPr>
          <p:cNvPr id="15" name="Text 12"/>
          <p:cNvSpPr txBox="1"/>
          <p:nvPr/>
        </p:nvSpPr>
        <p:spPr>
          <a:xfrm>
            <a:off x="6510528" y="3387852"/>
            <a:ext cx="5022799" cy="173736"/>
          </a:xfrm>
          <a:prstGeom prst="rect">
            <a:avLst/>
          </a:prstGeom>
          <a:noFill/>
          <a:ln/>
        </p:spPr>
        <p:txBody>
          <a:bodyPr wrap="square" lIns="0" tIns="0" rIns="0" bIns="0" rtlCol="0" anchor="ctr"/>
          <a:lstStyle/>
          <a:p>
            <a:pPr indent="0" marL="0">
              <a:buNone/>
            </a:pPr>
            <a:r>
              <a:rPr lang="en-US" sz="900" b="1" spc="60" kern="0" dirty="0">
                <a:solidFill>
                  <a:srgbClr val="005EB9"/>
                </a:solidFill>
                <a:latin typeface="Noto Sans" pitchFamily="34" charset="0"/>
                <a:ea typeface="Noto Sans" pitchFamily="34" charset="-122"/>
                <a:cs typeface="Noto Sans" pitchFamily="34" charset="-120"/>
              </a:rPr>
              <a:t>IN ITS FAVOUR</a:t>
            </a:r>
            <a:endParaRPr lang="en-US" sz="900" dirty="0"/>
          </a:p>
        </p:txBody>
      </p:sp>
      <p:sp>
        <p:nvSpPr>
          <p:cNvPr id="16" name="Text 13"/>
          <p:cNvSpPr txBox="1"/>
          <p:nvPr/>
        </p:nvSpPr>
        <p:spPr>
          <a:xfrm>
            <a:off x="6510528" y="3579876"/>
            <a:ext cx="5022799" cy="996696"/>
          </a:xfrm>
          <a:prstGeom prst="rect">
            <a:avLst/>
          </a:prstGeom>
          <a:noFill/>
          <a:ln/>
        </p:spPr>
        <p:txBody>
          <a:bodyPr wrap="square" lIns="0" tIns="0" rIns="0" bIns="0" rtlCol="0" anchor="ctr"/>
          <a:lstStyle/>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Reachable from every page, including pages that lead nowhere else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One question per screen suits a mobile phone</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Works in Hindi without a second design</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Already built — only the scheme branch is new</a:t>
            </a:r>
            <a:endParaRPr lang="en-US" sz="1000" dirty="0"/>
          </a:p>
          <a:p>
            <a:pPr indent="0" marL="0">
              <a:lnSpc>
                <a:spcPct val="120000"/>
              </a:lnSpc>
              <a:buNone/>
            </a:pPr>
            <a:r>
              <a:rPr lang="en-US" sz="1000" b="1" dirty="0">
                <a:solidFill>
                  <a:srgbClr val="005EB9"/>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States plainly that it cannot decide or change an application</a:t>
            </a:r>
            <a:endParaRPr lang="en-US" sz="1000" dirty="0"/>
          </a:p>
        </p:txBody>
      </p:sp>
      <p:sp>
        <p:nvSpPr>
          <p:cNvPr id="17" name="Text 14"/>
          <p:cNvSpPr txBox="1"/>
          <p:nvPr/>
        </p:nvSpPr>
        <p:spPr>
          <a:xfrm>
            <a:off x="6510528" y="4732020"/>
            <a:ext cx="5022799" cy="173736"/>
          </a:xfrm>
          <a:prstGeom prst="rect">
            <a:avLst/>
          </a:prstGeom>
          <a:noFill/>
          <a:ln/>
        </p:spPr>
        <p:txBody>
          <a:bodyPr wrap="square" lIns="0" tIns="0" rIns="0" bIns="0" rtlCol="0" anchor="ctr"/>
          <a:lstStyle/>
          <a:p>
            <a:pPr indent="0" marL="0">
              <a:buNone/>
            </a:pPr>
            <a:r>
              <a:rPr lang="en-US" sz="900" b="1" spc="60" kern="0" dirty="0">
                <a:solidFill>
                  <a:srgbClr val="A43A00"/>
                </a:solidFill>
                <a:latin typeface="Noto Sans" pitchFamily="34" charset="0"/>
                <a:ea typeface="Noto Sans" pitchFamily="34" charset="-122"/>
                <a:cs typeface="Noto Sans" pitchFamily="34" charset="-120"/>
              </a:rPr>
              <a:t>AGAINST IT</a:t>
            </a:r>
            <a:endParaRPr lang="en-US" sz="900" dirty="0"/>
          </a:p>
        </p:txBody>
      </p:sp>
      <p:sp>
        <p:nvSpPr>
          <p:cNvPr id="18" name="Text 15"/>
          <p:cNvSpPr txBox="1"/>
          <p:nvPr/>
        </p:nvSpPr>
        <p:spPr>
          <a:xfrm>
            <a:off x="6510528" y="4924044"/>
            <a:ext cx="5022799" cy="612648"/>
          </a:xfrm>
          <a:prstGeom prst="rect">
            <a:avLst/>
          </a:prstGeom>
          <a:noFill/>
          <a:ln/>
        </p:spPr>
        <p:txBody>
          <a:bodyPr wrap="square" lIns="0" tIns="0" rIns="0" bIns="0" rtlCol="0" anchor="ctr"/>
          <a:lstStyle/>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A button in the corner is found only by those looking for it</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It covers the page on a small screen</a:t>
            </a:r>
            <a:endParaRPr lang="en-US" sz="1000" dirty="0"/>
          </a:p>
          <a:p>
            <a:pPr indent="0" marL="0">
              <a:lnSpc>
                <a:spcPct val="120000"/>
              </a:lnSpc>
              <a:buNone/>
            </a:pPr>
            <a:r>
              <a:rPr lang="en-US" sz="1000" b="1" dirty="0">
                <a:solidFill>
                  <a:srgbClr val="A43A00"/>
                </a:solidFill>
                <a:latin typeface="Noto Sans" pitchFamily="34" charset="0"/>
                <a:ea typeface="Noto Sans" pitchFamily="34" charset="-122"/>
                <a:cs typeface="Noto Sans" pitchFamily="34" charset="-120"/>
              </a:rPr>
              <a:t>·  </a:t>
            </a:r>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Harder to use with a screen reader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TAKEN TOGETHER</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How the Options Combine</a:t>
            </a:r>
            <a:endParaRPr lang="en-US" sz="2700" dirty="0"/>
          </a:p>
        </p:txBody>
      </p:sp>
      <p:sp>
        <p:nvSpPr>
          <p:cNvPr id="4" name="Text 2"/>
          <p:cNvSpPr txBox="1"/>
          <p:nvPr/>
        </p:nvSpPr>
        <p:spPr>
          <a:xfrm>
            <a:off x="658368" y="1097280"/>
            <a:ext cx="10004962" cy="274320"/>
          </a:xfrm>
          <a:prstGeom prst="rect">
            <a:avLst/>
          </a:prstGeom>
          <a:noFill/>
          <a:ln/>
        </p:spPr>
        <p:txBody>
          <a:bodyPr wrap="square" lIns="0" tIns="0" rIns="0" bIns="0" rtlCol="0" anchor="ctr"/>
          <a:lstStyle/>
          <a:p>
            <a:pPr indent="0" marL="0">
              <a:buNone/>
            </a:pPr>
            <a:r>
              <a:rPr lang="en-US" sz="1250" dirty="0">
                <a:solidFill>
                  <a:srgbClr val="3A3D41"/>
                </a:solidFill>
                <a:latin typeface="Noto Sans" pitchFamily="34" charset="0"/>
                <a:ea typeface="Noto Sans" pitchFamily="34" charset="-122"/>
                <a:cs typeface="Noto Sans" pitchFamily="34" charset="-120"/>
              </a:rPr>
              <a:t>The three parts are settled separately, so this is a set of courses open to the Department — not a single either-or.</a:t>
            </a:r>
            <a:endParaRPr lang="en-US" sz="1250" dirty="0"/>
          </a:p>
        </p:txBody>
      </p:sp>
      <p:sp>
        <p:nvSpPr>
          <p:cNvPr id="5" name="Text 3"/>
          <p:cNvSpPr txBox="1"/>
          <p:nvPr/>
        </p:nvSpPr>
        <p:spPr>
          <a:xfrm>
            <a:off x="658368" y="1517904"/>
            <a:ext cx="173736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COURSE</a:t>
            </a:r>
            <a:endParaRPr lang="en-US" sz="850" dirty="0"/>
          </a:p>
        </p:txBody>
      </p:sp>
      <p:sp>
        <p:nvSpPr>
          <p:cNvPr id="6" name="Text 4"/>
          <p:cNvSpPr txBox="1"/>
          <p:nvPr/>
        </p:nvSpPr>
        <p:spPr>
          <a:xfrm>
            <a:off x="2395728" y="1517904"/>
            <a:ext cx="210312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HOME PAGE</a:t>
            </a:r>
            <a:endParaRPr lang="en-US" sz="850" dirty="0"/>
          </a:p>
        </p:txBody>
      </p:sp>
      <p:sp>
        <p:nvSpPr>
          <p:cNvPr id="7" name="Text 5"/>
          <p:cNvSpPr txBox="1"/>
          <p:nvPr/>
        </p:nvSpPr>
        <p:spPr>
          <a:xfrm>
            <a:off x="4498848" y="1517904"/>
            <a:ext cx="24688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SCHEMES PAGE</a:t>
            </a:r>
            <a:endParaRPr lang="en-US" sz="850" dirty="0"/>
          </a:p>
        </p:txBody>
      </p:sp>
      <p:sp>
        <p:nvSpPr>
          <p:cNvPr id="8" name="Text 6"/>
          <p:cNvSpPr txBox="1"/>
          <p:nvPr/>
        </p:nvSpPr>
        <p:spPr>
          <a:xfrm>
            <a:off x="6967728" y="1517904"/>
            <a:ext cx="8686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ASSISTANT</a:t>
            </a:r>
            <a:endParaRPr lang="en-US" sz="850" dirty="0"/>
          </a:p>
        </p:txBody>
      </p:sp>
      <p:sp>
        <p:nvSpPr>
          <p:cNvPr id="9" name="Text 7"/>
          <p:cNvSpPr txBox="1"/>
          <p:nvPr/>
        </p:nvSpPr>
        <p:spPr>
          <a:xfrm>
            <a:off x="7836408" y="1517904"/>
            <a:ext cx="3696919"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MEANS FOR THE CITIZEN</a:t>
            </a:r>
            <a:endParaRPr lang="en-US" sz="850" dirty="0"/>
          </a:p>
        </p:txBody>
      </p:sp>
      <p:sp>
        <p:nvSpPr>
          <p:cNvPr id="10" name="Shape 8"/>
          <p:cNvSpPr/>
          <p:nvPr/>
        </p:nvSpPr>
        <p:spPr>
          <a:xfrm>
            <a:off x="658368" y="1792224"/>
            <a:ext cx="10874959" cy="1042416"/>
          </a:xfrm>
          <a:prstGeom prst="rect">
            <a:avLst/>
          </a:prstGeom>
          <a:solidFill>
            <a:srgbClr val="FFFFFF"/>
          </a:solidFill>
          <a:ln w="9525">
            <a:solidFill>
              <a:srgbClr val="DCDEE1"/>
            </a:solidFill>
            <a:prstDash val="solid"/>
          </a:ln>
        </p:spPr>
      </p:sp>
      <p:sp>
        <p:nvSpPr>
          <p:cNvPr id="11" name="Text 9"/>
          <p:cNvSpPr txBox="1"/>
          <p:nvPr/>
        </p:nvSpPr>
        <p:spPr>
          <a:xfrm>
            <a:off x="804672" y="1920240"/>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Minimum credible</a:t>
            </a:r>
            <a:endParaRPr lang="en-US" sz="1050" dirty="0"/>
          </a:p>
        </p:txBody>
      </p:sp>
      <p:sp>
        <p:nvSpPr>
          <p:cNvPr id="12" name="Text 10"/>
          <p:cNvSpPr txBox="1"/>
          <p:nvPr/>
        </p:nvSpPr>
        <p:spPr>
          <a:xfrm>
            <a:off x="2542032" y="1920240"/>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Repair Option A</a:t>
            </a:r>
            <a:endParaRPr lang="en-US" sz="1050" dirty="0"/>
          </a:p>
        </p:txBody>
      </p:sp>
      <p:sp>
        <p:nvSpPr>
          <p:cNvPr id="13" name="Text 11"/>
          <p:cNvSpPr txBox="1"/>
          <p:nvPr/>
        </p:nvSpPr>
        <p:spPr>
          <a:xfrm>
            <a:off x="4645152" y="1920240"/>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14" name="Text 12"/>
          <p:cNvSpPr txBox="1"/>
          <p:nvPr/>
        </p:nvSpPr>
        <p:spPr>
          <a:xfrm>
            <a:off x="7114032" y="1920240"/>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Later</a:t>
            </a:r>
            <a:endParaRPr lang="en-US" sz="1050" dirty="0"/>
          </a:p>
        </p:txBody>
      </p:sp>
      <p:sp>
        <p:nvSpPr>
          <p:cNvPr id="15" name="Text 13"/>
          <p:cNvSpPr txBox="1"/>
          <p:nvPr/>
        </p:nvSpPr>
        <p:spPr>
          <a:xfrm>
            <a:off x="7982712" y="1920240"/>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The persona panel finally delivers what it promises, and the Schemes page becomes usable. The cheapest route to a real improvement.</a:t>
            </a:r>
            <a:endParaRPr lang="en-US" sz="950" dirty="0"/>
          </a:p>
        </p:txBody>
      </p:sp>
      <p:sp>
        <p:nvSpPr>
          <p:cNvPr id="16" name="Shape 14"/>
          <p:cNvSpPr/>
          <p:nvPr/>
        </p:nvSpPr>
        <p:spPr>
          <a:xfrm>
            <a:off x="658368" y="2926080"/>
            <a:ext cx="10874959" cy="1042416"/>
          </a:xfrm>
          <a:prstGeom prst="rect">
            <a:avLst/>
          </a:prstGeom>
          <a:solidFill>
            <a:srgbClr val="ECF4FF"/>
          </a:solidFill>
          <a:ln w="15875">
            <a:solidFill>
              <a:srgbClr val="0373DF"/>
            </a:solidFill>
            <a:prstDash val="solid"/>
          </a:ln>
        </p:spPr>
      </p:sp>
      <p:sp>
        <p:nvSpPr>
          <p:cNvPr id="17" name="Text 15"/>
          <p:cNvSpPr txBox="1"/>
          <p:nvPr/>
        </p:nvSpPr>
        <p:spPr>
          <a:xfrm>
            <a:off x="804672" y="3054096"/>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003975"/>
                </a:solidFill>
                <a:latin typeface="Noto Sans" pitchFamily="34" charset="0"/>
                <a:ea typeface="Noto Sans" pitchFamily="34" charset="-122"/>
                <a:cs typeface="Noto Sans" pitchFamily="34" charset="-120"/>
              </a:rPr>
              <a:t>Recommended</a:t>
            </a:r>
            <a:endParaRPr lang="en-US" sz="1050" dirty="0"/>
          </a:p>
        </p:txBody>
      </p:sp>
      <p:sp>
        <p:nvSpPr>
          <p:cNvPr id="18" name="Text 16"/>
          <p:cNvSpPr txBox="1"/>
          <p:nvPr/>
        </p:nvSpPr>
        <p:spPr>
          <a:xfrm>
            <a:off x="2542032" y="3054096"/>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19" name="Text 17"/>
          <p:cNvSpPr txBox="1"/>
          <p:nvPr/>
        </p:nvSpPr>
        <p:spPr>
          <a:xfrm>
            <a:off x="4645152" y="3054096"/>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20" name="Text 18"/>
          <p:cNvSpPr txBox="1"/>
          <p:nvPr/>
        </p:nvSpPr>
        <p:spPr>
          <a:xfrm>
            <a:off x="7114032" y="3054096"/>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1" name="Text 19"/>
          <p:cNvSpPr txBox="1"/>
          <p:nvPr/>
        </p:nvSpPr>
        <p:spPr>
          <a:xfrm>
            <a:off x="7982712" y="3054096"/>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Two ways in for two kinds of visitor, one page that can genuinely be filtered, and a conversational route for the person already lost on a page.</a:t>
            </a:r>
            <a:endParaRPr lang="en-US" sz="950" dirty="0"/>
          </a:p>
        </p:txBody>
      </p:sp>
      <p:sp>
        <p:nvSpPr>
          <p:cNvPr id="22" name="Shape 20"/>
          <p:cNvSpPr/>
          <p:nvPr/>
        </p:nvSpPr>
        <p:spPr>
          <a:xfrm>
            <a:off x="658368" y="4059936"/>
            <a:ext cx="10874959" cy="1042416"/>
          </a:xfrm>
          <a:prstGeom prst="rect">
            <a:avLst/>
          </a:prstGeom>
          <a:solidFill>
            <a:srgbClr val="FFFFFF"/>
          </a:solidFill>
          <a:ln w="9525">
            <a:solidFill>
              <a:srgbClr val="DCDEE1"/>
            </a:solidFill>
            <a:prstDash val="solid"/>
          </a:ln>
        </p:spPr>
      </p:sp>
      <p:sp>
        <p:nvSpPr>
          <p:cNvPr id="23" name="Text 21"/>
          <p:cNvSpPr txBox="1"/>
          <p:nvPr/>
        </p:nvSpPr>
        <p:spPr>
          <a:xfrm>
            <a:off x="804672" y="4187952"/>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Fullest</a:t>
            </a:r>
            <a:endParaRPr lang="en-US" sz="1050" dirty="0"/>
          </a:p>
        </p:txBody>
      </p:sp>
      <p:sp>
        <p:nvSpPr>
          <p:cNvPr id="24" name="Text 22"/>
          <p:cNvSpPr txBox="1"/>
          <p:nvPr/>
        </p:nvSpPr>
        <p:spPr>
          <a:xfrm>
            <a:off x="2542032" y="4187952"/>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25" name="Text 23"/>
          <p:cNvSpPr txBox="1"/>
          <p:nvPr/>
        </p:nvSpPr>
        <p:spPr>
          <a:xfrm>
            <a:off x="4645152" y="4187952"/>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keeping A's pictures above the panel</a:t>
            </a:r>
            <a:endParaRPr lang="en-US" sz="1050" dirty="0"/>
          </a:p>
        </p:txBody>
      </p:sp>
      <p:sp>
        <p:nvSpPr>
          <p:cNvPr id="26" name="Text 24"/>
          <p:cNvSpPr txBox="1"/>
          <p:nvPr/>
        </p:nvSpPr>
        <p:spPr>
          <a:xfrm>
            <a:off x="7114032" y="4187952"/>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7" name="Text 25"/>
          <p:cNvSpPr txBox="1"/>
          <p:nvPr/>
        </p:nvSpPr>
        <p:spPr>
          <a:xfrm>
            <a:off x="7982712" y="4187952"/>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As above, and the Schemes page keeps the warmth of the pictures without losing the facts of the table.</a:t>
            </a:r>
            <a:endParaRPr lang="en-US" sz="950" dirty="0"/>
          </a:p>
        </p:txBody>
      </p:sp>
      <p:sp>
        <p:nvSpPr>
          <p:cNvPr id="28" name="Text 26"/>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 three parts are independent: a choice on one does not settle the others.</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900" b="1" spc="80" kern="0" dirty="0">
                <a:solidFill>
                  <a:srgbClr val="54585E"/>
                </a:solidFill>
                <a:latin typeface="Noto Sans" pitchFamily="34" charset="0"/>
                <a:ea typeface="Noto Sans" pitchFamily="34" charset="-122"/>
                <a:cs typeface="Noto Sans" pitchFamily="34" charset="-120"/>
              </a:rPr>
              <a:t>SAFEGUARDS</a:t>
            </a:r>
            <a:endParaRPr lang="en-US" sz="900" dirty="0"/>
          </a:p>
        </p:txBody>
      </p:sp>
      <p:sp>
        <p:nvSpPr>
          <p:cNvPr id="3" name="Text 1"/>
          <p:cNvSpPr txBox="1"/>
          <p:nvPr/>
        </p:nvSpPr>
        <p:spPr>
          <a:xfrm>
            <a:off x="658368" y="621792"/>
            <a:ext cx="10874959" cy="438912"/>
          </a:xfrm>
          <a:prstGeom prst="rect">
            <a:avLst/>
          </a:prstGeom>
          <a:noFill/>
          <a:ln/>
        </p:spPr>
        <p:txBody>
          <a:bodyPr wrap="square" lIns="0" tIns="0" rIns="0" bIns="0" rtlCol="0" anchor="ctr"/>
          <a:lstStyle/>
          <a:p>
            <a:pPr indent="0" marL="0">
              <a:buNone/>
            </a:pPr>
            <a:r>
              <a:rPr lang="en-US" sz="2700" b="1" dirty="0">
                <a:solidFill>
                  <a:srgbClr val="003975"/>
                </a:solidFill>
                <a:latin typeface="Noto Sans" pitchFamily="34" charset="0"/>
                <a:ea typeface="Noto Sans" pitchFamily="34" charset="-122"/>
                <a:cs typeface="Noto Sans" pitchFamily="34" charset="-120"/>
              </a:rPr>
              <a:t>Five Commitments That Hold Whichever Options Are Approved</a:t>
            </a:r>
            <a:endParaRPr lang="en-US" sz="2700" dirty="0"/>
          </a:p>
        </p:txBody>
      </p:sp>
      <p:sp>
        <p:nvSpPr>
          <p:cNvPr id="4" name="Text 2"/>
          <p:cNvSpPr txBox="1"/>
          <p:nvPr/>
        </p:nvSpPr>
        <p:spPr>
          <a:xfrm>
            <a:off x="658368" y="131673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5" name="Text 3"/>
          <p:cNvSpPr txBox="1"/>
          <p:nvPr/>
        </p:nvSpPr>
        <p:spPr>
          <a:xfrm>
            <a:off x="1115568" y="129844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Nothing here decides a case</a:t>
            </a:r>
            <a:endParaRPr lang="en-US" sz="1350" dirty="0"/>
          </a:p>
        </p:txBody>
      </p:sp>
      <p:sp>
        <p:nvSpPr>
          <p:cNvPr id="6" name="Text 4"/>
          <p:cNvSpPr txBox="1"/>
          <p:nvPr/>
        </p:nvSpPr>
        <p:spPr>
          <a:xfrm>
            <a:off x="1115568" y="1554480"/>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screen and no message states that a person is eligible. The wording throughout is that a scheme lists the person as its target group, and that the sanctioning authority decides. A citizen who acts on a wrong assurance from a government website bears a real cost, and the Department bears the complaint.</a:t>
            </a:r>
            <a:endParaRPr lang="en-US" sz="1050" dirty="0"/>
          </a:p>
        </p:txBody>
      </p:sp>
      <p:sp>
        <p:nvSpPr>
          <p:cNvPr id="7" name="Shape 5"/>
          <p:cNvSpPr/>
          <p:nvPr/>
        </p:nvSpPr>
        <p:spPr>
          <a:xfrm>
            <a:off x="658368" y="2103120"/>
            <a:ext cx="10874959" cy="0"/>
          </a:xfrm>
          <a:prstGeom prst="line">
            <a:avLst/>
          </a:prstGeom>
          <a:noFill/>
          <a:ln w="9525">
            <a:solidFill>
              <a:srgbClr val="DCDEE1"/>
            </a:solidFill>
            <a:prstDash val="solid"/>
          </a:ln>
        </p:spPr>
      </p:sp>
      <p:sp>
        <p:nvSpPr>
          <p:cNvPr id="8" name="Text 6"/>
          <p:cNvSpPr txBox="1"/>
          <p:nvPr/>
        </p:nvSpPr>
        <p:spPr>
          <a:xfrm>
            <a:off x="658368" y="224942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9" name="Text 7"/>
          <p:cNvSpPr txBox="1"/>
          <p:nvPr/>
        </p:nvSpPr>
        <p:spPr>
          <a:xfrm>
            <a:off x="1115568" y="223113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The boundary of the Department is stated, not hidden</a:t>
            </a:r>
            <a:endParaRPr lang="en-US" sz="1350" dirty="0"/>
          </a:p>
        </p:txBody>
      </p:sp>
      <p:sp>
        <p:nvSpPr>
          <p:cNvPr id="10" name="Text 8"/>
          <p:cNvSpPr txBox="1"/>
          <p:nvPr/>
        </p:nvSpPr>
        <p:spPr>
          <a:xfrm>
            <a:off x="1115568" y="2487168"/>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Persons with disabilities are served by the Department of Empowerment of Persons with Disabilities, in this same Ministry. Anyone who indicates a disability is told so plainly and directed to depwd.gov.in, rather than being shown an empty result.</a:t>
            </a:r>
            <a:endParaRPr lang="en-US" sz="1050" dirty="0"/>
          </a:p>
        </p:txBody>
      </p:sp>
      <p:sp>
        <p:nvSpPr>
          <p:cNvPr id="11" name="Shape 9"/>
          <p:cNvSpPr/>
          <p:nvPr/>
        </p:nvSpPr>
        <p:spPr>
          <a:xfrm>
            <a:off x="658368" y="3035808"/>
            <a:ext cx="10874959" cy="0"/>
          </a:xfrm>
          <a:prstGeom prst="line">
            <a:avLst/>
          </a:prstGeom>
          <a:noFill/>
          <a:ln w="9525">
            <a:solidFill>
              <a:srgbClr val="DCDEE1"/>
            </a:solidFill>
            <a:prstDash val="solid"/>
          </a:ln>
        </p:spPr>
      </p:sp>
      <p:sp>
        <p:nvSpPr>
          <p:cNvPr id="12" name="Text 10"/>
          <p:cNvSpPr txBox="1"/>
          <p:nvPr/>
        </p:nvSpPr>
        <p:spPr>
          <a:xfrm>
            <a:off x="658368" y="318211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3" name="Text 11"/>
          <p:cNvSpPr txBox="1"/>
          <p:nvPr/>
        </p:nvSpPr>
        <p:spPr>
          <a:xfrm>
            <a:off x="1115568" y="316382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personal information is collected</a:t>
            </a:r>
            <a:endParaRPr lang="en-US" sz="1350" dirty="0"/>
          </a:p>
        </p:txBody>
      </p:sp>
      <p:sp>
        <p:nvSpPr>
          <p:cNvPr id="14" name="Text 12"/>
          <p:cNvSpPr txBox="1"/>
          <p:nvPr/>
        </p:nvSpPr>
        <p:spPr>
          <a:xfrm>
            <a:off x="1115568" y="3419856"/>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sign-in, no Aadhaar, no telephone number, no name and no income figure. Group and stage of life are chosen from fixed options, never typed, and nothing is stored.</a:t>
            </a:r>
            <a:endParaRPr lang="en-US" sz="1050" dirty="0"/>
          </a:p>
        </p:txBody>
      </p:sp>
      <p:sp>
        <p:nvSpPr>
          <p:cNvPr id="15" name="Shape 13"/>
          <p:cNvSpPr/>
          <p:nvPr/>
        </p:nvSpPr>
        <p:spPr>
          <a:xfrm>
            <a:off x="658368" y="3968496"/>
            <a:ext cx="10874959" cy="0"/>
          </a:xfrm>
          <a:prstGeom prst="line">
            <a:avLst/>
          </a:prstGeom>
          <a:noFill/>
          <a:ln w="9525">
            <a:solidFill>
              <a:srgbClr val="DCDEE1"/>
            </a:solidFill>
            <a:prstDash val="solid"/>
          </a:ln>
        </p:spPr>
      </p:sp>
      <p:sp>
        <p:nvSpPr>
          <p:cNvPr id="16" name="Text 14"/>
          <p:cNvSpPr txBox="1"/>
          <p:nvPr/>
        </p:nvSpPr>
        <p:spPr>
          <a:xfrm>
            <a:off x="658368" y="411480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7" name="Text 15"/>
          <p:cNvSpPr txBox="1"/>
          <p:nvPr/>
        </p:nvSpPr>
        <p:spPr>
          <a:xfrm>
            <a:off x="1115568" y="409651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Nobody is left at a dead end</a:t>
            </a:r>
            <a:endParaRPr lang="en-US" sz="1350" dirty="0"/>
          </a:p>
        </p:txBody>
      </p:sp>
      <p:sp>
        <p:nvSpPr>
          <p:cNvPr id="18" name="Text 16"/>
          <p:cNvSpPr txBox="1"/>
          <p:nvPr/>
        </p:nvSpPr>
        <p:spPr>
          <a:xfrm>
            <a:off x="1115568" y="4352544"/>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Every question can be skipped, and skipping widens the answer instead of ending it. Where nothing matches, the screen says so plainly and offers the way back.</a:t>
            </a:r>
            <a:endParaRPr lang="en-US" sz="1050" dirty="0"/>
          </a:p>
        </p:txBody>
      </p:sp>
      <p:sp>
        <p:nvSpPr>
          <p:cNvPr id="19" name="Shape 17"/>
          <p:cNvSpPr/>
          <p:nvPr/>
        </p:nvSpPr>
        <p:spPr>
          <a:xfrm>
            <a:off x="658368" y="4901184"/>
            <a:ext cx="10874959" cy="0"/>
          </a:xfrm>
          <a:prstGeom prst="line">
            <a:avLst/>
          </a:prstGeom>
          <a:noFill/>
          <a:ln w="9525">
            <a:solidFill>
              <a:srgbClr val="DCDEE1"/>
            </a:solidFill>
            <a:prstDash val="solid"/>
          </a:ln>
        </p:spPr>
      </p:sp>
      <p:sp>
        <p:nvSpPr>
          <p:cNvPr id="20" name="Text 18"/>
          <p:cNvSpPr txBox="1"/>
          <p:nvPr/>
        </p:nvSpPr>
        <p:spPr>
          <a:xfrm>
            <a:off x="658368" y="504748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1" name="Text 19"/>
          <p:cNvSpPr txBox="1"/>
          <p:nvPr/>
        </p:nvSpPr>
        <p:spPr>
          <a:xfrm>
            <a:off x="1115568" y="502920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number is published from a design file</a:t>
            </a:r>
            <a:endParaRPr lang="en-US" sz="1350" dirty="0"/>
          </a:p>
        </p:txBody>
      </p:sp>
      <p:sp>
        <p:nvSpPr>
          <p:cNvPr id="22" name="Text 20"/>
          <p:cNvSpPr txBox="1"/>
          <p:nvPr/>
        </p:nvSpPr>
        <p:spPr>
          <a:xfrm>
            <a:off x="1115568" y="5285232"/>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Only Elderline 14567 is treated as confirmed. Every other helpline and office contact must be verified by the division that owns it before it appears.</a:t>
            </a:r>
            <a:endParaRPr lang="en-US" sz="1050" dirty="0"/>
          </a:p>
        </p:txBody>
      </p:sp>
      <p:sp>
        <p:nvSpPr>
          <p:cNvPr id="23" name="Text 21"/>
          <p:cNvSpPr txBox="1"/>
          <p:nvPr/>
        </p:nvSpPr>
        <p:spPr>
          <a:xfrm>
            <a:off x="658368" y="6437376"/>
            <a:ext cx="10874959" cy="219456"/>
          </a:xfrm>
          <a:prstGeom prst="rect">
            <a:avLst/>
          </a:prstGeom>
          <a:noFill/>
          <a:ln/>
        </p:spPr>
        <p:txBody>
          <a:bodyPr wrap="square" lIns="0" tIns="0" rIns="0" bIns="0" rtlCol="0" anchor="ctr"/>
          <a:lstStyle/>
          <a:p>
            <a:pPr indent="0" marL="0">
              <a:buNone/>
            </a:pPr>
            <a:r>
              <a:rPr lang="en-US" sz="80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40080"/>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IN SUMMARY</a:t>
            </a:r>
            <a:endParaRPr lang="en-US" sz="1000" dirty="0"/>
          </a:p>
        </p:txBody>
      </p:sp>
      <p:sp>
        <p:nvSpPr>
          <p:cNvPr id="3" name="Text 1"/>
          <p:cNvSpPr txBox="1"/>
          <p:nvPr/>
        </p:nvSpPr>
        <p:spPr>
          <a:xfrm>
            <a:off x="658368" y="914400"/>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What the Design Team Recommends</a:t>
            </a:r>
            <a:endParaRPr lang="en-US" sz="3200" dirty="0"/>
          </a:p>
        </p:txBody>
      </p:sp>
      <p:sp>
        <p:nvSpPr>
          <p:cNvPr id="4" name="Text 2"/>
          <p:cNvSpPr txBox="1"/>
          <p:nvPr/>
        </p:nvSpPr>
        <p:spPr>
          <a:xfrm>
            <a:off x="1298448" y="1554480"/>
            <a:ext cx="40233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THE PART OF THE SITE</a:t>
            </a:r>
            <a:endParaRPr lang="en-US" sz="900" dirty="0"/>
          </a:p>
        </p:txBody>
      </p:sp>
      <p:sp>
        <p:nvSpPr>
          <p:cNvPr id="5" name="Text 3"/>
          <p:cNvSpPr txBox="1"/>
          <p:nvPr/>
        </p:nvSpPr>
        <p:spPr>
          <a:xfrm>
            <a:off x="5413248" y="1554480"/>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OUR RECOMMENDATION</a:t>
            </a:r>
            <a:endParaRPr lang="en-US" sz="900" dirty="0"/>
          </a:p>
        </p:txBody>
      </p:sp>
      <p:sp>
        <p:nvSpPr>
          <p:cNvPr id="6" name="Text 4"/>
          <p:cNvSpPr txBox="1"/>
          <p:nvPr/>
        </p:nvSpPr>
        <p:spPr>
          <a:xfrm>
            <a:off x="9345168" y="1554480"/>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WHY</a:t>
            </a:r>
            <a:endParaRPr lang="en-US" sz="900" dirty="0"/>
          </a:p>
        </p:txBody>
      </p:sp>
      <p:sp>
        <p:nvSpPr>
          <p:cNvPr id="7" name="Shape 5"/>
          <p:cNvSpPr/>
          <p:nvPr/>
        </p:nvSpPr>
        <p:spPr>
          <a:xfrm>
            <a:off x="658368" y="1755648"/>
            <a:ext cx="10874959" cy="0"/>
          </a:xfrm>
          <a:prstGeom prst="line">
            <a:avLst/>
          </a:prstGeom>
          <a:noFill/>
          <a:ln w="12700">
            <a:solidFill>
              <a:srgbClr val="004B96"/>
            </a:solidFill>
            <a:prstDash val="solid"/>
          </a:ln>
        </p:spPr>
      </p:sp>
      <p:sp>
        <p:nvSpPr>
          <p:cNvPr id="8" name="Text 6"/>
          <p:cNvSpPr txBox="1"/>
          <p:nvPr/>
        </p:nvSpPr>
        <p:spPr>
          <a:xfrm>
            <a:off x="658368" y="1920240"/>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1</a:t>
            </a:r>
            <a:endParaRPr lang="en-US" sz="2000" dirty="0"/>
          </a:p>
        </p:txBody>
      </p:sp>
      <p:sp>
        <p:nvSpPr>
          <p:cNvPr id="9" name="Text 7"/>
          <p:cNvSpPr txBox="1"/>
          <p:nvPr/>
        </p:nvSpPr>
        <p:spPr>
          <a:xfrm>
            <a:off x="1298448" y="1938528"/>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10" name="Text 8"/>
          <p:cNvSpPr txBox="1"/>
          <p:nvPr/>
        </p:nvSpPr>
        <p:spPr>
          <a:xfrm>
            <a:off x="5413248" y="1938528"/>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with Option A repaired</a:t>
            </a:r>
            <a:endParaRPr lang="en-US" sz="1300" dirty="0"/>
          </a:p>
        </p:txBody>
      </p:sp>
      <p:sp>
        <p:nvSpPr>
          <p:cNvPr id="11" name="Text 9"/>
          <p:cNvSpPr txBox="1"/>
          <p:nvPr/>
        </p:nvSpPr>
        <p:spPr>
          <a:xfrm>
            <a:off x="9345168" y="1938528"/>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It answers the question a citizen arrives with; A still serves the visitor who recognises a picture</a:t>
            </a:r>
            <a:endParaRPr lang="en-US" sz="1050" dirty="0"/>
          </a:p>
        </p:txBody>
      </p:sp>
      <p:sp>
        <p:nvSpPr>
          <p:cNvPr id="12" name="Shape 10"/>
          <p:cNvSpPr/>
          <p:nvPr/>
        </p:nvSpPr>
        <p:spPr>
          <a:xfrm>
            <a:off x="658368" y="2505456"/>
            <a:ext cx="10874959" cy="0"/>
          </a:xfrm>
          <a:prstGeom prst="line">
            <a:avLst/>
          </a:prstGeom>
          <a:noFill/>
          <a:ln w="12700">
            <a:solidFill>
              <a:srgbClr val="004B96"/>
            </a:solidFill>
            <a:prstDash val="solid"/>
          </a:ln>
        </p:spPr>
      </p:sp>
      <p:sp>
        <p:nvSpPr>
          <p:cNvPr id="13" name="Text 11"/>
          <p:cNvSpPr txBox="1"/>
          <p:nvPr/>
        </p:nvSpPr>
        <p:spPr>
          <a:xfrm>
            <a:off x="658368" y="2670048"/>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2</a:t>
            </a:r>
            <a:endParaRPr lang="en-US" sz="2000" dirty="0"/>
          </a:p>
        </p:txBody>
      </p:sp>
      <p:sp>
        <p:nvSpPr>
          <p:cNvPr id="14" name="Text 12"/>
          <p:cNvSpPr txBox="1"/>
          <p:nvPr/>
        </p:nvSpPr>
        <p:spPr>
          <a:xfrm>
            <a:off x="1298448" y="2688336"/>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15" name="Text 13"/>
          <p:cNvSpPr txBox="1"/>
          <p:nvPr/>
        </p:nvSpPr>
        <p:spPr>
          <a:xfrm>
            <a:off x="5413248" y="2688336"/>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 filter panel with a table</a:t>
            </a:r>
            <a:endParaRPr lang="en-US" sz="1300" dirty="0"/>
          </a:p>
        </p:txBody>
      </p:sp>
      <p:sp>
        <p:nvSpPr>
          <p:cNvPr id="16" name="Text 14"/>
          <p:cNvSpPr txBox="1"/>
          <p:nvPr/>
        </p:nvSpPr>
        <p:spPr>
          <a:xfrm>
            <a:off x="9345168" y="2688336"/>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This is the page where people compare, and a table can carry who runs it and where it applies</a:t>
            </a:r>
            <a:endParaRPr lang="en-US" sz="1050" dirty="0"/>
          </a:p>
        </p:txBody>
      </p:sp>
      <p:sp>
        <p:nvSpPr>
          <p:cNvPr id="17" name="Shape 15"/>
          <p:cNvSpPr/>
          <p:nvPr/>
        </p:nvSpPr>
        <p:spPr>
          <a:xfrm>
            <a:off x="658368" y="3255264"/>
            <a:ext cx="10874959" cy="0"/>
          </a:xfrm>
          <a:prstGeom prst="line">
            <a:avLst/>
          </a:prstGeom>
          <a:noFill/>
          <a:ln w="12700">
            <a:solidFill>
              <a:srgbClr val="004B96"/>
            </a:solidFill>
            <a:prstDash val="solid"/>
          </a:ln>
        </p:spPr>
      </p:sp>
      <p:sp>
        <p:nvSpPr>
          <p:cNvPr id="18" name="Text 16"/>
          <p:cNvSpPr txBox="1"/>
          <p:nvPr/>
        </p:nvSpPr>
        <p:spPr>
          <a:xfrm>
            <a:off x="658368" y="3419856"/>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3</a:t>
            </a:r>
            <a:endParaRPr lang="en-US" sz="2000" dirty="0"/>
          </a:p>
        </p:txBody>
      </p:sp>
      <p:sp>
        <p:nvSpPr>
          <p:cNvPr id="19" name="Text 17"/>
          <p:cNvSpPr txBox="1"/>
          <p:nvPr/>
        </p:nvSpPr>
        <p:spPr>
          <a:xfrm>
            <a:off x="1298448" y="3438144"/>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20" name="Text 18"/>
          <p:cNvSpPr txBox="1"/>
          <p:nvPr/>
        </p:nvSpPr>
        <p:spPr>
          <a:xfrm>
            <a:off x="5413248" y="3438144"/>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Yes — the same five questions, in chat</a:t>
            </a:r>
            <a:endParaRPr lang="en-US" sz="1300" dirty="0"/>
          </a:p>
        </p:txBody>
      </p:sp>
      <p:sp>
        <p:nvSpPr>
          <p:cNvPr id="21" name="Text 19"/>
          <p:cNvSpPr txBox="1"/>
          <p:nvPr/>
        </p:nvSpPr>
        <p:spPr>
          <a:xfrm>
            <a:off x="9345168" y="3438144"/>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It reaches the person already lost on a page, and is largely built</a:t>
            </a:r>
            <a:endParaRPr lang="en-US" sz="1050" dirty="0"/>
          </a:p>
        </p:txBody>
      </p:sp>
      <p:sp>
        <p:nvSpPr>
          <p:cNvPr id="22" name="Shape 20"/>
          <p:cNvSpPr/>
          <p:nvPr/>
        </p:nvSpPr>
        <p:spPr>
          <a:xfrm>
            <a:off x="658368" y="4005072"/>
            <a:ext cx="10874959" cy="0"/>
          </a:xfrm>
          <a:prstGeom prst="line">
            <a:avLst/>
          </a:prstGeom>
          <a:noFill/>
          <a:ln w="12700">
            <a:solidFill>
              <a:srgbClr val="004B96"/>
            </a:solidFill>
            <a:prstDash val="solid"/>
          </a:ln>
        </p:spPr>
      </p:sp>
      <p:sp>
        <p:nvSpPr>
          <p:cNvPr id="23" name="Shape 21"/>
          <p:cNvSpPr/>
          <p:nvPr/>
        </p:nvSpPr>
        <p:spPr>
          <a:xfrm>
            <a:off x="658368" y="4480560"/>
            <a:ext cx="10874959" cy="914400"/>
          </a:xfrm>
          <a:prstGeom prst="rect">
            <a:avLst/>
          </a:prstGeom>
          <a:solidFill>
            <a:srgbClr val="004B96"/>
          </a:solidFill>
          <a:ln w="12700">
            <a:solidFill>
              <a:srgbClr val="004B96"/>
            </a:solidFill>
            <a:prstDash val="solid"/>
          </a:ln>
        </p:spPr>
      </p:sp>
      <p:sp>
        <p:nvSpPr>
          <p:cNvPr id="24" name="Text 22"/>
          <p:cNvSpPr txBox="1"/>
          <p:nvPr/>
        </p:nvSpPr>
        <p:spPr>
          <a:xfrm>
            <a:off x="969264" y="4626864"/>
            <a:ext cx="10253167" cy="292608"/>
          </a:xfrm>
          <a:prstGeom prst="rect">
            <a:avLst/>
          </a:prstGeom>
          <a:noFill/>
          <a:ln/>
        </p:spPr>
        <p:txBody>
          <a:bodyPr wrap="square" lIns="0" tIns="0" rIns="0" bIns="0" rtlCol="0" anchor="ctr"/>
          <a:lstStyle/>
          <a:p>
            <a:pPr indent="0" marL="0">
              <a:buNone/>
            </a:pPr>
            <a:r>
              <a:rPr lang="en-US" sz="1600" b="1" dirty="0">
                <a:solidFill>
                  <a:srgbClr val="FFFFFF"/>
                </a:solidFill>
                <a:latin typeface="Noto Sans" pitchFamily="34" charset="0"/>
                <a:ea typeface="Noto Sans" pitchFamily="34" charset="-122"/>
                <a:cs typeface="Noto Sans" pitchFamily="34" charset="-120"/>
              </a:rPr>
              <a:t>The three parts are independent. Any combination of these options can be taken.</a:t>
            </a:r>
            <a:endParaRPr lang="en-US" sz="1600" dirty="0"/>
          </a:p>
        </p:txBody>
      </p:sp>
      <p:sp>
        <p:nvSpPr>
          <p:cNvPr id="25" name="Text 23"/>
          <p:cNvSpPr txBox="1"/>
          <p:nvPr/>
        </p:nvSpPr>
        <p:spPr>
          <a:xfrm>
            <a:off x="969264" y="4956048"/>
            <a:ext cx="10253167" cy="292608"/>
          </a:xfrm>
          <a:prstGeom prst="rect">
            <a:avLst/>
          </a:prstGeom>
          <a:noFill/>
          <a:ln/>
        </p:spPr>
        <p:txBody>
          <a:bodyPr wrap="square" lIns="0" tIns="0" rIns="0" bIns="0" rtlCol="0" anchor="ctr"/>
          <a:lstStyle/>
          <a:p>
            <a:pPr indent="0" marL="0">
              <a:buNone/>
            </a:pPr>
            <a:r>
              <a:rPr lang="en-US" sz="1150" dirty="0">
                <a:solidFill>
                  <a:srgbClr val="C0DBFF"/>
                </a:solidFill>
                <a:latin typeface="Noto Sans" pitchFamily="34" charset="0"/>
                <a:ea typeface="Noto Sans" pitchFamily="34" charset="-122"/>
                <a:cs typeface="Noto Sans" pitchFamily="34" charset="-120"/>
              </a:rPr>
              <a:t>Page 9 sets out how they combine, and what each combination means for a citizen.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2026-09-08T15:36:24Z</dcterms:created>
  <dcterms:modified xsi:type="dcterms:W3CDTF">2026-09-08T15:36:24Z</dcterms:modified>
</cp:coreProperties>
</file>