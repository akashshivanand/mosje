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menu, then the Schemes page, then the assistant, then what has to come first. The menu was added on 14 September.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after the internal review of 14 September. The feedback was that a scheme portal is not an organisation, so it should not sit under Associated Organisations. A answers that with the name alone. B moves the portals into Offerings. C gives schemes a place of their own in the top row. The next three pages show each one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lightest of the three, added on 14 September. Nothing moves; the name of the menu now covers what is in it. Wherever the site says All Organisations today, including the Schemes page filter, it would say Organisations &amp; Scheme Portals. The longer name fits on a desktop screen and still has to be checked on a smaller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portals leave Associated Organisations and join Offerings. View All Schemes is a full-width button under the portals, as asked on 14 September, so the list of all schemes is not reduced to a small link. The top row stays as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gains an eighth entry. It only fits because Associated Organisations becomes Organisations, and that name changes on every page. A new entry was felt to crowd the row on smaller screens, so this is the option to take only if schemes should not sit near the organisations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Three arrangements of the same filters. A and B were shown on 9 September; C was drawn after the review of 14 September. The next three pages show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the filter panel: tick one or more groups, and the table on the right says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Drawn after the review of 14 September. Services are a choice of their own because some portals, Senior Citizens Welfare among them, offer services as well as schemes. The first visit still opens on the Department's own schemes; choosing any filter widens it to all organisations and portals. The headings show how many schemes sit under each, as socialjustice.gov.in does. That reverses the 8 September decision to show no counts, and is for the Department to decide. The headings are the categories dosje.gov.in uses today; they would become the list on the second slide once every scheme is tagged. A second version, grouped by organisation, is drawn beside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2-1.mp4"/><Relationship Id="rId2" Type="http://schemas.microsoft.com/office/2007/relationships/media" Target="../media/media-12-1.mp4"/><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video" Target="../media/media-13-1.mp4"/><Relationship Id="rId2" Type="http://schemas.microsoft.com/office/2007/relationships/media" Target="../media/media-13-1.mp4"/><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5-1.mp4"/><Relationship Id="rId2" Type="http://schemas.microsoft.com/office/2007/relationships/media" Target="../media/media-15-1.mp4"/><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Ten options for four parts of the website.</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for finding a scheme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
        <p:nvSpPr>
          <p:cNvPr id="29" name="Text 27"/>
          <p:cNvSpPr txBox="1"/>
          <p:nvPr/>
        </p:nvSpPr>
        <p:spPr>
          <a:xfrm>
            <a:off x="6430975"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Housing and Settlement</a:t>
            </a:r>
            <a:endParaRPr lang="en-US" sz="1300" dirty="0"/>
          </a:p>
        </p:txBody>
      </p:sp>
      <p:sp>
        <p:nvSpPr>
          <p:cNvPr id="30" name="Text 28"/>
          <p:cNvSpPr txBox="1"/>
          <p:nvPr/>
        </p:nvSpPr>
        <p:spPr>
          <a:xfrm>
            <a:off x="6430975"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Awards and Recognition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89704"/>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smallest change: only the link behind each picture is new</a:t>
            </a:r>
            <a:endParaRPr lang="en-US" sz="120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three schemes, each with a link to its own page</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85232"/>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MENU</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the Department's scheme portals sit. Today they are listed under Associated Organisations.</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Rename Only</a:t>
            </a:r>
            <a:endParaRPr lang="en-US" sz="1400" dirty="0"/>
          </a:p>
        </p:txBody>
      </p:sp>
      <p:sp>
        <p:nvSpPr>
          <p:cNvPr id="7" name="Shape 5"/>
          <p:cNvSpPr/>
          <p:nvPr/>
        </p:nvSpPr>
        <p:spPr>
          <a:xfrm>
            <a:off x="1054194" y="2276856"/>
            <a:ext cx="2747990" cy="2175701"/>
          </a:xfrm>
          <a:prstGeom prst="rect">
            <a:avLst/>
          </a:prstGeom>
          <a:solidFill>
            <a:srgbClr val="FFFFFF"/>
          </a:solidFill>
          <a:ln w="9525">
            <a:solidFill>
              <a:srgbClr val="DCDEE1"/>
            </a:solidFill>
            <a:prstDash val="solid"/>
          </a:ln>
        </p:spPr>
      </p:sp>
      <p:pic>
        <p:nvPicPr>
          <p:cNvPr id="8" name="Image 0" descr="assets/still/nav-a.png">    </p:cNvPr>
          <p:cNvPicPr>
            <a:picLocks noChangeAspect="1"/>
          </p:cNvPicPr>
          <p:nvPr/>
        </p:nvPicPr>
        <p:blipFill>
          <a:blip r:embed="rId1"/>
          <a:stretch>
            <a:fillRect/>
          </a:stretch>
        </p:blipFill>
        <p:spPr>
          <a:xfrm>
            <a:off x="1081626" y="2304288"/>
            <a:ext cx="2693126" cy="2120837"/>
          </a:xfrm>
          <a:prstGeom prst="rect">
            <a:avLst/>
          </a:prstGeom>
        </p:spPr>
      </p:pic>
      <p:sp>
        <p:nvSpPr>
          <p:cNvPr id="9" name="Shape 6"/>
          <p:cNvSpPr/>
          <p:nvPr/>
        </p:nvSpPr>
        <p:spPr>
          <a:xfrm>
            <a:off x="731520" y="4571429"/>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Associated Organisations becomes Organisations &amp; Scheme Portals. Everything listed today stays.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Portals under Offerings</a:t>
            </a:r>
            <a:endParaRPr lang="en-US" sz="1400" dirty="0"/>
          </a:p>
        </p:txBody>
      </p:sp>
      <p:sp>
        <p:nvSpPr>
          <p:cNvPr id="14" name="Shape 11"/>
          <p:cNvSpPr/>
          <p:nvPr/>
        </p:nvSpPr>
        <p:spPr>
          <a:xfrm>
            <a:off x="4371746" y="2276856"/>
            <a:ext cx="3448202" cy="1765672"/>
          </a:xfrm>
          <a:prstGeom prst="rect">
            <a:avLst/>
          </a:prstGeom>
          <a:solidFill>
            <a:srgbClr val="FFFFFF"/>
          </a:solidFill>
          <a:ln w="9525">
            <a:solidFill>
              <a:srgbClr val="DCDEE1"/>
            </a:solidFill>
            <a:prstDash val="solid"/>
          </a:ln>
        </p:spPr>
      </p:sp>
      <p:pic>
        <p:nvPicPr>
          <p:cNvPr id="15" name="Image 1" descr="assets/still/nav-b.png">    </p:cNvPr>
          <p:cNvPicPr>
            <a:picLocks noChangeAspect="1"/>
          </p:cNvPicPr>
          <p:nvPr/>
        </p:nvPicPr>
        <p:blipFill>
          <a:blip r:embed="rId2"/>
          <a:stretch>
            <a:fillRect/>
          </a:stretch>
        </p:blipFill>
        <p:spPr>
          <a:xfrm>
            <a:off x="4399178" y="2304288"/>
            <a:ext cx="3393338" cy="1710808"/>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The portals move to Offerings, with a button to all schemes.</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Schemes as Its Own Menu</a:t>
            </a:r>
            <a:endParaRPr lang="en-US" sz="1400" dirty="0"/>
          </a:p>
        </p:txBody>
      </p:sp>
      <p:sp>
        <p:nvSpPr>
          <p:cNvPr id="21" name="Shape 17"/>
          <p:cNvSpPr/>
          <p:nvPr/>
        </p:nvSpPr>
        <p:spPr>
          <a:xfrm>
            <a:off x="8039405" y="2276856"/>
            <a:ext cx="3448202" cy="1850506"/>
          </a:xfrm>
          <a:prstGeom prst="rect">
            <a:avLst/>
          </a:prstGeom>
          <a:solidFill>
            <a:srgbClr val="FFFFFF"/>
          </a:solidFill>
          <a:ln w="9525">
            <a:solidFill>
              <a:srgbClr val="DCDEE1"/>
            </a:solidFill>
            <a:prstDash val="solid"/>
          </a:ln>
        </p:spPr>
      </p:sp>
      <p:pic>
        <p:nvPicPr>
          <p:cNvPr id="22" name="Image 2" descr="assets/still/nav-c.png">    </p:cNvPr>
          <p:cNvPicPr>
            <a:picLocks noChangeAspect="1"/>
          </p:cNvPicPr>
          <p:nvPr/>
        </p:nvPicPr>
        <p:blipFill>
          <a:blip r:embed="rId3"/>
          <a:stretch>
            <a:fillRect/>
          </a:stretch>
        </p:blipFill>
        <p:spPr>
          <a:xfrm>
            <a:off x="8066837" y="2304288"/>
            <a:ext cx="3393338" cy="1795642"/>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new Schemes entry holds the portals and the helplines.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All three list the same seven portals and open the same pages.</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RENAME ONLY</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Menu · Option A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1366665" y="1755648"/>
            <a:ext cx="5221950" cy="4123944"/>
          </a:xfrm>
          <a:prstGeom prst="rect">
            <a:avLst/>
          </a:prstGeom>
          <a:solidFill>
            <a:srgbClr val="FFFFFF"/>
          </a:solidFill>
          <a:ln w="9525">
            <a:solidFill>
              <a:srgbClr val="DCDEE1"/>
            </a:solidFill>
            <a:prstDash val="solid"/>
          </a:ln>
        </p:spPr>
      </p:sp>
      <p:pic>
        <p:nvPicPr>
          <p:cNvPr id="7" name="Image 0" descr="assets/still/nav-a.png">    </p:cNvPr>
          <p:cNvPicPr>
            <a:picLocks noChangeAspect="1"/>
          </p:cNvPicPr>
          <p:nvPr/>
        </p:nvPicPr>
        <p:blipFill>
          <a:blip r:embed="rId1"/>
          <a:stretch>
            <a:fillRect/>
          </a:stretch>
        </p:blipFill>
        <p:spPr>
          <a:xfrm>
            <a:off x="1394097" y="1783080"/>
            <a:ext cx="5167086" cy="4069080"/>
          </a:xfrm>
          <a:prstGeom prst="rect">
            <a:avLst/>
          </a:prstGeom>
        </p:spPr>
      </p:pic>
      <p:sp>
        <p:nvSpPr>
          <p:cNvPr id="8" name="Text 5"/>
          <p:cNvSpPr txBox="1"/>
          <p:nvPr/>
        </p:nvSpPr>
        <p:spPr>
          <a:xfrm>
            <a:off x="731520" y="598017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Drawn in Figma, 14 September. The menu open.</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menu keeps everything it lists today. Only its name changes, so it says that scheme portals are inside.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Associated Organisations becomes Organisations &amp; Scheme Portals</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612648"/>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Commissions, Corporations and Foundations stay; the portals get a column of their own</a:t>
            </a:r>
            <a:endParaRPr lang="en-US" sz="1200" dirty="0"/>
          </a:p>
        </p:txBody>
      </p:sp>
      <p:sp>
        <p:nvSpPr>
          <p:cNvPr id="16" name="Shape 13"/>
          <p:cNvSpPr/>
          <p:nvPr/>
        </p:nvSpPr>
        <p:spPr>
          <a:xfrm>
            <a:off x="7680960" y="4398264"/>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3434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Schemes page filter uses the same name</a:t>
            </a:r>
            <a:endParaRPr lang="en-US" sz="1200" dirty="0"/>
          </a:p>
        </p:txBody>
      </p:sp>
      <p:sp>
        <p:nvSpPr>
          <p:cNvPr id="18" name="Text 15"/>
          <p:cNvSpPr txBox="1"/>
          <p:nvPr/>
        </p:nvSpPr>
        <p:spPr>
          <a:xfrm>
            <a:off x="7680960" y="503834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367528"/>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31266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smallest change to the menu</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returning visitor finds everything where it was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PORTALS UNDER OFFERINGS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Menu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3328035"/>
          </a:xfrm>
          <a:prstGeom prst="rect">
            <a:avLst/>
          </a:prstGeom>
          <a:solidFill>
            <a:srgbClr val="FFFFFF"/>
          </a:solidFill>
          <a:ln w="9525">
            <a:solidFill>
              <a:srgbClr val="DCDEE1"/>
            </a:solidFill>
            <a:prstDash val="solid"/>
          </a:ln>
        </p:spPr>
      </p:sp>
      <p:pic>
        <p:nvPicPr>
          <p:cNvPr id="7" name="Image 0" descr="assets/still/nav-b.png">    </p:cNvPr>
          <p:cNvPicPr>
            <a:picLocks noChangeAspect="1"/>
          </p:cNvPicPr>
          <p:nvPr/>
        </p:nvPicPr>
        <p:blipFill>
          <a:blip r:embed="rId1"/>
          <a:stretch>
            <a:fillRect/>
          </a:stretch>
        </p:blipFill>
        <p:spPr>
          <a:xfrm>
            <a:off x="731520" y="1783080"/>
            <a:ext cx="6492240" cy="3273171"/>
          </a:xfrm>
          <a:prstGeom prst="rect">
            <a:avLst/>
          </a:prstGeom>
        </p:spPr>
      </p:pic>
      <p:sp>
        <p:nvSpPr>
          <p:cNvPr id="8" name="Text 5"/>
          <p:cNvSpPr txBox="1"/>
          <p:nvPr/>
        </p:nvSpPr>
        <p:spPr>
          <a:xfrm>
            <a:off x="731520" y="5184267"/>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Drawn in Figma, 14 September. Offerings open.</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seven portals move out of Associated Organisations and into Offerings, beside Vacancies and Tenders.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portal is listed with the scheme it serves</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full-width button under the portals opens the list of all schemes</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Associated Organisations keeps only the organisations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top row of the menu does not change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Organisations and portals are no longer mixed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SCHEMES AS ITS OWN MENU</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Menu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3490341"/>
          </a:xfrm>
          <a:prstGeom prst="rect">
            <a:avLst/>
          </a:prstGeom>
          <a:solidFill>
            <a:srgbClr val="FFFFFF"/>
          </a:solidFill>
          <a:ln w="9525">
            <a:solidFill>
              <a:srgbClr val="DCDEE1"/>
            </a:solidFill>
            <a:prstDash val="solid"/>
          </a:ln>
        </p:spPr>
      </p:sp>
      <p:pic>
        <p:nvPicPr>
          <p:cNvPr id="7" name="Image 0" descr="assets/still/nav-c.png">    </p:cNvPr>
          <p:cNvPicPr>
            <a:picLocks noChangeAspect="1"/>
          </p:cNvPicPr>
          <p:nvPr/>
        </p:nvPicPr>
        <p:blipFill>
          <a:blip r:embed="rId1"/>
          <a:stretch>
            <a:fillRect/>
          </a:stretch>
        </p:blipFill>
        <p:spPr>
          <a:xfrm>
            <a:off x="731520" y="1783080"/>
            <a:ext cx="6492240" cy="3435477"/>
          </a:xfrm>
          <a:prstGeom prst="rect">
            <a:avLst/>
          </a:prstGeom>
        </p:spPr>
      </p:pic>
      <p:sp>
        <p:nvSpPr>
          <p:cNvPr id="8" name="Text 5"/>
          <p:cNvSpPr txBox="1"/>
          <p:nvPr/>
        </p:nvSpPr>
        <p:spPr>
          <a:xfrm>
            <a:off x="731520" y="5346573"/>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Drawn in Figma, 14 September. Schemes open.</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new Schemes entry in the top row holds the seven portals and the Department's helplines.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Schemes sits between Organisations and Offerings</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Associated Organisations is shortened to Organisations to make room</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button under the portals opens the list of all schemes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word Schemes can be seen without opening anything</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Helplines are listed beside the portals they support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picture for every group in one row, then cards. For browsing.</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one or more groups on the left; the table says who each scheme is for. For comparing.</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Headings</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sche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Filters on the left; schemes grouped under the kind of support they give.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picture for every group, so you spot yours at a glance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ticked, then Students added, then one removed, then Reset.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panel of the groups on the left, where more than one can be ticked, and a table on the right.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 one or more groups; the chosen ones show above the table</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groups can be compared in one list</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group that would leave nothing is greyed, never counted</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HEADINGS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scheme-c.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Drawn in Figma, 14 September. No filter chosen; results grouped by category.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filters sit in a panel on the left. Schemes are grouped under headings for the kind of support they give.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Choose Schemes or Services first, then a group, then a category</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heading opens to show its schemes, with a link to the rest</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card names the organisation or portal that runs the scheme</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sees every kind of support before reading a single scheme</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organisation filter uses the same name as the menu</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380847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380847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THE CHAT IS ON THE SITE · THE TWO QUESTIONS ARE NEW</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Ten Options, Four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Each part is decided on its own. Every way of finding a scheme starts from who you are.</a:t>
            </a:r>
            <a:endParaRPr lang="en-US" sz="1400" dirty="0"/>
          </a:p>
        </p:txBody>
      </p:sp>
      <p:sp>
        <p:nvSpPr>
          <p:cNvPr id="5" name="Shape 3"/>
          <p:cNvSpPr/>
          <p:nvPr/>
        </p:nvSpPr>
        <p:spPr>
          <a:xfrm>
            <a:off x="731520" y="2121408"/>
            <a:ext cx="10728655" cy="0"/>
          </a:xfrm>
          <a:prstGeom prst="line">
            <a:avLst/>
          </a:prstGeom>
          <a:noFill/>
          <a:ln w="12700">
            <a:solidFill>
              <a:srgbClr val="004B96"/>
            </a:solidFill>
            <a:prstDash val="solid"/>
          </a:ln>
        </p:spPr>
      </p:sp>
      <p:sp>
        <p:nvSpPr>
          <p:cNvPr id="6" name="Text 4"/>
          <p:cNvSpPr txBox="1"/>
          <p:nvPr/>
        </p:nvSpPr>
        <p:spPr>
          <a:xfrm>
            <a:off x="731520" y="2194560"/>
            <a:ext cx="2377440" cy="310896"/>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home page</a:t>
            </a:r>
            <a:endParaRPr lang="en-US" sz="1300" dirty="0"/>
          </a:p>
        </p:txBody>
      </p:sp>
      <p:sp>
        <p:nvSpPr>
          <p:cNvPr id="7" name="Text 5"/>
          <p:cNvSpPr txBox="1"/>
          <p:nvPr/>
        </p:nvSpPr>
        <p:spPr>
          <a:xfrm>
            <a:off x="3200400" y="2194560"/>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A · Explore User Personas</a:t>
            </a:r>
            <a:endParaRPr lang="en-US" sz="1300" dirty="0"/>
          </a:p>
        </p:txBody>
      </p:sp>
      <p:sp>
        <p:nvSpPr>
          <p:cNvPr id="8" name="Text 6"/>
          <p:cNvSpPr txBox="1"/>
          <p:nvPr/>
        </p:nvSpPr>
        <p:spPr>
          <a:xfrm>
            <a:off x="6858000" y="2194560"/>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On the site today. One group at a time.</a:t>
            </a:r>
            <a:endParaRPr lang="en-US" sz="1200" dirty="0"/>
          </a:p>
        </p:txBody>
      </p:sp>
      <p:sp>
        <p:nvSpPr>
          <p:cNvPr id="9" name="Text 7"/>
          <p:cNvSpPr txBox="1"/>
          <p:nvPr/>
        </p:nvSpPr>
        <p:spPr>
          <a:xfrm>
            <a:off x="731520" y="2578608"/>
            <a:ext cx="2377440" cy="310896"/>
          </a:xfrm>
          <a:prstGeom prst="rect">
            <a:avLst/>
          </a:prstGeom>
          <a:noFill/>
          <a:ln/>
        </p:spPr>
        <p:txBody>
          <a:bodyPr wrap="square" lIns="0" tIns="0" rIns="0" bIns="0" rtlCol="0" anchor="ctr"/>
          <a:lstStyle/>
          <a:p>
            <a:pPr indent="0" marL="0">
              <a:buNone/>
            </a:pPr>
            <a:endParaRPr lang="en-US" sz="1300" dirty="0"/>
          </a:p>
        </p:txBody>
      </p:sp>
      <p:sp>
        <p:nvSpPr>
          <p:cNvPr id="10" name="Text 8"/>
          <p:cNvSpPr txBox="1"/>
          <p:nvPr/>
        </p:nvSpPr>
        <p:spPr>
          <a:xfrm>
            <a:off x="3200400" y="2578608"/>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B · Two Questions</a:t>
            </a:r>
            <a:endParaRPr lang="en-US" sz="1300" dirty="0"/>
          </a:p>
        </p:txBody>
      </p:sp>
      <p:sp>
        <p:nvSpPr>
          <p:cNvPr id="11" name="Text 9"/>
          <p:cNvSpPr txBox="1"/>
          <p:nvPr/>
        </p:nvSpPr>
        <p:spPr>
          <a:xfrm>
            <a:off x="6858000" y="2578608"/>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Two questions, then three schemes and a link to all.</a:t>
            </a:r>
            <a:endParaRPr lang="en-US" sz="1200" dirty="0"/>
          </a:p>
        </p:txBody>
      </p:sp>
      <p:sp>
        <p:nvSpPr>
          <p:cNvPr id="12" name="Text 10"/>
          <p:cNvSpPr txBox="1"/>
          <p:nvPr/>
        </p:nvSpPr>
        <p:spPr>
          <a:xfrm>
            <a:off x="731520" y="2962656"/>
            <a:ext cx="2377440" cy="310896"/>
          </a:xfrm>
          <a:prstGeom prst="rect">
            <a:avLst/>
          </a:prstGeom>
          <a:noFill/>
          <a:ln/>
        </p:spPr>
        <p:txBody>
          <a:bodyPr wrap="square" lIns="0" tIns="0" rIns="0" bIns="0" rtlCol="0" anchor="ctr"/>
          <a:lstStyle/>
          <a:p>
            <a:pPr indent="0" marL="0">
              <a:buNone/>
            </a:pPr>
            <a:endParaRPr lang="en-US" sz="1300" dirty="0"/>
          </a:p>
        </p:txBody>
      </p:sp>
      <p:sp>
        <p:nvSpPr>
          <p:cNvPr id="13" name="Text 11"/>
          <p:cNvSpPr txBox="1"/>
          <p:nvPr/>
        </p:nvSpPr>
        <p:spPr>
          <a:xfrm>
            <a:off x="3200400" y="2962656"/>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C · One Tap</a:t>
            </a:r>
            <a:endParaRPr lang="en-US" sz="1300" dirty="0"/>
          </a:p>
        </p:txBody>
      </p:sp>
      <p:sp>
        <p:nvSpPr>
          <p:cNvPr id="14" name="Text 12"/>
          <p:cNvSpPr txBox="1"/>
          <p:nvPr/>
        </p:nvSpPr>
        <p:spPr>
          <a:xfrm>
            <a:off x="6858000" y="2962656"/>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Pick your group. Its portal first, then its schemes.</a:t>
            </a:r>
            <a:endParaRPr lang="en-US" sz="1200" dirty="0"/>
          </a:p>
        </p:txBody>
      </p:sp>
      <p:sp>
        <p:nvSpPr>
          <p:cNvPr id="15" name="Shape 13"/>
          <p:cNvSpPr/>
          <p:nvPr/>
        </p:nvSpPr>
        <p:spPr>
          <a:xfrm>
            <a:off x="731520" y="3273552"/>
            <a:ext cx="10728655" cy="0"/>
          </a:xfrm>
          <a:prstGeom prst="line">
            <a:avLst/>
          </a:prstGeom>
          <a:noFill/>
          <a:ln w="12700">
            <a:solidFill>
              <a:srgbClr val="004B96"/>
            </a:solidFill>
            <a:prstDash val="solid"/>
          </a:ln>
        </p:spPr>
      </p:sp>
      <p:sp>
        <p:nvSpPr>
          <p:cNvPr id="16" name="Text 14"/>
          <p:cNvSpPr txBox="1"/>
          <p:nvPr/>
        </p:nvSpPr>
        <p:spPr>
          <a:xfrm>
            <a:off x="731520" y="3346704"/>
            <a:ext cx="2377440" cy="310896"/>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menu</a:t>
            </a:r>
            <a:endParaRPr lang="en-US" sz="1300" dirty="0"/>
          </a:p>
        </p:txBody>
      </p:sp>
      <p:sp>
        <p:nvSpPr>
          <p:cNvPr id="17" name="Text 15"/>
          <p:cNvSpPr txBox="1"/>
          <p:nvPr/>
        </p:nvSpPr>
        <p:spPr>
          <a:xfrm>
            <a:off x="3200400" y="3346704"/>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A · Rename Only</a:t>
            </a:r>
            <a:endParaRPr lang="en-US" sz="1300" dirty="0"/>
          </a:p>
        </p:txBody>
      </p:sp>
      <p:sp>
        <p:nvSpPr>
          <p:cNvPr id="18" name="Text 16"/>
          <p:cNvSpPr txBox="1"/>
          <p:nvPr/>
        </p:nvSpPr>
        <p:spPr>
          <a:xfrm>
            <a:off x="6858000" y="3346704"/>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Organisations &amp; Scheme Portals. Nothing moves.</a:t>
            </a:r>
            <a:endParaRPr lang="en-US" sz="1200" dirty="0"/>
          </a:p>
        </p:txBody>
      </p:sp>
      <p:sp>
        <p:nvSpPr>
          <p:cNvPr id="19" name="Text 17"/>
          <p:cNvSpPr txBox="1"/>
          <p:nvPr/>
        </p:nvSpPr>
        <p:spPr>
          <a:xfrm>
            <a:off x="731520" y="3730752"/>
            <a:ext cx="2377440" cy="310896"/>
          </a:xfrm>
          <a:prstGeom prst="rect">
            <a:avLst/>
          </a:prstGeom>
          <a:noFill/>
          <a:ln/>
        </p:spPr>
        <p:txBody>
          <a:bodyPr wrap="square" lIns="0" tIns="0" rIns="0" bIns="0" rtlCol="0" anchor="ctr"/>
          <a:lstStyle/>
          <a:p>
            <a:pPr indent="0" marL="0">
              <a:buNone/>
            </a:pPr>
            <a:endParaRPr lang="en-US" sz="1300" dirty="0"/>
          </a:p>
        </p:txBody>
      </p:sp>
      <p:sp>
        <p:nvSpPr>
          <p:cNvPr id="20" name="Text 18"/>
          <p:cNvSpPr txBox="1"/>
          <p:nvPr/>
        </p:nvSpPr>
        <p:spPr>
          <a:xfrm>
            <a:off x="3200400" y="3730752"/>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B · Portals under Offerings</a:t>
            </a:r>
            <a:endParaRPr lang="en-US" sz="1300" dirty="0"/>
          </a:p>
        </p:txBody>
      </p:sp>
      <p:sp>
        <p:nvSpPr>
          <p:cNvPr id="21" name="Text 19"/>
          <p:cNvSpPr txBox="1"/>
          <p:nvPr/>
        </p:nvSpPr>
        <p:spPr>
          <a:xfrm>
            <a:off x="6858000" y="3730752"/>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Portals join Offerings; a button opens all schemes.</a:t>
            </a:r>
            <a:endParaRPr lang="en-US" sz="1200" dirty="0"/>
          </a:p>
        </p:txBody>
      </p:sp>
      <p:sp>
        <p:nvSpPr>
          <p:cNvPr id="22" name="Text 20"/>
          <p:cNvSpPr txBox="1"/>
          <p:nvPr/>
        </p:nvSpPr>
        <p:spPr>
          <a:xfrm>
            <a:off x="731520" y="4114800"/>
            <a:ext cx="2377440" cy="310896"/>
          </a:xfrm>
          <a:prstGeom prst="rect">
            <a:avLst/>
          </a:prstGeom>
          <a:noFill/>
          <a:ln/>
        </p:spPr>
        <p:txBody>
          <a:bodyPr wrap="square" lIns="0" tIns="0" rIns="0" bIns="0" rtlCol="0" anchor="ctr"/>
          <a:lstStyle/>
          <a:p>
            <a:pPr indent="0" marL="0">
              <a:buNone/>
            </a:pPr>
            <a:endParaRPr lang="en-US" sz="1300" dirty="0"/>
          </a:p>
        </p:txBody>
      </p:sp>
      <p:sp>
        <p:nvSpPr>
          <p:cNvPr id="23" name="Text 21"/>
          <p:cNvSpPr txBox="1"/>
          <p:nvPr/>
        </p:nvSpPr>
        <p:spPr>
          <a:xfrm>
            <a:off x="3200400" y="4114800"/>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C · Schemes as Its Own Menu</a:t>
            </a:r>
            <a:endParaRPr lang="en-US" sz="1300" dirty="0"/>
          </a:p>
        </p:txBody>
      </p:sp>
      <p:sp>
        <p:nvSpPr>
          <p:cNvPr id="24" name="Text 22"/>
          <p:cNvSpPr txBox="1"/>
          <p:nvPr/>
        </p:nvSpPr>
        <p:spPr>
          <a:xfrm>
            <a:off x="6858000" y="4114800"/>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A new top-row entry for the portals and helplines.</a:t>
            </a:r>
            <a:endParaRPr lang="en-US" sz="1200" dirty="0"/>
          </a:p>
        </p:txBody>
      </p:sp>
      <p:sp>
        <p:nvSpPr>
          <p:cNvPr id="25" name="Shape 23"/>
          <p:cNvSpPr/>
          <p:nvPr/>
        </p:nvSpPr>
        <p:spPr>
          <a:xfrm>
            <a:off x="731520" y="4425696"/>
            <a:ext cx="10728655" cy="0"/>
          </a:xfrm>
          <a:prstGeom prst="line">
            <a:avLst/>
          </a:prstGeom>
          <a:noFill/>
          <a:ln w="12700">
            <a:solidFill>
              <a:srgbClr val="004B96"/>
            </a:solidFill>
            <a:prstDash val="solid"/>
          </a:ln>
        </p:spPr>
      </p:sp>
      <p:sp>
        <p:nvSpPr>
          <p:cNvPr id="26" name="Text 24"/>
          <p:cNvSpPr txBox="1"/>
          <p:nvPr/>
        </p:nvSpPr>
        <p:spPr>
          <a:xfrm>
            <a:off x="731520" y="4498848"/>
            <a:ext cx="2377440" cy="310896"/>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Schemes page</a:t>
            </a:r>
            <a:endParaRPr lang="en-US" sz="1300" dirty="0"/>
          </a:p>
        </p:txBody>
      </p:sp>
      <p:sp>
        <p:nvSpPr>
          <p:cNvPr id="27" name="Text 25"/>
          <p:cNvSpPr txBox="1"/>
          <p:nvPr/>
        </p:nvSpPr>
        <p:spPr>
          <a:xfrm>
            <a:off x="3200400" y="4498848"/>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A · Pictures of the Groups, with Cards</a:t>
            </a:r>
            <a:endParaRPr lang="en-US" sz="1300" dirty="0"/>
          </a:p>
        </p:txBody>
      </p:sp>
      <p:sp>
        <p:nvSpPr>
          <p:cNvPr id="28" name="Text 26"/>
          <p:cNvSpPr txBox="1"/>
          <p:nvPr/>
        </p:nvSpPr>
        <p:spPr>
          <a:xfrm>
            <a:off x="6858000" y="4498848"/>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Every group in one row, then cards. For browsing.</a:t>
            </a:r>
            <a:endParaRPr lang="en-US" sz="1200" dirty="0"/>
          </a:p>
        </p:txBody>
      </p:sp>
      <p:sp>
        <p:nvSpPr>
          <p:cNvPr id="29" name="Text 27"/>
          <p:cNvSpPr txBox="1"/>
          <p:nvPr/>
        </p:nvSpPr>
        <p:spPr>
          <a:xfrm>
            <a:off x="731520" y="4882896"/>
            <a:ext cx="2377440" cy="310896"/>
          </a:xfrm>
          <a:prstGeom prst="rect">
            <a:avLst/>
          </a:prstGeom>
          <a:noFill/>
          <a:ln/>
        </p:spPr>
        <p:txBody>
          <a:bodyPr wrap="square" lIns="0" tIns="0" rIns="0" bIns="0" rtlCol="0" anchor="ctr"/>
          <a:lstStyle/>
          <a:p>
            <a:pPr indent="0" marL="0">
              <a:buNone/>
            </a:pPr>
            <a:endParaRPr lang="en-US" sz="1300" dirty="0"/>
          </a:p>
        </p:txBody>
      </p:sp>
      <p:sp>
        <p:nvSpPr>
          <p:cNvPr id="30" name="Text 28"/>
          <p:cNvSpPr txBox="1"/>
          <p:nvPr/>
        </p:nvSpPr>
        <p:spPr>
          <a:xfrm>
            <a:off x="3200400" y="4882896"/>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B · Filter Panel with a Table</a:t>
            </a:r>
            <a:endParaRPr lang="en-US" sz="1300" dirty="0"/>
          </a:p>
        </p:txBody>
      </p:sp>
      <p:sp>
        <p:nvSpPr>
          <p:cNvPr id="31" name="Text 29"/>
          <p:cNvSpPr txBox="1"/>
          <p:nvPr/>
        </p:nvSpPr>
        <p:spPr>
          <a:xfrm>
            <a:off x="6858000" y="4882896"/>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Tick groups on the left; a table on the right.</a:t>
            </a:r>
            <a:endParaRPr lang="en-US" sz="1200" dirty="0"/>
          </a:p>
        </p:txBody>
      </p:sp>
      <p:sp>
        <p:nvSpPr>
          <p:cNvPr id="32" name="Text 30"/>
          <p:cNvSpPr txBox="1"/>
          <p:nvPr/>
        </p:nvSpPr>
        <p:spPr>
          <a:xfrm>
            <a:off x="731520" y="5266944"/>
            <a:ext cx="2377440" cy="310896"/>
          </a:xfrm>
          <a:prstGeom prst="rect">
            <a:avLst/>
          </a:prstGeom>
          <a:noFill/>
          <a:ln/>
        </p:spPr>
        <p:txBody>
          <a:bodyPr wrap="square" lIns="0" tIns="0" rIns="0" bIns="0" rtlCol="0" anchor="ctr"/>
          <a:lstStyle/>
          <a:p>
            <a:pPr indent="0" marL="0">
              <a:buNone/>
            </a:pPr>
            <a:endParaRPr lang="en-US" sz="1300" dirty="0"/>
          </a:p>
        </p:txBody>
      </p:sp>
      <p:sp>
        <p:nvSpPr>
          <p:cNvPr id="33" name="Text 31"/>
          <p:cNvSpPr txBox="1"/>
          <p:nvPr/>
        </p:nvSpPr>
        <p:spPr>
          <a:xfrm>
            <a:off x="3200400" y="5266944"/>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C · Filter Panel with Headings</a:t>
            </a:r>
            <a:endParaRPr lang="en-US" sz="1300" dirty="0"/>
          </a:p>
        </p:txBody>
      </p:sp>
      <p:sp>
        <p:nvSpPr>
          <p:cNvPr id="34" name="Text 32"/>
          <p:cNvSpPr txBox="1"/>
          <p:nvPr/>
        </p:nvSpPr>
        <p:spPr>
          <a:xfrm>
            <a:off x="6858000" y="5266944"/>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Filters on the left, schemes under headings.</a:t>
            </a:r>
            <a:endParaRPr lang="en-US" sz="1200" dirty="0"/>
          </a:p>
        </p:txBody>
      </p:sp>
      <p:sp>
        <p:nvSpPr>
          <p:cNvPr id="35" name="Shape 33"/>
          <p:cNvSpPr/>
          <p:nvPr/>
        </p:nvSpPr>
        <p:spPr>
          <a:xfrm>
            <a:off x="731520" y="5577840"/>
            <a:ext cx="10728655" cy="0"/>
          </a:xfrm>
          <a:prstGeom prst="line">
            <a:avLst/>
          </a:prstGeom>
          <a:noFill/>
          <a:ln w="12700">
            <a:solidFill>
              <a:srgbClr val="004B96"/>
            </a:solidFill>
            <a:prstDash val="solid"/>
          </a:ln>
        </p:spPr>
      </p:sp>
      <p:sp>
        <p:nvSpPr>
          <p:cNvPr id="36" name="Text 34"/>
          <p:cNvSpPr txBox="1"/>
          <p:nvPr/>
        </p:nvSpPr>
        <p:spPr>
          <a:xfrm>
            <a:off x="731520" y="5650992"/>
            <a:ext cx="2377440" cy="310896"/>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assistant</a:t>
            </a:r>
            <a:endParaRPr lang="en-US" sz="1300" dirty="0"/>
          </a:p>
        </p:txBody>
      </p:sp>
      <p:sp>
        <p:nvSpPr>
          <p:cNvPr id="37" name="Text 35"/>
          <p:cNvSpPr txBox="1"/>
          <p:nvPr/>
        </p:nvSpPr>
        <p:spPr>
          <a:xfrm>
            <a:off x="3200400" y="5650992"/>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Samajik Sahayak</a:t>
            </a:r>
            <a:endParaRPr lang="en-US" sz="1300" dirty="0"/>
          </a:p>
        </p:txBody>
      </p:sp>
      <p:sp>
        <p:nvSpPr>
          <p:cNvPr id="38" name="Text 36"/>
          <p:cNvSpPr txBox="1"/>
          <p:nvPr/>
        </p:nvSpPr>
        <p:spPr>
          <a:xfrm>
            <a:off x="6858000" y="5650992"/>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The same two questions, in the chat on every page.</a:t>
            </a:r>
            <a:endParaRPr lang="en-US" sz="1200" dirty="0"/>
          </a:p>
        </p:txBody>
      </p:sp>
      <p:sp>
        <p:nvSpPr>
          <p:cNvPr id="39" name="Shape 37"/>
          <p:cNvSpPr/>
          <p:nvPr/>
        </p:nvSpPr>
        <p:spPr>
          <a:xfrm>
            <a:off x="731520" y="5961888"/>
            <a:ext cx="10728655" cy="0"/>
          </a:xfrm>
          <a:prstGeom prst="line">
            <a:avLst/>
          </a:prstGeom>
          <a:noFill/>
          <a:ln w="12700">
            <a:solidFill>
              <a:srgbClr val="004B96"/>
            </a:solidFill>
            <a:prstDash val="solid"/>
          </a:ln>
        </p:spPr>
      </p:sp>
      <p:sp>
        <p:nvSpPr>
          <p:cNvPr id="40" name="Text 38"/>
          <p:cNvSpPr txBox="1"/>
          <p:nvPr/>
        </p:nvSpPr>
        <p:spPr>
          <a:xfrm>
            <a:off x="731520" y="6163056"/>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2026-09-14T10:15:07Z</dcterms:created>
  <dcterms:modified xsi:type="dcterms:W3CDTF">2026-09-14T10:15:07Z</dcterms:modified>
</cp:coreProperties>
</file>