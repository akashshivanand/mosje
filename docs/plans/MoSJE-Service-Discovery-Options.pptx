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 ahead of the meeting, so it reads without a presenter. Six options, one to a page, each with a recorded walkthrough. Approval is sought on three parts of the site, and for the preparatory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thing is settled today, let it be Stage 1. The three choices can follow; nothing can be built before the information is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658368" y="658368"/>
            <a:ext cx="548640" cy="768096"/>
          </a:xfrm>
          <a:prstGeom prst="rect">
            <a:avLst/>
          </a:prstGeom>
        </p:spPr>
      </p:pic>
      <p:sp>
        <p:nvSpPr>
          <p:cNvPr id="3" name="Text 0"/>
          <p:cNvSpPr txBox="1"/>
          <p:nvPr/>
        </p:nvSpPr>
        <p:spPr>
          <a:xfrm>
            <a:off x="1389888" y="713232"/>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658368" y="2286000"/>
            <a:ext cx="7863840" cy="1463040"/>
          </a:xfrm>
          <a:prstGeom prst="rect">
            <a:avLst/>
          </a:prstGeom>
          <a:noFill/>
          <a:ln/>
        </p:spPr>
        <p:txBody>
          <a:bodyPr wrap="square" lIns="0" tIns="0" rIns="0" bIns="0" rtlCol="0" anchor="ctr"/>
          <a:lstStyle/>
          <a:p>
            <a:pPr indent="0" marL="0">
              <a:lnSpc>
                <a:spcPct val="106000"/>
              </a:lnSpc>
              <a:buNone/>
            </a:pPr>
            <a:r>
              <a:rPr lang="en-US" sz="4000" b="1" dirty="0">
                <a:solidFill>
                  <a:srgbClr val="FFFFFF"/>
                </a:solidFill>
                <a:latin typeface="Noto Sans" pitchFamily="34" charset="0"/>
                <a:ea typeface="Noto Sans" pitchFamily="34" charset="-122"/>
                <a:cs typeface="Noto Sans" pitchFamily="34" charset="-120"/>
              </a:rPr>
              <a:t>How Citizens Find Schemes</a:t>
            </a:r>
            <a:endParaRPr lang="en-US" sz="4000" dirty="0"/>
          </a:p>
        </p:txBody>
      </p:sp>
      <p:sp>
        <p:nvSpPr>
          <p:cNvPr id="5" name="Text 2"/>
          <p:cNvSpPr txBox="1"/>
          <p:nvPr/>
        </p:nvSpPr>
        <p:spPr>
          <a:xfrm>
            <a:off x="658368" y="3803904"/>
            <a:ext cx="8503920" cy="329184"/>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Six options placed before the Department, on three parts of the website</a:t>
            </a:r>
            <a:endParaRPr lang="en-US" sz="1500" dirty="0"/>
          </a:p>
        </p:txBody>
      </p:sp>
      <p:sp>
        <p:nvSpPr>
          <p:cNvPr id="6" name="Text 3"/>
          <p:cNvSpPr txBox="1"/>
          <p:nvPr/>
        </p:nvSpPr>
        <p:spPr>
          <a:xfrm>
            <a:off x="9326880" y="2286000"/>
            <a:ext cx="2194560" cy="960120"/>
          </a:xfrm>
          <a:prstGeom prst="rect">
            <a:avLst/>
          </a:prstGeom>
          <a:noFill/>
          <a:ln/>
        </p:spPr>
        <p:txBody>
          <a:bodyPr wrap="square" lIns="0" tIns="0" rIns="0" bIns="0" rtlCol="0" anchor="ctr"/>
          <a:lstStyle/>
          <a:p>
            <a:pPr algn="r" indent="0" marL="0">
              <a:buNone/>
            </a:pPr>
            <a:r>
              <a:rPr lang="en-US" sz="5400" b="1" dirty="0">
                <a:solidFill>
                  <a:srgbClr val="92C2FF"/>
                </a:solidFill>
                <a:latin typeface="Noto Sans" pitchFamily="34" charset="0"/>
                <a:ea typeface="Noto Sans" pitchFamily="34" charset="-122"/>
                <a:cs typeface="Noto Sans" pitchFamily="34" charset="-120"/>
              </a:rPr>
              <a:t>134</a:t>
            </a:r>
            <a:endParaRPr lang="en-US" sz="5400" dirty="0"/>
          </a:p>
        </p:txBody>
      </p:sp>
      <p:sp>
        <p:nvSpPr>
          <p:cNvPr id="7" name="Text 4"/>
          <p:cNvSpPr txBox="1"/>
          <p:nvPr/>
        </p:nvSpPr>
        <p:spPr>
          <a:xfrm>
            <a:off x="9326880" y="3291840"/>
            <a:ext cx="2194560" cy="512064"/>
          </a:xfrm>
          <a:prstGeom prst="rect">
            <a:avLst/>
          </a:prstGeom>
          <a:noFill/>
          <a:ln/>
        </p:spPr>
        <p:txBody>
          <a:bodyPr wrap="square" lIns="0" tIns="0" rIns="0" bIns="0" rtlCol="0" anchor="ctr"/>
          <a:lstStyle/>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schemes published</a:t>
            </a:r>
            <a:endParaRPr lang="en-US" sz="1100" dirty="0"/>
          </a:p>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on dosje.gov.in</a:t>
            </a:r>
            <a:endParaRPr lang="en-US" sz="1100" dirty="0"/>
          </a:p>
        </p:txBody>
      </p:sp>
      <p:sp>
        <p:nvSpPr>
          <p:cNvPr id="8" name="Shape 5"/>
          <p:cNvSpPr/>
          <p:nvPr/>
        </p:nvSpPr>
        <p:spPr>
          <a:xfrm>
            <a:off x="658368" y="4937760"/>
            <a:ext cx="10874959" cy="0"/>
          </a:xfrm>
          <a:prstGeom prst="line">
            <a:avLst/>
          </a:prstGeom>
          <a:noFill/>
          <a:ln w="12700">
            <a:solidFill>
              <a:srgbClr val="004B96"/>
            </a:solidFill>
            <a:prstDash val="solid"/>
          </a:ln>
        </p:spPr>
      </p:sp>
      <p:sp>
        <p:nvSpPr>
          <p:cNvPr id="9" name="Text 6"/>
          <p:cNvSpPr txBox="1"/>
          <p:nvPr/>
        </p:nvSpPr>
        <p:spPr>
          <a:xfrm>
            <a:off x="658368" y="5175504"/>
            <a:ext cx="8046720" cy="274320"/>
          </a:xfrm>
          <a:prstGeom prst="rect">
            <a:avLst/>
          </a:prstGeom>
          <a:noFill/>
          <a:ln/>
        </p:spPr>
        <p:txBody>
          <a:bodyPr wrap="square" lIns="0" tIns="0" rIns="0" bIns="0" rtlCol="0" anchor="ctr"/>
          <a:lstStyle/>
          <a:p>
            <a:pPr indent="0" marL="0">
              <a:buNone/>
            </a:pPr>
            <a:r>
              <a:rPr lang="en-US" sz="1250" dirty="0">
                <a:solidFill>
                  <a:srgbClr val="FFFFFF"/>
                </a:solidFill>
                <a:latin typeface="Noto Sans" pitchFamily="34" charset="0"/>
                <a:ea typeface="Noto Sans" pitchFamily="34" charset="-122"/>
                <a:cs typeface="Noto Sans" pitchFamily="34" charset="-120"/>
              </a:rPr>
              <a:t>Each option is shown as a recorded walkthrough of a working prototype, not a picture.</a:t>
            </a:r>
            <a:endParaRPr lang="en-US" sz="1250" dirty="0"/>
          </a:p>
        </p:txBody>
      </p:sp>
      <p:sp>
        <p:nvSpPr>
          <p:cNvPr id="10" name="Text 7"/>
          <p:cNvSpPr txBox="1"/>
          <p:nvPr/>
        </p:nvSpPr>
        <p:spPr>
          <a:xfrm>
            <a:off x="658368" y="5468112"/>
            <a:ext cx="8046720"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Counts taken from dosje.gov.in on 8 September 2026 · MoSJE Design Research</a:t>
            </a:r>
            <a:endParaRPr lang="en-US" sz="1100" dirty="0"/>
          </a:p>
        </p:txBody>
      </p:sp>
      <p:sp>
        <p:nvSpPr>
          <p:cNvPr id="11" name="Text 8"/>
          <p:cNvSpPr txBox="1"/>
          <p:nvPr/>
        </p:nvSpPr>
        <p:spPr>
          <a:xfrm>
            <a:off x="8778240" y="5175504"/>
            <a:ext cx="2743200" cy="548640"/>
          </a:xfrm>
          <a:prstGeom prst="rect">
            <a:avLst/>
          </a:prstGeom>
          <a:noFill/>
          <a:ln/>
        </p:spPr>
        <p:txBody>
          <a:bodyPr wrap="square" lIns="0" tIns="0" rIns="0" bIns="0" rtlCol="0" anchor="ctr"/>
          <a:lstStyle/>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Accompanies the design file</a:t>
            </a:r>
            <a:endParaRPr lang="en-US" sz="1100" dirty="0"/>
          </a:p>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MoSJE (WIP) — Service Discovery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713232"/>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WHAT IS PLACED BEFORE YOU</a:t>
            </a:r>
            <a:endParaRPr lang="en-US" sz="1000" dirty="0"/>
          </a:p>
        </p:txBody>
      </p:sp>
      <p:sp>
        <p:nvSpPr>
          <p:cNvPr id="3" name="Text 1"/>
          <p:cNvSpPr txBox="1"/>
          <p:nvPr/>
        </p:nvSpPr>
        <p:spPr>
          <a:xfrm>
            <a:off x="658368" y="987552"/>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Three Parts of the Site. Six Options.</a:t>
            </a:r>
            <a:endParaRPr lang="en-US" sz="3200" dirty="0"/>
          </a:p>
        </p:txBody>
      </p:sp>
      <p:sp>
        <p:nvSpPr>
          <p:cNvPr id="4" name="Text 2"/>
          <p:cNvSpPr txBox="1"/>
          <p:nvPr/>
        </p:nvSpPr>
        <p:spPr>
          <a:xfrm>
            <a:off x="658368" y="1645920"/>
            <a:ext cx="9692640" cy="603504"/>
          </a:xfrm>
          <a:prstGeom prst="rect">
            <a:avLst/>
          </a:prstGeom>
          <a:noFill/>
          <a:ln/>
        </p:spPr>
        <p:txBody>
          <a:bodyPr wrap="square" lIns="0" tIns="0" rIns="0" bIns="0" rtlCol="0" anchor="ctr"/>
          <a:lstStyle/>
          <a:p>
            <a:pPr indent="0" marL="0">
              <a:lnSpc>
                <a:spcPct val="122000"/>
              </a:lnSpc>
              <a:buNone/>
            </a:pPr>
            <a:r>
              <a:rPr lang="en-US" sz="1300" dirty="0">
                <a:solidFill>
                  <a:srgbClr val="C0DBFF"/>
                </a:solidFill>
                <a:latin typeface="Noto Sans" pitchFamily="34" charset="0"/>
                <a:ea typeface="Noto Sans" pitchFamily="34" charset="-122"/>
                <a:cs typeface="Noto Sans" pitchFamily="34" charset="-120"/>
              </a:rPr>
              <a:t>The site publishes 134 schemes. Its Target Group filter offers no value for women and girls, transgender persons, persons with disabilities, victims of atrocities or voluntary organisations — and 23 schemes carry no group at all. These options address that. Each part is settled on its own.</a:t>
            </a:r>
            <a:endParaRPr lang="en-US" sz="1300" dirty="0"/>
          </a:p>
        </p:txBody>
      </p:sp>
      <p:sp>
        <p:nvSpPr>
          <p:cNvPr id="5" name="Shape 3"/>
          <p:cNvSpPr/>
          <p:nvPr/>
        </p:nvSpPr>
        <p:spPr>
          <a:xfrm>
            <a:off x="658368" y="2542032"/>
            <a:ext cx="3429914" cy="3145536"/>
          </a:xfrm>
          <a:prstGeom prst="rect">
            <a:avLst/>
          </a:prstGeom>
          <a:solidFill>
            <a:srgbClr val="004B96"/>
          </a:solidFill>
          <a:ln w="12700">
            <a:solidFill>
              <a:srgbClr val="004B96"/>
            </a:solidFill>
            <a:prstDash val="solid"/>
          </a:ln>
        </p:spPr>
      </p:sp>
      <p:sp>
        <p:nvSpPr>
          <p:cNvPr id="6" name="Text 4"/>
          <p:cNvSpPr txBox="1"/>
          <p:nvPr/>
        </p:nvSpPr>
        <p:spPr>
          <a:xfrm>
            <a:off x="950976"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1</a:t>
            </a:r>
            <a:endParaRPr lang="en-US" sz="4000" dirty="0"/>
          </a:p>
        </p:txBody>
      </p:sp>
      <p:sp>
        <p:nvSpPr>
          <p:cNvPr id="7" name="Text 5"/>
          <p:cNvSpPr txBox="1"/>
          <p:nvPr/>
        </p:nvSpPr>
        <p:spPr>
          <a:xfrm>
            <a:off x="950976"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Home Page</a:t>
            </a:r>
            <a:endParaRPr lang="en-US" sz="1800" dirty="0"/>
          </a:p>
        </p:txBody>
      </p:sp>
      <p:sp>
        <p:nvSpPr>
          <p:cNvPr id="8" name="Text 6"/>
          <p:cNvSpPr txBox="1"/>
          <p:nvPr/>
        </p:nvSpPr>
        <p:spPr>
          <a:xfrm>
            <a:off x="950976"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THREE OPTIONS</a:t>
            </a:r>
            <a:endParaRPr lang="en-US" sz="900" dirty="0"/>
          </a:p>
        </p:txBody>
      </p:sp>
      <p:sp>
        <p:nvSpPr>
          <p:cNvPr id="9" name="Text 7"/>
          <p:cNvSpPr txBox="1"/>
          <p:nvPr/>
        </p:nvSpPr>
        <p:spPr>
          <a:xfrm>
            <a:off x="950976"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Where most people arrive for the first time.</a:t>
            </a:r>
            <a:endParaRPr lang="en-US" sz="1050" dirty="0"/>
          </a:p>
        </p:txBody>
      </p:sp>
      <p:sp>
        <p:nvSpPr>
          <p:cNvPr id="10" name="Text 8"/>
          <p:cNvSpPr txBox="1"/>
          <p:nvPr/>
        </p:nvSpPr>
        <p:spPr>
          <a:xfrm>
            <a:off x="950976"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Explore User Personas — already on the site</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B · Find support for you — five questions</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C · Find offerings for you — one tap</a:t>
            </a:r>
            <a:endParaRPr lang="en-US" sz="1000" dirty="0"/>
          </a:p>
        </p:txBody>
      </p:sp>
      <p:sp>
        <p:nvSpPr>
          <p:cNvPr id="11" name="Shape 9"/>
          <p:cNvSpPr/>
          <p:nvPr/>
        </p:nvSpPr>
        <p:spPr>
          <a:xfrm>
            <a:off x="4380890" y="2542032"/>
            <a:ext cx="3429914" cy="3145536"/>
          </a:xfrm>
          <a:prstGeom prst="rect">
            <a:avLst/>
          </a:prstGeom>
          <a:solidFill>
            <a:srgbClr val="004B96"/>
          </a:solidFill>
          <a:ln w="12700">
            <a:solidFill>
              <a:srgbClr val="004B96"/>
            </a:solidFill>
            <a:prstDash val="solid"/>
          </a:ln>
        </p:spPr>
      </p:sp>
      <p:sp>
        <p:nvSpPr>
          <p:cNvPr id="12" name="Text 10"/>
          <p:cNvSpPr txBox="1"/>
          <p:nvPr/>
        </p:nvSpPr>
        <p:spPr>
          <a:xfrm>
            <a:off x="4673498"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2</a:t>
            </a:r>
            <a:endParaRPr lang="en-US" sz="4000" dirty="0"/>
          </a:p>
        </p:txBody>
      </p:sp>
      <p:sp>
        <p:nvSpPr>
          <p:cNvPr id="13" name="Text 11"/>
          <p:cNvSpPr txBox="1"/>
          <p:nvPr/>
        </p:nvSpPr>
        <p:spPr>
          <a:xfrm>
            <a:off x="4673498"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Schemes Page</a:t>
            </a:r>
            <a:endParaRPr lang="en-US" sz="1800" dirty="0"/>
          </a:p>
        </p:txBody>
      </p:sp>
      <p:sp>
        <p:nvSpPr>
          <p:cNvPr id="14" name="Text 12"/>
          <p:cNvSpPr txBox="1"/>
          <p:nvPr/>
        </p:nvSpPr>
        <p:spPr>
          <a:xfrm>
            <a:off x="4673498"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TWO OPTIONS</a:t>
            </a:r>
            <a:endParaRPr lang="en-US" sz="900" dirty="0"/>
          </a:p>
        </p:txBody>
      </p:sp>
      <p:sp>
        <p:nvSpPr>
          <p:cNvPr id="15" name="Text 13"/>
          <p:cNvSpPr txBox="1"/>
          <p:nvPr/>
        </p:nvSpPr>
        <p:spPr>
          <a:xfrm>
            <a:off x="4673498"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Where a person compares, and where officers and voluntary organisations work.</a:t>
            </a:r>
            <a:endParaRPr lang="en-US" sz="1050" dirty="0"/>
          </a:p>
        </p:txBody>
      </p:sp>
      <p:sp>
        <p:nvSpPr>
          <p:cNvPr id="16" name="Text 14"/>
          <p:cNvSpPr txBox="1"/>
          <p:nvPr/>
        </p:nvSpPr>
        <p:spPr>
          <a:xfrm>
            <a:off x="4673498"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Pictures of the nine groups, with cards</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B · Filter panel with a table of schemes</a:t>
            </a:r>
            <a:endParaRPr lang="en-US" sz="1000" dirty="0"/>
          </a:p>
        </p:txBody>
      </p:sp>
      <p:sp>
        <p:nvSpPr>
          <p:cNvPr id="17" name="Shape 15"/>
          <p:cNvSpPr/>
          <p:nvPr/>
        </p:nvSpPr>
        <p:spPr>
          <a:xfrm>
            <a:off x="8103413" y="2542032"/>
            <a:ext cx="3429914" cy="3145536"/>
          </a:xfrm>
          <a:prstGeom prst="rect">
            <a:avLst/>
          </a:prstGeom>
          <a:solidFill>
            <a:srgbClr val="004B96"/>
          </a:solidFill>
          <a:ln w="12700">
            <a:solidFill>
              <a:srgbClr val="004B96"/>
            </a:solidFill>
            <a:prstDash val="solid"/>
          </a:ln>
        </p:spPr>
      </p:sp>
      <p:sp>
        <p:nvSpPr>
          <p:cNvPr id="18" name="Text 16"/>
          <p:cNvSpPr txBox="1"/>
          <p:nvPr/>
        </p:nvSpPr>
        <p:spPr>
          <a:xfrm>
            <a:off x="8396021"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3</a:t>
            </a:r>
            <a:endParaRPr lang="en-US" sz="4000" dirty="0"/>
          </a:p>
        </p:txBody>
      </p:sp>
      <p:sp>
        <p:nvSpPr>
          <p:cNvPr id="19" name="Text 17"/>
          <p:cNvSpPr txBox="1"/>
          <p:nvPr/>
        </p:nvSpPr>
        <p:spPr>
          <a:xfrm>
            <a:off x="8396021"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Assistant</a:t>
            </a:r>
            <a:endParaRPr lang="en-US" sz="1800" dirty="0"/>
          </a:p>
        </p:txBody>
      </p:sp>
      <p:sp>
        <p:nvSpPr>
          <p:cNvPr id="20" name="Text 18"/>
          <p:cNvSpPr txBox="1"/>
          <p:nvPr/>
        </p:nvSpPr>
        <p:spPr>
          <a:xfrm>
            <a:off x="8396021"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ONE OPTION</a:t>
            </a:r>
            <a:endParaRPr lang="en-US" sz="900" dirty="0"/>
          </a:p>
        </p:txBody>
      </p:sp>
      <p:sp>
        <p:nvSpPr>
          <p:cNvPr id="21" name="Text 19"/>
          <p:cNvSpPr txBox="1"/>
          <p:nvPr/>
        </p:nvSpPr>
        <p:spPr>
          <a:xfrm>
            <a:off x="8396021"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Reachable from every page, including pages that lead nowhere else.</a:t>
            </a:r>
            <a:endParaRPr lang="en-US" sz="1050" dirty="0"/>
          </a:p>
        </p:txBody>
      </p:sp>
      <p:sp>
        <p:nvSpPr>
          <p:cNvPr id="22" name="Text 20"/>
          <p:cNvSpPr txBox="1"/>
          <p:nvPr/>
        </p:nvSpPr>
        <p:spPr>
          <a:xfrm>
            <a:off x="8396021"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Samajik Sahayak — the same five questions, in chat</a:t>
            </a:r>
            <a:endParaRPr lang="en-US" sz="1000" dirty="0"/>
          </a:p>
        </p:txBody>
      </p:sp>
      <p:sp>
        <p:nvSpPr>
          <p:cNvPr id="23" name="Text 21"/>
          <p:cNvSpPr txBox="1"/>
          <p:nvPr/>
        </p:nvSpPr>
        <p:spPr>
          <a:xfrm>
            <a:off x="658368" y="5888736"/>
            <a:ext cx="10874959"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Whichever options are approved, the scheme records must be tagged first. That work is set out under “What Has to Be Done First”.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HOME PAGE · OPTION A OF 3</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Explore User Personas</a:t>
            </a:r>
            <a:endParaRPr lang="en-US" sz="2600" dirty="0"/>
          </a:p>
        </p:txBody>
      </p:sp>
      <p:sp>
        <p:nvSpPr>
          <p:cNvPr id="4" name="Shape 2"/>
          <p:cNvSpPr/>
          <p:nvPr/>
        </p:nvSpPr>
        <p:spPr>
          <a:xfrm>
            <a:off x="658368" y="1078992"/>
            <a:ext cx="1594714"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078992"/>
            <a:ext cx="1594714" cy="237744"/>
          </a:xfrm>
          <a:prstGeom prst="rect">
            <a:avLst/>
          </a:prstGeom>
          <a:noFill/>
          <a:ln/>
        </p:spPr>
        <p:txBody>
          <a:bodyPr wrap="square" lIns="0" tIns="0" rIns="0" bIns="0" rtlCol="0" anchor="ctr"/>
          <a:lstStyle/>
          <a:p>
            <a:pPr algn="ctr" indent="0" marL="0">
              <a:buNone/>
            </a:pPr>
            <a:r>
              <a:rPr lang="en-US" sz="850" b="1" spc="90" kern="0" dirty="0">
                <a:solidFill>
                  <a:srgbClr val="54585E"/>
                </a:solidFill>
                <a:latin typeface="Noto Sans" pitchFamily="34" charset="0"/>
                <a:ea typeface="Noto Sans" pitchFamily="34" charset="-122"/>
                <a:cs typeface="Noto Sans" pitchFamily="34" charset="-120"/>
              </a:rPr>
              <a:t>ALREADY ON THE SITE</a:t>
            </a:r>
            <a:endParaRPr lang="en-US" sz="850" dirty="0"/>
          </a:p>
        </p:txBody>
      </p:sp>
      <p:sp>
        <p:nvSpPr>
          <p:cNvPr id="6" name="Shape 4"/>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8" name="Text 5"/>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Moving between groups with the arrows; each shows how many schemes list it.</a:t>
            </a:r>
            <a:endParaRPr lang="en-US" sz="900" dirty="0"/>
          </a:p>
        </p:txBody>
      </p:sp>
      <p:sp>
        <p:nvSpPr>
          <p:cNvPr id="9" name="Text 6"/>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0" name="Text 7"/>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 picture of one group at a time, with arrows to move between them. It is on the home page today.</a:t>
            </a:r>
            <a:endParaRPr lang="en-US" sz="950" dirty="0"/>
          </a:p>
        </p:txBody>
      </p:sp>
      <p:sp>
        <p:nvSpPr>
          <p:cNvPr id="11" name="Text 8"/>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2" name="Text 9"/>
          <p:cNvSpPr txBox="1"/>
          <p:nvPr/>
        </p:nvSpPr>
        <p:spPr>
          <a:xfrm>
            <a:off x="6510528" y="2269541"/>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Looks at the pictures, sees one that matches, and taps through to the Schemes page.</a:t>
            </a:r>
            <a:endParaRPr lang="en-US" sz="950" dirty="0"/>
          </a:p>
        </p:txBody>
      </p:sp>
      <p:sp>
        <p:nvSpPr>
          <p:cNvPr id="13" name="Text 10"/>
          <p:cNvSpPr txBox="1"/>
          <p:nvPr/>
        </p:nvSpPr>
        <p:spPr>
          <a:xfrm>
            <a:off x="6510528" y="2558491"/>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4" name="Text 11"/>
          <p:cNvSpPr txBox="1"/>
          <p:nvPr/>
        </p:nvSpPr>
        <p:spPr>
          <a:xfrm>
            <a:off x="6510528" y="2723083"/>
            <a:ext cx="5022799" cy="75346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Already built and already on the page — the cheapest of all six</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Pictures help people who read slowly, or read another language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Recognising yourself is easier than describing yourself</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Adds no height to a home page that already runs long</a:t>
            </a:r>
            <a:endParaRPr lang="en-US" sz="950" dirty="0"/>
          </a:p>
        </p:txBody>
      </p:sp>
      <p:sp>
        <p:nvSpPr>
          <p:cNvPr id="15" name="Text 12"/>
          <p:cNvSpPr txBox="1"/>
          <p:nvPr/>
        </p:nvSpPr>
        <p:spPr>
          <a:xfrm>
            <a:off x="6510528" y="3549701"/>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6" name="Text 13"/>
          <p:cNvSpPr txBox="1"/>
          <p:nvPr/>
        </p:nvSpPr>
        <p:spPr>
          <a:xfrm>
            <a:off x="6510528" y="3714293"/>
            <a:ext cx="5022799" cy="877824"/>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One group at a time, behind arrows — you cannot see whether you are represented without clicking</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Sorts by group alone, not by stage of life, need or State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Today, choosing a group does not filter the Schemes page; the panel's own promise goes unmet</a:t>
            </a:r>
            <a:endParaRPr lang="en-US" sz="950" dirty="0"/>
          </a:p>
        </p:txBody>
      </p:sp>
      <p:sp>
        <p:nvSpPr>
          <p:cNvPr id="17" name="Text 14"/>
          <p:cNvSpPr txBox="1"/>
          <p:nvPr/>
        </p:nvSpPr>
        <p:spPr>
          <a:xfrm>
            <a:off x="6510528" y="466526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18" name="Text 15"/>
          <p:cNvSpPr txBox="1"/>
          <p:nvPr/>
        </p:nvSpPr>
        <p:spPr>
          <a:xfrm>
            <a:off x="6510528" y="4829861"/>
            <a:ext cx="5022799" cy="51937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Make the choice actually open the Schemes page already filtered. This repair is needed in any case — a panel that promises to show services made for you, and then does not, is worse than no panel.</a:t>
            </a:r>
            <a:endParaRPr lang="en-US" sz="950" dirty="0"/>
          </a:p>
        </p:txBody>
      </p:sp>
      <p:sp>
        <p:nvSpPr>
          <p:cNvPr id="19" name="Shape 16"/>
          <p:cNvSpPr/>
          <p:nvPr/>
        </p:nvSpPr>
        <p:spPr>
          <a:xfrm>
            <a:off x="6510528" y="5687568"/>
            <a:ext cx="5022799" cy="658368"/>
          </a:xfrm>
          <a:prstGeom prst="rect">
            <a:avLst/>
          </a:prstGeom>
          <a:solidFill>
            <a:srgbClr val="EEF0F3"/>
          </a:solidFill>
          <a:ln w="9525">
            <a:solidFill>
              <a:srgbClr val="DCDEE1"/>
            </a:solidFill>
            <a:prstDash val="solid"/>
          </a:ln>
        </p:spPr>
      </p:sp>
      <p:sp>
        <p:nvSpPr>
          <p:cNvPr id="20" name="Text 17"/>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1" name="Text 18"/>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Repair it, but do not rely on it alone. It serves the visitor who recognises a picture.</a:t>
            </a:r>
            <a:endParaRPr lang="en-US" sz="1000" dirty="0"/>
          </a:p>
        </p:txBody>
      </p:sp>
      <p:sp>
        <p:nvSpPr>
          <p:cNvPr id="22" name="Text 19"/>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HOME PAGE · OPTION B OF 3</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Find support for you</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825142" y="1078992"/>
            <a:ext cx="1038758"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25142"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10" name="Text 7"/>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Five questions answered; the count falls from 26 to 3, then the schemes are listed.</a:t>
            </a:r>
            <a:endParaRPr lang="en-US" sz="900" dirty="0"/>
          </a:p>
        </p:txBody>
      </p:sp>
      <p:sp>
        <p:nvSpPr>
          <p:cNvPr id="11" name="Text 8"/>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2" name="Text 9"/>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Five short questions, any of which may be skipped. Skipping widens the answer rather than ending it.</a:t>
            </a:r>
            <a:endParaRPr lang="en-US" sz="950" dirty="0"/>
          </a:p>
        </p:txBody>
      </p:sp>
      <p:sp>
        <p:nvSpPr>
          <p:cNvPr id="13" name="Text 10"/>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4" name="Text 11"/>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Answers up to five questions — group, stage of life, kind of help, State — and is shown the schemes that list them, each with a place to apply.</a:t>
            </a:r>
            <a:endParaRPr lang="en-US" sz="950" dirty="0"/>
          </a:p>
        </p:txBody>
      </p:sp>
      <p:sp>
        <p:nvSpPr>
          <p:cNvPr id="15" name="Text 12"/>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6" name="Text 13"/>
          <p:cNvSpPr txBox="1"/>
          <p:nvPr/>
        </p:nvSpPr>
        <p:spPr>
          <a:xfrm>
            <a:off x="6510528" y="2874874"/>
            <a:ext cx="5022799" cy="108447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Reads stage of life, need and State, not group alone — which is how entitlement actually works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No sign-in, no Aadhaar; nothing answered is stored</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The falling count is honest feedback — the visitor watches the answer narrow</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Directs a person with a disability to DEPwD, rather than showing an empty page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Ends at a place to apply, not at a page of text</a:t>
            </a:r>
            <a:endParaRPr lang="en-US" sz="950" dirty="0"/>
          </a:p>
        </p:txBody>
      </p:sp>
      <p:sp>
        <p:nvSpPr>
          <p:cNvPr id="17" name="Text 14"/>
          <p:cNvSpPr txBox="1"/>
          <p:nvPr/>
        </p:nvSpPr>
        <p:spPr>
          <a:xfrm>
            <a:off x="6510528" y="4032504"/>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8" name="Text 15"/>
          <p:cNvSpPr txBox="1"/>
          <p:nvPr/>
        </p:nvSpPr>
        <p:spPr>
          <a:xfrm>
            <a:off x="6510528" y="4197096"/>
            <a:ext cx="5022799" cy="726034"/>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Every scheme must be tagged on four axes before it works at all</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Adds roughly 150 pixels to the home page, unless it replaces Our Offerings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Asks about caste at the second question — the wording needs the Department's approval</a:t>
            </a:r>
            <a:endParaRPr lang="en-US" sz="950" dirty="0"/>
          </a:p>
        </p:txBody>
      </p:sp>
      <p:sp>
        <p:nvSpPr>
          <p:cNvPr id="19" name="Text 16"/>
          <p:cNvSpPr txBox="1"/>
          <p:nvPr/>
        </p:nvSpPr>
        <p:spPr>
          <a:xfrm>
            <a:off x="6510528" y="4996282"/>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20" name="Text 17"/>
          <p:cNvSpPr txBox="1"/>
          <p:nvPr/>
        </p:nvSpPr>
        <p:spPr>
          <a:xfrm>
            <a:off x="6510528" y="5160874"/>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 the same work every other option needs. Approve the wording of the group question and the reason shown for asking it.</a:t>
            </a:r>
            <a:endParaRPr lang="en-US" sz="950" dirty="0"/>
          </a:p>
        </p:txBody>
      </p:sp>
      <p:sp>
        <p:nvSpPr>
          <p:cNvPr id="21" name="Shape 18"/>
          <p:cNvSpPr/>
          <p:nvPr/>
        </p:nvSpPr>
        <p:spPr>
          <a:xfrm>
            <a:off x="6510528" y="5687568"/>
            <a:ext cx="5022799" cy="658368"/>
          </a:xfrm>
          <a:prstGeom prst="rect">
            <a:avLst/>
          </a:prstGeom>
          <a:solidFill>
            <a:srgbClr val="ECF4FF"/>
          </a:solidFill>
          <a:ln w="15875">
            <a:solidFill>
              <a:srgbClr val="0373DF"/>
            </a:solidFill>
            <a:prstDash val="solid"/>
          </a:ln>
        </p:spPr>
      </p:sp>
      <p:sp>
        <p:nvSpPr>
          <p:cNvPr id="22" name="Text 19"/>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3" name="Text 20"/>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Recommended for the home page. It answers the question a citizen actually arrives with.</a:t>
            </a:r>
            <a:endParaRPr lang="en-US" sz="1000" dirty="0"/>
          </a:p>
        </p:txBody>
      </p:sp>
      <p:sp>
        <p:nvSpPr>
          <p:cNvPr id="24"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HOME PAGE · OPTION C OF 3</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Find offerings for you</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8" name="Text 5"/>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Three groups tapped in turn; the last is routed to the sibling department.</a:t>
            </a:r>
            <a:endParaRPr lang="en-US" sz="900" dirty="0"/>
          </a:p>
        </p:txBody>
      </p:sp>
      <p:sp>
        <p:nvSpPr>
          <p:cNvPr id="9" name="Text 6"/>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0" name="Text 7"/>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 row of groups. Tapping one shows the portal, the scheme and the complaint route for that group.</a:t>
            </a:r>
            <a:endParaRPr lang="en-US" sz="950" dirty="0"/>
          </a:p>
        </p:txBody>
      </p:sp>
      <p:sp>
        <p:nvSpPr>
          <p:cNvPr id="11" name="Text 8"/>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2" name="Text 9"/>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Taps the group that describes them and sees three things they can act on, without answering anything.</a:t>
            </a:r>
            <a:endParaRPr lang="en-US" sz="950" dirty="0"/>
          </a:p>
        </p:txBody>
      </p:sp>
      <p:sp>
        <p:nvSpPr>
          <p:cNvPr id="13" name="Text 10"/>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4" name="Text 11"/>
          <p:cNvSpPr txBox="1"/>
          <p:nvPr/>
        </p:nvSpPr>
        <p:spPr>
          <a:xfrm>
            <a:off x="6510528" y="2874874"/>
            <a:ext cx="5022799" cy="93268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One tap, with no questions to answer</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Shows portals, schemes and complaint routes together, which no other option does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Each row ends at a real place to apply</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Puts the single-window promise on the home page itself</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Compact — one strip and three rows</a:t>
            </a:r>
            <a:endParaRPr lang="en-US" sz="950" dirty="0"/>
          </a:p>
        </p:txBody>
      </p:sp>
      <p:sp>
        <p:nvSpPr>
          <p:cNvPr id="15" name="Text 12"/>
          <p:cNvSpPr txBox="1"/>
          <p:nvPr/>
        </p:nvSpPr>
        <p:spPr>
          <a:xfrm>
            <a:off x="6510528" y="3880714"/>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6" name="Text 13"/>
          <p:cNvSpPr txBox="1"/>
          <p:nvPr/>
        </p:nvSpPr>
        <p:spPr>
          <a:xfrm>
            <a:off x="6510528" y="4045306"/>
            <a:ext cx="5022799" cy="574243"/>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Every scheme must be tagged before it works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Reads group alone, so it is less exact than the five questions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Needs space on the home page, unless it replaces Our Offerings</a:t>
            </a:r>
            <a:endParaRPr lang="en-US" sz="950" dirty="0"/>
          </a:p>
        </p:txBody>
      </p:sp>
      <p:sp>
        <p:nvSpPr>
          <p:cNvPr id="17" name="Text 14"/>
          <p:cNvSpPr txBox="1"/>
          <p:nvPr/>
        </p:nvSpPr>
        <p:spPr>
          <a:xfrm>
            <a:off x="6510528" y="4692701"/>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18" name="Text 15"/>
          <p:cNvSpPr txBox="1"/>
          <p:nvPr/>
        </p:nvSpPr>
        <p:spPr>
          <a:xfrm>
            <a:off x="6510528" y="4857293"/>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and settle which three items are shown for each group.</a:t>
            </a:r>
            <a:endParaRPr lang="en-US" sz="950" dirty="0"/>
          </a:p>
        </p:txBody>
      </p:sp>
      <p:sp>
        <p:nvSpPr>
          <p:cNvPr id="19" name="Shape 16"/>
          <p:cNvSpPr/>
          <p:nvPr/>
        </p:nvSpPr>
        <p:spPr>
          <a:xfrm>
            <a:off x="6510528" y="5687568"/>
            <a:ext cx="5022799" cy="658368"/>
          </a:xfrm>
          <a:prstGeom prst="rect">
            <a:avLst/>
          </a:prstGeom>
          <a:solidFill>
            <a:srgbClr val="EEF0F3"/>
          </a:solidFill>
          <a:ln w="9525">
            <a:solidFill>
              <a:srgbClr val="DCDEE1"/>
            </a:solidFill>
            <a:prstDash val="solid"/>
          </a:ln>
        </p:spPr>
      </p:sp>
      <p:sp>
        <p:nvSpPr>
          <p:cNvPr id="20" name="Text 17"/>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1" name="Text 18"/>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A good companion to Option B for the visitor who will not answer questions. Not a replacement for it.</a:t>
            </a:r>
            <a:endParaRPr lang="en-US" sz="1000" dirty="0"/>
          </a:p>
        </p:txBody>
      </p:sp>
      <p:sp>
        <p:nvSpPr>
          <p:cNvPr id="22" name="Text 19"/>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SCHEMES PAGE · OPTION A OF 2</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Pictures of the Nine Groups, with Cards</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8" name="Text 5"/>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Choosing a group from the pictures; the cards below change with it.</a:t>
            </a:r>
            <a:endParaRPr lang="en-US" sz="900" dirty="0"/>
          </a:p>
        </p:txBody>
      </p:sp>
      <p:sp>
        <p:nvSpPr>
          <p:cNvPr id="9" name="Text 6"/>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0" name="Text 7"/>
          <p:cNvSpPr txBox="1"/>
          <p:nvPr/>
        </p:nvSpPr>
        <p:spPr>
          <a:xfrm>
            <a:off x="6510528" y="1664208"/>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 row of pictures for the nine groups, above cards for each scheme.</a:t>
            </a:r>
            <a:endParaRPr lang="en-US" sz="950" dirty="0"/>
          </a:p>
        </p:txBody>
      </p:sp>
      <p:sp>
        <p:nvSpPr>
          <p:cNvPr id="11" name="Text 8"/>
          <p:cNvSpPr txBox="1"/>
          <p:nvPr/>
        </p:nvSpPr>
        <p:spPr>
          <a:xfrm>
            <a:off x="6510528" y="1953158"/>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2" name="Text 9"/>
          <p:cNvSpPr txBox="1"/>
          <p:nvPr/>
        </p:nvSpPr>
        <p:spPr>
          <a:xfrm>
            <a:off x="6510528" y="2117750"/>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Picks their group from the pictures, then reads the scheme cards below.</a:t>
            </a:r>
            <a:endParaRPr lang="en-US" sz="950" dirty="0"/>
          </a:p>
        </p:txBody>
      </p:sp>
      <p:sp>
        <p:nvSpPr>
          <p:cNvPr id="13" name="Text 10"/>
          <p:cNvSpPr txBox="1"/>
          <p:nvPr/>
        </p:nvSpPr>
        <p:spPr>
          <a:xfrm>
            <a:off x="6510528" y="2406701"/>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4" name="Text 11"/>
          <p:cNvSpPr txBox="1"/>
          <p:nvPr/>
        </p:nvSpPr>
        <p:spPr>
          <a:xfrm>
            <a:off x="6510528" y="2571293"/>
            <a:ext cx="5022799" cy="75346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All nine groups visible at once — no arrows, no scrolling to find yourself</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Pictures work across languages and reading levels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Cards feel welcoming rather than administrative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Consistent with how the home page presents groups, so the idea is met twice</a:t>
            </a:r>
            <a:endParaRPr lang="en-US" sz="950" dirty="0"/>
          </a:p>
        </p:txBody>
      </p:sp>
      <p:sp>
        <p:nvSpPr>
          <p:cNvPr id="15" name="Text 12"/>
          <p:cNvSpPr txBox="1"/>
          <p:nvPr/>
        </p:nvSpPr>
        <p:spPr>
          <a:xfrm>
            <a:off x="6510528" y="3397910"/>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6" name="Text 13"/>
          <p:cNvSpPr txBox="1"/>
          <p:nvPr/>
        </p:nvSpPr>
        <p:spPr>
          <a:xfrm>
            <a:off x="6510528" y="3562502"/>
            <a:ext cx="5022799" cy="75346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Far fewer schemes fit on one screen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card has no room for who runs the scheme, or whether it is Central or State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Two schemes cannot be compared side by side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Nine illustrations to commission and to keep up to date</a:t>
            </a:r>
            <a:endParaRPr lang="en-US" sz="950" dirty="0"/>
          </a:p>
        </p:txBody>
      </p:sp>
      <p:sp>
        <p:nvSpPr>
          <p:cNvPr id="17" name="Text 14"/>
          <p:cNvSpPr txBox="1"/>
          <p:nvPr/>
        </p:nvSpPr>
        <p:spPr>
          <a:xfrm>
            <a:off x="6510528" y="4389120"/>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18" name="Text 15"/>
          <p:cNvSpPr txBox="1"/>
          <p:nvPr/>
        </p:nvSpPr>
        <p:spPr>
          <a:xfrm>
            <a:off x="6510528" y="4553712"/>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and commission nine illustrations.</a:t>
            </a:r>
            <a:endParaRPr lang="en-US" sz="950" dirty="0"/>
          </a:p>
        </p:txBody>
      </p:sp>
      <p:sp>
        <p:nvSpPr>
          <p:cNvPr id="19" name="Shape 16"/>
          <p:cNvSpPr/>
          <p:nvPr/>
        </p:nvSpPr>
        <p:spPr>
          <a:xfrm>
            <a:off x="6510528" y="5687568"/>
            <a:ext cx="5022799" cy="658368"/>
          </a:xfrm>
          <a:prstGeom prst="rect">
            <a:avLst/>
          </a:prstGeom>
          <a:solidFill>
            <a:srgbClr val="EEF0F3"/>
          </a:solidFill>
          <a:ln w="9525">
            <a:solidFill>
              <a:srgbClr val="DCDEE1"/>
            </a:solidFill>
            <a:prstDash val="solid"/>
          </a:ln>
        </p:spPr>
      </p:sp>
      <p:sp>
        <p:nvSpPr>
          <p:cNvPr id="20" name="Text 17"/>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1" name="Text 18"/>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Not recommended for this page. The pictures are welcoming, but this is the page where people compare.</a:t>
            </a:r>
            <a:endParaRPr lang="en-US" sz="1000" dirty="0"/>
          </a:p>
        </p:txBody>
      </p:sp>
      <p:sp>
        <p:nvSpPr>
          <p:cNvPr id="22" name="Text 19"/>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SCHEMES PAGE · OPTION B OF 2</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Filter Panel with a Table of Schemes</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825142" y="1078992"/>
            <a:ext cx="1038758"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25142"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10" name="Text 7"/>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Group, stage of life and kind of help ticked together — the filters combine.</a:t>
            </a:r>
            <a:endParaRPr lang="en-US" sz="900" dirty="0"/>
          </a:p>
        </p:txBody>
      </p:sp>
      <p:sp>
        <p:nvSpPr>
          <p:cNvPr id="11" name="Text 8"/>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2" name="Text 9"/>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Filters down the left; a table on the right showing what a person gets, who runs it, and whether it is Central or State.</a:t>
            </a:r>
            <a:endParaRPr lang="en-US" sz="950" dirty="0"/>
          </a:p>
        </p:txBody>
      </p:sp>
      <p:sp>
        <p:nvSpPr>
          <p:cNvPr id="13" name="Text 10"/>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4" name="Text 11"/>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Ticks the filters that apply and reads the schemes side by side to see which to apply for.</a:t>
            </a:r>
            <a:endParaRPr lang="en-US" sz="950" dirty="0"/>
          </a:p>
        </p:txBody>
      </p:sp>
      <p:sp>
        <p:nvSpPr>
          <p:cNvPr id="15" name="Text 12"/>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6" name="Text 13"/>
          <p:cNvSpPr txBox="1"/>
          <p:nvPr/>
        </p:nvSpPr>
        <p:spPr>
          <a:xfrm>
            <a:off x="6510528" y="2874874"/>
            <a:ext cx="5022799" cy="90525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Filters combine — group and stage of life and kind of help can be asked for together</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Shows who runs each scheme, and whether it is Central or State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Many more schemes visible, and comparable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count beside each filter warns before an empty result, rather than after it</a:t>
            </a:r>
            <a:endParaRPr lang="en-US" sz="950" dirty="0"/>
          </a:p>
        </p:txBody>
      </p:sp>
      <p:sp>
        <p:nvSpPr>
          <p:cNvPr id="17" name="Text 14"/>
          <p:cNvSpPr txBox="1"/>
          <p:nvPr/>
        </p:nvSpPr>
        <p:spPr>
          <a:xfrm>
            <a:off x="6510528" y="3853282"/>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8" name="Text 15"/>
          <p:cNvSpPr txBox="1"/>
          <p:nvPr/>
        </p:nvSpPr>
        <p:spPr>
          <a:xfrm>
            <a:off x="6510528" y="4017874"/>
            <a:ext cx="5022799" cy="574243"/>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table reads as a record rather than an invitation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Asks the citizen to use the site's own words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Needs more care on a small screen</a:t>
            </a:r>
            <a:endParaRPr lang="en-US" sz="950" dirty="0"/>
          </a:p>
        </p:txBody>
      </p:sp>
      <p:sp>
        <p:nvSpPr>
          <p:cNvPr id="19" name="Text 16"/>
          <p:cNvSpPr txBox="1"/>
          <p:nvPr/>
        </p:nvSpPr>
        <p:spPr>
          <a:xfrm>
            <a:off x="6510528" y="466526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20" name="Text 17"/>
          <p:cNvSpPr txBox="1"/>
          <p:nvPr/>
        </p:nvSpPr>
        <p:spPr>
          <a:xfrm>
            <a:off x="6510528" y="482986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including who runs each one and whether it is Central or State.</a:t>
            </a:r>
            <a:endParaRPr lang="en-US" sz="950" dirty="0"/>
          </a:p>
        </p:txBody>
      </p:sp>
      <p:sp>
        <p:nvSpPr>
          <p:cNvPr id="21" name="Shape 18"/>
          <p:cNvSpPr/>
          <p:nvPr/>
        </p:nvSpPr>
        <p:spPr>
          <a:xfrm>
            <a:off x="6510528" y="5687568"/>
            <a:ext cx="5022799" cy="658368"/>
          </a:xfrm>
          <a:prstGeom prst="rect">
            <a:avLst/>
          </a:prstGeom>
          <a:solidFill>
            <a:srgbClr val="ECF4FF"/>
          </a:solidFill>
          <a:ln w="15875">
            <a:solidFill>
              <a:srgbClr val="0373DF"/>
            </a:solidFill>
            <a:prstDash val="solid"/>
          </a:ln>
        </p:spPr>
      </p:sp>
      <p:sp>
        <p:nvSpPr>
          <p:cNvPr id="22" name="Text 19"/>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3" name="Text 20"/>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Recommended for the Schemes page. Option A's pictures can sit above this panel if the Department wishes to keep them.</a:t>
            </a:r>
            <a:endParaRPr lang="en-US" sz="1000" dirty="0"/>
          </a:p>
        </p:txBody>
      </p:sp>
      <p:sp>
        <p:nvSpPr>
          <p:cNvPr id="24"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ASSISTANT · OPTION A OF 1</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Samajik Sahayak — the Same Five Questions, in Chat</a:t>
            </a:r>
            <a:endParaRPr lang="en-US" sz="2600" dirty="0"/>
          </a:p>
        </p:txBody>
      </p:sp>
      <p:sp>
        <p:nvSpPr>
          <p:cNvPr id="4" name="Shape 2"/>
          <p:cNvSpPr/>
          <p:nvPr/>
        </p:nvSpPr>
        <p:spPr>
          <a:xfrm>
            <a:off x="658368" y="1078992"/>
            <a:ext cx="1594714"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078992"/>
            <a:ext cx="1594714" cy="237744"/>
          </a:xfrm>
          <a:prstGeom prst="rect">
            <a:avLst/>
          </a:prstGeom>
          <a:noFill/>
          <a:ln/>
        </p:spPr>
        <p:txBody>
          <a:bodyPr wrap="square" lIns="0" tIns="0" rIns="0" bIns="0" rtlCol="0" anchor="ctr"/>
          <a:lstStyle/>
          <a:p>
            <a:pPr algn="ctr" indent="0" marL="0">
              <a:buNone/>
            </a:pPr>
            <a:r>
              <a:rPr lang="en-US" sz="850" b="1" spc="90" kern="0" dirty="0">
                <a:solidFill>
                  <a:srgbClr val="54585E"/>
                </a:solidFill>
                <a:latin typeface="Noto Sans" pitchFamily="34" charset="0"/>
                <a:ea typeface="Noto Sans" pitchFamily="34" charset="-122"/>
                <a:cs typeface="Noto Sans" pitchFamily="34" charset="-120"/>
              </a:rPr>
              <a:t>ALREADY ON THE SITE</a:t>
            </a:r>
            <a:endParaRPr lang="en-US" sz="850" dirty="0"/>
          </a:p>
        </p:txBody>
      </p:sp>
      <p:sp>
        <p:nvSpPr>
          <p:cNvPr id="6" name="Shape 4"/>
          <p:cNvSpPr/>
          <p:nvPr/>
        </p:nvSpPr>
        <p:spPr>
          <a:xfrm>
            <a:off x="2381098" y="1078992"/>
            <a:ext cx="1038758"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238109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10" name="Text 7"/>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Opened from an ordinary page, then answered one question at a time.</a:t>
            </a:r>
            <a:endParaRPr lang="en-US" sz="900" dirty="0"/>
          </a:p>
        </p:txBody>
      </p:sp>
      <p:sp>
        <p:nvSpPr>
          <p:cNvPr id="11" name="Text 8"/>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2" name="Text 9"/>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The same five questions, asked one at a time in a chat window that is already built and reachable from every page.</a:t>
            </a:r>
            <a:endParaRPr lang="en-US" sz="950" dirty="0"/>
          </a:p>
        </p:txBody>
      </p:sp>
      <p:sp>
        <p:nvSpPr>
          <p:cNvPr id="13" name="Text 10"/>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4" name="Text 11"/>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Opens the assistant from whichever page they are on, answers on their phone, and is given schemes to open.</a:t>
            </a:r>
            <a:endParaRPr lang="en-US" sz="950" dirty="0"/>
          </a:p>
        </p:txBody>
      </p:sp>
      <p:sp>
        <p:nvSpPr>
          <p:cNvPr id="15" name="Text 12"/>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6" name="Text 13"/>
          <p:cNvSpPr txBox="1"/>
          <p:nvPr/>
        </p:nvSpPr>
        <p:spPr>
          <a:xfrm>
            <a:off x="6510528" y="2874874"/>
            <a:ext cx="5022799" cy="93268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Reachable from every page, including pages that lead nowhere else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One question per screen suits a mobile phone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Works in Hindi without a second design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Already built — only the scheme branch is new</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States plainly that it cannot decide or change an application</a:t>
            </a:r>
            <a:endParaRPr lang="en-US" sz="950" dirty="0"/>
          </a:p>
        </p:txBody>
      </p:sp>
      <p:sp>
        <p:nvSpPr>
          <p:cNvPr id="17" name="Text 14"/>
          <p:cNvSpPr txBox="1"/>
          <p:nvPr/>
        </p:nvSpPr>
        <p:spPr>
          <a:xfrm>
            <a:off x="6510528" y="3880714"/>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8" name="Text 15"/>
          <p:cNvSpPr txBox="1"/>
          <p:nvPr/>
        </p:nvSpPr>
        <p:spPr>
          <a:xfrm>
            <a:off x="6510528" y="4045306"/>
            <a:ext cx="5022799" cy="574243"/>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button in the corner is found only by those looking for it</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It covers the page on a small screen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Harder to use with a screen reader</a:t>
            </a:r>
            <a:endParaRPr lang="en-US" sz="950" dirty="0"/>
          </a:p>
        </p:txBody>
      </p:sp>
      <p:sp>
        <p:nvSpPr>
          <p:cNvPr id="19" name="Text 16"/>
          <p:cNvSpPr txBox="1"/>
          <p:nvPr/>
        </p:nvSpPr>
        <p:spPr>
          <a:xfrm>
            <a:off x="6510528" y="4692701"/>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20" name="Text 17"/>
          <p:cNvSpPr txBox="1"/>
          <p:nvPr/>
        </p:nvSpPr>
        <p:spPr>
          <a:xfrm>
            <a:off x="6510528" y="4857293"/>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and ask the existing vendor to add the scheme branch.</a:t>
            </a:r>
            <a:endParaRPr lang="en-US" sz="950" dirty="0"/>
          </a:p>
        </p:txBody>
      </p:sp>
      <p:sp>
        <p:nvSpPr>
          <p:cNvPr id="21" name="Shape 18"/>
          <p:cNvSpPr/>
          <p:nvPr/>
        </p:nvSpPr>
        <p:spPr>
          <a:xfrm>
            <a:off x="6510528" y="5687568"/>
            <a:ext cx="5022799" cy="658368"/>
          </a:xfrm>
          <a:prstGeom prst="rect">
            <a:avLst/>
          </a:prstGeom>
          <a:solidFill>
            <a:srgbClr val="ECF4FF"/>
          </a:solidFill>
          <a:ln w="15875">
            <a:solidFill>
              <a:srgbClr val="0373DF"/>
            </a:solidFill>
            <a:prstDash val="solid"/>
          </a:ln>
        </p:spPr>
      </p:sp>
      <p:sp>
        <p:nvSpPr>
          <p:cNvPr id="22" name="Text 19"/>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3" name="Text 20"/>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Recommended, alongside whichever home page option is approved. It reaches the person already lost on a page.</a:t>
            </a:r>
            <a:endParaRPr lang="en-US" sz="1000" dirty="0"/>
          </a:p>
        </p:txBody>
      </p:sp>
      <p:sp>
        <p:nvSpPr>
          <p:cNvPr id="24"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TAKEN TOGETHER</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How the Options Combine</a:t>
            </a:r>
            <a:endParaRPr lang="en-US" sz="2600" dirty="0"/>
          </a:p>
        </p:txBody>
      </p:sp>
      <p:sp>
        <p:nvSpPr>
          <p:cNvPr id="4" name="Text 2"/>
          <p:cNvSpPr txBox="1"/>
          <p:nvPr/>
        </p:nvSpPr>
        <p:spPr>
          <a:xfrm>
            <a:off x="658368" y="1060704"/>
            <a:ext cx="10004962" cy="274320"/>
          </a:xfrm>
          <a:prstGeom prst="rect">
            <a:avLst/>
          </a:prstGeom>
          <a:noFill/>
          <a:ln/>
        </p:spPr>
        <p:txBody>
          <a:bodyPr wrap="square" lIns="0" tIns="0" rIns="0" bIns="0" rtlCol="0" anchor="ctr"/>
          <a:lstStyle/>
          <a:p>
            <a:pPr indent="0" marL="0">
              <a:buNone/>
            </a:pPr>
            <a:r>
              <a:rPr lang="en-US" sz="1200" dirty="0">
                <a:solidFill>
                  <a:srgbClr val="3A3D41"/>
                </a:solidFill>
                <a:latin typeface="Noto Sans" pitchFamily="34" charset="0"/>
                <a:ea typeface="Noto Sans" pitchFamily="34" charset="-122"/>
                <a:cs typeface="Noto Sans" pitchFamily="34" charset="-120"/>
              </a:rPr>
              <a:t>The three parts are settled separately, so this is a set of courses open to the Department — not a single either-or.</a:t>
            </a:r>
            <a:endParaRPr lang="en-US" sz="1200" dirty="0"/>
          </a:p>
        </p:txBody>
      </p:sp>
      <p:sp>
        <p:nvSpPr>
          <p:cNvPr id="5" name="Text 3"/>
          <p:cNvSpPr txBox="1"/>
          <p:nvPr/>
        </p:nvSpPr>
        <p:spPr>
          <a:xfrm>
            <a:off x="658368" y="1463040"/>
            <a:ext cx="173736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COURSE</a:t>
            </a:r>
            <a:endParaRPr lang="en-US" sz="850" dirty="0"/>
          </a:p>
        </p:txBody>
      </p:sp>
      <p:sp>
        <p:nvSpPr>
          <p:cNvPr id="6" name="Text 4"/>
          <p:cNvSpPr txBox="1"/>
          <p:nvPr/>
        </p:nvSpPr>
        <p:spPr>
          <a:xfrm>
            <a:off x="2395728" y="1463040"/>
            <a:ext cx="210312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HOME PAGE</a:t>
            </a:r>
            <a:endParaRPr lang="en-US" sz="850" dirty="0"/>
          </a:p>
        </p:txBody>
      </p:sp>
      <p:sp>
        <p:nvSpPr>
          <p:cNvPr id="7" name="Text 5"/>
          <p:cNvSpPr txBox="1"/>
          <p:nvPr/>
        </p:nvSpPr>
        <p:spPr>
          <a:xfrm>
            <a:off x="4498848" y="1463040"/>
            <a:ext cx="246888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SCHEMES PAGE</a:t>
            </a:r>
            <a:endParaRPr lang="en-US" sz="850" dirty="0"/>
          </a:p>
        </p:txBody>
      </p:sp>
      <p:sp>
        <p:nvSpPr>
          <p:cNvPr id="8" name="Text 6"/>
          <p:cNvSpPr txBox="1"/>
          <p:nvPr/>
        </p:nvSpPr>
        <p:spPr>
          <a:xfrm>
            <a:off x="6967728" y="1463040"/>
            <a:ext cx="86868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ASSISTANT</a:t>
            </a:r>
            <a:endParaRPr lang="en-US" sz="850" dirty="0"/>
          </a:p>
        </p:txBody>
      </p:sp>
      <p:sp>
        <p:nvSpPr>
          <p:cNvPr id="9" name="Text 7"/>
          <p:cNvSpPr txBox="1"/>
          <p:nvPr/>
        </p:nvSpPr>
        <p:spPr>
          <a:xfrm>
            <a:off x="7836408" y="1463040"/>
            <a:ext cx="3696919"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MEANS FOR THE CITIZEN</a:t>
            </a:r>
            <a:endParaRPr lang="en-US" sz="850" dirty="0"/>
          </a:p>
        </p:txBody>
      </p:sp>
      <p:sp>
        <p:nvSpPr>
          <p:cNvPr id="10" name="Shape 8"/>
          <p:cNvSpPr/>
          <p:nvPr/>
        </p:nvSpPr>
        <p:spPr>
          <a:xfrm>
            <a:off x="658368" y="1737360"/>
            <a:ext cx="10874959" cy="1042416"/>
          </a:xfrm>
          <a:prstGeom prst="rect">
            <a:avLst/>
          </a:prstGeom>
          <a:solidFill>
            <a:srgbClr val="FFFFFF"/>
          </a:solidFill>
          <a:ln w="9525">
            <a:solidFill>
              <a:srgbClr val="DCDEE1"/>
            </a:solidFill>
            <a:prstDash val="solid"/>
          </a:ln>
        </p:spPr>
      </p:sp>
      <p:sp>
        <p:nvSpPr>
          <p:cNvPr id="11" name="Text 9"/>
          <p:cNvSpPr txBox="1"/>
          <p:nvPr/>
        </p:nvSpPr>
        <p:spPr>
          <a:xfrm>
            <a:off x="804672" y="1865376"/>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1E2124"/>
                </a:solidFill>
                <a:latin typeface="Noto Sans" pitchFamily="34" charset="0"/>
                <a:ea typeface="Noto Sans" pitchFamily="34" charset="-122"/>
                <a:cs typeface="Noto Sans" pitchFamily="34" charset="-120"/>
              </a:rPr>
              <a:t>Minimum credible</a:t>
            </a:r>
            <a:endParaRPr lang="en-US" sz="1050" dirty="0"/>
          </a:p>
        </p:txBody>
      </p:sp>
      <p:sp>
        <p:nvSpPr>
          <p:cNvPr id="12" name="Text 10"/>
          <p:cNvSpPr txBox="1"/>
          <p:nvPr/>
        </p:nvSpPr>
        <p:spPr>
          <a:xfrm>
            <a:off x="2542032" y="1865376"/>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Repair Option A</a:t>
            </a:r>
            <a:endParaRPr lang="en-US" sz="1050" dirty="0"/>
          </a:p>
        </p:txBody>
      </p:sp>
      <p:sp>
        <p:nvSpPr>
          <p:cNvPr id="13" name="Text 11"/>
          <p:cNvSpPr txBox="1"/>
          <p:nvPr/>
        </p:nvSpPr>
        <p:spPr>
          <a:xfrm>
            <a:off x="4645152" y="1865376"/>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a:t>
            </a:r>
            <a:endParaRPr lang="en-US" sz="1050" dirty="0"/>
          </a:p>
        </p:txBody>
      </p:sp>
      <p:sp>
        <p:nvSpPr>
          <p:cNvPr id="14" name="Text 12"/>
          <p:cNvSpPr txBox="1"/>
          <p:nvPr/>
        </p:nvSpPr>
        <p:spPr>
          <a:xfrm>
            <a:off x="7114032" y="1865376"/>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Later</a:t>
            </a:r>
            <a:endParaRPr lang="en-US" sz="1050" dirty="0"/>
          </a:p>
        </p:txBody>
      </p:sp>
      <p:sp>
        <p:nvSpPr>
          <p:cNvPr id="15" name="Text 13"/>
          <p:cNvSpPr txBox="1"/>
          <p:nvPr/>
        </p:nvSpPr>
        <p:spPr>
          <a:xfrm>
            <a:off x="7982712" y="1865376"/>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The persona panel finally delivers what it promises, and the Schemes page becomes usable. The cheapest route to a real improvement.</a:t>
            </a:r>
            <a:endParaRPr lang="en-US" sz="950" dirty="0"/>
          </a:p>
        </p:txBody>
      </p:sp>
      <p:sp>
        <p:nvSpPr>
          <p:cNvPr id="16" name="Shape 14"/>
          <p:cNvSpPr/>
          <p:nvPr/>
        </p:nvSpPr>
        <p:spPr>
          <a:xfrm>
            <a:off x="658368" y="2871216"/>
            <a:ext cx="10874959" cy="1042416"/>
          </a:xfrm>
          <a:prstGeom prst="rect">
            <a:avLst/>
          </a:prstGeom>
          <a:solidFill>
            <a:srgbClr val="ECF4FF"/>
          </a:solidFill>
          <a:ln w="15875">
            <a:solidFill>
              <a:srgbClr val="0373DF"/>
            </a:solidFill>
            <a:prstDash val="solid"/>
          </a:ln>
        </p:spPr>
      </p:sp>
      <p:sp>
        <p:nvSpPr>
          <p:cNvPr id="17" name="Text 15"/>
          <p:cNvSpPr txBox="1"/>
          <p:nvPr/>
        </p:nvSpPr>
        <p:spPr>
          <a:xfrm>
            <a:off x="804672" y="2999232"/>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003975"/>
                </a:solidFill>
                <a:latin typeface="Noto Sans" pitchFamily="34" charset="0"/>
                <a:ea typeface="Noto Sans" pitchFamily="34" charset="-122"/>
                <a:cs typeface="Noto Sans" pitchFamily="34" charset="-120"/>
              </a:rPr>
              <a:t>Recommended</a:t>
            </a:r>
            <a:endParaRPr lang="en-US" sz="1050" dirty="0"/>
          </a:p>
        </p:txBody>
      </p:sp>
      <p:sp>
        <p:nvSpPr>
          <p:cNvPr id="18" name="Text 16"/>
          <p:cNvSpPr txBox="1"/>
          <p:nvPr/>
        </p:nvSpPr>
        <p:spPr>
          <a:xfrm>
            <a:off x="2542032" y="2999232"/>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with A repaired</a:t>
            </a:r>
            <a:endParaRPr lang="en-US" sz="1050" dirty="0"/>
          </a:p>
        </p:txBody>
      </p:sp>
      <p:sp>
        <p:nvSpPr>
          <p:cNvPr id="19" name="Text 17"/>
          <p:cNvSpPr txBox="1"/>
          <p:nvPr/>
        </p:nvSpPr>
        <p:spPr>
          <a:xfrm>
            <a:off x="4645152" y="2999232"/>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a:t>
            </a:r>
            <a:endParaRPr lang="en-US" sz="1050" dirty="0"/>
          </a:p>
        </p:txBody>
      </p:sp>
      <p:sp>
        <p:nvSpPr>
          <p:cNvPr id="20" name="Text 18"/>
          <p:cNvSpPr txBox="1"/>
          <p:nvPr/>
        </p:nvSpPr>
        <p:spPr>
          <a:xfrm>
            <a:off x="7114032" y="2999232"/>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21" name="Text 19"/>
          <p:cNvSpPr txBox="1"/>
          <p:nvPr/>
        </p:nvSpPr>
        <p:spPr>
          <a:xfrm>
            <a:off x="7982712" y="2999232"/>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Two ways in for two kinds of visitor, one page that can genuinely be filtered, and a conversational route for the person already lost on a page.</a:t>
            </a:r>
            <a:endParaRPr lang="en-US" sz="950" dirty="0"/>
          </a:p>
        </p:txBody>
      </p:sp>
      <p:sp>
        <p:nvSpPr>
          <p:cNvPr id="22" name="Shape 20"/>
          <p:cNvSpPr/>
          <p:nvPr/>
        </p:nvSpPr>
        <p:spPr>
          <a:xfrm>
            <a:off x="658368" y="4005072"/>
            <a:ext cx="10874959" cy="1042416"/>
          </a:xfrm>
          <a:prstGeom prst="rect">
            <a:avLst/>
          </a:prstGeom>
          <a:solidFill>
            <a:srgbClr val="FFFFFF"/>
          </a:solidFill>
          <a:ln w="9525">
            <a:solidFill>
              <a:srgbClr val="DCDEE1"/>
            </a:solidFill>
            <a:prstDash val="solid"/>
          </a:ln>
        </p:spPr>
      </p:sp>
      <p:sp>
        <p:nvSpPr>
          <p:cNvPr id="23" name="Text 21"/>
          <p:cNvSpPr txBox="1"/>
          <p:nvPr/>
        </p:nvSpPr>
        <p:spPr>
          <a:xfrm>
            <a:off x="804672" y="4133088"/>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1E2124"/>
                </a:solidFill>
                <a:latin typeface="Noto Sans" pitchFamily="34" charset="0"/>
                <a:ea typeface="Noto Sans" pitchFamily="34" charset="-122"/>
                <a:cs typeface="Noto Sans" pitchFamily="34" charset="-120"/>
              </a:rPr>
              <a:t>Fullest</a:t>
            </a:r>
            <a:endParaRPr lang="en-US" sz="1050" dirty="0"/>
          </a:p>
        </p:txBody>
      </p:sp>
      <p:sp>
        <p:nvSpPr>
          <p:cNvPr id="24" name="Text 22"/>
          <p:cNvSpPr txBox="1"/>
          <p:nvPr/>
        </p:nvSpPr>
        <p:spPr>
          <a:xfrm>
            <a:off x="2542032" y="4133088"/>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with A repaired</a:t>
            </a:r>
            <a:endParaRPr lang="en-US" sz="1050" dirty="0"/>
          </a:p>
        </p:txBody>
      </p:sp>
      <p:sp>
        <p:nvSpPr>
          <p:cNvPr id="25" name="Text 23"/>
          <p:cNvSpPr txBox="1"/>
          <p:nvPr/>
        </p:nvSpPr>
        <p:spPr>
          <a:xfrm>
            <a:off x="4645152" y="4133088"/>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keeping A's pictures above the panel</a:t>
            </a:r>
            <a:endParaRPr lang="en-US" sz="1050" dirty="0"/>
          </a:p>
        </p:txBody>
      </p:sp>
      <p:sp>
        <p:nvSpPr>
          <p:cNvPr id="26" name="Text 24"/>
          <p:cNvSpPr txBox="1"/>
          <p:nvPr/>
        </p:nvSpPr>
        <p:spPr>
          <a:xfrm>
            <a:off x="7114032" y="4133088"/>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27" name="Text 25"/>
          <p:cNvSpPr txBox="1"/>
          <p:nvPr/>
        </p:nvSpPr>
        <p:spPr>
          <a:xfrm>
            <a:off x="7982712" y="4133088"/>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As above, and the Schemes page keeps the warmth of the pictures without losing the facts of the table.</a:t>
            </a:r>
            <a:endParaRPr lang="en-US" sz="950" dirty="0"/>
          </a:p>
        </p:txBody>
      </p:sp>
      <p:sp>
        <p:nvSpPr>
          <p:cNvPr id="28" name="Shape 26"/>
          <p:cNvSpPr/>
          <p:nvPr/>
        </p:nvSpPr>
        <p:spPr>
          <a:xfrm>
            <a:off x="658368" y="5138928"/>
            <a:ext cx="10874959" cy="1042416"/>
          </a:xfrm>
          <a:prstGeom prst="rect">
            <a:avLst/>
          </a:prstGeom>
          <a:solidFill>
            <a:srgbClr val="EEF0F3"/>
          </a:solidFill>
          <a:ln w="9525">
            <a:solidFill>
              <a:srgbClr val="DCDEE1"/>
            </a:solidFill>
            <a:prstDash val="solid"/>
          </a:ln>
        </p:spPr>
      </p:sp>
      <p:sp>
        <p:nvSpPr>
          <p:cNvPr id="29" name="Text 27"/>
          <p:cNvSpPr txBox="1"/>
          <p:nvPr/>
        </p:nvSpPr>
        <p:spPr>
          <a:xfrm>
            <a:off x="804672" y="5266944"/>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A43A00"/>
                </a:solidFill>
                <a:latin typeface="Noto Sans" pitchFamily="34" charset="0"/>
                <a:ea typeface="Noto Sans" pitchFamily="34" charset="-122"/>
                <a:cs typeface="Noto Sans" pitchFamily="34" charset="-120"/>
              </a:rPr>
              <a:t>Not advised</a:t>
            </a:r>
            <a:endParaRPr lang="en-US" sz="1050" dirty="0"/>
          </a:p>
        </p:txBody>
      </p:sp>
      <p:sp>
        <p:nvSpPr>
          <p:cNvPr id="30" name="Text 28"/>
          <p:cNvSpPr txBox="1"/>
          <p:nvPr/>
        </p:nvSpPr>
        <p:spPr>
          <a:xfrm>
            <a:off x="2542032" y="5266944"/>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only</a:t>
            </a:r>
            <a:endParaRPr lang="en-US" sz="1050" dirty="0"/>
          </a:p>
        </p:txBody>
      </p:sp>
      <p:sp>
        <p:nvSpPr>
          <p:cNvPr id="31" name="Text 29"/>
          <p:cNvSpPr txBox="1"/>
          <p:nvPr/>
        </p:nvSpPr>
        <p:spPr>
          <a:xfrm>
            <a:off x="4645152" y="5266944"/>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A only</a:t>
            </a:r>
            <a:endParaRPr lang="en-US" sz="1050" dirty="0"/>
          </a:p>
        </p:txBody>
      </p:sp>
      <p:sp>
        <p:nvSpPr>
          <p:cNvPr id="32" name="Text 30"/>
          <p:cNvSpPr txBox="1"/>
          <p:nvPr/>
        </p:nvSpPr>
        <p:spPr>
          <a:xfrm>
            <a:off x="7114032" y="5266944"/>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33" name="Text 31"/>
          <p:cNvSpPr txBox="1"/>
          <p:nvPr/>
        </p:nvSpPr>
        <p:spPr>
          <a:xfrm>
            <a:off x="7982712" y="5266944"/>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Three separate pieces of work building three copies of the same scheme information, with nothing to keep them in step.</a:t>
            </a:r>
            <a:endParaRPr lang="en-US" sz="950" dirty="0"/>
          </a:p>
        </p:txBody>
      </p:sp>
      <p:sp>
        <p:nvSpPr>
          <p:cNvPr id="34" name="Text 32"/>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The three parts are independent: a choice on one does not settle the others.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SEQUENCING</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What Has to Be Done First</a:t>
            </a:r>
            <a:endParaRPr lang="en-US" sz="2600" dirty="0"/>
          </a:p>
        </p:txBody>
      </p:sp>
      <p:sp>
        <p:nvSpPr>
          <p:cNvPr id="4" name="Text 2"/>
          <p:cNvSpPr txBox="1"/>
          <p:nvPr/>
        </p:nvSpPr>
        <p:spPr>
          <a:xfrm>
            <a:off x="658368" y="1060704"/>
            <a:ext cx="10004962" cy="274320"/>
          </a:xfrm>
          <a:prstGeom prst="rect">
            <a:avLst/>
          </a:prstGeom>
          <a:noFill/>
          <a:ln/>
        </p:spPr>
        <p:txBody>
          <a:bodyPr wrap="square" lIns="0" tIns="0" rIns="0" bIns="0" rtlCol="0" anchor="ctr"/>
          <a:lstStyle/>
          <a:p>
            <a:pPr indent="0" marL="0">
              <a:buNone/>
            </a:pPr>
            <a:r>
              <a:rPr lang="en-US" sz="1200" dirty="0">
                <a:solidFill>
                  <a:srgbClr val="3A3D41"/>
                </a:solidFill>
                <a:latin typeface="Noto Sans" pitchFamily="34" charset="0"/>
                <a:ea typeface="Noto Sans" pitchFamily="34" charset="-122"/>
                <a:cs typeface="Noto Sans" pitchFamily="34" charset="-120"/>
              </a:rPr>
              <a:t>Every option above reads the same information about each scheme. Until it is filled in, none of them can work — which is why the tagging comes before the design.</a:t>
            </a:r>
            <a:endParaRPr lang="en-US" sz="1200" dirty="0"/>
          </a:p>
        </p:txBody>
      </p:sp>
      <p:sp>
        <p:nvSpPr>
          <p:cNvPr id="5" name="Shape 3"/>
          <p:cNvSpPr/>
          <p:nvPr/>
        </p:nvSpPr>
        <p:spPr>
          <a:xfrm>
            <a:off x="658368" y="1463040"/>
            <a:ext cx="2014057" cy="3785616"/>
          </a:xfrm>
          <a:prstGeom prst="rect">
            <a:avLst/>
          </a:prstGeom>
          <a:solidFill>
            <a:srgbClr val="EEF0F3"/>
          </a:solidFill>
          <a:ln w="9525">
            <a:solidFill>
              <a:srgbClr val="DCDEE1"/>
            </a:solidFill>
            <a:prstDash val="solid"/>
          </a:ln>
        </p:spPr>
      </p:sp>
      <p:sp>
        <p:nvSpPr>
          <p:cNvPr id="6" name="Text 4"/>
          <p:cNvSpPr txBox="1"/>
          <p:nvPr/>
        </p:nvSpPr>
        <p:spPr>
          <a:xfrm>
            <a:off x="859536"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0</a:t>
            </a:r>
            <a:endParaRPr lang="en-US" sz="950" dirty="0"/>
          </a:p>
        </p:txBody>
      </p:sp>
      <p:sp>
        <p:nvSpPr>
          <p:cNvPr id="7" name="Text 5"/>
          <p:cNvSpPr txBox="1"/>
          <p:nvPr/>
        </p:nvSpPr>
        <p:spPr>
          <a:xfrm>
            <a:off x="859536"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Correcting What Is Wrong</a:t>
            </a:r>
            <a:endParaRPr lang="en-US" sz="1400" dirty="0"/>
          </a:p>
        </p:txBody>
      </p:sp>
      <p:sp>
        <p:nvSpPr>
          <p:cNvPr id="8" name="Text 6"/>
          <p:cNvSpPr txBox="1"/>
          <p:nvPr/>
        </p:nvSpPr>
        <p:spPr>
          <a:xfrm>
            <a:off x="859536"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2–3 weeks</a:t>
            </a:r>
            <a:endParaRPr lang="en-US" sz="1150" dirty="0"/>
          </a:p>
        </p:txBody>
      </p:sp>
      <p:sp>
        <p:nvSpPr>
          <p:cNvPr id="9" name="Text 7"/>
          <p:cNvSpPr txBox="1"/>
          <p:nvPr/>
        </p:nvSpPr>
        <p:spPr>
          <a:xfrm>
            <a:off x="859536"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Small effort · useful</a:t>
            </a:r>
            <a:endParaRPr lang="en-US" sz="950" dirty="0"/>
          </a:p>
        </p:txBody>
      </p:sp>
      <p:sp>
        <p:nvSpPr>
          <p:cNvPr id="10" name="Text 8"/>
          <p:cNvSpPr txBox="1"/>
          <p:nvPr/>
        </p:nvSpPr>
        <p:spPr>
          <a:xfrm>
            <a:off x="859536"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Remove the leftover control in the footer, correct the two spelling errors, make missing pages return a proper error, restore the accessibility page, and take down the empty scheme pages.</a:t>
            </a:r>
            <a:endParaRPr lang="en-US" sz="1000" dirty="0"/>
          </a:p>
        </p:txBody>
      </p:sp>
      <p:sp>
        <p:nvSpPr>
          <p:cNvPr id="11" name="Shape 9"/>
          <p:cNvSpPr/>
          <p:nvPr/>
        </p:nvSpPr>
        <p:spPr>
          <a:xfrm>
            <a:off x="2873593" y="1463040"/>
            <a:ext cx="2014057" cy="3785616"/>
          </a:xfrm>
          <a:prstGeom prst="rect">
            <a:avLst/>
          </a:prstGeom>
          <a:solidFill>
            <a:srgbClr val="003975"/>
          </a:solidFill>
          <a:ln w="9525">
            <a:solidFill>
              <a:srgbClr val="003975"/>
            </a:solidFill>
            <a:prstDash val="solid"/>
          </a:ln>
        </p:spPr>
      </p:sp>
      <p:sp>
        <p:nvSpPr>
          <p:cNvPr id="12" name="Text 10"/>
          <p:cNvSpPr txBox="1"/>
          <p:nvPr/>
        </p:nvSpPr>
        <p:spPr>
          <a:xfrm>
            <a:off x="3074761" y="1682496"/>
            <a:ext cx="1611721" cy="201168"/>
          </a:xfrm>
          <a:prstGeom prst="rect">
            <a:avLst/>
          </a:prstGeom>
          <a:noFill/>
          <a:ln/>
        </p:spPr>
        <p:txBody>
          <a:bodyPr wrap="square" lIns="0" tIns="0" rIns="0" bIns="0" rtlCol="0" anchor="ctr"/>
          <a:lstStyle/>
          <a:p>
            <a:pPr indent="0" marL="0">
              <a:buNone/>
            </a:pPr>
            <a:r>
              <a:rPr lang="en-US" sz="950" b="1" spc="110" kern="0" dirty="0">
                <a:solidFill>
                  <a:srgbClr val="92C2FF"/>
                </a:solidFill>
                <a:latin typeface="Noto Sans" pitchFamily="34" charset="0"/>
                <a:ea typeface="Noto Sans" pitchFamily="34" charset="-122"/>
                <a:cs typeface="Noto Sans" pitchFamily="34" charset="-120"/>
              </a:rPr>
              <a:t>STAGE 1</a:t>
            </a:r>
            <a:endParaRPr lang="en-US" sz="950" dirty="0"/>
          </a:p>
        </p:txBody>
      </p:sp>
      <p:sp>
        <p:nvSpPr>
          <p:cNvPr id="13" name="Text 11"/>
          <p:cNvSpPr txBox="1"/>
          <p:nvPr/>
        </p:nvSpPr>
        <p:spPr>
          <a:xfrm>
            <a:off x="3074761"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FFFFFF"/>
                </a:solidFill>
                <a:latin typeface="Noto Sans" pitchFamily="34" charset="0"/>
                <a:ea typeface="Noto Sans" pitchFamily="34" charset="-122"/>
                <a:cs typeface="Noto Sans" pitchFamily="34" charset="-120"/>
              </a:rPr>
              <a:t>Filling In the Information</a:t>
            </a:r>
            <a:endParaRPr lang="en-US" sz="1400" dirty="0"/>
          </a:p>
        </p:txBody>
      </p:sp>
      <p:sp>
        <p:nvSpPr>
          <p:cNvPr id="14" name="Text 12"/>
          <p:cNvSpPr txBox="1"/>
          <p:nvPr/>
        </p:nvSpPr>
        <p:spPr>
          <a:xfrm>
            <a:off x="3074761" y="2560320"/>
            <a:ext cx="1611721" cy="219456"/>
          </a:xfrm>
          <a:prstGeom prst="rect">
            <a:avLst/>
          </a:prstGeom>
          <a:noFill/>
          <a:ln/>
        </p:spPr>
        <p:txBody>
          <a:bodyPr wrap="square" lIns="0" tIns="0" rIns="0" bIns="0" rtlCol="0" anchor="ctr"/>
          <a:lstStyle/>
          <a:p>
            <a:pPr indent="0" marL="0">
              <a:buNone/>
            </a:pPr>
            <a:r>
              <a:rPr lang="en-US" sz="1150" b="1" dirty="0">
                <a:solidFill>
                  <a:srgbClr val="92C2FF"/>
                </a:solidFill>
                <a:latin typeface="Noto Sans" pitchFamily="34" charset="0"/>
                <a:ea typeface="Noto Sans" pitchFamily="34" charset="-122"/>
                <a:cs typeface="Noto Sans" pitchFamily="34" charset="-120"/>
              </a:rPr>
              <a:t>4–8 weeks</a:t>
            </a:r>
            <a:endParaRPr lang="en-US" sz="1150" dirty="0"/>
          </a:p>
        </p:txBody>
      </p:sp>
      <p:sp>
        <p:nvSpPr>
          <p:cNvPr id="15" name="Text 13"/>
          <p:cNvSpPr txBox="1"/>
          <p:nvPr/>
        </p:nvSpPr>
        <p:spPr>
          <a:xfrm>
            <a:off x="3074761"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C0DBFF"/>
                </a:solidFill>
                <a:latin typeface="Noto Sans" pitchFamily="34" charset="0"/>
                <a:ea typeface="Noto Sans" pitchFamily="34" charset="-122"/>
                <a:cs typeface="Noto Sans" pitchFamily="34" charset="-120"/>
              </a:rPr>
              <a:t>Large effort · essential</a:t>
            </a:r>
            <a:endParaRPr lang="en-US" sz="950" dirty="0"/>
          </a:p>
        </p:txBody>
      </p:sp>
      <p:sp>
        <p:nvSpPr>
          <p:cNvPr id="16" name="Text 14"/>
          <p:cNvSpPr txBox="1"/>
          <p:nvPr/>
        </p:nvSpPr>
        <p:spPr>
          <a:xfrm>
            <a:off x="3074761"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C0DBFF"/>
                </a:solidFill>
                <a:latin typeface="Noto Sans" pitchFamily="34" charset="0"/>
                <a:ea typeface="Noto Sans" pitchFamily="34" charset="-122"/>
                <a:cs typeface="Noto Sans" pitchFamily="34" charset="-120"/>
              </a:rPr>
              <a:t>Decide what is recorded about each scheme, and fill it in for all 134. Add the major schemes missing from dosje.gov.in. Rewrite the list of categories and groups.</a:t>
            </a:r>
            <a:endParaRPr lang="en-US" sz="1000" dirty="0"/>
          </a:p>
        </p:txBody>
      </p:sp>
      <p:sp>
        <p:nvSpPr>
          <p:cNvPr id="17" name="Shape 15"/>
          <p:cNvSpPr/>
          <p:nvPr/>
        </p:nvSpPr>
        <p:spPr>
          <a:xfrm>
            <a:off x="5088819" y="1463040"/>
            <a:ext cx="2014057" cy="3785616"/>
          </a:xfrm>
          <a:prstGeom prst="rect">
            <a:avLst/>
          </a:prstGeom>
          <a:solidFill>
            <a:srgbClr val="EEF0F3"/>
          </a:solidFill>
          <a:ln w="9525">
            <a:solidFill>
              <a:srgbClr val="DCDEE1"/>
            </a:solidFill>
            <a:prstDash val="solid"/>
          </a:ln>
        </p:spPr>
      </p:sp>
      <p:sp>
        <p:nvSpPr>
          <p:cNvPr id="18" name="Text 16"/>
          <p:cNvSpPr txBox="1"/>
          <p:nvPr/>
        </p:nvSpPr>
        <p:spPr>
          <a:xfrm>
            <a:off x="5289987"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2</a:t>
            </a:r>
            <a:endParaRPr lang="en-US" sz="950" dirty="0"/>
          </a:p>
        </p:txBody>
      </p:sp>
      <p:sp>
        <p:nvSpPr>
          <p:cNvPr id="19" name="Text 17"/>
          <p:cNvSpPr txBox="1"/>
          <p:nvPr/>
        </p:nvSpPr>
        <p:spPr>
          <a:xfrm>
            <a:off x="5289987"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Rebuilding the Pages</a:t>
            </a:r>
            <a:endParaRPr lang="en-US" sz="1400" dirty="0"/>
          </a:p>
        </p:txBody>
      </p:sp>
      <p:sp>
        <p:nvSpPr>
          <p:cNvPr id="20" name="Text 18"/>
          <p:cNvSpPr txBox="1"/>
          <p:nvPr/>
        </p:nvSpPr>
        <p:spPr>
          <a:xfrm>
            <a:off x="5289987"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6–10 weeks</a:t>
            </a:r>
            <a:endParaRPr lang="en-US" sz="1150" dirty="0"/>
          </a:p>
        </p:txBody>
      </p:sp>
      <p:sp>
        <p:nvSpPr>
          <p:cNvPr id="21" name="Text 19"/>
          <p:cNvSpPr txBox="1"/>
          <p:nvPr/>
        </p:nvSpPr>
        <p:spPr>
          <a:xfrm>
            <a:off x="5289987"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Sizeable effort · large gain</a:t>
            </a:r>
            <a:endParaRPr lang="en-US" sz="950" dirty="0"/>
          </a:p>
        </p:txBody>
      </p:sp>
      <p:sp>
        <p:nvSpPr>
          <p:cNvPr id="22" name="Text 20"/>
          <p:cNvSpPr txBox="1"/>
          <p:nvPr/>
        </p:nvSpPr>
        <p:spPr>
          <a:xfrm>
            <a:off x="5289987"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Schemes page with working filters and shareable links. Pages for each group. Plain actions on the home page. A simpler main menu.</a:t>
            </a:r>
            <a:endParaRPr lang="en-US" sz="1000" dirty="0"/>
          </a:p>
        </p:txBody>
      </p:sp>
      <p:sp>
        <p:nvSpPr>
          <p:cNvPr id="23" name="Shape 21"/>
          <p:cNvSpPr/>
          <p:nvPr/>
        </p:nvSpPr>
        <p:spPr>
          <a:xfrm>
            <a:off x="7304044" y="1463040"/>
            <a:ext cx="2014057" cy="3785616"/>
          </a:xfrm>
          <a:prstGeom prst="rect">
            <a:avLst/>
          </a:prstGeom>
          <a:solidFill>
            <a:srgbClr val="EEF0F3"/>
          </a:solidFill>
          <a:ln w="9525">
            <a:solidFill>
              <a:srgbClr val="DCDEE1"/>
            </a:solidFill>
            <a:prstDash val="solid"/>
          </a:ln>
        </p:spPr>
      </p:sp>
      <p:sp>
        <p:nvSpPr>
          <p:cNvPr id="24" name="Text 22"/>
          <p:cNvSpPr txBox="1"/>
          <p:nvPr/>
        </p:nvSpPr>
        <p:spPr>
          <a:xfrm>
            <a:off x="7505212"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3</a:t>
            </a:r>
            <a:endParaRPr lang="en-US" sz="950" dirty="0"/>
          </a:p>
        </p:txBody>
      </p:sp>
      <p:sp>
        <p:nvSpPr>
          <p:cNvPr id="25" name="Text 23"/>
          <p:cNvSpPr txBox="1"/>
          <p:nvPr/>
        </p:nvSpPr>
        <p:spPr>
          <a:xfrm>
            <a:off x="7505212"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The Questions and the Assistant</a:t>
            </a:r>
            <a:endParaRPr lang="en-US" sz="1400" dirty="0"/>
          </a:p>
        </p:txBody>
      </p:sp>
      <p:sp>
        <p:nvSpPr>
          <p:cNvPr id="26" name="Text 24"/>
          <p:cNvSpPr txBox="1"/>
          <p:nvPr/>
        </p:nvSpPr>
        <p:spPr>
          <a:xfrm>
            <a:off x="7505212"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6–8 weeks</a:t>
            </a:r>
            <a:endParaRPr lang="en-US" sz="1150" dirty="0"/>
          </a:p>
        </p:txBody>
      </p:sp>
      <p:sp>
        <p:nvSpPr>
          <p:cNvPr id="27" name="Text 25"/>
          <p:cNvSpPr txBox="1"/>
          <p:nvPr/>
        </p:nvSpPr>
        <p:spPr>
          <a:xfrm>
            <a:off x="7505212"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Moderate effort · large gain</a:t>
            </a:r>
            <a:endParaRPr lang="en-US" sz="950" dirty="0"/>
          </a:p>
        </p:txBody>
      </p:sp>
      <p:sp>
        <p:nvSpPr>
          <p:cNvPr id="28" name="Text 26"/>
          <p:cNvSpPr txBox="1"/>
          <p:nvPr/>
        </p:nvSpPr>
        <p:spPr>
          <a:xfrm>
            <a:off x="7505212"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Build Find support for you, check it against accessibility standards, and test it with at least eight people from the groups it serves, in Hindi and one other language.</a:t>
            </a:r>
            <a:endParaRPr lang="en-US" sz="1000" dirty="0"/>
          </a:p>
        </p:txBody>
      </p:sp>
      <p:sp>
        <p:nvSpPr>
          <p:cNvPr id="29" name="Shape 27"/>
          <p:cNvSpPr/>
          <p:nvPr/>
        </p:nvSpPr>
        <p:spPr>
          <a:xfrm>
            <a:off x="9519270" y="1463040"/>
            <a:ext cx="2014057" cy="3785616"/>
          </a:xfrm>
          <a:prstGeom prst="rect">
            <a:avLst/>
          </a:prstGeom>
          <a:solidFill>
            <a:srgbClr val="EEF0F3"/>
          </a:solidFill>
          <a:ln w="9525">
            <a:solidFill>
              <a:srgbClr val="DCDEE1"/>
            </a:solidFill>
            <a:prstDash val="solid"/>
          </a:ln>
        </p:spPr>
      </p:sp>
      <p:sp>
        <p:nvSpPr>
          <p:cNvPr id="30" name="Text 28"/>
          <p:cNvSpPr txBox="1"/>
          <p:nvPr/>
        </p:nvSpPr>
        <p:spPr>
          <a:xfrm>
            <a:off x="9720438"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4</a:t>
            </a:r>
            <a:endParaRPr lang="en-US" sz="950" dirty="0"/>
          </a:p>
        </p:txBody>
      </p:sp>
      <p:sp>
        <p:nvSpPr>
          <p:cNvPr id="31" name="Text 29"/>
          <p:cNvSpPr txBox="1"/>
          <p:nvPr/>
        </p:nvSpPr>
        <p:spPr>
          <a:xfrm>
            <a:off x="9720438"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Bringing the Two Sites Together</a:t>
            </a:r>
            <a:endParaRPr lang="en-US" sz="1400" dirty="0"/>
          </a:p>
        </p:txBody>
      </p:sp>
      <p:sp>
        <p:nvSpPr>
          <p:cNvPr id="32" name="Text 30"/>
          <p:cNvSpPr txBox="1"/>
          <p:nvPr/>
        </p:nvSpPr>
        <p:spPr>
          <a:xfrm>
            <a:off x="9720438"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Ongoing</a:t>
            </a:r>
            <a:endParaRPr lang="en-US" sz="1150" dirty="0"/>
          </a:p>
        </p:txBody>
      </p:sp>
      <p:sp>
        <p:nvSpPr>
          <p:cNvPr id="33" name="Text 31"/>
          <p:cNvSpPr txBox="1"/>
          <p:nvPr/>
        </p:nvSpPr>
        <p:spPr>
          <a:xfrm>
            <a:off x="9720438"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Moderate effort · steady gain</a:t>
            </a:r>
            <a:endParaRPr lang="en-US" sz="950" dirty="0"/>
          </a:p>
        </p:txBody>
      </p:sp>
      <p:sp>
        <p:nvSpPr>
          <p:cNvPr id="34" name="Text 32"/>
          <p:cNvSpPr txBox="1"/>
          <p:nvPr/>
        </p:nvSpPr>
        <p:spPr>
          <a:xfrm>
            <a:off x="9720438"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Publish the scheme information for myScheme. Move socialjustice.gov.in on to dosje.gov.in and close the older site. Make the fields compulsory when a scheme is added.</a:t>
            </a:r>
            <a:endParaRPr lang="en-US" sz="1000" dirty="0"/>
          </a:p>
        </p:txBody>
      </p:sp>
      <p:sp>
        <p:nvSpPr>
          <p:cNvPr id="35" name="Text 33"/>
          <p:cNvSpPr txBox="1"/>
          <p:nvPr/>
        </p:nvSpPr>
        <p:spPr>
          <a:xfrm>
            <a:off x="658368" y="5449824"/>
            <a:ext cx="10874959" cy="274320"/>
          </a:xfrm>
          <a:prstGeom prst="rect">
            <a:avLst/>
          </a:prstGeom>
          <a:noFill/>
          <a:ln/>
        </p:spPr>
        <p:txBody>
          <a:bodyPr wrap="square" lIns="0" tIns="0" rIns="0" bIns="0" rtlCol="0" anchor="ctr"/>
          <a:lstStyle/>
          <a:p>
            <a:pPr indent="0" marL="0">
              <a:buNone/>
            </a:pPr>
            <a:r>
              <a:rPr lang="en-US" sz="1150" b="1" dirty="0">
                <a:solidFill>
                  <a:srgbClr val="003975"/>
                </a:solidFill>
                <a:latin typeface="Noto Sans" pitchFamily="34" charset="0"/>
                <a:ea typeface="Noto Sans" pitchFamily="34" charset="-122"/>
                <a:cs typeface="Noto Sans" pitchFamily="34" charset="-120"/>
              </a:rPr>
              <a:t>Stage 1 is the one piece only the Department can do. The Schemes page, the questions, the group pages and the assistant all wait on it.</a:t>
            </a:r>
            <a:endParaRPr lang="en-US" sz="1150" dirty="0"/>
          </a:p>
        </p:txBody>
      </p:sp>
      <p:sp>
        <p:nvSpPr>
          <p:cNvPr id="36" name="Text 34"/>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Times shown are estimates, not commitments.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SAFEGUARDS</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Five Commitments That Hold Whichever Options Are Approved</a:t>
            </a:r>
            <a:endParaRPr lang="en-US" sz="2600" dirty="0"/>
          </a:p>
        </p:txBody>
      </p:sp>
      <p:sp>
        <p:nvSpPr>
          <p:cNvPr id="4" name="Text 2"/>
          <p:cNvSpPr txBox="1"/>
          <p:nvPr/>
        </p:nvSpPr>
        <p:spPr>
          <a:xfrm>
            <a:off x="658368" y="1280160"/>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1</a:t>
            </a:r>
            <a:endParaRPr lang="en-US" sz="1700" dirty="0"/>
          </a:p>
        </p:txBody>
      </p:sp>
      <p:sp>
        <p:nvSpPr>
          <p:cNvPr id="5" name="Text 3"/>
          <p:cNvSpPr txBox="1"/>
          <p:nvPr/>
        </p:nvSpPr>
        <p:spPr>
          <a:xfrm>
            <a:off x="1115568" y="1261872"/>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Nothing here decides a case</a:t>
            </a:r>
            <a:endParaRPr lang="en-US" sz="1350" dirty="0"/>
          </a:p>
        </p:txBody>
      </p:sp>
      <p:sp>
        <p:nvSpPr>
          <p:cNvPr id="6" name="Text 4"/>
          <p:cNvSpPr txBox="1"/>
          <p:nvPr/>
        </p:nvSpPr>
        <p:spPr>
          <a:xfrm>
            <a:off x="1115568" y="1517904"/>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screen and no message states that a person is eligible. The wording throughout is that a scheme lists the person as its target group, and that the sanctioning authority decides. A citizen who acts on a wrong assurance from a government website bears a real cost, and the Department bears the complaint.</a:t>
            </a:r>
            <a:endParaRPr lang="en-US" sz="1050" dirty="0"/>
          </a:p>
        </p:txBody>
      </p:sp>
      <p:sp>
        <p:nvSpPr>
          <p:cNvPr id="7" name="Shape 5"/>
          <p:cNvSpPr/>
          <p:nvPr/>
        </p:nvSpPr>
        <p:spPr>
          <a:xfrm>
            <a:off x="658368" y="2066544"/>
            <a:ext cx="10874959" cy="0"/>
          </a:xfrm>
          <a:prstGeom prst="line">
            <a:avLst/>
          </a:prstGeom>
          <a:noFill/>
          <a:ln w="9525">
            <a:solidFill>
              <a:srgbClr val="DCDEE1"/>
            </a:solidFill>
            <a:prstDash val="solid"/>
          </a:ln>
        </p:spPr>
      </p:sp>
      <p:sp>
        <p:nvSpPr>
          <p:cNvPr id="8" name="Text 6"/>
          <p:cNvSpPr txBox="1"/>
          <p:nvPr/>
        </p:nvSpPr>
        <p:spPr>
          <a:xfrm>
            <a:off x="658368" y="2212848"/>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2</a:t>
            </a:r>
            <a:endParaRPr lang="en-US" sz="1700" dirty="0"/>
          </a:p>
        </p:txBody>
      </p:sp>
      <p:sp>
        <p:nvSpPr>
          <p:cNvPr id="9" name="Text 7"/>
          <p:cNvSpPr txBox="1"/>
          <p:nvPr/>
        </p:nvSpPr>
        <p:spPr>
          <a:xfrm>
            <a:off x="1115568" y="2194560"/>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The boundary of the Department is stated, not hidden</a:t>
            </a:r>
            <a:endParaRPr lang="en-US" sz="1350" dirty="0"/>
          </a:p>
        </p:txBody>
      </p:sp>
      <p:sp>
        <p:nvSpPr>
          <p:cNvPr id="10" name="Text 8"/>
          <p:cNvSpPr txBox="1"/>
          <p:nvPr/>
        </p:nvSpPr>
        <p:spPr>
          <a:xfrm>
            <a:off x="1115568" y="2450592"/>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Persons with disabilities are served by the Department of Empowerment of Persons with Disabilities, in this same Ministry. Anyone who indicates a disability is told so plainly and directed to depwd.gov.in, rather than being shown an empty result.</a:t>
            </a:r>
            <a:endParaRPr lang="en-US" sz="1050" dirty="0"/>
          </a:p>
        </p:txBody>
      </p:sp>
      <p:sp>
        <p:nvSpPr>
          <p:cNvPr id="11" name="Shape 9"/>
          <p:cNvSpPr/>
          <p:nvPr/>
        </p:nvSpPr>
        <p:spPr>
          <a:xfrm>
            <a:off x="658368" y="2999232"/>
            <a:ext cx="10874959" cy="0"/>
          </a:xfrm>
          <a:prstGeom prst="line">
            <a:avLst/>
          </a:prstGeom>
          <a:noFill/>
          <a:ln w="9525">
            <a:solidFill>
              <a:srgbClr val="DCDEE1"/>
            </a:solidFill>
            <a:prstDash val="solid"/>
          </a:ln>
        </p:spPr>
      </p:sp>
      <p:sp>
        <p:nvSpPr>
          <p:cNvPr id="12" name="Text 10"/>
          <p:cNvSpPr txBox="1"/>
          <p:nvPr/>
        </p:nvSpPr>
        <p:spPr>
          <a:xfrm>
            <a:off x="658368" y="3145536"/>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3</a:t>
            </a:r>
            <a:endParaRPr lang="en-US" sz="1700" dirty="0"/>
          </a:p>
        </p:txBody>
      </p:sp>
      <p:sp>
        <p:nvSpPr>
          <p:cNvPr id="13" name="Text 11"/>
          <p:cNvSpPr txBox="1"/>
          <p:nvPr/>
        </p:nvSpPr>
        <p:spPr>
          <a:xfrm>
            <a:off x="1115568" y="3127248"/>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personal information is collected</a:t>
            </a:r>
            <a:endParaRPr lang="en-US" sz="1350" dirty="0"/>
          </a:p>
        </p:txBody>
      </p:sp>
      <p:sp>
        <p:nvSpPr>
          <p:cNvPr id="14" name="Text 12"/>
          <p:cNvSpPr txBox="1"/>
          <p:nvPr/>
        </p:nvSpPr>
        <p:spPr>
          <a:xfrm>
            <a:off x="1115568" y="3383280"/>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sign-in, no Aadhaar, no telephone number, no name and no income figure. Group and stage of life are chosen from fixed options, never typed, and nothing is stored.</a:t>
            </a:r>
            <a:endParaRPr lang="en-US" sz="1050" dirty="0"/>
          </a:p>
        </p:txBody>
      </p:sp>
      <p:sp>
        <p:nvSpPr>
          <p:cNvPr id="15" name="Shape 13"/>
          <p:cNvSpPr/>
          <p:nvPr/>
        </p:nvSpPr>
        <p:spPr>
          <a:xfrm>
            <a:off x="658368" y="3931920"/>
            <a:ext cx="10874959" cy="0"/>
          </a:xfrm>
          <a:prstGeom prst="line">
            <a:avLst/>
          </a:prstGeom>
          <a:noFill/>
          <a:ln w="9525">
            <a:solidFill>
              <a:srgbClr val="DCDEE1"/>
            </a:solidFill>
            <a:prstDash val="solid"/>
          </a:ln>
        </p:spPr>
      </p:sp>
      <p:sp>
        <p:nvSpPr>
          <p:cNvPr id="16" name="Text 14"/>
          <p:cNvSpPr txBox="1"/>
          <p:nvPr/>
        </p:nvSpPr>
        <p:spPr>
          <a:xfrm>
            <a:off x="658368" y="4078224"/>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4</a:t>
            </a:r>
            <a:endParaRPr lang="en-US" sz="1700" dirty="0"/>
          </a:p>
        </p:txBody>
      </p:sp>
      <p:sp>
        <p:nvSpPr>
          <p:cNvPr id="17" name="Text 15"/>
          <p:cNvSpPr txBox="1"/>
          <p:nvPr/>
        </p:nvSpPr>
        <p:spPr>
          <a:xfrm>
            <a:off x="1115568" y="4059936"/>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Nobody is left at a dead end</a:t>
            </a:r>
            <a:endParaRPr lang="en-US" sz="1350" dirty="0"/>
          </a:p>
        </p:txBody>
      </p:sp>
      <p:sp>
        <p:nvSpPr>
          <p:cNvPr id="18" name="Text 16"/>
          <p:cNvSpPr txBox="1"/>
          <p:nvPr/>
        </p:nvSpPr>
        <p:spPr>
          <a:xfrm>
            <a:off x="1115568" y="4315968"/>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Every question can be skipped, and skipping widens the answer instead of ending it. Where nothing matches, the screen says so plainly and offers the way back.</a:t>
            </a:r>
            <a:endParaRPr lang="en-US" sz="1050" dirty="0"/>
          </a:p>
        </p:txBody>
      </p:sp>
      <p:sp>
        <p:nvSpPr>
          <p:cNvPr id="19" name="Shape 17"/>
          <p:cNvSpPr/>
          <p:nvPr/>
        </p:nvSpPr>
        <p:spPr>
          <a:xfrm>
            <a:off x="658368" y="4864608"/>
            <a:ext cx="10874959" cy="0"/>
          </a:xfrm>
          <a:prstGeom prst="line">
            <a:avLst/>
          </a:prstGeom>
          <a:noFill/>
          <a:ln w="9525">
            <a:solidFill>
              <a:srgbClr val="DCDEE1"/>
            </a:solidFill>
            <a:prstDash val="solid"/>
          </a:ln>
        </p:spPr>
      </p:sp>
      <p:sp>
        <p:nvSpPr>
          <p:cNvPr id="20" name="Text 18"/>
          <p:cNvSpPr txBox="1"/>
          <p:nvPr/>
        </p:nvSpPr>
        <p:spPr>
          <a:xfrm>
            <a:off x="658368" y="5010912"/>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5</a:t>
            </a:r>
            <a:endParaRPr lang="en-US" sz="1700" dirty="0"/>
          </a:p>
        </p:txBody>
      </p:sp>
      <p:sp>
        <p:nvSpPr>
          <p:cNvPr id="21" name="Text 19"/>
          <p:cNvSpPr txBox="1"/>
          <p:nvPr/>
        </p:nvSpPr>
        <p:spPr>
          <a:xfrm>
            <a:off x="1115568" y="4992624"/>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number is published from a design file</a:t>
            </a:r>
            <a:endParaRPr lang="en-US" sz="1350" dirty="0"/>
          </a:p>
        </p:txBody>
      </p:sp>
      <p:sp>
        <p:nvSpPr>
          <p:cNvPr id="22" name="Text 20"/>
          <p:cNvSpPr txBox="1"/>
          <p:nvPr/>
        </p:nvSpPr>
        <p:spPr>
          <a:xfrm>
            <a:off x="1115568" y="5248656"/>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Only Elderline 14567 is treated as confirmed. Every other helpline and office contact must be verified by the division that owns it before it appears.</a:t>
            </a:r>
            <a:endParaRPr lang="en-US" sz="1050" dirty="0"/>
          </a:p>
        </p:txBody>
      </p:sp>
      <p:sp>
        <p:nvSpPr>
          <p:cNvPr id="23"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These hold across all six options and are not traded against for speed.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640080"/>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SUBMITTED FOR APPROVAL</a:t>
            </a:r>
            <a:endParaRPr lang="en-US" sz="1000" dirty="0"/>
          </a:p>
        </p:txBody>
      </p:sp>
      <p:sp>
        <p:nvSpPr>
          <p:cNvPr id="3" name="Text 1"/>
          <p:cNvSpPr txBox="1"/>
          <p:nvPr/>
        </p:nvSpPr>
        <p:spPr>
          <a:xfrm>
            <a:off x="658368" y="914400"/>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What Is Proposed</a:t>
            </a:r>
            <a:endParaRPr lang="en-US" sz="3200" dirty="0"/>
          </a:p>
        </p:txBody>
      </p:sp>
      <p:sp>
        <p:nvSpPr>
          <p:cNvPr id="4" name="Text 2"/>
          <p:cNvSpPr txBox="1"/>
          <p:nvPr/>
        </p:nvSpPr>
        <p:spPr>
          <a:xfrm>
            <a:off x="1298448" y="1554480"/>
            <a:ext cx="40233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THE PART OF THE SITE</a:t>
            </a:r>
            <a:endParaRPr lang="en-US" sz="900" dirty="0"/>
          </a:p>
        </p:txBody>
      </p:sp>
      <p:sp>
        <p:nvSpPr>
          <p:cNvPr id="5" name="Text 3"/>
          <p:cNvSpPr txBox="1"/>
          <p:nvPr/>
        </p:nvSpPr>
        <p:spPr>
          <a:xfrm>
            <a:off x="5413248" y="1554480"/>
            <a:ext cx="384048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WHAT IS PROPOSED</a:t>
            </a:r>
            <a:endParaRPr lang="en-US" sz="900" dirty="0"/>
          </a:p>
        </p:txBody>
      </p:sp>
      <p:sp>
        <p:nvSpPr>
          <p:cNvPr id="6" name="Text 4"/>
          <p:cNvSpPr txBox="1"/>
          <p:nvPr/>
        </p:nvSpPr>
        <p:spPr>
          <a:xfrm>
            <a:off x="9345168" y="1554480"/>
            <a:ext cx="21945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WHO APPROVES</a:t>
            </a:r>
            <a:endParaRPr lang="en-US" sz="900" dirty="0"/>
          </a:p>
        </p:txBody>
      </p:sp>
      <p:sp>
        <p:nvSpPr>
          <p:cNvPr id="7" name="Shape 5"/>
          <p:cNvSpPr/>
          <p:nvPr/>
        </p:nvSpPr>
        <p:spPr>
          <a:xfrm>
            <a:off x="658368" y="1755648"/>
            <a:ext cx="10874959" cy="0"/>
          </a:xfrm>
          <a:prstGeom prst="line">
            <a:avLst/>
          </a:prstGeom>
          <a:noFill/>
          <a:ln w="12700">
            <a:solidFill>
              <a:srgbClr val="004B96"/>
            </a:solidFill>
            <a:prstDash val="solid"/>
          </a:ln>
        </p:spPr>
      </p:sp>
      <p:sp>
        <p:nvSpPr>
          <p:cNvPr id="8" name="Text 6"/>
          <p:cNvSpPr txBox="1"/>
          <p:nvPr/>
        </p:nvSpPr>
        <p:spPr>
          <a:xfrm>
            <a:off x="658368" y="1920240"/>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1</a:t>
            </a:r>
            <a:endParaRPr lang="en-US" sz="2000" dirty="0"/>
          </a:p>
        </p:txBody>
      </p:sp>
      <p:sp>
        <p:nvSpPr>
          <p:cNvPr id="9" name="Text 7"/>
          <p:cNvSpPr txBox="1"/>
          <p:nvPr/>
        </p:nvSpPr>
        <p:spPr>
          <a:xfrm>
            <a:off x="1298448" y="1938528"/>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home page</a:t>
            </a:r>
            <a:endParaRPr lang="en-US" sz="1300" dirty="0"/>
          </a:p>
        </p:txBody>
      </p:sp>
      <p:sp>
        <p:nvSpPr>
          <p:cNvPr id="10" name="Text 8"/>
          <p:cNvSpPr txBox="1"/>
          <p:nvPr/>
        </p:nvSpPr>
        <p:spPr>
          <a:xfrm>
            <a:off x="5413248" y="1938528"/>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with Option A repaired</a:t>
            </a:r>
            <a:endParaRPr lang="en-US" sz="1300" dirty="0"/>
          </a:p>
        </p:txBody>
      </p:sp>
      <p:sp>
        <p:nvSpPr>
          <p:cNvPr id="11" name="Text 9"/>
          <p:cNvSpPr txBox="1"/>
          <p:nvPr/>
        </p:nvSpPr>
        <p:spPr>
          <a:xfrm>
            <a:off x="9345168" y="1938528"/>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Department of Social Justice &amp; Empowerment</a:t>
            </a:r>
            <a:endParaRPr lang="en-US" sz="1050" dirty="0"/>
          </a:p>
        </p:txBody>
      </p:sp>
      <p:sp>
        <p:nvSpPr>
          <p:cNvPr id="12" name="Shape 10"/>
          <p:cNvSpPr/>
          <p:nvPr/>
        </p:nvSpPr>
        <p:spPr>
          <a:xfrm>
            <a:off x="658368" y="2505456"/>
            <a:ext cx="10874959" cy="0"/>
          </a:xfrm>
          <a:prstGeom prst="line">
            <a:avLst/>
          </a:prstGeom>
          <a:noFill/>
          <a:ln w="12700">
            <a:solidFill>
              <a:srgbClr val="004B96"/>
            </a:solidFill>
            <a:prstDash val="solid"/>
          </a:ln>
        </p:spPr>
      </p:sp>
      <p:sp>
        <p:nvSpPr>
          <p:cNvPr id="13" name="Text 11"/>
          <p:cNvSpPr txBox="1"/>
          <p:nvPr/>
        </p:nvSpPr>
        <p:spPr>
          <a:xfrm>
            <a:off x="658368" y="2670048"/>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2</a:t>
            </a:r>
            <a:endParaRPr lang="en-US" sz="2000" dirty="0"/>
          </a:p>
        </p:txBody>
      </p:sp>
      <p:sp>
        <p:nvSpPr>
          <p:cNvPr id="14" name="Text 12"/>
          <p:cNvSpPr txBox="1"/>
          <p:nvPr/>
        </p:nvSpPr>
        <p:spPr>
          <a:xfrm>
            <a:off x="1298448" y="2688336"/>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Schemes page</a:t>
            </a:r>
            <a:endParaRPr lang="en-US" sz="1300" dirty="0"/>
          </a:p>
        </p:txBody>
      </p:sp>
      <p:sp>
        <p:nvSpPr>
          <p:cNvPr id="15" name="Text 13"/>
          <p:cNvSpPr txBox="1"/>
          <p:nvPr/>
        </p:nvSpPr>
        <p:spPr>
          <a:xfrm>
            <a:off x="5413248" y="2688336"/>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 filter panel with a table</a:t>
            </a:r>
            <a:endParaRPr lang="en-US" sz="1300" dirty="0"/>
          </a:p>
        </p:txBody>
      </p:sp>
      <p:sp>
        <p:nvSpPr>
          <p:cNvPr id="16" name="Text 14"/>
          <p:cNvSpPr txBox="1"/>
          <p:nvPr/>
        </p:nvSpPr>
        <p:spPr>
          <a:xfrm>
            <a:off x="9345168" y="2688336"/>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Department of Social Justice &amp; Empowerment</a:t>
            </a:r>
            <a:endParaRPr lang="en-US" sz="1050" dirty="0"/>
          </a:p>
        </p:txBody>
      </p:sp>
      <p:sp>
        <p:nvSpPr>
          <p:cNvPr id="17" name="Shape 15"/>
          <p:cNvSpPr/>
          <p:nvPr/>
        </p:nvSpPr>
        <p:spPr>
          <a:xfrm>
            <a:off x="658368" y="3255264"/>
            <a:ext cx="10874959" cy="0"/>
          </a:xfrm>
          <a:prstGeom prst="line">
            <a:avLst/>
          </a:prstGeom>
          <a:noFill/>
          <a:ln w="12700">
            <a:solidFill>
              <a:srgbClr val="004B96"/>
            </a:solidFill>
            <a:prstDash val="solid"/>
          </a:ln>
        </p:spPr>
      </p:sp>
      <p:sp>
        <p:nvSpPr>
          <p:cNvPr id="18" name="Text 16"/>
          <p:cNvSpPr txBox="1"/>
          <p:nvPr/>
        </p:nvSpPr>
        <p:spPr>
          <a:xfrm>
            <a:off x="658368" y="3419856"/>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3</a:t>
            </a:r>
            <a:endParaRPr lang="en-US" sz="2000" dirty="0"/>
          </a:p>
        </p:txBody>
      </p:sp>
      <p:sp>
        <p:nvSpPr>
          <p:cNvPr id="19" name="Text 17"/>
          <p:cNvSpPr txBox="1"/>
          <p:nvPr/>
        </p:nvSpPr>
        <p:spPr>
          <a:xfrm>
            <a:off x="1298448" y="3438144"/>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assistant</a:t>
            </a:r>
            <a:endParaRPr lang="en-US" sz="1300" dirty="0"/>
          </a:p>
        </p:txBody>
      </p:sp>
      <p:sp>
        <p:nvSpPr>
          <p:cNvPr id="20" name="Text 18"/>
          <p:cNvSpPr txBox="1"/>
          <p:nvPr/>
        </p:nvSpPr>
        <p:spPr>
          <a:xfrm>
            <a:off x="5413248" y="3438144"/>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Yes — it carries the same five questions</a:t>
            </a:r>
            <a:endParaRPr lang="en-US" sz="1300" dirty="0"/>
          </a:p>
        </p:txBody>
      </p:sp>
      <p:sp>
        <p:nvSpPr>
          <p:cNvPr id="21" name="Text 19"/>
          <p:cNvSpPr txBox="1"/>
          <p:nvPr/>
        </p:nvSpPr>
        <p:spPr>
          <a:xfrm>
            <a:off x="9345168" y="3438144"/>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Department, with the existing vendor</a:t>
            </a:r>
            <a:endParaRPr lang="en-US" sz="1050" dirty="0"/>
          </a:p>
        </p:txBody>
      </p:sp>
      <p:sp>
        <p:nvSpPr>
          <p:cNvPr id="22" name="Shape 20"/>
          <p:cNvSpPr/>
          <p:nvPr/>
        </p:nvSpPr>
        <p:spPr>
          <a:xfrm>
            <a:off x="658368" y="4005072"/>
            <a:ext cx="10874959" cy="0"/>
          </a:xfrm>
          <a:prstGeom prst="line">
            <a:avLst/>
          </a:prstGeom>
          <a:noFill/>
          <a:ln w="12700">
            <a:solidFill>
              <a:srgbClr val="004B96"/>
            </a:solidFill>
            <a:prstDash val="solid"/>
          </a:ln>
        </p:spPr>
      </p:sp>
      <p:sp>
        <p:nvSpPr>
          <p:cNvPr id="23" name="Shape 21"/>
          <p:cNvSpPr/>
          <p:nvPr/>
        </p:nvSpPr>
        <p:spPr>
          <a:xfrm>
            <a:off x="658368" y="4224528"/>
            <a:ext cx="10874959" cy="1060704"/>
          </a:xfrm>
          <a:prstGeom prst="rect">
            <a:avLst/>
          </a:prstGeom>
          <a:solidFill>
            <a:srgbClr val="004B96"/>
          </a:solidFill>
          <a:ln w="12700">
            <a:solidFill>
              <a:srgbClr val="004B96"/>
            </a:solidFill>
            <a:prstDash val="solid"/>
          </a:ln>
        </p:spPr>
      </p:sp>
      <p:sp>
        <p:nvSpPr>
          <p:cNvPr id="24" name="Text 22"/>
          <p:cNvSpPr txBox="1"/>
          <p:nvPr/>
        </p:nvSpPr>
        <p:spPr>
          <a:xfrm>
            <a:off x="969264" y="4352544"/>
            <a:ext cx="10253167" cy="329184"/>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And approval to begin Stage 1 — filling in the information for all 134 schemes.</a:t>
            </a:r>
            <a:endParaRPr lang="en-US" sz="1700" dirty="0"/>
          </a:p>
        </p:txBody>
      </p:sp>
      <p:sp>
        <p:nvSpPr>
          <p:cNvPr id="25" name="Text 23"/>
          <p:cNvSpPr txBox="1"/>
          <p:nvPr/>
        </p:nvSpPr>
        <p:spPr>
          <a:xfrm>
            <a:off x="969264" y="4736592"/>
            <a:ext cx="10253167" cy="402336"/>
          </a:xfrm>
          <a:prstGeom prst="rect">
            <a:avLst/>
          </a:prstGeom>
          <a:noFill/>
          <a:ln/>
        </p:spPr>
        <p:txBody>
          <a:bodyPr wrap="square" lIns="0" tIns="0" rIns="0" bIns="0" rtlCol="0" anchor="ctr"/>
          <a:lstStyle/>
          <a:p>
            <a:pPr indent="0" marL="0">
              <a:lnSpc>
                <a:spcPct val="116000"/>
              </a:lnSpc>
              <a:buNone/>
            </a:pPr>
            <a:r>
              <a:rPr lang="en-US" sz="1150" dirty="0">
                <a:solidFill>
                  <a:srgbClr val="C0DBFF"/>
                </a:solidFill>
                <a:latin typeface="Noto Sans" pitchFamily="34" charset="0"/>
                <a:ea typeface="Noto Sans" pitchFamily="34" charset="-122"/>
                <a:cs typeface="Noto Sans" pitchFamily="34" charset="-120"/>
              </a:rPr>
              <a:t>This is the one piece of work every option above depends on. Whichever options are approved, it has to begin first, and only the Department can do it.</a:t>
            </a:r>
            <a:endParaRPr lang="en-US" sz="1150" dirty="0"/>
          </a:p>
        </p:txBody>
      </p:sp>
      <p:sp>
        <p:nvSpPr>
          <p:cNvPr id="26" name="Text 24"/>
          <p:cNvSpPr txBox="1"/>
          <p:nvPr/>
        </p:nvSpPr>
        <p:spPr>
          <a:xfrm>
            <a:off x="658368" y="5431536"/>
            <a:ext cx="10874959" cy="182880"/>
          </a:xfrm>
          <a:prstGeom prst="rect">
            <a:avLst/>
          </a:prstGeom>
          <a:noFill/>
          <a:ln/>
        </p:spPr>
        <p:txBody>
          <a:bodyPr wrap="square" lIns="0" tIns="0" rIns="0" bIns="0" rtlCol="0" anchor="ctr"/>
          <a:lstStyle/>
          <a:p>
            <a:pPr indent="0" marL="0">
              <a:buNone/>
            </a:pPr>
            <a:r>
              <a:rPr lang="en-US" sz="850" b="1" spc="100" kern="0" dirty="0">
                <a:solidFill>
                  <a:srgbClr val="92C2FF"/>
                </a:solidFill>
                <a:latin typeface="Noto Sans" pitchFamily="34" charset="0"/>
                <a:ea typeface="Noto Sans" pitchFamily="34" charset="-122"/>
                <a:cs typeface="Noto Sans" pitchFamily="34" charset="-120"/>
              </a:rPr>
              <a:t>ALSO REQUIRED FROM THE DEPARTMENT</a:t>
            </a:r>
            <a:endParaRPr lang="en-US" sz="850" dirty="0"/>
          </a:p>
        </p:txBody>
      </p:sp>
      <p:sp>
        <p:nvSpPr>
          <p:cNvPr id="27" name="Text 25"/>
          <p:cNvSpPr txBox="1"/>
          <p:nvPr/>
        </p:nvSpPr>
        <p:spPr>
          <a:xfrm>
            <a:off x="658368" y="5669280"/>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Confirmation of the group tags on each scheme</a:t>
            </a:r>
            <a:endParaRPr lang="en-US" sz="1000" dirty="0"/>
          </a:p>
        </p:txBody>
      </p:sp>
      <p:sp>
        <p:nvSpPr>
          <p:cNvPr id="28" name="Text 26"/>
          <p:cNvSpPr txBox="1"/>
          <p:nvPr/>
        </p:nvSpPr>
        <p:spPr>
          <a:xfrm>
            <a:off x="5596128" y="5669280"/>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Only the division that administers a scheme can confirm who it is for</a:t>
            </a:r>
            <a:endParaRPr lang="en-US" sz="1000" dirty="0"/>
          </a:p>
        </p:txBody>
      </p:sp>
      <p:sp>
        <p:nvSpPr>
          <p:cNvPr id="29" name="Text 27"/>
          <p:cNvSpPr txBox="1"/>
          <p:nvPr/>
        </p:nvSpPr>
        <p:spPr>
          <a:xfrm>
            <a:off x="658368" y="5925312"/>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Approval of the wording of the group question</a:t>
            </a:r>
            <a:endParaRPr lang="en-US" sz="1000" dirty="0"/>
          </a:p>
        </p:txBody>
      </p:sp>
      <p:sp>
        <p:nvSpPr>
          <p:cNvPr id="30" name="Text 28"/>
          <p:cNvSpPr txBox="1"/>
          <p:nvPr/>
        </p:nvSpPr>
        <p:spPr>
          <a:xfrm>
            <a:off x="5596128" y="5925312"/>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It asks a citizen to state their category — the wording should be the Department's, not a designer's</a:t>
            </a:r>
            <a:endParaRPr lang="en-US" sz="1000" dirty="0"/>
          </a:p>
        </p:txBody>
      </p:sp>
      <p:sp>
        <p:nvSpPr>
          <p:cNvPr id="31" name="Text 29"/>
          <p:cNvSpPr txBox="1"/>
          <p:nvPr/>
        </p:nvSpPr>
        <p:spPr>
          <a:xfrm>
            <a:off x="658368" y="6181344"/>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A ruling on scope: this Department only, or both</a:t>
            </a:r>
            <a:endParaRPr lang="en-US" sz="1000" dirty="0"/>
          </a:p>
        </p:txBody>
      </p:sp>
      <p:sp>
        <p:nvSpPr>
          <p:cNvPr id="32" name="Text 30"/>
          <p:cNvSpPr txBox="1"/>
          <p:nvPr/>
        </p:nvSpPr>
        <p:spPr>
          <a:xfrm>
            <a:off x="5596128" y="6181344"/>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The Schemes page shows DEPwD schemes while the questions route disability away to DEPwD; one of the two must change</a:t>
            </a:r>
            <a:endParaRPr lang="en-US" sz="1000" dirty="0"/>
          </a:p>
        </p:txBody>
      </p:sp>
      <p:sp>
        <p:nvSpPr>
          <p:cNvPr id="33" name="Text 31"/>
          <p:cNvSpPr txBox="1"/>
          <p:nvPr/>
        </p:nvSpPr>
        <p:spPr>
          <a:xfrm>
            <a:off x="658368" y="6437376"/>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Verified helpline numbers and office contacts</a:t>
            </a:r>
            <a:endParaRPr lang="en-US" sz="1000" dirty="0"/>
          </a:p>
        </p:txBody>
      </p:sp>
      <p:sp>
        <p:nvSpPr>
          <p:cNvPr id="34" name="Text 32"/>
          <p:cNvSpPr txBox="1"/>
          <p:nvPr/>
        </p:nvSpPr>
        <p:spPr>
          <a:xfrm>
            <a:off x="5596128" y="6437376"/>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Only Elderline 14567 is treated as confirmed today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FOR THE RECORD</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What This Review Does and Does Not Establish</a:t>
            </a:r>
            <a:endParaRPr lang="en-US" sz="2600" dirty="0"/>
          </a:p>
        </p:txBody>
      </p:sp>
      <p:sp>
        <p:nvSpPr>
          <p:cNvPr id="4" name="Text 2"/>
          <p:cNvSpPr txBox="1"/>
          <p:nvPr/>
        </p:nvSpPr>
        <p:spPr>
          <a:xfrm>
            <a:off x="658368" y="1298448"/>
            <a:ext cx="457200" cy="365760"/>
          </a:xfrm>
          <a:prstGeom prst="rect">
            <a:avLst/>
          </a:prstGeom>
          <a:noFill/>
          <a:ln/>
        </p:spPr>
        <p:txBody>
          <a:bodyPr wrap="square" lIns="0" tIns="0" rIns="0" bIns="0" rtlCol="0" anchor="ctr"/>
          <a:lstStyle/>
          <a:p>
            <a:pPr indent="0" marL="0">
              <a:buNone/>
            </a:pPr>
            <a:r>
              <a:rPr lang="en-US" sz="2100" b="1" dirty="0">
                <a:solidFill>
                  <a:srgbClr val="A43A00"/>
                </a:solidFill>
                <a:latin typeface="Noto Sans" pitchFamily="34" charset="0"/>
                <a:ea typeface="Noto Sans" pitchFamily="34" charset="-122"/>
                <a:cs typeface="Noto Sans" pitchFamily="34" charset="-120"/>
              </a:rPr>
              <a:t>1</a:t>
            </a:r>
            <a:endParaRPr lang="en-US" sz="2100" dirty="0"/>
          </a:p>
        </p:txBody>
      </p:sp>
      <p:sp>
        <p:nvSpPr>
          <p:cNvPr id="5" name="Text 3"/>
          <p:cNvSpPr txBox="1"/>
          <p:nvPr/>
        </p:nvSpPr>
        <p:spPr>
          <a:xfrm>
            <a:off x="1207008" y="1280160"/>
            <a:ext cx="10326319" cy="27432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The counts are current; the earlier figure of 141 is superseded.</a:t>
            </a:r>
            <a:endParaRPr lang="en-US" sz="1400" dirty="0"/>
          </a:p>
        </p:txBody>
      </p:sp>
      <p:sp>
        <p:nvSpPr>
          <p:cNvPr id="6" name="Text 4"/>
          <p:cNvSpPr txBox="1"/>
          <p:nvPr/>
        </p:nvSpPr>
        <p:spPr>
          <a:xfrm>
            <a:off x="1207008" y="1572768"/>
            <a:ext cx="10326319" cy="822960"/>
          </a:xfrm>
          <a:prstGeom prst="rect">
            <a:avLst/>
          </a:prstGeom>
          <a:noFill/>
          <a:ln/>
        </p:spPr>
        <p:txBody>
          <a:bodyPr wrap="square" lIns="0" tIns="0" rIns="0" bIns="0" rtlCol="0" anchor="ctr"/>
          <a:lstStyle/>
          <a:p>
            <a:pPr indent="0" marL="0">
              <a:lnSpc>
                <a:spcPct val="124000"/>
              </a:lnSpc>
              <a:buNone/>
            </a:pPr>
            <a:r>
              <a:rPr lang="en-US" sz="1150" dirty="0">
                <a:solidFill>
                  <a:srgbClr val="1E2124"/>
                </a:solidFill>
                <a:latin typeface="Noto Sans" pitchFamily="34" charset="0"/>
                <a:ea typeface="Noto Sans" pitchFamily="34" charset="-122"/>
                <a:cs typeface="Noto Sans" pitchFamily="34" charset="-120"/>
              </a:rPr>
              <a:t>The 134 schemes, and the count against every value of the Target Group filter, were read directly from dosje.gov.in on 8 September 2026. An earlier figure of 141 came from a content export dated 13 June 2026 and no longer matches the site. Where this deck gives a number, it is the live one.</a:t>
            </a:r>
            <a:endParaRPr lang="en-US" sz="1150" dirty="0"/>
          </a:p>
        </p:txBody>
      </p:sp>
      <p:sp>
        <p:nvSpPr>
          <p:cNvPr id="7" name="Shape 5"/>
          <p:cNvSpPr/>
          <p:nvPr/>
        </p:nvSpPr>
        <p:spPr>
          <a:xfrm>
            <a:off x="658368" y="2487168"/>
            <a:ext cx="10874959" cy="0"/>
          </a:xfrm>
          <a:prstGeom prst="line">
            <a:avLst/>
          </a:prstGeom>
          <a:noFill/>
          <a:ln w="9525">
            <a:solidFill>
              <a:srgbClr val="DCDEE1"/>
            </a:solidFill>
            <a:prstDash val="solid"/>
          </a:ln>
        </p:spPr>
      </p:sp>
      <p:sp>
        <p:nvSpPr>
          <p:cNvPr id="8" name="Text 6"/>
          <p:cNvSpPr txBox="1"/>
          <p:nvPr/>
        </p:nvSpPr>
        <p:spPr>
          <a:xfrm>
            <a:off x="658368" y="2688336"/>
            <a:ext cx="457200" cy="365760"/>
          </a:xfrm>
          <a:prstGeom prst="rect">
            <a:avLst/>
          </a:prstGeom>
          <a:noFill/>
          <a:ln/>
        </p:spPr>
        <p:txBody>
          <a:bodyPr wrap="square" lIns="0" tIns="0" rIns="0" bIns="0" rtlCol="0" anchor="ctr"/>
          <a:lstStyle/>
          <a:p>
            <a:pPr indent="0" marL="0">
              <a:buNone/>
            </a:pPr>
            <a:r>
              <a:rPr lang="en-US" sz="2100" b="1" dirty="0">
                <a:solidFill>
                  <a:srgbClr val="A43A00"/>
                </a:solidFill>
                <a:latin typeface="Noto Sans" pitchFamily="34" charset="0"/>
                <a:ea typeface="Noto Sans" pitchFamily="34" charset="-122"/>
                <a:cs typeface="Noto Sans" pitchFamily="34" charset="-120"/>
              </a:rPr>
              <a:t>2</a:t>
            </a:r>
            <a:endParaRPr lang="en-US" sz="2100" dirty="0"/>
          </a:p>
        </p:txBody>
      </p:sp>
      <p:sp>
        <p:nvSpPr>
          <p:cNvPr id="9" name="Text 7"/>
          <p:cNvSpPr txBox="1"/>
          <p:nvPr/>
        </p:nvSpPr>
        <p:spPr>
          <a:xfrm>
            <a:off x="1207008" y="2670048"/>
            <a:ext cx="10326319" cy="27432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No citizens were interviewed.</a:t>
            </a:r>
            <a:endParaRPr lang="en-US" sz="1400" dirty="0"/>
          </a:p>
        </p:txBody>
      </p:sp>
      <p:sp>
        <p:nvSpPr>
          <p:cNvPr id="10" name="Text 8"/>
          <p:cNvSpPr txBox="1"/>
          <p:nvPr/>
        </p:nvSpPr>
        <p:spPr>
          <a:xfrm>
            <a:off x="1207008" y="2962656"/>
            <a:ext cx="10326319" cy="822960"/>
          </a:xfrm>
          <a:prstGeom prst="rect">
            <a:avLst/>
          </a:prstGeom>
          <a:noFill/>
          <a:ln/>
        </p:spPr>
        <p:txBody>
          <a:bodyPr wrap="square" lIns="0" tIns="0" rIns="0" bIns="0" rtlCol="0" anchor="ctr"/>
          <a:lstStyle/>
          <a:p>
            <a:pPr indent="0" marL="0">
              <a:lnSpc>
                <a:spcPct val="124000"/>
              </a:lnSpc>
              <a:buNone/>
            </a:pPr>
            <a:r>
              <a:rPr lang="en-US" sz="1150" dirty="0">
                <a:solidFill>
                  <a:srgbClr val="1E2124"/>
                </a:solidFill>
                <a:latin typeface="Noto Sans" pitchFamily="34" charset="0"/>
                <a:ea typeface="Noto Sans" pitchFamily="34" charset="-122"/>
                <a:cs typeface="Noto Sans" pitchFamily="34" charset="-120"/>
              </a:rPr>
              <a:t>The findings come from examining the two Ministry websites and comparing them with myScheme, the disability department's site, the National Scholarship Portal and GOV.UK. The groups described are taken from the Department's own Acts, schemes and organisations, not from interviews. Before Stage 3 is built, the questions should be tested with people from those groups.</a:t>
            </a:r>
            <a:endParaRPr lang="en-US" sz="1150" dirty="0"/>
          </a:p>
        </p:txBody>
      </p:sp>
      <p:sp>
        <p:nvSpPr>
          <p:cNvPr id="11" name="Shape 9"/>
          <p:cNvSpPr/>
          <p:nvPr/>
        </p:nvSpPr>
        <p:spPr>
          <a:xfrm>
            <a:off x="658368" y="3877056"/>
            <a:ext cx="10874959" cy="0"/>
          </a:xfrm>
          <a:prstGeom prst="line">
            <a:avLst/>
          </a:prstGeom>
          <a:noFill/>
          <a:ln w="9525">
            <a:solidFill>
              <a:srgbClr val="DCDEE1"/>
            </a:solidFill>
            <a:prstDash val="solid"/>
          </a:ln>
        </p:spPr>
      </p:sp>
      <p:sp>
        <p:nvSpPr>
          <p:cNvPr id="12" name="Text 10"/>
          <p:cNvSpPr txBox="1"/>
          <p:nvPr/>
        </p:nvSpPr>
        <p:spPr>
          <a:xfrm>
            <a:off x="658368" y="4096512"/>
            <a:ext cx="10874959" cy="201168"/>
          </a:xfrm>
          <a:prstGeom prst="rect">
            <a:avLst/>
          </a:prstGeom>
          <a:noFill/>
          <a:ln/>
        </p:spPr>
        <p:txBody>
          <a:bodyPr wrap="square" lIns="0" tIns="0" rIns="0" bIns="0" rtlCol="0" anchor="ctr"/>
          <a:lstStyle/>
          <a:p>
            <a:pPr indent="0" marL="0">
              <a:buNone/>
            </a:pPr>
            <a:r>
              <a:rPr lang="en-US" sz="950" b="1" spc="120" kern="0" dirty="0">
                <a:solidFill>
                  <a:srgbClr val="54585E"/>
                </a:solidFill>
                <a:latin typeface="Noto Sans" pitchFamily="34" charset="0"/>
                <a:ea typeface="Noto Sans" pitchFamily="34" charset="-122"/>
                <a:cs typeface="Noto Sans" pitchFamily="34" charset="-120"/>
              </a:rPr>
              <a:t>WHAT WAS EXAMINED</a:t>
            </a:r>
            <a:endParaRPr lang="en-US" sz="950" dirty="0"/>
          </a:p>
        </p:txBody>
      </p:sp>
      <p:sp>
        <p:nvSpPr>
          <p:cNvPr id="13" name="Text 11"/>
          <p:cNvSpPr txBox="1"/>
          <p:nvPr/>
        </p:nvSpPr>
        <p:spPr>
          <a:xfrm>
            <a:off x="658368" y="4334256"/>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The Ministry's own websites</a:t>
            </a:r>
            <a:endParaRPr lang="en-US" sz="1050" dirty="0"/>
          </a:p>
        </p:txBody>
      </p:sp>
      <p:sp>
        <p:nvSpPr>
          <p:cNvPr id="14" name="Text 12"/>
          <p:cNvSpPr txBox="1"/>
          <p:nvPr/>
        </p:nvSpPr>
        <p:spPr>
          <a:xfrm>
            <a:off x="3675888" y="4334256"/>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dosje.gov.in, marked BETA, and socialjustice.gov.in — read on 8 September 2026.</a:t>
            </a:r>
            <a:endParaRPr lang="en-US" sz="1050" dirty="0"/>
          </a:p>
        </p:txBody>
      </p:sp>
      <p:sp>
        <p:nvSpPr>
          <p:cNvPr id="15" name="Text 13"/>
          <p:cNvSpPr txBox="1"/>
          <p:nvPr/>
        </p:nvSpPr>
        <p:spPr>
          <a:xfrm>
            <a:off x="658368" y="4645152"/>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The Target Group filter</a:t>
            </a:r>
            <a:endParaRPr lang="en-US" sz="1050" dirty="0"/>
          </a:p>
        </p:txBody>
      </p:sp>
      <p:sp>
        <p:nvSpPr>
          <p:cNvPr id="16" name="Text 14"/>
          <p:cNvSpPr txBox="1"/>
          <p:nvPr/>
        </p:nvSpPr>
        <p:spPr>
          <a:xfrm>
            <a:off x="3675888" y="4645152"/>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All 11 values counted on the live site: Students 50 · Sanitation Workers 16 · DNT 14 · Senior Citizens 9 · OBC 6 · Scheduled Castes 5 · Business 4 · Small business 4 · BPL, Homeowners, Medium business 1 each. 23 schemes carry no group.</a:t>
            </a:r>
            <a:endParaRPr lang="en-US" sz="1050" dirty="0"/>
          </a:p>
        </p:txBody>
      </p:sp>
      <p:sp>
        <p:nvSpPr>
          <p:cNvPr id="17" name="Text 15"/>
          <p:cNvSpPr txBox="1"/>
          <p:nvPr/>
        </p:nvSpPr>
        <p:spPr>
          <a:xfrm>
            <a:off x="658368" y="5120640"/>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Other government websites</a:t>
            </a:r>
            <a:endParaRPr lang="en-US" sz="1050" dirty="0"/>
          </a:p>
        </p:txBody>
      </p:sp>
      <p:sp>
        <p:nvSpPr>
          <p:cNvPr id="18" name="Text 16"/>
          <p:cNvSpPr txBox="1"/>
          <p:nvPr/>
        </p:nvSpPr>
        <p:spPr>
          <a:xfrm>
            <a:off x="3675888" y="5120640"/>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myscheme.gov.in · depwd.gov.in · scholarships.gov.in · GOV.UK, for comparison.</a:t>
            </a:r>
            <a:endParaRPr lang="en-US" sz="1050" dirty="0"/>
          </a:p>
        </p:txBody>
      </p:sp>
      <p:sp>
        <p:nvSpPr>
          <p:cNvPr id="19" name="Text 17"/>
          <p:cNvSpPr txBox="1"/>
          <p:nvPr/>
        </p:nvSpPr>
        <p:spPr>
          <a:xfrm>
            <a:off x="658368" y="5431536"/>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Standards applied</a:t>
            </a:r>
            <a:endParaRPr lang="en-US" sz="1050" dirty="0"/>
          </a:p>
        </p:txBody>
      </p:sp>
      <p:sp>
        <p:nvSpPr>
          <p:cNvPr id="20" name="Text 18"/>
          <p:cNvSpPr txBox="1"/>
          <p:nvPr/>
        </p:nvSpPr>
        <p:spPr>
          <a:xfrm>
            <a:off x="3675888" y="5431536"/>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GIGW 3.0, DBIM 3.0 and WCAG 2.2 AA.</a:t>
            </a:r>
            <a:endParaRPr lang="en-US" sz="1050" dirty="0"/>
          </a:p>
        </p:txBody>
      </p:sp>
      <p:sp>
        <p:nvSpPr>
          <p:cNvPr id="21" name="Text 19"/>
          <p:cNvSpPr txBox="1"/>
          <p:nvPr/>
        </p:nvSpPr>
        <p:spPr>
          <a:xfrm>
            <a:off x="658368" y="5742432"/>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The design file and prototypes</a:t>
            </a:r>
            <a:endParaRPr lang="en-US" sz="1050" dirty="0"/>
          </a:p>
        </p:txBody>
      </p:sp>
      <p:sp>
        <p:nvSpPr>
          <p:cNvPr id="22" name="Text 20"/>
          <p:cNvSpPr txBox="1"/>
          <p:nvPr/>
        </p:nvSpPr>
        <p:spPr>
          <a:xfrm>
            <a:off x="3675888" y="5742432"/>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MoSJE (WIP) — Service Discovery. Each walkthrough was recorded from a working prototype built to that design.</a:t>
            </a:r>
            <a:endParaRPr lang="en-US" sz="1050" dirty="0"/>
          </a:p>
        </p:txBody>
      </p:sp>
      <p:sp>
        <p:nvSpPr>
          <p:cNvPr id="23"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How Citizens Find Schemes — options for service discovery on the Department's website. MoSJE Design Research, 8 September 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2026-09-08T04:39:38Z</dcterms:created>
  <dcterms:modified xsi:type="dcterms:W3CDTF">2026-09-08T04:39:38Z</dcterms:modified>
</cp:coreProperties>
</file>