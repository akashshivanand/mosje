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thought behind every option first, then the home page, then the Schemes page, then the assistant. No scheme count appears anywhere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thought. Left: the citizen. Right: what the Department gives. A scheme is findable under every persona it names and every offering it provides, at once. Everything that follows is a view over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and where each sits. A stays where it is. B or C takes the section beneath the hero.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Explore User Personas.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 Schemes for You — two questions.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 Schemes for You — one tap.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Pictures of the Groups, with Cards.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 Panel with a Table of Schemes.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Samajik Sahayak — the same two questions, in chat.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the review asked for: the masters, the tagging, and the estimate from development. Nothing on the options can ship before the second item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parts are decided separately. If only one is settled today, the Schemes page is the one that changes most for the most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658368" y="658368"/>
            <a:ext cx="548640" cy="768096"/>
          </a:xfrm>
          <a:prstGeom prst="rect">
            <a:avLst/>
          </a:prstGeom>
        </p:spPr>
      </p:pic>
      <p:sp>
        <p:nvSpPr>
          <p:cNvPr id="3" name="Text 0"/>
          <p:cNvSpPr txBox="1"/>
          <p:nvPr/>
        </p:nvSpPr>
        <p:spPr>
          <a:xfrm>
            <a:off x="1389888" y="713232"/>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658368" y="2286000"/>
            <a:ext cx="8595360" cy="1463040"/>
          </a:xfrm>
          <a:prstGeom prst="rect">
            <a:avLst/>
          </a:prstGeom>
          <a:noFill/>
          <a:ln/>
        </p:spPr>
        <p:txBody>
          <a:bodyPr wrap="square" lIns="0" tIns="0" rIns="0" bIns="0" rtlCol="0" anchor="ctr"/>
          <a:lstStyle/>
          <a:p>
            <a:pPr indent="0" marL="0">
              <a:lnSpc>
                <a:spcPct val="106000"/>
              </a:lnSpc>
              <a:buNone/>
            </a:pPr>
            <a:r>
              <a:rPr lang="en-US" sz="4000" b="1" dirty="0">
                <a:solidFill>
                  <a:srgbClr val="FFFFFF"/>
                </a:solidFill>
                <a:latin typeface="Noto Sans" pitchFamily="34" charset="0"/>
                <a:ea typeface="Noto Sans" pitchFamily="34" charset="-122"/>
                <a:cs typeface="Noto Sans" pitchFamily="34" charset="-120"/>
              </a:rPr>
              <a:t>How Citizens Find Schemes</a:t>
            </a:r>
            <a:endParaRPr lang="en-US" sz="4000" dirty="0"/>
          </a:p>
        </p:txBody>
      </p:sp>
      <p:sp>
        <p:nvSpPr>
          <p:cNvPr id="5" name="Text 2"/>
          <p:cNvSpPr txBox="1"/>
          <p:nvPr/>
        </p:nvSpPr>
        <p:spPr>
          <a:xfrm>
            <a:off x="658368" y="3803904"/>
            <a:ext cx="9509760" cy="640080"/>
          </a:xfrm>
          <a:prstGeom prst="rect">
            <a:avLst/>
          </a:prstGeom>
          <a:noFill/>
          <a:ln/>
        </p:spPr>
        <p:txBody>
          <a:bodyPr wrap="square" lIns="0" tIns="0" rIns="0" bIns="0" rtlCol="0" anchor="ctr"/>
          <a:lstStyle/>
          <a:p>
            <a:pPr indent="0" marL="0">
              <a:lnSpc>
                <a:spcPct val="120000"/>
              </a:lnSpc>
              <a:buNone/>
            </a:pPr>
            <a:r>
              <a:rPr lang="en-US" sz="1500" dirty="0">
                <a:solidFill>
                  <a:srgbClr val="C0DBFF"/>
                </a:solidFill>
                <a:latin typeface="Noto Sans" pitchFamily="34" charset="0"/>
                <a:ea typeface="Noto Sans" pitchFamily="34" charset="-122"/>
                <a:cs typeface="Noto Sans" pitchFamily="34" charset="-120"/>
              </a:rPr>
              <a:t>Three parts of the website. Six options. One list of the Department's schemes, read the same way by every one of them.</a:t>
            </a:r>
            <a:endParaRPr lang="en-US" sz="1500" dirty="0"/>
          </a:p>
        </p:txBody>
      </p:sp>
      <p:sp>
        <p:nvSpPr>
          <p:cNvPr id="6" name="Shape 3"/>
          <p:cNvSpPr/>
          <p:nvPr/>
        </p:nvSpPr>
        <p:spPr>
          <a:xfrm>
            <a:off x="658368" y="4937760"/>
            <a:ext cx="10874959" cy="0"/>
          </a:xfrm>
          <a:prstGeom prst="line">
            <a:avLst/>
          </a:prstGeom>
          <a:noFill/>
          <a:ln w="12700">
            <a:solidFill>
              <a:srgbClr val="004B96"/>
            </a:solidFill>
            <a:prstDash val="solid"/>
          </a:ln>
        </p:spPr>
      </p:sp>
      <p:sp>
        <p:nvSpPr>
          <p:cNvPr id="7" name="Text 4"/>
          <p:cNvSpPr txBox="1"/>
          <p:nvPr/>
        </p:nvSpPr>
        <p:spPr>
          <a:xfrm>
            <a:off x="658368" y="5138928"/>
            <a:ext cx="10241280" cy="457200"/>
          </a:xfrm>
          <a:prstGeom prst="rect">
            <a:avLst/>
          </a:prstGeom>
          <a:noFill/>
          <a:ln/>
        </p:spPr>
        <p:txBody>
          <a:bodyPr wrap="square" lIns="0" tIns="0" rIns="0" bIns="0" rtlCol="0" anchor="ctr"/>
          <a:lstStyle/>
          <a:p>
            <a:pPr indent="0" marL="0">
              <a:lnSpc>
                <a:spcPct val="120000"/>
              </a:lnSpc>
              <a:buNone/>
            </a:pPr>
            <a:r>
              <a:rPr lang="en-US" sz="1250" dirty="0">
                <a:solidFill>
                  <a:srgbClr val="FFFFFF"/>
                </a:solidFill>
                <a:latin typeface="Noto Sans" pitchFamily="34" charset="0"/>
                <a:ea typeface="Noto Sans" pitchFamily="34" charset="-122"/>
                <a:cs typeface="Noto Sans" pitchFamily="34" charset="-120"/>
              </a:rPr>
              <a:t>Each option is shown as the screen built for it, with a recorded walkthrough, what favours it and what counts against it.</a:t>
            </a:r>
            <a:endParaRPr lang="en-US" sz="1250" dirty="0"/>
          </a:p>
        </p:txBody>
      </p:sp>
      <p:sp>
        <p:nvSpPr>
          <p:cNvPr id="8" name="Text 5"/>
          <p:cNvSpPr txBox="1"/>
          <p:nvPr/>
        </p:nvSpPr>
        <p:spPr>
          <a:xfrm>
            <a:off x="658368" y="5687568"/>
            <a:ext cx="10241280" cy="274320"/>
          </a:xfrm>
          <a:prstGeom prst="rect">
            <a:avLst/>
          </a:prstGeom>
          <a:noFill/>
          <a:ln/>
        </p:spPr>
        <p:txBody>
          <a:bodyPr wrap="square" lIns="0" tIns="0" rIns="0" bIns="0" rtlCol="0" anchor="ctr"/>
          <a:lstStyle/>
          <a:p>
            <a:pPr indent="0" marL="0">
              <a:buNone/>
            </a:pPr>
            <a:r>
              <a:rPr lang="en-US" sz="1100" dirty="0">
                <a:solidFill>
                  <a:srgbClr val="C0DBFF"/>
                </a:solidFill>
                <a:latin typeface="Noto Sans" pitchFamily="34" charset="0"/>
                <a:ea typeface="Noto Sans" pitchFamily="34" charset="-122"/>
                <a:cs typeface="Noto Sans" pitchFamily="34" charset="-120"/>
              </a:rPr>
              <a:t>Schemes from the Department's Annual Report 2025-26 and Demand for Grants 2026-27 · MoSJE Design Research ·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900" b="1" spc="80" kern="0" dirty="0">
                <a:solidFill>
                  <a:srgbClr val="54585E"/>
                </a:solidFill>
                <a:latin typeface="Noto Sans" pitchFamily="34" charset="0"/>
                <a:ea typeface="Noto Sans" pitchFamily="34" charset="-122"/>
                <a:cs typeface="Noto Sans" pitchFamily="34" charset="-120"/>
              </a:rPr>
              <a:t>ONE THOUGHT BEHIND EVERY OPTION</a:t>
            </a:r>
            <a:endParaRPr lang="en-US" sz="900" dirty="0"/>
          </a:p>
        </p:txBody>
      </p:sp>
      <p:sp>
        <p:nvSpPr>
          <p:cNvPr id="3" name="Text 1"/>
          <p:cNvSpPr txBox="1"/>
          <p:nvPr/>
        </p:nvSpPr>
        <p:spPr>
          <a:xfrm>
            <a:off x="658368" y="621792"/>
            <a:ext cx="10874959" cy="438912"/>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The Citizen on the Left, the Department on the Right</a:t>
            </a:r>
            <a:endParaRPr lang="en-US" sz="2700" dirty="0"/>
          </a:p>
        </p:txBody>
      </p:sp>
      <p:sp>
        <p:nvSpPr>
          <p:cNvPr id="4" name="Text 2"/>
          <p:cNvSpPr txBox="1"/>
          <p:nvPr/>
        </p:nvSpPr>
        <p:spPr>
          <a:xfrm>
            <a:off x="658368" y="1097280"/>
            <a:ext cx="10004962" cy="274320"/>
          </a:xfrm>
          <a:prstGeom prst="rect">
            <a:avLst/>
          </a:prstGeom>
          <a:noFill/>
          <a:ln/>
        </p:spPr>
        <p:txBody>
          <a:bodyPr wrap="square" lIns="0" tIns="0" rIns="0" bIns="0" rtlCol="0" anchor="ctr"/>
          <a:lstStyle/>
          <a:p>
            <a:pPr indent="0" marL="0">
              <a:buNone/>
            </a:pPr>
            <a:r>
              <a:rPr lang="en-US" sz="1250" dirty="0">
                <a:solidFill>
                  <a:srgbClr val="3A3D41"/>
                </a:solidFill>
                <a:latin typeface="Noto Sans" pitchFamily="34" charset="0"/>
                <a:ea typeface="Noto Sans" pitchFamily="34" charset="-122"/>
                <a:cs typeface="Noto Sans" pitchFamily="34" charset="-120"/>
              </a:rPr>
              <a:t>Every option filters the Department's schemes on these two axes and nothing else.</a:t>
            </a:r>
            <a:endParaRPr lang="en-US" sz="1250" dirty="0"/>
          </a:p>
        </p:txBody>
      </p:sp>
      <p:sp>
        <p:nvSpPr>
          <p:cNvPr id="5" name="Shape 3"/>
          <p:cNvSpPr/>
          <p:nvPr/>
        </p:nvSpPr>
        <p:spPr>
          <a:xfrm>
            <a:off x="658368" y="1517904"/>
            <a:ext cx="4663440" cy="4617720"/>
          </a:xfrm>
          <a:prstGeom prst="rect">
            <a:avLst/>
          </a:prstGeom>
          <a:solidFill>
            <a:srgbClr val="EEF0F3"/>
          </a:solidFill>
          <a:ln w="9525">
            <a:solidFill>
              <a:srgbClr val="DCDEE1"/>
            </a:solidFill>
            <a:prstDash val="solid"/>
          </a:ln>
        </p:spPr>
      </p:sp>
      <p:sp>
        <p:nvSpPr>
          <p:cNvPr id="6" name="Text 4"/>
          <p:cNvSpPr txBox="1"/>
          <p:nvPr/>
        </p:nvSpPr>
        <p:spPr>
          <a:xfrm>
            <a:off x="877824" y="1664208"/>
            <a:ext cx="4224528" cy="274320"/>
          </a:xfrm>
          <a:prstGeom prst="rect">
            <a:avLst/>
          </a:prstGeom>
          <a:noFill/>
          <a:ln/>
        </p:spPr>
        <p:txBody>
          <a:bodyPr wrap="square" lIns="0" tIns="0" rIns="0" bIns="0" rtlCol="0" anchor="ctr"/>
          <a:lstStyle/>
          <a:p>
            <a:pPr indent="0" marL="0">
              <a:buNone/>
            </a:pPr>
            <a:r>
              <a:rPr lang="en-US" sz="1700" b="1" dirty="0">
                <a:solidFill>
                  <a:srgbClr val="003975"/>
                </a:solidFill>
                <a:latin typeface="Noto Sans" pitchFamily="34" charset="0"/>
                <a:ea typeface="Noto Sans" pitchFamily="34" charset="-122"/>
                <a:cs typeface="Noto Sans" pitchFamily="34" charset="-120"/>
              </a:rPr>
              <a:t>Who Is Looking for Support</a:t>
            </a:r>
            <a:endParaRPr lang="en-US" sz="1700" dirty="0"/>
          </a:p>
        </p:txBody>
      </p:sp>
      <p:sp>
        <p:nvSpPr>
          <p:cNvPr id="7" name="Text 5"/>
          <p:cNvSpPr txBox="1"/>
          <p:nvPr/>
        </p:nvSpPr>
        <p:spPr>
          <a:xfrm>
            <a:off x="877824" y="1975104"/>
            <a:ext cx="4224528" cy="384048"/>
          </a:xfrm>
          <a:prstGeom prst="rect">
            <a:avLst/>
          </a:prstGeom>
          <a:noFill/>
          <a:ln/>
        </p:spPr>
        <p:txBody>
          <a:bodyPr wrap="square" lIns="0" tIns="0" rIns="0" bIns="0" rtlCol="0" anchor="ctr"/>
          <a:lstStyle/>
          <a:p>
            <a:pPr indent="0" marL="0">
              <a:lnSpc>
                <a:spcPct val="118000"/>
              </a:lnSpc>
              <a:buNone/>
            </a:pPr>
            <a:r>
              <a:rPr lang="en-US" sz="850" dirty="0">
                <a:solidFill>
                  <a:srgbClr val="54585E"/>
                </a:solidFill>
                <a:latin typeface="Noto Sans" pitchFamily="34" charset="0"/>
                <a:ea typeface="Noto Sans" pitchFamily="34" charset="-122"/>
                <a:cs typeface="Noto Sans" pitchFamily="34" charset="-120"/>
              </a:rPr>
              <a:t>The people the Department's mandate names (Annual Report 2025-26, §1.2), as a citizen would choose them. Persons with disabilities are asked for and directed to DEPwD.</a:t>
            </a:r>
            <a:endParaRPr lang="en-US" sz="850" dirty="0"/>
          </a:p>
        </p:txBody>
      </p:sp>
      <p:sp>
        <p:nvSpPr>
          <p:cNvPr id="8" name="Shape 6"/>
          <p:cNvSpPr/>
          <p:nvPr/>
        </p:nvSpPr>
        <p:spPr>
          <a:xfrm>
            <a:off x="877824" y="2414016"/>
            <a:ext cx="4224528" cy="275151"/>
          </a:xfrm>
          <a:prstGeom prst="rect">
            <a:avLst/>
          </a:prstGeom>
          <a:solidFill>
            <a:srgbClr val="FFFFFF"/>
          </a:solidFill>
          <a:ln w="6350">
            <a:solidFill>
              <a:srgbClr val="DCDEE1"/>
            </a:solidFill>
            <a:prstDash val="solid"/>
          </a:ln>
        </p:spPr>
      </p:sp>
      <p:sp>
        <p:nvSpPr>
          <p:cNvPr id="9" name="Text 7"/>
          <p:cNvSpPr txBox="1"/>
          <p:nvPr/>
        </p:nvSpPr>
        <p:spPr>
          <a:xfrm>
            <a:off x="969264" y="2414016"/>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1</a:t>
            </a:r>
            <a:endParaRPr lang="en-US" sz="900" dirty="0"/>
          </a:p>
        </p:txBody>
      </p:sp>
      <p:sp>
        <p:nvSpPr>
          <p:cNvPr id="10" name="Text 8"/>
          <p:cNvSpPr txBox="1"/>
          <p:nvPr/>
        </p:nvSpPr>
        <p:spPr>
          <a:xfrm>
            <a:off x="1280160" y="2414016"/>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Students</a:t>
            </a:r>
            <a:endParaRPr lang="en-US" sz="1000" dirty="0"/>
          </a:p>
        </p:txBody>
      </p:sp>
      <p:sp>
        <p:nvSpPr>
          <p:cNvPr id="11" name="Shape 9"/>
          <p:cNvSpPr/>
          <p:nvPr/>
        </p:nvSpPr>
        <p:spPr>
          <a:xfrm>
            <a:off x="877824" y="2744031"/>
            <a:ext cx="4224528" cy="275151"/>
          </a:xfrm>
          <a:prstGeom prst="rect">
            <a:avLst/>
          </a:prstGeom>
          <a:solidFill>
            <a:srgbClr val="FFFFFF"/>
          </a:solidFill>
          <a:ln w="6350">
            <a:solidFill>
              <a:srgbClr val="DCDEE1"/>
            </a:solidFill>
            <a:prstDash val="solid"/>
          </a:ln>
        </p:spPr>
      </p:sp>
      <p:sp>
        <p:nvSpPr>
          <p:cNvPr id="12" name="Text 10"/>
          <p:cNvSpPr txBox="1"/>
          <p:nvPr/>
        </p:nvSpPr>
        <p:spPr>
          <a:xfrm>
            <a:off x="969264" y="2744031"/>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2</a:t>
            </a:r>
            <a:endParaRPr lang="en-US" sz="900" dirty="0"/>
          </a:p>
        </p:txBody>
      </p:sp>
      <p:sp>
        <p:nvSpPr>
          <p:cNvPr id="13" name="Text 11"/>
          <p:cNvSpPr txBox="1"/>
          <p:nvPr/>
        </p:nvSpPr>
        <p:spPr>
          <a:xfrm>
            <a:off x="1280160" y="2744031"/>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Scheduled Castes</a:t>
            </a:r>
            <a:endParaRPr lang="en-US" sz="1000" dirty="0"/>
          </a:p>
        </p:txBody>
      </p:sp>
      <p:sp>
        <p:nvSpPr>
          <p:cNvPr id="14" name="Shape 12"/>
          <p:cNvSpPr/>
          <p:nvPr/>
        </p:nvSpPr>
        <p:spPr>
          <a:xfrm>
            <a:off x="877824" y="3074047"/>
            <a:ext cx="4224528" cy="275151"/>
          </a:xfrm>
          <a:prstGeom prst="rect">
            <a:avLst/>
          </a:prstGeom>
          <a:solidFill>
            <a:srgbClr val="FFFFFF"/>
          </a:solidFill>
          <a:ln w="6350">
            <a:solidFill>
              <a:srgbClr val="DCDEE1"/>
            </a:solidFill>
            <a:prstDash val="solid"/>
          </a:ln>
        </p:spPr>
      </p:sp>
      <p:sp>
        <p:nvSpPr>
          <p:cNvPr id="15" name="Text 13"/>
          <p:cNvSpPr txBox="1"/>
          <p:nvPr/>
        </p:nvSpPr>
        <p:spPr>
          <a:xfrm>
            <a:off x="969264" y="3074047"/>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3</a:t>
            </a:r>
            <a:endParaRPr lang="en-US" sz="900" dirty="0"/>
          </a:p>
        </p:txBody>
      </p:sp>
      <p:sp>
        <p:nvSpPr>
          <p:cNvPr id="16" name="Text 14"/>
          <p:cNvSpPr txBox="1"/>
          <p:nvPr/>
        </p:nvSpPr>
        <p:spPr>
          <a:xfrm>
            <a:off x="1280160" y="3074047"/>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Other Backward Classes</a:t>
            </a:r>
            <a:endParaRPr lang="en-US" sz="1000" dirty="0"/>
          </a:p>
        </p:txBody>
      </p:sp>
      <p:sp>
        <p:nvSpPr>
          <p:cNvPr id="17" name="Shape 15"/>
          <p:cNvSpPr/>
          <p:nvPr/>
        </p:nvSpPr>
        <p:spPr>
          <a:xfrm>
            <a:off x="877824" y="3404062"/>
            <a:ext cx="4224528" cy="275151"/>
          </a:xfrm>
          <a:prstGeom prst="rect">
            <a:avLst/>
          </a:prstGeom>
          <a:solidFill>
            <a:srgbClr val="FFFFFF"/>
          </a:solidFill>
          <a:ln w="6350">
            <a:solidFill>
              <a:srgbClr val="DCDEE1"/>
            </a:solidFill>
            <a:prstDash val="solid"/>
          </a:ln>
        </p:spPr>
      </p:sp>
      <p:sp>
        <p:nvSpPr>
          <p:cNvPr id="18" name="Text 16"/>
          <p:cNvSpPr txBox="1"/>
          <p:nvPr/>
        </p:nvSpPr>
        <p:spPr>
          <a:xfrm>
            <a:off x="969264" y="3404062"/>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4</a:t>
            </a:r>
            <a:endParaRPr lang="en-US" sz="900" dirty="0"/>
          </a:p>
        </p:txBody>
      </p:sp>
      <p:sp>
        <p:nvSpPr>
          <p:cNvPr id="19" name="Text 17"/>
          <p:cNvSpPr txBox="1"/>
          <p:nvPr/>
        </p:nvSpPr>
        <p:spPr>
          <a:xfrm>
            <a:off x="1280160" y="3404062"/>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De-notified, Nomadic and Semi-Nomadic Tribes</a:t>
            </a:r>
            <a:endParaRPr lang="en-US" sz="1000" dirty="0"/>
          </a:p>
        </p:txBody>
      </p:sp>
      <p:sp>
        <p:nvSpPr>
          <p:cNvPr id="20" name="Shape 18"/>
          <p:cNvSpPr/>
          <p:nvPr/>
        </p:nvSpPr>
        <p:spPr>
          <a:xfrm>
            <a:off x="877824" y="3734077"/>
            <a:ext cx="4224528" cy="275151"/>
          </a:xfrm>
          <a:prstGeom prst="rect">
            <a:avLst/>
          </a:prstGeom>
          <a:solidFill>
            <a:srgbClr val="FFFFFF"/>
          </a:solidFill>
          <a:ln w="6350">
            <a:solidFill>
              <a:srgbClr val="DCDEE1"/>
            </a:solidFill>
            <a:prstDash val="solid"/>
          </a:ln>
        </p:spPr>
      </p:sp>
      <p:sp>
        <p:nvSpPr>
          <p:cNvPr id="21" name="Text 19"/>
          <p:cNvSpPr txBox="1"/>
          <p:nvPr/>
        </p:nvSpPr>
        <p:spPr>
          <a:xfrm>
            <a:off x="969264" y="3734077"/>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5</a:t>
            </a:r>
            <a:endParaRPr lang="en-US" sz="900" dirty="0"/>
          </a:p>
        </p:txBody>
      </p:sp>
      <p:sp>
        <p:nvSpPr>
          <p:cNvPr id="22" name="Text 20"/>
          <p:cNvSpPr txBox="1"/>
          <p:nvPr/>
        </p:nvSpPr>
        <p:spPr>
          <a:xfrm>
            <a:off x="1280160" y="3734077"/>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Safai Karamcharis</a:t>
            </a:r>
            <a:endParaRPr lang="en-US" sz="1000" dirty="0"/>
          </a:p>
        </p:txBody>
      </p:sp>
      <p:sp>
        <p:nvSpPr>
          <p:cNvPr id="23" name="Shape 21"/>
          <p:cNvSpPr/>
          <p:nvPr/>
        </p:nvSpPr>
        <p:spPr>
          <a:xfrm>
            <a:off x="877824" y="4064092"/>
            <a:ext cx="4224528" cy="275151"/>
          </a:xfrm>
          <a:prstGeom prst="rect">
            <a:avLst/>
          </a:prstGeom>
          <a:solidFill>
            <a:srgbClr val="FFFFFF"/>
          </a:solidFill>
          <a:ln w="6350">
            <a:solidFill>
              <a:srgbClr val="DCDEE1"/>
            </a:solidFill>
            <a:prstDash val="solid"/>
          </a:ln>
        </p:spPr>
      </p:sp>
      <p:sp>
        <p:nvSpPr>
          <p:cNvPr id="24" name="Text 22"/>
          <p:cNvSpPr txBox="1"/>
          <p:nvPr/>
        </p:nvSpPr>
        <p:spPr>
          <a:xfrm>
            <a:off x="969264" y="4064092"/>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6</a:t>
            </a:r>
            <a:endParaRPr lang="en-US" sz="900" dirty="0"/>
          </a:p>
        </p:txBody>
      </p:sp>
      <p:sp>
        <p:nvSpPr>
          <p:cNvPr id="25" name="Text 23"/>
          <p:cNvSpPr txBox="1"/>
          <p:nvPr/>
        </p:nvSpPr>
        <p:spPr>
          <a:xfrm>
            <a:off x="1280160" y="4064092"/>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Senior Citizens</a:t>
            </a:r>
            <a:endParaRPr lang="en-US" sz="1000" dirty="0"/>
          </a:p>
        </p:txBody>
      </p:sp>
      <p:sp>
        <p:nvSpPr>
          <p:cNvPr id="26" name="Shape 24"/>
          <p:cNvSpPr/>
          <p:nvPr/>
        </p:nvSpPr>
        <p:spPr>
          <a:xfrm>
            <a:off x="877824" y="4394108"/>
            <a:ext cx="4224528" cy="275151"/>
          </a:xfrm>
          <a:prstGeom prst="rect">
            <a:avLst/>
          </a:prstGeom>
          <a:solidFill>
            <a:srgbClr val="FFFFFF"/>
          </a:solidFill>
          <a:ln w="6350">
            <a:solidFill>
              <a:srgbClr val="DCDEE1"/>
            </a:solidFill>
            <a:prstDash val="solid"/>
          </a:ln>
        </p:spPr>
      </p:sp>
      <p:sp>
        <p:nvSpPr>
          <p:cNvPr id="27" name="Text 25"/>
          <p:cNvSpPr txBox="1"/>
          <p:nvPr/>
        </p:nvSpPr>
        <p:spPr>
          <a:xfrm>
            <a:off x="969264" y="4394108"/>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7</a:t>
            </a:r>
            <a:endParaRPr lang="en-US" sz="900" dirty="0"/>
          </a:p>
        </p:txBody>
      </p:sp>
      <p:sp>
        <p:nvSpPr>
          <p:cNvPr id="28" name="Text 26"/>
          <p:cNvSpPr txBox="1"/>
          <p:nvPr/>
        </p:nvSpPr>
        <p:spPr>
          <a:xfrm>
            <a:off x="1280160" y="4394108"/>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Transgender Persons</a:t>
            </a:r>
            <a:endParaRPr lang="en-US" sz="1000" dirty="0"/>
          </a:p>
        </p:txBody>
      </p:sp>
      <p:sp>
        <p:nvSpPr>
          <p:cNvPr id="29" name="Shape 27"/>
          <p:cNvSpPr/>
          <p:nvPr/>
        </p:nvSpPr>
        <p:spPr>
          <a:xfrm>
            <a:off x="877824" y="4724123"/>
            <a:ext cx="4224528" cy="275151"/>
          </a:xfrm>
          <a:prstGeom prst="rect">
            <a:avLst/>
          </a:prstGeom>
          <a:solidFill>
            <a:srgbClr val="FFFFFF"/>
          </a:solidFill>
          <a:ln w="6350">
            <a:solidFill>
              <a:srgbClr val="DCDEE1"/>
            </a:solidFill>
            <a:prstDash val="solid"/>
          </a:ln>
        </p:spPr>
      </p:sp>
      <p:sp>
        <p:nvSpPr>
          <p:cNvPr id="30" name="Text 28"/>
          <p:cNvSpPr txBox="1"/>
          <p:nvPr/>
        </p:nvSpPr>
        <p:spPr>
          <a:xfrm>
            <a:off x="969264" y="4724123"/>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8</a:t>
            </a:r>
            <a:endParaRPr lang="en-US" sz="900" dirty="0"/>
          </a:p>
        </p:txBody>
      </p:sp>
      <p:sp>
        <p:nvSpPr>
          <p:cNvPr id="31" name="Text 29"/>
          <p:cNvSpPr txBox="1"/>
          <p:nvPr/>
        </p:nvSpPr>
        <p:spPr>
          <a:xfrm>
            <a:off x="1280160" y="4724123"/>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Persons Affected by Substance Use</a:t>
            </a:r>
            <a:endParaRPr lang="en-US" sz="1000" dirty="0"/>
          </a:p>
        </p:txBody>
      </p:sp>
      <p:sp>
        <p:nvSpPr>
          <p:cNvPr id="32" name="Shape 30"/>
          <p:cNvSpPr/>
          <p:nvPr/>
        </p:nvSpPr>
        <p:spPr>
          <a:xfrm>
            <a:off x="877824" y="5054138"/>
            <a:ext cx="4224528" cy="275151"/>
          </a:xfrm>
          <a:prstGeom prst="rect">
            <a:avLst/>
          </a:prstGeom>
          <a:solidFill>
            <a:srgbClr val="FFFFFF"/>
          </a:solidFill>
          <a:ln w="6350">
            <a:solidFill>
              <a:srgbClr val="DCDEE1"/>
            </a:solidFill>
            <a:prstDash val="solid"/>
          </a:ln>
        </p:spPr>
      </p:sp>
      <p:sp>
        <p:nvSpPr>
          <p:cNvPr id="33" name="Text 31"/>
          <p:cNvSpPr txBox="1"/>
          <p:nvPr/>
        </p:nvSpPr>
        <p:spPr>
          <a:xfrm>
            <a:off x="969264" y="5054138"/>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9</a:t>
            </a:r>
            <a:endParaRPr lang="en-US" sz="900" dirty="0"/>
          </a:p>
        </p:txBody>
      </p:sp>
      <p:sp>
        <p:nvSpPr>
          <p:cNvPr id="34" name="Text 32"/>
          <p:cNvSpPr txBox="1"/>
          <p:nvPr/>
        </p:nvSpPr>
        <p:spPr>
          <a:xfrm>
            <a:off x="1280160" y="5054138"/>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Persons Engaged in Begging</a:t>
            </a:r>
            <a:endParaRPr lang="en-US" sz="1000" dirty="0"/>
          </a:p>
        </p:txBody>
      </p:sp>
      <p:sp>
        <p:nvSpPr>
          <p:cNvPr id="35" name="Shape 33"/>
          <p:cNvSpPr/>
          <p:nvPr/>
        </p:nvSpPr>
        <p:spPr>
          <a:xfrm>
            <a:off x="877824" y="5384153"/>
            <a:ext cx="4224528" cy="275151"/>
          </a:xfrm>
          <a:prstGeom prst="rect">
            <a:avLst/>
          </a:prstGeom>
          <a:solidFill>
            <a:srgbClr val="FFFFFF"/>
          </a:solidFill>
          <a:ln w="6350">
            <a:solidFill>
              <a:srgbClr val="DCDEE1"/>
            </a:solidFill>
            <a:prstDash val="solid"/>
          </a:ln>
        </p:spPr>
      </p:sp>
      <p:sp>
        <p:nvSpPr>
          <p:cNvPr id="36" name="Text 34"/>
          <p:cNvSpPr txBox="1"/>
          <p:nvPr/>
        </p:nvSpPr>
        <p:spPr>
          <a:xfrm>
            <a:off x="969264" y="5384153"/>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10</a:t>
            </a:r>
            <a:endParaRPr lang="en-US" sz="900" dirty="0"/>
          </a:p>
        </p:txBody>
      </p:sp>
      <p:sp>
        <p:nvSpPr>
          <p:cNvPr id="37" name="Text 35"/>
          <p:cNvSpPr txBox="1"/>
          <p:nvPr/>
        </p:nvSpPr>
        <p:spPr>
          <a:xfrm>
            <a:off x="1280160" y="5384153"/>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Victims of Atrocities</a:t>
            </a:r>
            <a:endParaRPr lang="en-US" sz="1000" dirty="0"/>
          </a:p>
        </p:txBody>
      </p:sp>
      <p:sp>
        <p:nvSpPr>
          <p:cNvPr id="38" name="Shape 36"/>
          <p:cNvSpPr/>
          <p:nvPr/>
        </p:nvSpPr>
        <p:spPr>
          <a:xfrm>
            <a:off x="877824" y="5714169"/>
            <a:ext cx="4224528" cy="275151"/>
          </a:xfrm>
          <a:prstGeom prst="rect">
            <a:avLst/>
          </a:prstGeom>
          <a:solidFill>
            <a:srgbClr val="FFFFFF"/>
          </a:solidFill>
          <a:ln w="6350">
            <a:solidFill>
              <a:srgbClr val="DCDEE1"/>
            </a:solidFill>
            <a:prstDash val="solid"/>
          </a:ln>
        </p:spPr>
      </p:sp>
      <p:sp>
        <p:nvSpPr>
          <p:cNvPr id="39" name="Text 37"/>
          <p:cNvSpPr txBox="1"/>
          <p:nvPr/>
        </p:nvSpPr>
        <p:spPr>
          <a:xfrm>
            <a:off x="969264" y="5714169"/>
            <a:ext cx="274320" cy="275151"/>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11</a:t>
            </a:r>
            <a:endParaRPr lang="en-US" sz="900" dirty="0"/>
          </a:p>
        </p:txBody>
      </p:sp>
      <p:sp>
        <p:nvSpPr>
          <p:cNvPr id="40" name="Text 38"/>
          <p:cNvSpPr txBox="1"/>
          <p:nvPr/>
        </p:nvSpPr>
        <p:spPr>
          <a:xfrm>
            <a:off x="1280160" y="5714169"/>
            <a:ext cx="3749040" cy="275151"/>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Voluntary Organisations</a:t>
            </a:r>
            <a:endParaRPr lang="en-US" sz="1000" dirty="0"/>
          </a:p>
        </p:txBody>
      </p:sp>
      <p:sp>
        <p:nvSpPr>
          <p:cNvPr id="41" name="Text 39"/>
          <p:cNvSpPr txBox="1"/>
          <p:nvPr/>
        </p:nvSpPr>
        <p:spPr>
          <a:xfrm>
            <a:off x="5321808" y="3346704"/>
            <a:ext cx="1548079" cy="640080"/>
          </a:xfrm>
          <a:prstGeom prst="rect">
            <a:avLst/>
          </a:prstGeom>
          <a:noFill/>
          <a:ln/>
        </p:spPr>
        <p:txBody>
          <a:bodyPr wrap="square" lIns="0" tIns="0" rIns="0" bIns="0" rtlCol="0" anchor="ctr"/>
          <a:lstStyle/>
          <a:p>
            <a:pPr algn="ctr" indent="0" marL="0">
              <a:buNone/>
            </a:pPr>
            <a:r>
              <a:rPr lang="en-US" sz="3600" b="1" dirty="0">
                <a:solidFill>
                  <a:srgbClr val="005EB9"/>
                </a:solidFill>
                <a:latin typeface="Noto Sans" pitchFamily="34" charset="0"/>
                <a:ea typeface="Noto Sans" pitchFamily="34" charset="-122"/>
                <a:cs typeface="Noto Sans" pitchFamily="34" charset="-120"/>
              </a:rPr>
              <a:t>×</a:t>
            </a:r>
            <a:endParaRPr lang="en-US" sz="3600" dirty="0"/>
          </a:p>
        </p:txBody>
      </p:sp>
      <p:sp>
        <p:nvSpPr>
          <p:cNvPr id="42" name="Text 40"/>
          <p:cNvSpPr txBox="1"/>
          <p:nvPr/>
        </p:nvSpPr>
        <p:spPr>
          <a:xfrm>
            <a:off x="5321808" y="3986784"/>
            <a:ext cx="1548079" cy="457200"/>
          </a:xfrm>
          <a:prstGeom prst="rect">
            <a:avLst/>
          </a:prstGeom>
          <a:noFill/>
          <a:ln/>
        </p:spPr>
        <p:txBody>
          <a:bodyPr wrap="square" lIns="0" tIns="0" rIns="0" bIns="0" rtlCol="0" anchor="ctr"/>
          <a:lstStyle/>
          <a:p>
            <a:pPr algn="ctr" indent="0" marL="0">
              <a:lnSpc>
                <a:spcPct val="115000"/>
              </a:lnSpc>
              <a:buNone/>
            </a:pPr>
            <a:r>
              <a:rPr lang="en-US" sz="900" dirty="0">
                <a:solidFill>
                  <a:srgbClr val="54585E"/>
                </a:solidFill>
                <a:latin typeface="Noto Sans" pitchFamily="34" charset="0"/>
                <a:ea typeface="Noto Sans" pitchFamily="34" charset="-122"/>
                <a:cs typeface="Noto Sans" pitchFamily="34" charset="-120"/>
              </a:rPr>
              <a:t>filters the</a:t>
            </a:r>
            <a:endParaRPr lang="en-US" sz="900" dirty="0"/>
          </a:p>
          <a:p>
            <a:pPr algn="ctr" indent="0" marL="0">
              <a:lnSpc>
                <a:spcPct val="115000"/>
              </a:lnSpc>
              <a:buNone/>
            </a:pPr>
            <a:r>
              <a:rPr lang="en-US" sz="900" dirty="0">
                <a:solidFill>
                  <a:srgbClr val="54585E"/>
                </a:solidFill>
                <a:latin typeface="Noto Sans" pitchFamily="34" charset="0"/>
                <a:ea typeface="Noto Sans" pitchFamily="34" charset="-122"/>
                <a:cs typeface="Noto Sans" pitchFamily="34" charset="-120"/>
              </a:rPr>
              <a:t>schemes</a:t>
            </a:r>
            <a:endParaRPr lang="en-US" sz="900" dirty="0"/>
          </a:p>
        </p:txBody>
      </p:sp>
      <p:sp>
        <p:nvSpPr>
          <p:cNvPr id="43" name="Shape 41"/>
          <p:cNvSpPr/>
          <p:nvPr/>
        </p:nvSpPr>
        <p:spPr>
          <a:xfrm>
            <a:off x="6869887" y="1517904"/>
            <a:ext cx="4663440" cy="4617720"/>
          </a:xfrm>
          <a:prstGeom prst="rect">
            <a:avLst/>
          </a:prstGeom>
          <a:solidFill>
            <a:srgbClr val="EEF0F3"/>
          </a:solidFill>
          <a:ln w="9525">
            <a:solidFill>
              <a:srgbClr val="DCDEE1"/>
            </a:solidFill>
            <a:prstDash val="solid"/>
          </a:ln>
        </p:spPr>
      </p:sp>
      <p:sp>
        <p:nvSpPr>
          <p:cNvPr id="44" name="Text 42"/>
          <p:cNvSpPr txBox="1"/>
          <p:nvPr/>
        </p:nvSpPr>
        <p:spPr>
          <a:xfrm>
            <a:off x="7089343" y="1664208"/>
            <a:ext cx="4224528" cy="274320"/>
          </a:xfrm>
          <a:prstGeom prst="rect">
            <a:avLst/>
          </a:prstGeom>
          <a:noFill/>
          <a:ln/>
        </p:spPr>
        <p:txBody>
          <a:bodyPr wrap="square" lIns="0" tIns="0" rIns="0" bIns="0" rtlCol="0" anchor="ctr"/>
          <a:lstStyle/>
          <a:p>
            <a:pPr indent="0" marL="0">
              <a:buNone/>
            </a:pPr>
            <a:r>
              <a:rPr lang="en-US" sz="1700" b="1" dirty="0">
                <a:solidFill>
                  <a:srgbClr val="003975"/>
                </a:solidFill>
                <a:latin typeface="Noto Sans" pitchFamily="34" charset="0"/>
                <a:ea typeface="Noto Sans" pitchFamily="34" charset="-122"/>
                <a:cs typeface="Noto Sans" pitchFamily="34" charset="-120"/>
              </a:rPr>
              <a:t>What the Department Provides</a:t>
            </a:r>
            <a:endParaRPr lang="en-US" sz="1700" dirty="0"/>
          </a:p>
        </p:txBody>
      </p:sp>
      <p:sp>
        <p:nvSpPr>
          <p:cNvPr id="45" name="Text 43"/>
          <p:cNvSpPr txBox="1"/>
          <p:nvPr/>
        </p:nvSpPr>
        <p:spPr>
          <a:xfrm>
            <a:off x="7089343" y="1975104"/>
            <a:ext cx="4224528" cy="384048"/>
          </a:xfrm>
          <a:prstGeom prst="rect">
            <a:avLst/>
          </a:prstGeom>
          <a:noFill/>
          <a:ln/>
        </p:spPr>
        <p:txBody>
          <a:bodyPr wrap="square" lIns="0" tIns="0" rIns="0" bIns="0" rtlCol="0" anchor="ctr"/>
          <a:lstStyle/>
          <a:p>
            <a:pPr indent="0" marL="0">
              <a:lnSpc>
                <a:spcPct val="118000"/>
              </a:lnSpc>
              <a:buNone/>
            </a:pPr>
            <a:r>
              <a:rPr lang="en-US" sz="850" dirty="0">
                <a:solidFill>
                  <a:srgbClr val="54585E"/>
                </a:solidFill>
                <a:latin typeface="Noto Sans" pitchFamily="34" charset="0"/>
                <a:ea typeface="Noto Sans" pitchFamily="34" charset="-122"/>
                <a:cs typeface="Noto Sans" pitchFamily="34" charset="-120"/>
              </a:rPr>
              <a:t>What the schemes actually give, in the Department's own words — the right-hand side a citizen chooses second, or skips.</a:t>
            </a:r>
            <a:endParaRPr lang="en-US" sz="850" dirty="0"/>
          </a:p>
        </p:txBody>
      </p:sp>
      <p:sp>
        <p:nvSpPr>
          <p:cNvPr id="46" name="Shape 44"/>
          <p:cNvSpPr/>
          <p:nvPr/>
        </p:nvSpPr>
        <p:spPr>
          <a:xfrm>
            <a:off x="7089343" y="2414016"/>
            <a:ext cx="4224528" cy="398907"/>
          </a:xfrm>
          <a:prstGeom prst="rect">
            <a:avLst/>
          </a:prstGeom>
          <a:solidFill>
            <a:srgbClr val="FFFFFF"/>
          </a:solidFill>
          <a:ln w="6350">
            <a:solidFill>
              <a:srgbClr val="DCDEE1"/>
            </a:solidFill>
            <a:prstDash val="solid"/>
          </a:ln>
        </p:spPr>
      </p:sp>
      <p:sp>
        <p:nvSpPr>
          <p:cNvPr id="47" name="Text 45"/>
          <p:cNvSpPr txBox="1"/>
          <p:nvPr/>
        </p:nvSpPr>
        <p:spPr>
          <a:xfrm>
            <a:off x="7180783" y="2414016"/>
            <a:ext cx="274320" cy="398907"/>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1</a:t>
            </a:r>
            <a:endParaRPr lang="en-US" sz="900" dirty="0"/>
          </a:p>
        </p:txBody>
      </p:sp>
      <p:sp>
        <p:nvSpPr>
          <p:cNvPr id="48" name="Text 46"/>
          <p:cNvSpPr txBox="1"/>
          <p:nvPr/>
        </p:nvSpPr>
        <p:spPr>
          <a:xfrm>
            <a:off x="7491679" y="2414016"/>
            <a:ext cx="3749040" cy="398907"/>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Scholarships and Fellowships</a:t>
            </a:r>
            <a:endParaRPr lang="en-US" sz="1000" dirty="0"/>
          </a:p>
        </p:txBody>
      </p:sp>
      <p:sp>
        <p:nvSpPr>
          <p:cNvPr id="49" name="Shape 47"/>
          <p:cNvSpPr/>
          <p:nvPr/>
        </p:nvSpPr>
        <p:spPr>
          <a:xfrm>
            <a:off x="7089343" y="2867787"/>
            <a:ext cx="4224528" cy="398907"/>
          </a:xfrm>
          <a:prstGeom prst="rect">
            <a:avLst/>
          </a:prstGeom>
          <a:solidFill>
            <a:srgbClr val="FFFFFF"/>
          </a:solidFill>
          <a:ln w="6350">
            <a:solidFill>
              <a:srgbClr val="DCDEE1"/>
            </a:solidFill>
            <a:prstDash val="solid"/>
          </a:ln>
        </p:spPr>
      </p:sp>
      <p:sp>
        <p:nvSpPr>
          <p:cNvPr id="50" name="Text 48"/>
          <p:cNvSpPr txBox="1"/>
          <p:nvPr/>
        </p:nvSpPr>
        <p:spPr>
          <a:xfrm>
            <a:off x="7180783" y="2867787"/>
            <a:ext cx="274320" cy="398907"/>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2</a:t>
            </a:r>
            <a:endParaRPr lang="en-US" sz="900" dirty="0"/>
          </a:p>
        </p:txBody>
      </p:sp>
      <p:sp>
        <p:nvSpPr>
          <p:cNvPr id="51" name="Text 49"/>
          <p:cNvSpPr txBox="1"/>
          <p:nvPr/>
        </p:nvSpPr>
        <p:spPr>
          <a:xfrm>
            <a:off x="7491679" y="2867787"/>
            <a:ext cx="3749040" cy="398907"/>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Residential Schools, Hostels and Coaching</a:t>
            </a:r>
            <a:endParaRPr lang="en-US" sz="1000" dirty="0"/>
          </a:p>
        </p:txBody>
      </p:sp>
      <p:sp>
        <p:nvSpPr>
          <p:cNvPr id="52" name="Shape 50"/>
          <p:cNvSpPr/>
          <p:nvPr/>
        </p:nvSpPr>
        <p:spPr>
          <a:xfrm>
            <a:off x="7089343" y="3321558"/>
            <a:ext cx="4224528" cy="398907"/>
          </a:xfrm>
          <a:prstGeom prst="rect">
            <a:avLst/>
          </a:prstGeom>
          <a:solidFill>
            <a:srgbClr val="FFFFFF"/>
          </a:solidFill>
          <a:ln w="6350">
            <a:solidFill>
              <a:srgbClr val="DCDEE1"/>
            </a:solidFill>
            <a:prstDash val="solid"/>
          </a:ln>
        </p:spPr>
      </p:sp>
      <p:sp>
        <p:nvSpPr>
          <p:cNvPr id="53" name="Text 51"/>
          <p:cNvSpPr txBox="1"/>
          <p:nvPr/>
        </p:nvSpPr>
        <p:spPr>
          <a:xfrm>
            <a:off x="7180783" y="3321558"/>
            <a:ext cx="274320" cy="398907"/>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3</a:t>
            </a:r>
            <a:endParaRPr lang="en-US" sz="900" dirty="0"/>
          </a:p>
        </p:txBody>
      </p:sp>
      <p:sp>
        <p:nvSpPr>
          <p:cNvPr id="54" name="Text 52"/>
          <p:cNvSpPr txBox="1"/>
          <p:nvPr/>
        </p:nvSpPr>
        <p:spPr>
          <a:xfrm>
            <a:off x="7491679" y="3321558"/>
            <a:ext cx="3749040" cy="398907"/>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Loans and Credit</a:t>
            </a:r>
            <a:endParaRPr lang="en-US" sz="1000" dirty="0"/>
          </a:p>
        </p:txBody>
      </p:sp>
      <p:sp>
        <p:nvSpPr>
          <p:cNvPr id="55" name="Shape 53"/>
          <p:cNvSpPr/>
          <p:nvPr/>
        </p:nvSpPr>
        <p:spPr>
          <a:xfrm>
            <a:off x="7089343" y="3775329"/>
            <a:ext cx="4224528" cy="398907"/>
          </a:xfrm>
          <a:prstGeom prst="rect">
            <a:avLst/>
          </a:prstGeom>
          <a:solidFill>
            <a:srgbClr val="FFFFFF"/>
          </a:solidFill>
          <a:ln w="6350">
            <a:solidFill>
              <a:srgbClr val="DCDEE1"/>
            </a:solidFill>
            <a:prstDash val="solid"/>
          </a:ln>
        </p:spPr>
      </p:sp>
      <p:sp>
        <p:nvSpPr>
          <p:cNvPr id="56" name="Text 54"/>
          <p:cNvSpPr txBox="1"/>
          <p:nvPr/>
        </p:nvSpPr>
        <p:spPr>
          <a:xfrm>
            <a:off x="7180783" y="3775329"/>
            <a:ext cx="274320" cy="398907"/>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4</a:t>
            </a:r>
            <a:endParaRPr lang="en-US" sz="900" dirty="0"/>
          </a:p>
        </p:txBody>
      </p:sp>
      <p:sp>
        <p:nvSpPr>
          <p:cNvPr id="57" name="Text 55"/>
          <p:cNvSpPr txBox="1"/>
          <p:nvPr/>
        </p:nvSpPr>
        <p:spPr>
          <a:xfrm>
            <a:off x="7491679" y="3775329"/>
            <a:ext cx="3749040" cy="398907"/>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Skill Training and Livelihood</a:t>
            </a:r>
            <a:endParaRPr lang="en-US" sz="1000" dirty="0"/>
          </a:p>
        </p:txBody>
      </p:sp>
      <p:sp>
        <p:nvSpPr>
          <p:cNvPr id="58" name="Shape 56"/>
          <p:cNvSpPr/>
          <p:nvPr/>
        </p:nvSpPr>
        <p:spPr>
          <a:xfrm>
            <a:off x="7089343" y="4229100"/>
            <a:ext cx="4224528" cy="398907"/>
          </a:xfrm>
          <a:prstGeom prst="rect">
            <a:avLst/>
          </a:prstGeom>
          <a:solidFill>
            <a:srgbClr val="FFFFFF"/>
          </a:solidFill>
          <a:ln w="6350">
            <a:solidFill>
              <a:srgbClr val="DCDEE1"/>
            </a:solidFill>
            <a:prstDash val="solid"/>
          </a:ln>
        </p:spPr>
      </p:sp>
      <p:sp>
        <p:nvSpPr>
          <p:cNvPr id="59" name="Text 57"/>
          <p:cNvSpPr txBox="1"/>
          <p:nvPr/>
        </p:nvSpPr>
        <p:spPr>
          <a:xfrm>
            <a:off x="7180783" y="4229100"/>
            <a:ext cx="274320" cy="398907"/>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5</a:t>
            </a:r>
            <a:endParaRPr lang="en-US" sz="900" dirty="0"/>
          </a:p>
        </p:txBody>
      </p:sp>
      <p:sp>
        <p:nvSpPr>
          <p:cNvPr id="60" name="Text 58"/>
          <p:cNvSpPr txBox="1"/>
          <p:nvPr/>
        </p:nvSpPr>
        <p:spPr>
          <a:xfrm>
            <a:off x="7491679" y="4229100"/>
            <a:ext cx="3749040" cy="398907"/>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Care, Shelter and Health</a:t>
            </a:r>
            <a:endParaRPr lang="en-US" sz="1000" dirty="0"/>
          </a:p>
        </p:txBody>
      </p:sp>
      <p:sp>
        <p:nvSpPr>
          <p:cNvPr id="61" name="Shape 59"/>
          <p:cNvSpPr/>
          <p:nvPr/>
        </p:nvSpPr>
        <p:spPr>
          <a:xfrm>
            <a:off x="7089343" y="4682871"/>
            <a:ext cx="4224528" cy="398907"/>
          </a:xfrm>
          <a:prstGeom prst="rect">
            <a:avLst/>
          </a:prstGeom>
          <a:solidFill>
            <a:srgbClr val="FFFFFF"/>
          </a:solidFill>
          <a:ln w="6350">
            <a:solidFill>
              <a:srgbClr val="DCDEE1"/>
            </a:solidFill>
            <a:prstDash val="solid"/>
          </a:ln>
        </p:spPr>
      </p:sp>
      <p:sp>
        <p:nvSpPr>
          <p:cNvPr id="62" name="Text 60"/>
          <p:cNvSpPr txBox="1"/>
          <p:nvPr/>
        </p:nvSpPr>
        <p:spPr>
          <a:xfrm>
            <a:off x="7180783" y="4682871"/>
            <a:ext cx="274320" cy="398907"/>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6</a:t>
            </a:r>
            <a:endParaRPr lang="en-US" sz="900" dirty="0"/>
          </a:p>
        </p:txBody>
      </p:sp>
      <p:sp>
        <p:nvSpPr>
          <p:cNvPr id="63" name="Text 61"/>
          <p:cNvSpPr txBox="1"/>
          <p:nvPr/>
        </p:nvSpPr>
        <p:spPr>
          <a:xfrm>
            <a:off x="7491679" y="4682871"/>
            <a:ext cx="3749040" cy="398907"/>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De-addiction and Counselling</a:t>
            </a:r>
            <a:endParaRPr lang="en-US" sz="1000" dirty="0"/>
          </a:p>
        </p:txBody>
      </p:sp>
      <p:sp>
        <p:nvSpPr>
          <p:cNvPr id="64" name="Shape 62"/>
          <p:cNvSpPr/>
          <p:nvPr/>
        </p:nvSpPr>
        <p:spPr>
          <a:xfrm>
            <a:off x="7089343" y="5136642"/>
            <a:ext cx="4224528" cy="398907"/>
          </a:xfrm>
          <a:prstGeom prst="rect">
            <a:avLst/>
          </a:prstGeom>
          <a:solidFill>
            <a:srgbClr val="FFFFFF"/>
          </a:solidFill>
          <a:ln w="6350">
            <a:solidFill>
              <a:srgbClr val="DCDEE1"/>
            </a:solidFill>
            <a:prstDash val="solid"/>
          </a:ln>
        </p:spPr>
      </p:sp>
      <p:sp>
        <p:nvSpPr>
          <p:cNvPr id="65" name="Text 63"/>
          <p:cNvSpPr txBox="1"/>
          <p:nvPr/>
        </p:nvSpPr>
        <p:spPr>
          <a:xfrm>
            <a:off x="7180783" y="5136642"/>
            <a:ext cx="274320" cy="398907"/>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7</a:t>
            </a:r>
            <a:endParaRPr lang="en-US" sz="900" dirty="0"/>
          </a:p>
        </p:txBody>
      </p:sp>
      <p:sp>
        <p:nvSpPr>
          <p:cNvPr id="66" name="Text 64"/>
          <p:cNvSpPr txBox="1"/>
          <p:nvPr/>
        </p:nvSpPr>
        <p:spPr>
          <a:xfrm>
            <a:off x="7491679" y="5136642"/>
            <a:ext cx="3749040" cy="398907"/>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Protection, Relief and Grievance</a:t>
            </a:r>
            <a:endParaRPr lang="en-US" sz="1000" dirty="0"/>
          </a:p>
        </p:txBody>
      </p:sp>
      <p:sp>
        <p:nvSpPr>
          <p:cNvPr id="67" name="Shape 65"/>
          <p:cNvSpPr/>
          <p:nvPr/>
        </p:nvSpPr>
        <p:spPr>
          <a:xfrm>
            <a:off x="7089343" y="5590413"/>
            <a:ext cx="4224528" cy="398907"/>
          </a:xfrm>
          <a:prstGeom prst="rect">
            <a:avLst/>
          </a:prstGeom>
          <a:solidFill>
            <a:srgbClr val="FFFFFF"/>
          </a:solidFill>
          <a:ln w="6350">
            <a:solidFill>
              <a:srgbClr val="DCDEE1"/>
            </a:solidFill>
            <a:prstDash val="solid"/>
          </a:ln>
        </p:spPr>
      </p:sp>
      <p:sp>
        <p:nvSpPr>
          <p:cNvPr id="68" name="Text 66"/>
          <p:cNvSpPr txBox="1"/>
          <p:nvPr/>
        </p:nvSpPr>
        <p:spPr>
          <a:xfrm>
            <a:off x="7180783" y="5590413"/>
            <a:ext cx="274320" cy="398907"/>
          </a:xfrm>
          <a:prstGeom prst="rect">
            <a:avLst/>
          </a:prstGeom>
          <a:noFill/>
          <a:ln/>
        </p:spPr>
        <p:txBody>
          <a:bodyPr wrap="square" lIns="0" tIns="0" rIns="0" bIns="0" rtlCol="0" anchor="ctr"/>
          <a:lstStyle/>
          <a:p>
            <a:pPr indent="0" marL="0">
              <a:buNone/>
            </a:pPr>
            <a:r>
              <a:rPr lang="en-US" sz="900" b="1" dirty="0">
                <a:solidFill>
                  <a:srgbClr val="005EB9"/>
                </a:solidFill>
                <a:latin typeface="Noto Sans" pitchFamily="34" charset="0"/>
                <a:ea typeface="Noto Sans" pitchFamily="34" charset="-122"/>
                <a:cs typeface="Noto Sans" pitchFamily="34" charset="-120"/>
              </a:rPr>
              <a:t>8</a:t>
            </a:r>
            <a:endParaRPr lang="en-US" sz="900" dirty="0"/>
          </a:p>
        </p:txBody>
      </p:sp>
      <p:sp>
        <p:nvSpPr>
          <p:cNvPr id="69" name="Text 67"/>
          <p:cNvSpPr txBox="1"/>
          <p:nvPr/>
        </p:nvSpPr>
        <p:spPr>
          <a:xfrm>
            <a:off x="7491679" y="5590413"/>
            <a:ext cx="3749040" cy="398907"/>
          </a:xfrm>
          <a:prstGeom prst="rect">
            <a:avLst/>
          </a:prstGeom>
          <a:noFill/>
          <a:ln/>
        </p:spPr>
        <p:txBody>
          <a:bodyPr wrap="square" lIns="0" tIns="0" rIns="0" bIns="0" rtlCol="0" anchor="ctr"/>
          <a:lstStyle/>
          <a:p>
            <a:pPr indent="0" marL="0">
              <a:buNone/>
            </a:pPr>
            <a:r>
              <a:rPr lang="en-US" sz="1000" dirty="0">
                <a:solidFill>
                  <a:srgbClr val="1E2124"/>
                </a:solidFill>
                <a:latin typeface="Noto Sans" pitchFamily="34" charset="0"/>
                <a:ea typeface="Noto Sans" pitchFamily="34" charset="-122"/>
                <a:cs typeface="Noto Sans" pitchFamily="34" charset="-120"/>
              </a:rPr>
              <a:t>Grants to Voluntary Organisations</a:t>
            </a:r>
            <a:endParaRPr lang="en-US" sz="1000" dirty="0"/>
          </a:p>
        </p:txBody>
      </p:sp>
      <p:sp>
        <p:nvSpPr>
          <p:cNvPr id="70" name="Text 68"/>
          <p:cNvSpPr txBox="1"/>
          <p:nvPr/>
        </p:nvSpPr>
        <p:spPr>
          <a:xfrm>
            <a:off x="658368" y="6437376"/>
            <a:ext cx="10874959" cy="219456"/>
          </a:xfrm>
          <a:prstGeom prst="rect">
            <a:avLst/>
          </a:prstGeom>
          <a:noFill/>
          <a:ln/>
        </p:spPr>
        <p:txBody>
          <a:bodyPr wrap="square" lIns="0" tIns="0" rIns="0" bIns="0" rtlCol="0" anchor="ctr"/>
          <a:lstStyle/>
          <a:p>
            <a:pPr indent="0" marL="0">
              <a:buNone/>
            </a:pPr>
            <a:r>
              <a:rPr lang="en-US" sz="800" dirty="0">
                <a:solidFill>
                  <a:srgbClr val="54585E"/>
                </a:solidFill>
                <a:latin typeface="Noto Sans" pitchFamily="34" charset="0"/>
                <a:ea typeface="Noto Sans" pitchFamily="34" charset="-122"/>
                <a:cs typeface="Noto Sans" pitchFamily="34" charset="-120"/>
              </a:rPr>
              <a:t>Not stage of life, not State, not gender — none of the Department's schemes divides on them. Every scheme is a record in the Annual Report 2025-26 or the Demand for Grants 2026-27, tagged on both axes.</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900" b="1" spc="80" kern="0" dirty="0">
                <a:solidFill>
                  <a:srgbClr val="54585E"/>
                </a:solidFill>
                <a:latin typeface="Noto Sans" pitchFamily="34" charset="0"/>
                <a:ea typeface="Noto Sans" pitchFamily="34" charset="-122"/>
                <a:cs typeface="Noto Sans" pitchFamily="34" charset="-120"/>
              </a:rPr>
              <a:t>THE HOME PAGE</a:t>
            </a:r>
            <a:endParaRPr lang="en-US" sz="900" dirty="0"/>
          </a:p>
        </p:txBody>
      </p:sp>
      <p:sp>
        <p:nvSpPr>
          <p:cNvPr id="3" name="Text 1"/>
          <p:cNvSpPr txBox="1"/>
          <p:nvPr/>
        </p:nvSpPr>
        <p:spPr>
          <a:xfrm>
            <a:off x="658368" y="621792"/>
            <a:ext cx="10874959" cy="438912"/>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Three Options, and Where Each Sits</a:t>
            </a:r>
            <a:endParaRPr lang="en-US" sz="2700" dirty="0"/>
          </a:p>
        </p:txBody>
      </p:sp>
      <p:sp>
        <p:nvSpPr>
          <p:cNvPr id="4" name="Text 2"/>
          <p:cNvSpPr txBox="1"/>
          <p:nvPr/>
        </p:nvSpPr>
        <p:spPr>
          <a:xfrm>
            <a:off x="658368" y="1097280"/>
            <a:ext cx="10004962" cy="274320"/>
          </a:xfrm>
          <a:prstGeom prst="rect">
            <a:avLst/>
          </a:prstGeom>
          <a:noFill/>
          <a:ln/>
        </p:spPr>
        <p:txBody>
          <a:bodyPr wrap="square" lIns="0" tIns="0" rIns="0" bIns="0" rtlCol="0" anchor="ctr"/>
          <a:lstStyle/>
          <a:p>
            <a:pPr indent="0" marL="0">
              <a:buNone/>
            </a:pPr>
            <a:r>
              <a:rPr lang="en-US" sz="1250" dirty="0">
                <a:solidFill>
                  <a:srgbClr val="3A3D41"/>
                </a:solidFill>
                <a:latin typeface="Noto Sans" pitchFamily="34" charset="0"/>
                <a:ea typeface="Noto Sans" pitchFamily="34" charset="-122"/>
                <a:cs typeface="Noto Sans" pitchFamily="34" charset="-120"/>
              </a:rPr>
              <a:t>A is already on the page. B and C are alternatives for the section beneath the hero, where Our Offerings sits today.</a:t>
            </a:r>
            <a:endParaRPr lang="en-US" sz="1250" dirty="0"/>
          </a:p>
        </p:txBody>
      </p:sp>
      <p:sp>
        <p:nvSpPr>
          <p:cNvPr id="5" name="Text 3"/>
          <p:cNvSpPr txBox="1"/>
          <p:nvPr/>
        </p:nvSpPr>
        <p:spPr>
          <a:xfrm>
            <a:off x="658368" y="1517904"/>
            <a:ext cx="457200" cy="402336"/>
          </a:xfrm>
          <a:prstGeom prst="rect">
            <a:avLst/>
          </a:prstGeom>
          <a:noFill/>
          <a:ln/>
        </p:spPr>
        <p:txBody>
          <a:bodyPr wrap="square" lIns="0" tIns="0" rIns="0" bIns="0" rtlCol="0" anchor="ctr"/>
          <a:lstStyle/>
          <a:p>
            <a:pPr indent="0" marL="0">
              <a:buNone/>
            </a:pPr>
            <a:r>
              <a:rPr lang="en-US" sz="2600" b="1" dirty="0">
                <a:solidFill>
                  <a:srgbClr val="005EB9"/>
                </a:solidFill>
                <a:latin typeface="Noto Sans" pitchFamily="34" charset="0"/>
                <a:ea typeface="Noto Sans" pitchFamily="34" charset="-122"/>
                <a:cs typeface="Noto Sans" pitchFamily="34" charset="-120"/>
              </a:rPr>
              <a:t>A</a:t>
            </a:r>
            <a:endParaRPr lang="en-US" sz="2600" dirty="0"/>
          </a:p>
        </p:txBody>
      </p:sp>
      <p:sp>
        <p:nvSpPr>
          <p:cNvPr id="6" name="Text 4"/>
          <p:cNvSpPr txBox="1"/>
          <p:nvPr/>
        </p:nvSpPr>
        <p:spPr>
          <a:xfrm>
            <a:off x="1115568" y="1554480"/>
            <a:ext cx="3015386" cy="365760"/>
          </a:xfrm>
          <a:prstGeom prst="rect">
            <a:avLst/>
          </a:prstGeom>
          <a:noFill/>
          <a:ln/>
        </p:spPr>
        <p:txBody>
          <a:bodyPr wrap="square" lIns="0" tIns="0" rIns="0" bIns="0" rtlCol="0" anchor="t"/>
          <a:lstStyle/>
          <a:p>
            <a:pPr indent="0" marL="0">
              <a:buNone/>
            </a:pPr>
            <a:r>
              <a:rPr lang="en-US" sz="1250" b="1" dirty="0">
                <a:solidFill>
                  <a:srgbClr val="003975"/>
                </a:solidFill>
                <a:latin typeface="Noto Sans" pitchFamily="34" charset="0"/>
                <a:ea typeface="Noto Sans" pitchFamily="34" charset="-122"/>
                <a:cs typeface="Noto Sans" pitchFamily="34" charset="-120"/>
              </a:rPr>
              <a:t>Explore User Personas</a:t>
            </a:r>
            <a:endParaRPr lang="en-US" sz="1250" dirty="0"/>
          </a:p>
        </p:txBody>
      </p:sp>
      <p:sp>
        <p:nvSpPr>
          <p:cNvPr id="7" name="Shape 5"/>
          <p:cNvSpPr/>
          <p:nvPr/>
        </p:nvSpPr>
        <p:spPr>
          <a:xfrm>
            <a:off x="630936" y="2002536"/>
            <a:ext cx="3527450" cy="2225231"/>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658368" y="2029968"/>
            <a:ext cx="3472586" cy="2170367"/>
          </a:xfrm>
          <a:prstGeom prst="rect">
            <a:avLst/>
          </a:prstGeom>
        </p:spPr>
      </p:pic>
      <p:sp>
        <p:nvSpPr>
          <p:cNvPr id="9" name="Shape 6"/>
          <p:cNvSpPr/>
          <p:nvPr/>
        </p:nvSpPr>
        <p:spPr>
          <a:xfrm>
            <a:off x="658368" y="4328351"/>
            <a:ext cx="1543507" cy="237744"/>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658368" y="4328351"/>
            <a:ext cx="1543507" cy="237744"/>
          </a:xfrm>
          <a:prstGeom prst="rect">
            <a:avLst/>
          </a:prstGeom>
          <a:noFill/>
          <a:ln/>
        </p:spPr>
        <p:txBody>
          <a:bodyPr wrap="square" lIns="0" tIns="0" rIns="0" bIns="0" rtlCol="0" anchor="ctr"/>
          <a:lstStyle/>
          <a:p>
            <a:pPr algn="ctr" indent="0" marL="0">
              <a:buNone/>
            </a:pPr>
            <a:r>
              <a:rPr lang="en-US" sz="800" b="1" spc="50" kern="0" dirty="0">
                <a:solidFill>
                  <a:srgbClr val="54585E"/>
                </a:solidFill>
                <a:latin typeface="Noto Sans" pitchFamily="34" charset="0"/>
                <a:ea typeface="Noto Sans" pitchFamily="34" charset="-122"/>
                <a:cs typeface="Noto Sans" pitchFamily="34" charset="-120"/>
              </a:rPr>
              <a:t>ALREADY ON THE SITE</a:t>
            </a:r>
            <a:endParaRPr lang="en-US" sz="800" dirty="0"/>
          </a:p>
        </p:txBody>
      </p:sp>
      <p:sp>
        <p:nvSpPr>
          <p:cNvPr id="11" name="Text 8"/>
          <p:cNvSpPr txBox="1"/>
          <p:nvPr/>
        </p:nvSpPr>
        <p:spPr>
          <a:xfrm>
            <a:off x="658368" y="4657535"/>
            <a:ext cx="3472586" cy="109728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Where the panel is today, beside Recent Documents. Kept, opening on Students, and choosing a persona now filters the Schemes page.</a:t>
            </a:r>
            <a:endParaRPr lang="en-US" sz="1000" dirty="0"/>
          </a:p>
        </p:txBody>
      </p:sp>
      <p:sp>
        <p:nvSpPr>
          <p:cNvPr id="12" name="Text 9"/>
          <p:cNvSpPr txBox="1"/>
          <p:nvPr/>
        </p:nvSpPr>
        <p:spPr>
          <a:xfrm>
            <a:off x="4359554" y="1517904"/>
            <a:ext cx="457200" cy="402336"/>
          </a:xfrm>
          <a:prstGeom prst="rect">
            <a:avLst/>
          </a:prstGeom>
          <a:noFill/>
          <a:ln/>
        </p:spPr>
        <p:txBody>
          <a:bodyPr wrap="square" lIns="0" tIns="0" rIns="0" bIns="0" rtlCol="0" anchor="ctr"/>
          <a:lstStyle/>
          <a:p>
            <a:pPr indent="0" marL="0">
              <a:buNone/>
            </a:pPr>
            <a:r>
              <a:rPr lang="en-US" sz="2600" b="1" dirty="0">
                <a:solidFill>
                  <a:srgbClr val="005EB9"/>
                </a:solidFill>
                <a:latin typeface="Noto Sans" pitchFamily="34" charset="0"/>
                <a:ea typeface="Noto Sans" pitchFamily="34" charset="-122"/>
                <a:cs typeface="Noto Sans" pitchFamily="34" charset="-120"/>
              </a:rPr>
              <a:t>B</a:t>
            </a:r>
            <a:endParaRPr lang="en-US" sz="2600" dirty="0"/>
          </a:p>
        </p:txBody>
      </p:sp>
      <p:sp>
        <p:nvSpPr>
          <p:cNvPr id="13" name="Text 10"/>
          <p:cNvSpPr txBox="1"/>
          <p:nvPr/>
        </p:nvSpPr>
        <p:spPr>
          <a:xfrm>
            <a:off x="4816754" y="1554480"/>
            <a:ext cx="3015386" cy="365760"/>
          </a:xfrm>
          <a:prstGeom prst="rect">
            <a:avLst/>
          </a:prstGeom>
          <a:noFill/>
          <a:ln/>
        </p:spPr>
        <p:txBody>
          <a:bodyPr wrap="square" lIns="0" tIns="0" rIns="0" bIns="0" rtlCol="0" anchor="t"/>
          <a:lstStyle/>
          <a:p>
            <a:pPr indent="0" marL="0">
              <a:buNone/>
            </a:pPr>
            <a:r>
              <a:rPr lang="en-US" sz="1250" b="1" dirty="0">
                <a:solidFill>
                  <a:srgbClr val="003975"/>
                </a:solidFill>
                <a:latin typeface="Noto Sans" pitchFamily="34" charset="0"/>
                <a:ea typeface="Noto Sans" pitchFamily="34" charset="-122"/>
                <a:cs typeface="Noto Sans" pitchFamily="34" charset="-120"/>
              </a:rPr>
              <a:t>Find Schemes for You — two questions</a:t>
            </a:r>
            <a:endParaRPr lang="en-US" sz="1250" dirty="0"/>
          </a:p>
        </p:txBody>
      </p:sp>
      <p:sp>
        <p:nvSpPr>
          <p:cNvPr id="14" name="Shape 11"/>
          <p:cNvSpPr/>
          <p:nvPr/>
        </p:nvSpPr>
        <p:spPr>
          <a:xfrm>
            <a:off x="4332122" y="2002536"/>
            <a:ext cx="3527450" cy="222523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59554" y="2029968"/>
            <a:ext cx="3472586" cy="2170367"/>
          </a:xfrm>
          <a:prstGeom prst="rect">
            <a:avLst/>
          </a:prstGeom>
        </p:spPr>
      </p:pic>
      <p:sp>
        <p:nvSpPr>
          <p:cNvPr id="16" name="Shape 12"/>
          <p:cNvSpPr/>
          <p:nvPr/>
        </p:nvSpPr>
        <p:spPr>
          <a:xfrm>
            <a:off x="4359554" y="4328351"/>
            <a:ext cx="1016813" cy="237744"/>
          </a:xfrm>
          <a:prstGeom prst="roundRect">
            <a:avLst>
              <a:gd name="adj" fmla="val 50000"/>
            </a:avLst>
          </a:prstGeom>
          <a:solidFill>
            <a:srgbClr val="005EB9"/>
          </a:solidFill>
          <a:ln w="12700">
            <a:solidFill>
              <a:srgbClr val="005EB9"/>
            </a:solidFill>
            <a:prstDash val="solid"/>
          </a:ln>
        </p:spPr>
      </p:sp>
      <p:sp>
        <p:nvSpPr>
          <p:cNvPr id="17" name="Text 13"/>
          <p:cNvSpPr txBox="1"/>
          <p:nvPr/>
        </p:nvSpPr>
        <p:spPr>
          <a:xfrm>
            <a:off x="4359554" y="4328351"/>
            <a:ext cx="1016813" cy="237744"/>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Noto Sans" pitchFamily="34" charset="0"/>
                <a:ea typeface="Noto Sans" pitchFamily="34" charset="-122"/>
                <a:cs typeface="Noto Sans" pitchFamily="34" charset="-120"/>
              </a:rPr>
              <a:t>RECOMMENDED</a:t>
            </a:r>
            <a:endParaRPr lang="en-US" sz="800" dirty="0"/>
          </a:p>
        </p:txBody>
      </p:sp>
      <p:sp>
        <p:nvSpPr>
          <p:cNvPr id="18" name="Text 14"/>
          <p:cNvSpPr txBox="1"/>
          <p:nvPr/>
        </p:nvSpPr>
        <p:spPr>
          <a:xfrm>
            <a:off x="4359554" y="4657535"/>
            <a:ext cx="3472586" cy="109728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 section of its own beneath the hero, in place of Our Offerings. Who is looking for support, then what kind of support.</a:t>
            </a:r>
            <a:endParaRPr lang="en-US" sz="1000" dirty="0"/>
          </a:p>
        </p:txBody>
      </p:sp>
      <p:sp>
        <p:nvSpPr>
          <p:cNvPr id="19" name="Text 15"/>
          <p:cNvSpPr txBox="1"/>
          <p:nvPr/>
        </p:nvSpPr>
        <p:spPr>
          <a:xfrm>
            <a:off x="8060741" y="1517904"/>
            <a:ext cx="457200" cy="402336"/>
          </a:xfrm>
          <a:prstGeom prst="rect">
            <a:avLst/>
          </a:prstGeom>
          <a:noFill/>
          <a:ln/>
        </p:spPr>
        <p:txBody>
          <a:bodyPr wrap="square" lIns="0" tIns="0" rIns="0" bIns="0" rtlCol="0" anchor="ctr"/>
          <a:lstStyle/>
          <a:p>
            <a:pPr indent="0" marL="0">
              <a:buNone/>
            </a:pPr>
            <a:r>
              <a:rPr lang="en-US" sz="2600" b="1" dirty="0">
                <a:solidFill>
                  <a:srgbClr val="005EB9"/>
                </a:solidFill>
                <a:latin typeface="Noto Sans" pitchFamily="34" charset="0"/>
                <a:ea typeface="Noto Sans" pitchFamily="34" charset="-122"/>
                <a:cs typeface="Noto Sans" pitchFamily="34" charset="-120"/>
              </a:rPr>
              <a:t>C</a:t>
            </a:r>
            <a:endParaRPr lang="en-US" sz="2600" dirty="0"/>
          </a:p>
        </p:txBody>
      </p:sp>
      <p:sp>
        <p:nvSpPr>
          <p:cNvPr id="20" name="Text 16"/>
          <p:cNvSpPr txBox="1"/>
          <p:nvPr/>
        </p:nvSpPr>
        <p:spPr>
          <a:xfrm>
            <a:off x="8517941" y="1554480"/>
            <a:ext cx="3015386" cy="365760"/>
          </a:xfrm>
          <a:prstGeom prst="rect">
            <a:avLst/>
          </a:prstGeom>
          <a:noFill/>
          <a:ln/>
        </p:spPr>
        <p:txBody>
          <a:bodyPr wrap="square" lIns="0" tIns="0" rIns="0" bIns="0" rtlCol="0" anchor="t"/>
          <a:lstStyle/>
          <a:p>
            <a:pPr indent="0" marL="0">
              <a:buNone/>
            </a:pPr>
            <a:r>
              <a:rPr lang="en-US" sz="1250" b="1" dirty="0">
                <a:solidFill>
                  <a:srgbClr val="003975"/>
                </a:solidFill>
                <a:latin typeface="Noto Sans" pitchFamily="34" charset="0"/>
                <a:ea typeface="Noto Sans" pitchFamily="34" charset="-122"/>
                <a:cs typeface="Noto Sans" pitchFamily="34" charset="-120"/>
              </a:rPr>
              <a:t>Find Schemes for You — one tap</a:t>
            </a:r>
            <a:endParaRPr lang="en-US" sz="1250" dirty="0"/>
          </a:p>
        </p:txBody>
      </p:sp>
      <p:sp>
        <p:nvSpPr>
          <p:cNvPr id="21" name="Shape 17"/>
          <p:cNvSpPr/>
          <p:nvPr/>
        </p:nvSpPr>
        <p:spPr>
          <a:xfrm>
            <a:off x="8033309" y="2002536"/>
            <a:ext cx="3527450" cy="222523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0741" y="2029968"/>
            <a:ext cx="3472586" cy="2170367"/>
          </a:xfrm>
          <a:prstGeom prst="rect">
            <a:avLst/>
          </a:prstGeom>
        </p:spPr>
      </p:pic>
      <p:sp>
        <p:nvSpPr>
          <p:cNvPr id="23" name="Shape 18"/>
          <p:cNvSpPr/>
          <p:nvPr/>
        </p:nvSpPr>
        <p:spPr>
          <a:xfrm>
            <a:off x="8060741" y="4328351"/>
            <a:ext cx="1214323" cy="237744"/>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0741" y="4328351"/>
            <a:ext cx="1214323" cy="237744"/>
          </a:xfrm>
          <a:prstGeom prst="rect">
            <a:avLst/>
          </a:prstGeom>
          <a:noFill/>
          <a:ln/>
        </p:spPr>
        <p:txBody>
          <a:bodyPr wrap="square" lIns="0" tIns="0" rIns="0" bIns="0" rtlCol="0" anchor="ctr"/>
          <a:lstStyle/>
          <a:p>
            <a:pPr algn="ctr" indent="0" marL="0">
              <a:buNone/>
            </a:pPr>
            <a:r>
              <a:rPr lang="en-US" sz="800" b="1" spc="50" kern="0" dirty="0">
                <a:solidFill>
                  <a:srgbClr val="54585E"/>
                </a:solidFill>
                <a:latin typeface="Noto Sans" pitchFamily="34" charset="0"/>
                <a:ea typeface="Noto Sans" pitchFamily="34" charset="-122"/>
                <a:cs typeface="Noto Sans" pitchFamily="34" charset="-120"/>
              </a:rPr>
              <a:t>COMPANION TO B</a:t>
            </a:r>
            <a:endParaRPr lang="en-US" sz="800" dirty="0"/>
          </a:p>
        </p:txBody>
      </p:sp>
      <p:sp>
        <p:nvSpPr>
          <p:cNvPr id="25" name="Text 20"/>
          <p:cNvSpPr txBox="1"/>
          <p:nvPr/>
        </p:nvSpPr>
        <p:spPr>
          <a:xfrm>
            <a:off x="8060741" y="4657535"/>
            <a:ext cx="3472586" cy="109728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The same slot as B. A row of the personas; one tap lists what the Department provides for that group, by kind of support.</a:t>
            </a:r>
            <a:endParaRPr lang="en-US" sz="1000" dirty="0"/>
          </a:p>
        </p:txBody>
      </p:sp>
      <p:sp>
        <p:nvSpPr>
          <p:cNvPr id="26" name="Text 21"/>
          <p:cNvSpPr txBox="1"/>
          <p:nvPr/>
        </p:nvSpPr>
        <p:spPr>
          <a:xfrm>
            <a:off x="658368" y="6437376"/>
            <a:ext cx="10874959" cy="219456"/>
          </a:xfrm>
          <a:prstGeom prst="rect">
            <a:avLst/>
          </a:prstGeom>
          <a:noFill/>
          <a:ln/>
        </p:spPr>
        <p:txBody>
          <a:bodyPr wrap="square" lIns="0" tIns="0" rIns="0" bIns="0" rtlCol="0" anchor="ctr"/>
          <a:lstStyle/>
          <a:p>
            <a:pPr indent="0" marL="0">
              <a:buNone/>
            </a:pPr>
            <a:r>
              <a:rPr lang="en-US" sz="800" dirty="0">
                <a:solidFill>
                  <a:srgbClr val="54585E"/>
                </a:solidFill>
                <a:latin typeface="Noto Sans" pitchFamily="34" charset="0"/>
                <a:ea typeface="Noto Sans" pitchFamily="34" charset="-122"/>
                <a:cs typeface="Noto Sans" pitchFamily="34" charset="-120"/>
              </a:rPr>
              <a:t>B and C replace Our Offerings rather than lengthening the page. Either can be approved; C serves the visitor who will not answer questions.</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457200"/>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The Home Page · Option A of 3</a:t>
            </a:r>
            <a:endParaRPr lang="en-US" sz="2700" dirty="0"/>
          </a:p>
        </p:txBody>
      </p:sp>
      <p:sp>
        <p:nvSpPr>
          <p:cNvPr id="3" name="Text 1"/>
          <p:cNvSpPr txBox="1"/>
          <p:nvPr/>
        </p:nvSpPr>
        <p:spPr>
          <a:xfrm>
            <a:off x="658368" y="914400"/>
            <a:ext cx="10874959" cy="310896"/>
          </a:xfrm>
          <a:prstGeom prst="rect">
            <a:avLst/>
          </a:prstGeom>
          <a:noFill/>
          <a:ln/>
        </p:spPr>
        <p:txBody>
          <a:bodyPr wrap="square" lIns="0" tIns="0" rIns="0" bIns="0" rtlCol="0" anchor="ctr"/>
          <a:lstStyle/>
          <a:p>
            <a:pPr indent="0" marL="0">
              <a:buNone/>
            </a:pPr>
            <a:r>
              <a:rPr lang="en-US" sz="1500" dirty="0">
                <a:solidFill>
                  <a:srgbClr val="005EB9"/>
                </a:solidFill>
                <a:latin typeface="Noto Sans" pitchFamily="34" charset="0"/>
                <a:ea typeface="Noto Sans" pitchFamily="34" charset="-122"/>
                <a:cs typeface="Noto Sans" pitchFamily="34" charset="-120"/>
              </a:rPr>
              <a:t>Explore User Personas</a:t>
            </a:r>
            <a:endParaRPr lang="en-US" sz="1500" dirty="0"/>
          </a:p>
        </p:txBody>
      </p:sp>
      <p:sp>
        <p:nvSpPr>
          <p:cNvPr id="4" name="Shape 2"/>
          <p:cNvSpPr/>
          <p:nvPr/>
        </p:nvSpPr>
        <p:spPr>
          <a:xfrm>
            <a:off x="658368" y="1335024"/>
            <a:ext cx="1543507" cy="237744"/>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658368" y="1335024"/>
            <a:ext cx="1543507" cy="237744"/>
          </a:xfrm>
          <a:prstGeom prst="rect">
            <a:avLst/>
          </a:prstGeom>
          <a:noFill/>
          <a:ln/>
        </p:spPr>
        <p:txBody>
          <a:bodyPr wrap="square" lIns="0" tIns="0" rIns="0" bIns="0" rtlCol="0" anchor="ctr"/>
          <a:lstStyle/>
          <a:p>
            <a:pPr algn="ctr" indent="0" marL="0">
              <a:buNone/>
            </a:pPr>
            <a:r>
              <a:rPr lang="en-US" sz="800" b="1" spc="50" kern="0" dirty="0">
                <a:solidFill>
                  <a:srgbClr val="54585E"/>
                </a:solidFill>
                <a:latin typeface="Noto Sans" pitchFamily="34" charset="0"/>
                <a:ea typeface="Noto Sans" pitchFamily="34" charset="-122"/>
                <a:cs typeface="Noto Sans" pitchFamily="34" charset="-120"/>
              </a:rPr>
              <a:t>ALREADY ON THE SITE</a:t>
            </a:r>
            <a:endParaRPr lang="en-US" sz="800" dirty="0"/>
          </a:p>
        </p:txBody>
      </p:sp>
      <p:sp>
        <p:nvSpPr>
          <p:cNvPr id="6" name="Shape 4"/>
          <p:cNvSpPr/>
          <p:nvPr/>
        </p:nvSpPr>
        <p:spPr>
          <a:xfrm>
            <a:off x="630936" y="1728216"/>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755648"/>
            <a:ext cx="5394960" cy="3371850"/>
          </a:xfrm>
          <a:prstGeom prst="rect">
            <a:avLst/>
          </a:prstGeom>
        </p:spPr>
      </p:pic>
      <p:sp>
        <p:nvSpPr>
          <p:cNvPr id="8" name="Text 5"/>
          <p:cNvSpPr txBox="1"/>
          <p:nvPr/>
        </p:nvSpPr>
        <p:spPr>
          <a:xfrm>
            <a:off x="658368" y="5255514"/>
            <a:ext cx="5394960" cy="457200"/>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walkthrough of the panel as it stands, opening on Students and moving between the personas.</a:t>
            </a:r>
            <a:endParaRPr lang="en-US" sz="850" dirty="0"/>
          </a:p>
        </p:txBody>
      </p:sp>
      <p:sp>
        <p:nvSpPr>
          <p:cNvPr id="9" name="Text 6"/>
          <p:cNvSpPr txBox="1"/>
          <p:nvPr/>
        </p:nvSpPr>
        <p:spPr>
          <a:xfrm>
            <a:off x="6510528" y="1755648"/>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IT IS</a:t>
            </a:r>
            <a:endParaRPr lang="en-US" sz="900" dirty="0"/>
          </a:p>
        </p:txBody>
      </p:sp>
      <p:sp>
        <p:nvSpPr>
          <p:cNvPr id="10" name="Text 7"/>
          <p:cNvSpPr txBox="1"/>
          <p:nvPr/>
        </p:nvSpPr>
        <p:spPr>
          <a:xfrm>
            <a:off x="6510528" y="1947672"/>
            <a:ext cx="5022799" cy="54864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The panel already on the home page: one persona at a time, moved with arrows. The persona list is the same eleven the other options use, and it opens on Students.</a:t>
            </a:r>
            <a:endParaRPr lang="en-US" sz="1000" dirty="0"/>
          </a:p>
        </p:txBody>
      </p:sp>
      <p:sp>
        <p:nvSpPr>
          <p:cNvPr id="11" name="Text 8"/>
          <p:cNvSpPr txBox="1"/>
          <p:nvPr/>
        </p:nvSpPr>
        <p:spPr>
          <a:xfrm>
            <a:off x="6510528" y="2651760"/>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A CITIZEN DOES</a:t>
            </a:r>
            <a:endParaRPr lang="en-US" sz="900" dirty="0"/>
          </a:p>
        </p:txBody>
      </p:sp>
      <p:sp>
        <p:nvSpPr>
          <p:cNvPr id="12" name="Text 9"/>
          <p:cNvSpPr txBox="1"/>
          <p:nvPr/>
        </p:nvSpPr>
        <p:spPr>
          <a:xfrm>
            <a:off x="6510528" y="2843784"/>
            <a:ext cx="5022799" cy="38862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Looks at the pictures, sees one that matches, and taps through to the Schemes page filtered to that persona.</a:t>
            </a:r>
            <a:endParaRPr lang="en-US" sz="1000" dirty="0"/>
          </a:p>
        </p:txBody>
      </p:sp>
      <p:sp>
        <p:nvSpPr>
          <p:cNvPr id="13" name="Text 10"/>
          <p:cNvSpPr txBox="1"/>
          <p:nvPr/>
        </p:nvSpPr>
        <p:spPr>
          <a:xfrm>
            <a:off x="6510528" y="3387852"/>
            <a:ext cx="5022799" cy="173736"/>
          </a:xfrm>
          <a:prstGeom prst="rect">
            <a:avLst/>
          </a:prstGeom>
          <a:noFill/>
          <a:ln/>
        </p:spPr>
        <p:txBody>
          <a:bodyPr wrap="square" lIns="0" tIns="0" rIns="0" bIns="0" rtlCol="0" anchor="ctr"/>
          <a:lstStyle/>
          <a:p>
            <a:pPr indent="0" marL="0">
              <a:buNone/>
            </a:pPr>
            <a:r>
              <a:rPr lang="en-US" sz="900" b="1" spc="60" kern="0" dirty="0">
                <a:solidFill>
                  <a:srgbClr val="005EB9"/>
                </a:solidFill>
                <a:latin typeface="Noto Sans" pitchFamily="34" charset="0"/>
                <a:ea typeface="Noto Sans" pitchFamily="34" charset="-122"/>
                <a:cs typeface="Noto Sans" pitchFamily="34" charset="-120"/>
              </a:rPr>
              <a:t>IN ITS FAVOUR</a:t>
            </a:r>
            <a:endParaRPr lang="en-US" sz="900" dirty="0"/>
          </a:p>
        </p:txBody>
      </p:sp>
      <p:sp>
        <p:nvSpPr>
          <p:cNvPr id="14" name="Text 11"/>
          <p:cNvSpPr txBox="1"/>
          <p:nvPr/>
        </p:nvSpPr>
        <p:spPr>
          <a:xfrm>
            <a:off x="6510528" y="3579876"/>
            <a:ext cx="5022799" cy="612648"/>
          </a:xfrm>
          <a:prstGeom prst="rect">
            <a:avLst/>
          </a:prstGeom>
          <a:noFill/>
          <a:ln/>
        </p:spPr>
        <p:txBody>
          <a:bodyPr wrap="square" lIns="0" tIns="0" rIns="0" bIns="0" rtlCol="0" anchor="ctr"/>
          <a:lstStyle/>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Already on the site, so no extra height</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The illustrations cross language</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Kept as one of the three ways in</a:t>
            </a:r>
            <a:endParaRPr lang="en-US" sz="1000" dirty="0"/>
          </a:p>
        </p:txBody>
      </p:sp>
      <p:sp>
        <p:nvSpPr>
          <p:cNvPr id="15" name="Text 12"/>
          <p:cNvSpPr txBox="1"/>
          <p:nvPr/>
        </p:nvSpPr>
        <p:spPr>
          <a:xfrm>
            <a:off x="6510528" y="4347972"/>
            <a:ext cx="5022799" cy="173736"/>
          </a:xfrm>
          <a:prstGeom prst="rect">
            <a:avLst/>
          </a:prstGeom>
          <a:noFill/>
          <a:ln/>
        </p:spPr>
        <p:txBody>
          <a:bodyPr wrap="square" lIns="0" tIns="0" rIns="0" bIns="0" rtlCol="0" anchor="ctr"/>
          <a:lstStyle/>
          <a:p>
            <a:pPr indent="0" marL="0">
              <a:buNone/>
            </a:pPr>
            <a:r>
              <a:rPr lang="en-US" sz="900" b="1" spc="60" kern="0" dirty="0">
                <a:solidFill>
                  <a:srgbClr val="A43A00"/>
                </a:solidFill>
                <a:latin typeface="Noto Sans" pitchFamily="34" charset="0"/>
                <a:ea typeface="Noto Sans" pitchFamily="34" charset="-122"/>
                <a:cs typeface="Noto Sans" pitchFamily="34" charset="-120"/>
              </a:rPr>
              <a:t>AGAINST IT</a:t>
            </a:r>
            <a:endParaRPr lang="en-US" sz="900" dirty="0"/>
          </a:p>
        </p:txBody>
      </p:sp>
      <p:sp>
        <p:nvSpPr>
          <p:cNvPr id="16" name="Text 13"/>
          <p:cNvSpPr txBox="1"/>
          <p:nvPr/>
        </p:nvSpPr>
        <p:spPr>
          <a:xfrm>
            <a:off x="6510528" y="4539996"/>
            <a:ext cx="5022799" cy="772668"/>
          </a:xfrm>
          <a:prstGeom prst="rect">
            <a:avLst/>
          </a:prstGeom>
          <a:noFill/>
          <a:ln/>
        </p:spPr>
        <p:txBody>
          <a:bodyPr wrap="square" lIns="0" tIns="0" rIns="0" bIns="0" rtlCol="0" anchor="ctr"/>
          <a:lstStyle/>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One persona at a time: a visitor cannot tell whether they are represented without clicking</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It sorts by persona alone; the kind of support is not asked</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Today choosing a persona filters nothing — the panel's own promise goes unmet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457200"/>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The Home Page · Option B of 3</a:t>
            </a:r>
            <a:endParaRPr lang="en-US" sz="2700" dirty="0"/>
          </a:p>
        </p:txBody>
      </p:sp>
      <p:sp>
        <p:nvSpPr>
          <p:cNvPr id="3" name="Text 1"/>
          <p:cNvSpPr txBox="1"/>
          <p:nvPr/>
        </p:nvSpPr>
        <p:spPr>
          <a:xfrm>
            <a:off x="658368" y="914400"/>
            <a:ext cx="10874959" cy="310896"/>
          </a:xfrm>
          <a:prstGeom prst="rect">
            <a:avLst/>
          </a:prstGeom>
          <a:noFill/>
          <a:ln/>
        </p:spPr>
        <p:txBody>
          <a:bodyPr wrap="square" lIns="0" tIns="0" rIns="0" bIns="0" rtlCol="0" anchor="ctr"/>
          <a:lstStyle/>
          <a:p>
            <a:pPr indent="0" marL="0">
              <a:buNone/>
            </a:pPr>
            <a:r>
              <a:rPr lang="en-US" sz="1500" dirty="0">
                <a:solidFill>
                  <a:srgbClr val="005EB9"/>
                </a:solidFill>
                <a:latin typeface="Noto Sans" pitchFamily="34" charset="0"/>
                <a:ea typeface="Noto Sans" pitchFamily="34" charset="-122"/>
                <a:cs typeface="Noto Sans" pitchFamily="34" charset="-120"/>
              </a:rPr>
              <a:t>Find Schemes for You — two questions</a:t>
            </a:r>
            <a:endParaRPr lang="en-US" sz="1500" dirty="0"/>
          </a:p>
        </p:txBody>
      </p:sp>
      <p:sp>
        <p:nvSpPr>
          <p:cNvPr id="4" name="Shape 2"/>
          <p:cNvSpPr/>
          <p:nvPr/>
        </p:nvSpPr>
        <p:spPr>
          <a:xfrm>
            <a:off x="658368" y="1335024"/>
            <a:ext cx="1016813"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335024"/>
            <a:ext cx="1016813" cy="237744"/>
          </a:xfrm>
          <a:prstGeom prst="rect">
            <a:avLst/>
          </a:prstGeom>
          <a:noFill/>
          <a:ln/>
        </p:spPr>
        <p:txBody>
          <a:bodyPr wrap="square" lIns="0" tIns="0" rIns="0" bIns="0" rtlCol="0" anchor="ctr"/>
          <a:lstStyle/>
          <a:p>
            <a:pPr algn="ctr" indent="0" marL="0">
              <a:buNone/>
            </a:pPr>
            <a:r>
              <a:rPr lang="en-US" sz="800" b="1" spc="50" kern="0" dirty="0">
                <a:solidFill>
                  <a:srgbClr val="005EB9"/>
                </a:solidFill>
                <a:latin typeface="Noto Sans" pitchFamily="34" charset="0"/>
                <a:ea typeface="Noto Sans" pitchFamily="34" charset="-122"/>
                <a:cs typeface="Noto Sans" pitchFamily="34" charset="-120"/>
              </a:rPr>
              <a:t>TO BE BUILT</a:t>
            </a:r>
            <a:endParaRPr lang="en-US" sz="800" dirty="0"/>
          </a:p>
        </p:txBody>
      </p:sp>
      <p:sp>
        <p:nvSpPr>
          <p:cNvPr id="6" name="Shape 4"/>
          <p:cNvSpPr/>
          <p:nvPr/>
        </p:nvSpPr>
        <p:spPr>
          <a:xfrm>
            <a:off x="1803197" y="1335024"/>
            <a:ext cx="1016813" cy="237744"/>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1803197" y="1335024"/>
            <a:ext cx="1016813" cy="237744"/>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Noto Sans" pitchFamily="34" charset="0"/>
                <a:ea typeface="Noto Sans" pitchFamily="34" charset="-122"/>
                <a:cs typeface="Noto Sans" pitchFamily="34" charset="-120"/>
              </a:rPr>
              <a:t>RECOMMENDED</a:t>
            </a:r>
            <a:endParaRPr lang="en-US" sz="800" dirty="0"/>
          </a:p>
        </p:txBody>
      </p:sp>
      <p:sp>
        <p:nvSpPr>
          <p:cNvPr id="8" name="Shape 6"/>
          <p:cNvSpPr/>
          <p:nvPr/>
        </p:nvSpPr>
        <p:spPr>
          <a:xfrm>
            <a:off x="630936" y="1728216"/>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755648"/>
            <a:ext cx="5394960" cy="3371850"/>
          </a:xfrm>
          <a:prstGeom prst="rect">
            <a:avLst/>
          </a:prstGeom>
        </p:spPr>
      </p:pic>
      <p:sp>
        <p:nvSpPr>
          <p:cNvPr id="10" name="Text 7"/>
          <p:cNvSpPr txBox="1"/>
          <p:nvPr/>
        </p:nvSpPr>
        <p:spPr>
          <a:xfrm>
            <a:off x="658368" y="5255514"/>
            <a:ext cx="5394960" cy="457200"/>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walkthrough: Scheduled Castes, then Scholarships and Fellowships; then Senior Citizens with the second question skipped.</a:t>
            </a:r>
            <a:endParaRPr lang="en-US" sz="850" dirty="0"/>
          </a:p>
        </p:txBody>
      </p:sp>
      <p:sp>
        <p:nvSpPr>
          <p:cNvPr id="11" name="Text 8"/>
          <p:cNvSpPr txBox="1"/>
          <p:nvPr/>
        </p:nvSpPr>
        <p:spPr>
          <a:xfrm>
            <a:off x="6510528" y="1755648"/>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IT IS</a:t>
            </a:r>
            <a:endParaRPr lang="en-US" sz="900" dirty="0"/>
          </a:p>
        </p:txBody>
      </p:sp>
      <p:sp>
        <p:nvSpPr>
          <p:cNvPr id="12" name="Text 9"/>
          <p:cNvSpPr txBox="1"/>
          <p:nvPr/>
        </p:nvSpPr>
        <p:spPr>
          <a:xfrm>
            <a:off x="6510528" y="1947672"/>
            <a:ext cx="5022799" cy="54864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Two short questions — who is looking for support, and what kind of support — over the Department's own list of schemes. The second may be skipped, which widens the list.</a:t>
            </a:r>
            <a:endParaRPr lang="en-US" sz="1000" dirty="0"/>
          </a:p>
        </p:txBody>
      </p:sp>
      <p:sp>
        <p:nvSpPr>
          <p:cNvPr id="13" name="Text 10"/>
          <p:cNvSpPr txBox="1"/>
          <p:nvPr/>
        </p:nvSpPr>
        <p:spPr>
          <a:xfrm>
            <a:off x="6510528" y="2651760"/>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A CITIZEN DOES</a:t>
            </a:r>
            <a:endParaRPr lang="en-US" sz="900" dirty="0"/>
          </a:p>
        </p:txBody>
      </p:sp>
      <p:sp>
        <p:nvSpPr>
          <p:cNvPr id="14" name="Text 11"/>
          <p:cNvSpPr txBox="1"/>
          <p:nvPr/>
        </p:nvSpPr>
        <p:spPr>
          <a:xfrm>
            <a:off x="6510528" y="2843784"/>
            <a:ext cx="5022799" cy="38862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Answers two questions and is shown the schemes that name them, each with what it provides, whom it names and the place to apply.</a:t>
            </a:r>
            <a:endParaRPr lang="en-US" sz="1000" dirty="0"/>
          </a:p>
        </p:txBody>
      </p:sp>
      <p:sp>
        <p:nvSpPr>
          <p:cNvPr id="15" name="Text 12"/>
          <p:cNvSpPr txBox="1"/>
          <p:nvPr/>
        </p:nvSpPr>
        <p:spPr>
          <a:xfrm>
            <a:off x="6510528" y="3387852"/>
            <a:ext cx="5022799" cy="173736"/>
          </a:xfrm>
          <a:prstGeom prst="rect">
            <a:avLst/>
          </a:prstGeom>
          <a:noFill/>
          <a:ln/>
        </p:spPr>
        <p:txBody>
          <a:bodyPr wrap="square" lIns="0" tIns="0" rIns="0" bIns="0" rtlCol="0" anchor="ctr"/>
          <a:lstStyle/>
          <a:p>
            <a:pPr indent="0" marL="0">
              <a:buNone/>
            </a:pPr>
            <a:r>
              <a:rPr lang="en-US" sz="900" b="1" spc="60" kern="0" dirty="0">
                <a:solidFill>
                  <a:srgbClr val="005EB9"/>
                </a:solidFill>
                <a:latin typeface="Noto Sans" pitchFamily="34" charset="0"/>
                <a:ea typeface="Noto Sans" pitchFamily="34" charset="-122"/>
                <a:cs typeface="Noto Sans" pitchFamily="34" charset="-120"/>
              </a:rPr>
              <a:t>IN ITS FAVOUR</a:t>
            </a:r>
            <a:endParaRPr lang="en-US" sz="900" dirty="0"/>
          </a:p>
        </p:txBody>
      </p:sp>
      <p:sp>
        <p:nvSpPr>
          <p:cNvPr id="16" name="Text 13"/>
          <p:cNvSpPr txBox="1"/>
          <p:nvPr/>
        </p:nvSpPr>
        <p:spPr>
          <a:xfrm>
            <a:off x="6510528" y="3579876"/>
            <a:ext cx="5022799" cy="804672"/>
          </a:xfrm>
          <a:prstGeom prst="rect">
            <a:avLst/>
          </a:prstGeom>
          <a:noFill/>
          <a:ln/>
        </p:spPr>
        <p:txBody>
          <a:bodyPr wrap="square" lIns="0" tIns="0" rIns="0" bIns="0" rtlCol="0" anchor="ctr"/>
          <a:lstStyle/>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Both questions change the list; nothing is asked for its own sake</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Ends at the place to apply, not at a page of text</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Persons with disabilities are directed to DEPwD instead of shown nothing</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Built as a website section from the design system, over the validated master</a:t>
            </a:r>
            <a:endParaRPr lang="en-US" sz="1000" dirty="0"/>
          </a:p>
        </p:txBody>
      </p:sp>
      <p:sp>
        <p:nvSpPr>
          <p:cNvPr id="17" name="Text 14"/>
          <p:cNvSpPr txBox="1"/>
          <p:nvPr/>
        </p:nvSpPr>
        <p:spPr>
          <a:xfrm>
            <a:off x="6510528" y="4539996"/>
            <a:ext cx="5022799" cy="173736"/>
          </a:xfrm>
          <a:prstGeom prst="rect">
            <a:avLst/>
          </a:prstGeom>
          <a:noFill/>
          <a:ln/>
        </p:spPr>
        <p:txBody>
          <a:bodyPr wrap="square" lIns="0" tIns="0" rIns="0" bIns="0" rtlCol="0" anchor="ctr"/>
          <a:lstStyle/>
          <a:p>
            <a:pPr indent="0" marL="0">
              <a:buNone/>
            </a:pPr>
            <a:r>
              <a:rPr lang="en-US" sz="900" b="1" spc="60" kern="0" dirty="0">
                <a:solidFill>
                  <a:srgbClr val="A43A00"/>
                </a:solidFill>
                <a:latin typeface="Noto Sans" pitchFamily="34" charset="0"/>
                <a:ea typeface="Noto Sans" pitchFamily="34" charset="-122"/>
                <a:cs typeface="Noto Sans" pitchFamily="34" charset="-120"/>
              </a:rPr>
              <a:t>AGAINST IT</a:t>
            </a:r>
            <a:endParaRPr lang="en-US" sz="900" dirty="0"/>
          </a:p>
        </p:txBody>
      </p:sp>
      <p:sp>
        <p:nvSpPr>
          <p:cNvPr id="18" name="Text 15"/>
          <p:cNvSpPr txBox="1"/>
          <p:nvPr/>
        </p:nvSpPr>
        <p:spPr>
          <a:xfrm>
            <a:off x="6510528" y="4732020"/>
            <a:ext cx="5022799" cy="580644"/>
          </a:xfrm>
          <a:prstGeom prst="rect">
            <a:avLst/>
          </a:prstGeom>
          <a:noFill/>
          <a:ln/>
        </p:spPr>
        <p:txBody>
          <a:bodyPr wrap="square" lIns="0" tIns="0" rIns="0" bIns="0" rtlCol="0" anchor="ctr"/>
          <a:lstStyle/>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Every scheme must be tagged on both axes before it works — done for the Department's own schemes, to be confirmed by each division</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Replaces Our Offerings, or adds a section to the home page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457200"/>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The Home Page · Option C of 3</a:t>
            </a:r>
            <a:endParaRPr lang="en-US" sz="2700" dirty="0"/>
          </a:p>
        </p:txBody>
      </p:sp>
      <p:sp>
        <p:nvSpPr>
          <p:cNvPr id="3" name="Text 1"/>
          <p:cNvSpPr txBox="1"/>
          <p:nvPr/>
        </p:nvSpPr>
        <p:spPr>
          <a:xfrm>
            <a:off x="658368" y="914400"/>
            <a:ext cx="10874959" cy="310896"/>
          </a:xfrm>
          <a:prstGeom prst="rect">
            <a:avLst/>
          </a:prstGeom>
          <a:noFill/>
          <a:ln/>
        </p:spPr>
        <p:txBody>
          <a:bodyPr wrap="square" lIns="0" tIns="0" rIns="0" bIns="0" rtlCol="0" anchor="ctr"/>
          <a:lstStyle/>
          <a:p>
            <a:pPr indent="0" marL="0">
              <a:buNone/>
            </a:pPr>
            <a:r>
              <a:rPr lang="en-US" sz="1500" dirty="0">
                <a:solidFill>
                  <a:srgbClr val="005EB9"/>
                </a:solidFill>
                <a:latin typeface="Noto Sans" pitchFamily="34" charset="0"/>
                <a:ea typeface="Noto Sans" pitchFamily="34" charset="-122"/>
                <a:cs typeface="Noto Sans" pitchFamily="34" charset="-120"/>
              </a:rPr>
              <a:t>Find Schemes for You — one tap</a:t>
            </a:r>
            <a:endParaRPr lang="en-US" sz="1500" dirty="0"/>
          </a:p>
        </p:txBody>
      </p:sp>
      <p:sp>
        <p:nvSpPr>
          <p:cNvPr id="4" name="Shape 2"/>
          <p:cNvSpPr/>
          <p:nvPr/>
        </p:nvSpPr>
        <p:spPr>
          <a:xfrm>
            <a:off x="658368" y="1335024"/>
            <a:ext cx="1016813"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335024"/>
            <a:ext cx="1016813" cy="237744"/>
          </a:xfrm>
          <a:prstGeom prst="rect">
            <a:avLst/>
          </a:prstGeom>
          <a:noFill/>
          <a:ln/>
        </p:spPr>
        <p:txBody>
          <a:bodyPr wrap="square" lIns="0" tIns="0" rIns="0" bIns="0" rtlCol="0" anchor="ctr"/>
          <a:lstStyle/>
          <a:p>
            <a:pPr algn="ctr" indent="0" marL="0">
              <a:buNone/>
            </a:pPr>
            <a:r>
              <a:rPr lang="en-US" sz="800" b="1" spc="50" kern="0" dirty="0">
                <a:solidFill>
                  <a:srgbClr val="005EB9"/>
                </a:solidFill>
                <a:latin typeface="Noto Sans" pitchFamily="34" charset="0"/>
                <a:ea typeface="Noto Sans" pitchFamily="34" charset="-122"/>
                <a:cs typeface="Noto Sans" pitchFamily="34" charset="-120"/>
              </a:rPr>
              <a:t>TO BE BUILT</a:t>
            </a:r>
            <a:endParaRPr lang="en-US" sz="800" dirty="0"/>
          </a:p>
        </p:txBody>
      </p:sp>
      <p:sp>
        <p:nvSpPr>
          <p:cNvPr id="6" name="Shape 4"/>
          <p:cNvSpPr/>
          <p:nvPr/>
        </p:nvSpPr>
        <p:spPr>
          <a:xfrm>
            <a:off x="630936" y="1728216"/>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755648"/>
            <a:ext cx="5394960" cy="3371850"/>
          </a:xfrm>
          <a:prstGeom prst="rect">
            <a:avLst/>
          </a:prstGeom>
        </p:spPr>
      </p:pic>
      <p:sp>
        <p:nvSpPr>
          <p:cNvPr id="8" name="Text 5"/>
          <p:cNvSpPr txBox="1"/>
          <p:nvPr/>
        </p:nvSpPr>
        <p:spPr>
          <a:xfrm>
            <a:off x="658368" y="5255514"/>
            <a:ext cx="5394960" cy="457200"/>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walkthrough: Scheduled Castes, Senior Citizens, Transgender Persons and Voluntary Organisations, one tap each.</a:t>
            </a:r>
            <a:endParaRPr lang="en-US" sz="850" dirty="0"/>
          </a:p>
        </p:txBody>
      </p:sp>
      <p:sp>
        <p:nvSpPr>
          <p:cNvPr id="9" name="Text 6"/>
          <p:cNvSpPr txBox="1"/>
          <p:nvPr/>
        </p:nvSpPr>
        <p:spPr>
          <a:xfrm>
            <a:off x="6510528" y="1755648"/>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IT IS</a:t>
            </a:r>
            <a:endParaRPr lang="en-US" sz="900" dirty="0"/>
          </a:p>
        </p:txBody>
      </p:sp>
      <p:sp>
        <p:nvSpPr>
          <p:cNvPr id="10" name="Text 7"/>
          <p:cNvSpPr txBox="1"/>
          <p:nvPr/>
        </p:nvSpPr>
        <p:spPr>
          <a:xfrm>
            <a:off x="6510528" y="1947672"/>
            <a:ext cx="5022799" cy="54864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 row of the personas. Tapping one lists the schemes that name that group, headed by what they provide, with the place to apply beside each and a link to the scheme's page.</a:t>
            </a:r>
            <a:endParaRPr lang="en-US" sz="1000" dirty="0"/>
          </a:p>
        </p:txBody>
      </p:sp>
      <p:sp>
        <p:nvSpPr>
          <p:cNvPr id="11" name="Text 8"/>
          <p:cNvSpPr txBox="1"/>
          <p:nvPr/>
        </p:nvSpPr>
        <p:spPr>
          <a:xfrm>
            <a:off x="6510528" y="2651760"/>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A CITIZEN DOES</a:t>
            </a:r>
            <a:endParaRPr lang="en-US" sz="900" dirty="0"/>
          </a:p>
        </p:txBody>
      </p:sp>
      <p:sp>
        <p:nvSpPr>
          <p:cNvPr id="12" name="Text 9"/>
          <p:cNvSpPr txBox="1"/>
          <p:nvPr/>
        </p:nvSpPr>
        <p:spPr>
          <a:xfrm>
            <a:off x="6510528" y="2843784"/>
            <a:ext cx="5022799" cy="38862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Taps their persona and reads what the Department provides for them, without answering anything.</a:t>
            </a:r>
            <a:endParaRPr lang="en-US" sz="1000" dirty="0"/>
          </a:p>
        </p:txBody>
      </p:sp>
      <p:sp>
        <p:nvSpPr>
          <p:cNvPr id="13" name="Text 10"/>
          <p:cNvSpPr txBox="1"/>
          <p:nvPr/>
        </p:nvSpPr>
        <p:spPr>
          <a:xfrm>
            <a:off x="6510528" y="3387852"/>
            <a:ext cx="5022799" cy="173736"/>
          </a:xfrm>
          <a:prstGeom prst="rect">
            <a:avLst/>
          </a:prstGeom>
          <a:noFill/>
          <a:ln/>
        </p:spPr>
        <p:txBody>
          <a:bodyPr wrap="square" lIns="0" tIns="0" rIns="0" bIns="0" rtlCol="0" anchor="ctr"/>
          <a:lstStyle/>
          <a:p>
            <a:pPr indent="0" marL="0">
              <a:buNone/>
            </a:pPr>
            <a:r>
              <a:rPr lang="en-US" sz="900" b="1" spc="60" kern="0" dirty="0">
                <a:solidFill>
                  <a:srgbClr val="005EB9"/>
                </a:solidFill>
                <a:latin typeface="Noto Sans" pitchFamily="34" charset="0"/>
                <a:ea typeface="Noto Sans" pitchFamily="34" charset="-122"/>
                <a:cs typeface="Noto Sans" pitchFamily="34" charset="-120"/>
              </a:rPr>
              <a:t>IN ITS FAVOUR</a:t>
            </a:r>
            <a:endParaRPr lang="en-US" sz="900" dirty="0"/>
          </a:p>
        </p:txBody>
      </p:sp>
      <p:sp>
        <p:nvSpPr>
          <p:cNvPr id="14" name="Text 11"/>
          <p:cNvSpPr txBox="1"/>
          <p:nvPr/>
        </p:nvSpPr>
        <p:spPr>
          <a:xfrm>
            <a:off x="6510528" y="3579876"/>
            <a:ext cx="5022799" cy="612648"/>
          </a:xfrm>
          <a:prstGeom prst="rect">
            <a:avLst/>
          </a:prstGeom>
          <a:noFill/>
          <a:ln/>
        </p:spPr>
        <p:txBody>
          <a:bodyPr wrap="square" lIns="0" tIns="0" rIns="0" bIns="0" rtlCol="0" anchor="ctr"/>
          <a:lstStyle/>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One tap, no questions</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The same two axes as B, without asking the second</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The place to apply is named beside every scheme</a:t>
            </a:r>
            <a:endParaRPr lang="en-US" sz="1000" dirty="0"/>
          </a:p>
        </p:txBody>
      </p:sp>
      <p:sp>
        <p:nvSpPr>
          <p:cNvPr id="15" name="Text 12"/>
          <p:cNvSpPr txBox="1"/>
          <p:nvPr/>
        </p:nvSpPr>
        <p:spPr>
          <a:xfrm>
            <a:off x="6510528" y="4347972"/>
            <a:ext cx="5022799" cy="173736"/>
          </a:xfrm>
          <a:prstGeom prst="rect">
            <a:avLst/>
          </a:prstGeom>
          <a:noFill/>
          <a:ln/>
        </p:spPr>
        <p:txBody>
          <a:bodyPr wrap="square" lIns="0" tIns="0" rIns="0" bIns="0" rtlCol="0" anchor="ctr"/>
          <a:lstStyle/>
          <a:p>
            <a:pPr indent="0" marL="0">
              <a:buNone/>
            </a:pPr>
            <a:r>
              <a:rPr lang="en-US" sz="900" b="1" spc="60" kern="0" dirty="0">
                <a:solidFill>
                  <a:srgbClr val="A43A00"/>
                </a:solidFill>
                <a:latin typeface="Noto Sans" pitchFamily="34" charset="0"/>
                <a:ea typeface="Noto Sans" pitchFamily="34" charset="-122"/>
                <a:cs typeface="Noto Sans" pitchFamily="34" charset="-120"/>
              </a:rPr>
              <a:t>AGAINST IT</a:t>
            </a:r>
            <a:endParaRPr lang="en-US" sz="900" dirty="0"/>
          </a:p>
        </p:txBody>
      </p:sp>
      <p:sp>
        <p:nvSpPr>
          <p:cNvPr id="16" name="Text 13"/>
          <p:cNvSpPr txBox="1"/>
          <p:nvPr/>
        </p:nvSpPr>
        <p:spPr>
          <a:xfrm>
            <a:off x="6510528" y="4539996"/>
            <a:ext cx="5022799" cy="420624"/>
          </a:xfrm>
          <a:prstGeom prst="rect">
            <a:avLst/>
          </a:prstGeom>
          <a:noFill/>
          <a:ln/>
        </p:spPr>
        <p:txBody>
          <a:bodyPr wrap="square" lIns="0" tIns="0" rIns="0" bIns="0" rtlCol="0" anchor="ctr"/>
          <a:lstStyle/>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Reads the persona alone, so a long list for the larger groups</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Needs space on the home page, unless it replaces Our Offerings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900" b="1" spc="80" kern="0" dirty="0">
                <a:solidFill>
                  <a:srgbClr val="54585E"/>
                </a:solidFill>
                <a:latin typeface="Noto Sans" pitchFamily="34" charset="0"/>
                <a:ea typeface="Noto Sans" pitchFamily="34" charset="-122"/>
                <a:cs typeface="Noto Sans" pitchFamily="34" charset="-120"/>
              </a:rPr>
              <a:t>THE SCHEMES PAGE</a:t>
            </a:r>
            <a:endParaRPr lang="en-US" sz="900" dirty="0"/>
          </a:p>
        </p:txBody>
      </p:sp>
      <p:sp>
        <p:nvSpPr>
          <p:cNvPr id="3" name="Text 1"/>
          <p:cNvSpPr txBox="1"/>
          <p:nvPr/>
        </p:nvSpPr>
        <p:spPr>
          <a:xfrm>
            <a:off x="658368" y="621792"/>
            <a:ext cx="10874959" cy="438912"/>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Two Options, on the Same Two Axes</a:t>
            </a:r>
            <a:endParaRPr lang="en-US" sz="2700" dirty="0"/>
          </a:p>
        </p:txBody>
      </p:sp>
      <p:sp>
        <p:nvSpPr>
          <p:cNvPr id="4" name="Text 2"/>
          <p:cNvSpPr txBox="1"/>
          <p:nvPr/>
        </p:nvSpPr>
        <p:spPr>
          <a:xfrm>
            <a:off x="658368" y="1097280"/>
            <a:ext cx="10004962" cy="274320"/>
          </a:xfrm>
          <a:prstGeom prst="rect">
            <a:avLst/>
          </a:prstGeom>
          <a:noFill/>
          <a:ln/>
        </p:spPr>
        <p:txBody>
          <a:bodyPr wrap="square" lIns="0" tIns="0" rIns="0" bIns="0" rtlCol="0" anchor="ctr"/>
          <a:lstStyle/>
          <a:p>
            <a:pPr indent="0" marL="0">
              <a:buNone/>
            </a:pPr>
            <a:r>
              <a:rPr lang="en-US" sz="1250" dirty="0">
                <a:solidFill>
                  <a:srgbClr val="3A3D41"/>
                </a:solidFill>
                <a:latin typeface="Noto Sans" pitchFamily="34" charset="0"/>
                <a:ea typeface="Noto Sans" pitchFamily="34" charset="-122"/>
                <a:cs typeface="Noto Sans" pitchFamily="34" charset="-120"/>
              </a:rPr>
              <a:t>Where a person lands after choosing a scheme from the home page, and where officers and voluntary organisations work. Both options filter on who it is for and what it provides, and nothing else.</a:t>
            </a:r>
            <a:endParaRPr lang="en-US" sz="1250" dirty="0"/>
          </a:p>
        </p:txBody>
      </p:sp>
      <p:sp>
        <p:nvSpPr>
          <p:cNvPr id="5" name="Text 3"/>
          <p:cNvSpPr txBox="1"/>
          <p:nvPr/>
        </p:nvSpPr>
        <p:spPr>
          <a:xfrm>
            <a:off x="658368" y="1517904"/>
            <a:ext cx="457200" cy="402336"/>
          </a:xfrm>
          <a:prstGeom prst="rect">
            <a:avLst/>
          </a:prstGeom>
          <a:noFill/>
          <a:ln/>
        </p:spPr>
        <p:txBody>
          <a:bodyPr wrap="square" lIns="0" tIns="0" rIns="0" bIns="0" rtlCol="0" anchor="ctr"/>
          <a:lstStyle/>
          <a:p>
            <a:pPr indent="0" marL="0">
              <a:buNone/>
            </a:pPr>
            <a:r>
              <a:rPr lang="en-US" sz="2600" b="1" dirty="0">
                <a:solidFill>
                  <a:srgbClr val="005EB9"/>
                </a:solidFill>
                <a:latin typeface="Noto Sans" pitchFamily="34" charset="0"/>
                <a:ea typeface="Noto Sans" pitchFamily="34" charset="-122"/>
                <a:cs typeface="Noto Sans" pitchFamily="34" charset="-120"/>
              </a:rPr>
              <a:t>A</a:t>
            </a:r>
            <a:endParaRPr lang="en-US" sz="2600" dirty="0"/>
          </a:p>
        </p:txBody>
      </p:sp>
      <p:sp>
        <p:nvSpPr>
          <p:cNvPr id="6" name="Text 4"/>
          <p:cNvSpPr txBox="1"/>
          <p:nvPr/>
        </p:nvSpPr>
        <p:spPr>
          <a:xfrm>
            <a:off x="1115568" y="1572768"/>
            <a:ext cx="4751680" cy="365760"/>
          </a:xfrm>
          <a:prstGeom prst="rect">
            <a:avLst/>
          </a:prstGeom>
          <a:noFill/>
          <a:ln/>
        </p:spPr>
        <p:txBody>
          <a:bodyPr wrap="square" lIns="0" tIns="0" rIns="0" bIns="0" rtlCol="0" anchor="ctr"/>
          <a:lstStyle/>
          <a:p>
            <a:pPr indent="0" marL="0">
              <a:buNone/>
            </a:pPr>
            <a:r>
              <a:rPr lang="en-US" sz="1250" b="1" dirty="0">
                <a:solidFill>
                  <a:srgbClr val="003975"/>
                </a:solidFill>
                <a:latin typeface="Noto Sans" pitchFamily="34" charset="0"/>
                <a:ea typeface="Noto Sans" pitchFamily="34" charset="-122"/>
                <a:cs typeface="Noto Sans" pitchFamily="34" charset="-120"/>
              </a:rPr>
              <a:t>Pictures of the groups, with cards</a:t>
            </a:r>
            <a:endParaRPr lang="en-US" sz="1250" dirty="0"/>
          </a:p>
        </p:txBody>
      </p:sp>
      <p:sp>
        <p:nvSpPr>
          <p:cNvPr id="7" name="Shape 5"/>
          <p:cNvSpPr/>
          <p:nvPr/>
        </p:nvSpPr>
        <p:spPr>
          <a:xfrm>
            <a:off x="630936" y="2002536"/>
            <a:ext cx="5263744" cy="3310414"/>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658368" y="2029968"/>
            <a:ext cx="5208880" cy="3255550"/>
          </a:xfrm>
          <a:prstGeom prst="rect">
            <a:avLst/>
          </a:prstGeom>
        </p:spPr>
      </p:pic>
      <p:sp>
        <p:nvSpPr>
          <p:cNvPr id="9" name="Shape 6"/>
          <p:cNvSpPr/>
          <p:nvPr/>
        </p:nvSpPr>
        <p:spPr>
          <a:xfrm>
            <a:off x="658368" y="5413534"/>
            <a:ext cx="819302" cy="237744"/>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658368" y="5413534"/>
            <a:ext cx="819302" cy="237744"/>
          </a:xfrm>
          <a:prstGeom prst="rect">
            <a:avLst/>
          </a:prstGeom>
          <a:noFill/>
          <a:ln/>
        </p:spPr>
        <p:txBody>
          <a:bodyPr wrap="square" lIns="0" tIns="0" rIns="0" bIns="0" rtlCol="0" anchor="ctr"/>
          <a:lstStyle/>
          <a:p>
            <a:pPr algn="ctr" indent="0" marL="0">
              <a:buNone/>
            </a:pPr>
            <a:r>
              <a:rPr lang="en-US" sz="800" b="1" spc="50" kern="0" dirty="0">
                <a:solidFill>
                  <a:srgbClr val="54585E"/>
                </a:solidFill>
                <a:latin typeface="Noto Sans" pitchFamily="34" charset="0"/>
                <a:ea typeface="Noto Sans" pitchFamily="34" charset="-122"/>
                <a:cs typeface="Noto Sans" pitchFamily="34" charset="-120"/>
              </a:rPr>
              <a:t>OPTION A</a:t>
            </a:r>
            <a:endParaRPr lang="en-US" sz="800" dirty="0"/>
          </a:p>
        </p:txBody>
      </p:sp>
      <p:sp>
        <p:nvSpPr>
          <p:cNvPr id="11" name="Text 8"/>
          <p:cNvSpPr txBox="1"/>
          <p:nvPr/>
        </p:nvSpPr>
        <p:spPr>
          <a:xfrm>
            <a:off x="658368" y="5742718"/>
            <a:ext cx="5208880" cy="64008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Every persona on screen at once, then what it provides as chips, then cards. Browsing.</a:t>
            </a:r>
            <a:endParaRPr lang="en-US" sz="1000" dirty="0"/>
          </a:p>
        </p:txBody>
      </p:sp>
      <p:sp>
        <p:nvSpPr>
          <p:cNvPr id="12" name="Text 9"/>
          <p:cNvSpPr txBox="1"/>
          <p:nvPr/>
        </p:nvSpPr>
        <p:spPr>
          <a:xfrm>
            <a:off x="6324448" y="1517904"/>
            <a:ext cx="457200" cy="402336"/>
          </a:xfrm>
          <a:prstGeom prst="rect">
            <a:avLst/>
          </a:prstGeom>
          <a:noFill/>
          <a:ln/>
        </p:spPr>
        <p:txBody>
          <a:bodyPr wrap="square" lIns="0" tIns="0" rIns="0" bIns="0" rtlCol="0" anchor="ctr"/>
          <a:lstStyle/>
          <a:p>
            <a:pPr indent="0" marL="0">
              <a:buNone/>
            </a:pPr>
            <a:r>
              <a:rPr lang="en-US" sz="2600" b="1" dirty="0">
                <a:solidFill>
                  <a:srgbClr val="005EB9"/>
                </a:solidFill>
                <a:latin typeface="Noto Sans" pitchFamily="34" charset="0"/>
                <a:ea typeface="Noto Sans" pitchFamily="34" charset="-122"/>
                <a:cs typeface="Noto Sans" pitchFamily="34" charset="-120"/>
              </a:rPr>
              <a:t>B</a:t>
            </a:r>
            <a:endParaRPr lang="en-US" sz="2600" dirty="0"/>
          </a:p>
        </p:txBody>
      </p:sp>
      <p:sp>
        <p:nvSpPr>
          <p:cNvPr id="13" name="Text 10"/>
          <p:cNvSpPr txBox="1"/>
          <p:nvPr/>
        </p:nvSpPr>
        <p:spPr>
          <a:xfrm>
            <a:off x="6781648" y="1572768"/>
            <a:ext cx="4751680" cy="365760"/>
          </a:xfrm>
          <a:prstGeom prst="rect">
            <a:avLst/>
          </a:prstGeom>
          <a:noFill/>
          <a:ln/>
        </p:spPr>
        <p:txBody>
          <a:bodyPr wrap="square" lIns="0" tIns="0" rIns="0" bIns="0" rtlCol="0" anchor="ctr"/>
          <a:lstStyle/>
          <a:p>
            <a:pPr indent="0" marL="0">
              <a:buNone/>
            </a:pPr>
            <a:r>
              <a:rPr lang="en-US" sz="1250" b="1" dirty="0">
                <a:solidFill>
                  <a:srgbClr val="003975"/>
                </a:solidFill>
                <a:latin typeface="Noto Sans" pitchFamily="34" charset="0"/>
                <a:ea typeface="Noto Sans" pitchFamily="34" charset="-122"/>
                <a:cs typeface="Noto Sans" pitchFamily="34" charset="-120"/>
              </a:rPr>
              <a:t>Filter panel with a table</a:t>
            </a:r>
            <a:endParaRPr lang="en-US" sz="1250" dirty="0"/>
          </a:p>
        </p:txBody>
      </p:sp>
      <p:sp>
        <p:nvSpPr>
          <p:cNvPr id="14" name="Shape 11"/>
          <p:cNvSpPr/>
          <p:nvPr/>
        </p:nvSpPr>
        <p:spPr>
          <a:xfrm>
            <a:off x="6297016" y="2002536"/>
            <a:ext cx="5263744" cy="3310414"/>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24448" y="2029968"/>
            <a:ext cx="5208880" cy="3255550"/>
          </a:xfrm>
          <a:prstGeom prst="rect">
            <a:avLst/>
          </a:prstGeom>
        </p:spPr>
      </p:pic>
      <p:sp>
        <p:nvSpPr>
          <p:cNvPr id="16" name="Shape 12"/>
          <p:cNvSpPr/>
          <p:nvPr/>
        </p:nvSpPr>
        <p:spPr>
          <a:xfrm>
            <a:off x="6324448" y="5413534"/>
            <a:ext cx="1016813" cy="237744"/>
          </a:xfrm>
          <a:prstGeom prst="roundRect">
            <a:avLst>
              <a:gd name="adj" fmla="val 50000"/>
            </a:avLst>
          </a:prstGeom>
          <a:solidFill>
            <a:srgbClr val="005EB9"/>
          </a:solidFill>
          <a:ln w="12700">
            <a:solidFill>
              <a:srgbClr val="005EB9"/>
            </a:solidFill>
            <a:prstDash val="solid"/>
          </a:ln>
        </p:spPr>
      </p:sp>
      <p:sp>
        <p:nvSpPr>
          <p:cNvPr id="17" name="Text 13"/>
          <p:cNvSpPr txBox="1"/>
          <p:nvPr/>
        </p:nvSpPr>
        <p:spPr>
          <a:xfrm>
            <a:off x="6324448" y="5413534"/>
            <a:ext cx="1016813" cy="237744"/>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Noto Sans" pitchFamily="34" charset="0"/>
                <a:ea typeface="Noto Sans" pitchFamily="34" charset="-122"/>
                <a:cs typeface="Noto Sans" pitchFamily="34" charset="-120"/>
              </a:rPr>
              <a:t>RECOMMENDED</a:t>
            </a:r>
            <a:endParaRPr lang="en-US" sz="800" dirty="0"/>
          </a:p>
        </p:txBody>
      </p:sp>
      <p:sp>
        <p:nvSpPr>
          <p:cNvPr id="18" name="Text 14"/>
          <p:cNvSpPr txBox="1"/>
          <p:nvPr/>
        </p:nvSpPr>
        <p:spPr>
          <a:xfrm>
            <a:off x="6324448" y="5742718"/>
            <a:ext cx="5208880" cy="64008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Filters that combine, a table that carries whom each scheme names and its type. Deciding.</a:t>
            </a:r>
            <a:endParaRPr lang="en-US" sz="1000" dirty="0"/>
          </a:p>
        </p:txBody>
      </p:sp>
      <p:sp>
        <p:nvSpPr>
          <p:cNvPr id="19" name="Text 15"/>
          <p:cNvSpPr txBox="1"/>
          <p:nvPr/>
        </p:nvSpPr>
        <p:spPr>
          <a:xfrm>
            <a:off x="658368" y="6437376"/>
            <a:ext cx="10874959" cy="219456"/>
          </a:xfrm>
          <a:prstGeom prst="rect">
            <a:avLst/>
          </a:prstGeom>
          <a:noFill/>
          <a:ln/>
        </p:spPr>
        <p:txBody>
          <a:bodyPr wrap="square" lIns="0" tIns="0" rIns="0" bIns="0" rtlCol="0" anchor="ctr"/>
          <a:lstStyle/>
          <a:p>
            <a:pPr indent="0" marL="0">
              <a:buNone/>
            </a:pPr>
            <a:r>
              <a:rPr lang="en-US" sz="800" dirty="0">
                <a:solidFill>
                  <a:srgbClr val="54585E"/>
                </a:solidFill>
                <a:latin typeface="Noto Sans" pitchFamily="34" charset="0"/>
                <a:ea typeface="Noto Sans" pitchFamily="34" charset="-122"/>
                <a:cs typeface="Noto Sans" pitchFamily="34" charset="-120"/>
              </a:rPr>
              <a:t>The filters on both are the same personas and offerings the home page uses. No count is printed on either; a filter that would leave nothing is greyed.</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457200"/>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The Schemes Page · Option A of 2</a:t>
            </a:r>
            <a:endParaRPr lang="en-US" sz="2700" dirty="0"/>
          </a:p>
        </p:txBody>
      </p:sp>
      <p:sp>
        <p:nvSpPr>
          <p:cNvPr id="3" name="Text 1"/>
          <p:cNvSpPr txBox="1"/>
          <p:nvPr/>
        </p:nvSpPr>
        <p:spPr>
          <a:xfrm>
            <a:off x="658368" y="914400"/>
            <a:ext cx="10874959" cy="310896"/>
          </a:xfrm>
          <a:prstGeom prst="rect">
            <a:avLst/>
          </a:prstGeom>
          <a:noFill/>
          <a:ln/>
        </p:spPr>
        <p:txBody>
          <a:bodyPr wrap="square" lIns="0" tIns="0" rIns="0" bIns="0" rtlCol="0" anchor="ctr"/>
          <a:lstStyle/>
          <a:p>
            <a:pPr indent="0" marL="0">
              <a:buNone/>
            </a:pPr>
            <a:r>
              <a:rPr lang="en-US" sz="1500" dirty="0">
                <a:solidFill>
                  <a:srgbClr val="005EB9"/>
                </a:solidFill>
                <a:latin typeface="Noto Sans" pitchFamily="34" charset="0"/>
                <a:ea typeface="Noto Sans" pitchFamily="34" charset="-122"/>
                <a:cs typeface="Noto Sans" pitchFamily="34" charset="-120"/>
              </a:rPr>
              <a:t>Pictures of the Groups, with Cards</a:t>
            </a:r>
            <a:endParaRPr lang="en-US" sz="1500" dirty="0"/>
          </a:p>
        </p:txBody>
      </p:sp>
      <p:sp>
        <p:nvSpPr>
          <p:cNvPr id="4" name="Shape 2"/>
          <p:cNvSpPr/>
          <p:nvPr/>
        </p:nvSpPr>
        <p:spPr>
          <a:xfrm>
            <a:off x="658368" y="1335024"/>
            <a:ext cx="1016813"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335024"/>
            <a:ext cx="1016813" cy="237744"/>
          </a:xfrm>
          <a:prstGeom prst="rect">
            <a:avLst/>
          </a:prstGeom>
          <a:noFill/>
          <a:ln/>
        </p:spPr>
        <p:txBody>
          <a:bodyPr wrap="square" lIns="0" tIns="0" rIns="0" bIns="0" rtlCol="0" anchor="ctr"/>
          <a:lstStyle/>
          <a:p>
            <a:pPr algn="ctr" indent="0" marL="0">
              <a:buNone/>
            </a:pPr>
            <a:r>
              <a:rPr lang="en-US" sz="800" b="1" spc="50" kern="0" dirty="0">
                <a:solidFill>
                  <a:srgbClr val="005EB9"/>
                </a:solidFill>
                <a:latin typeface="Noto Sans" pitchFamily="34" charset="0"/>
                <a:ea typeface="Noto Sans" pitchFamily="34" charset="-122"/>
                <a:cs typeface="Noto Sans" pitchFamily="34" charset="-120"/>
              </a:rPr>
              <a:t>TO BE BUILT</a:t>
            </a:r>
            <a:endParaRPr lang="en-US" sz="800" dirty="0"/>
          </a:p>
        </p:txBody>
      </p:sp>
      <p:sp>
        <p:nvSpPr>
          <p:cNvPr id="6" name="Shape 4"/>
          <p:cNvSpPr/>
          <p:nvPr/>
        </p:nvSpPr>
        <p:spPr>
          <a:xfrm>
            <a:off x="630936" y="1728216"/>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755648"/>
            <a:ext cx="5394960" cy="3371850"/>
          </a:xfrm>
          <a:prstGeom prst="rect">
            <a:avLst/>
          </a:prstGeom>
        </p:spPr>
      </p:pic>
      <p:sp>
        <p:nvSpPr>
          <p:cNvPr id="8" name="Text 5"/>
          <p:cNvSpPr txBox="1"/>
          <p:nvPr/>
        </p:nvSpPr>
        <p:spPr>
          <a:xfrm>
            <a:off x="658368" y="5255514"/>
            <a:ext cx="5394960" cy="457200"/>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walkthrough: Safai Karamcharis, then Loans and Credit, then Senior Citizens.</a:t>
            </a:r>
            <a:endParaRPr lang="en-US" sz="850" dirty="0"/>
          </a:p>
        </p:txBody>
      </p:sp>
      <p:sp>
        <p:nvSpPr>
          <p:cNvPr id="9" name="Text 6"/>
          <p:cNvSpPr txBox="1"/>
          <p:nvPr/>
        </p:nvSpPr>
        <p:spPr>
          <a:xfrm>
            <a:off x="6510528" y="1755648"/>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IT IS</a:t>
            </a:r>
            <a:endParaRPr lang="en-US" sz="900" dirty="0"/>
          </a:p>
        </p:txBody>
      </p:sp>
      <p:sp>
        <p:nvSpPr>
          <p:cNvPr id="10" name="Text 7"/>
          <p:cNvSpPr txBox="1"/>
          <p:nvPr/>
        </p:nvSpPr>
        <p:spPr>
          <a:xfrm>
            <a:off x="6510528" y="1947672"/>
            <a:ext cx="5022799" cy="54864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Every persona visible at once as a row of marks, then what it provides as a row of chips, above a card for each scheme. Two filters and no third; cards are paged so the page keeps its height.</a:t>
            </a:r>
            <a:endParaRPr lang="en-US" sz="1000" dirty="0"/>
          </a:p>
        </p:txBody>
      </p:sp>
      <p:sp>
        <p:nvSpPr>
          <p:cNvPr id="11" name="Text 8"/>
          <p:cNvSpPr txBox="1"/>
          <p:nvPr/>
        </p:nvSpPr>
        <p:spPr>
          <a:xfrm>
            <a:off x="6510528" y="2651760"/>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A CITIZEN DOES</a:t>
            </a:r>
            <a:endParaRPr lang="en-US" sz="900" dirty="0"/>
          </a:p>
        </p:txBody>
      </p:sp>
      <p:sp>
        <p:nvSpPr>
          <p:cNvPr id="12" name="Text 9"/>
          <p:cNvSpPr txBox="1"/>
          <p:nvPr/>
        </p:nvSpPr>
        <p:spPr>
          <a:xfrm>
            <a:off x="6510528" y="2843784"/>
            <a:ext cx="5022799" cy="38862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Picks their persona, narrows by what it provides if they wish, and reads the cards.</a:t>
            </a:r>
            <a:endParaRPr lang="en-US" sz="1000" dirty="0"/>
          </a:p>
        </p:txBody>
      </p:sp>
      <p:sp>
        <p:nvSpPr>
          <p:cNvPr id="13" name="Text 10"/>
          <p:cNvSpPr txBox="1"/>
          <p:nvPr/>
        </p:nvSpPr>
        <p:spPr>
          <a:xfrm>
            <a:off x="6510528" y="3387852"/>
            <a:ext cx="5022799" cy="173736"/>
          </a:xfrm>
          <a:prstGeom prst="rect">
            <a:avLst/>
          </a:prstGeom>
          <a:noFill/>
          <a:ln/>
        </p:spPr>
        <p:txBody>
          <a:bodyPr wrap="square" lIns="0" tIns="0" rIns="0" bIns="0" rtlCol="0" anchor="ctr"/>
          <a:lstStyle/>
          <a:p>
            <a:pPr indent="0" marL="0">
              <a:buNone/>
            </a:pPr>
            <a:r>
              <a:rPr lang="en-US" sz="900" b="1" spc="60" kern="0" dirty="0">
                <a:solidFill>
                  <a:srgbClr val="005EB9"/>
                </a:solidFill>
                <a:latin typeface="Noto Sans" pitchFamily="34" charset="0"/>
                <a:ea typeface="Noto Sans" pitchFamily="34" charset="-122"/>
                <a:cs typeface="Noto Sans" pitchFamily="34" charset="-120"/>
              </a:rPr>
              <a:t>IN ITS FAVOUR</a:t>
            </a:r>
            <a:endParaRPr lang="en-US" sz="900" dirty="0"/>
          </a:p>
        </p:txBody>
      </p:sp>
      <p:sp>
        <p:nvSpPr>
          <p:cNvPr id="14" name="Text 11"/>
          <p:cNvSpPr txBox="1"/>
          <p:nvPr/>
        </p:nvSpPr>
        <p:spPr>
          <a:xfrm>
            <a:off x="6510528" y="3579876"/>
            <a:ext cx="5022799" cy="612648"/>
          </a:xfrm>
          <a:prstGeom prst="rect">
            <a:avLst/>
          </a:prstGeom>
          <a:noFill/>
          <a:ln/>
        </p:spPr>
        <p:txBody>
          <a:bodyPr wrap="square" lIns="0" tIns="0" rIns="0" bIns="0" rtlCol="0" anchor="ctr"/>
          <a:lstStyle/>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Every group visible at once — no arrows, no scrolling to find yourself</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The same two filters as the home page, so the idea is met twice</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Cards carry the scheme's type and what it provides</a:t>
            </a:r>
            <a:endParaRPr lang="en-US" sz="1000" dirty="0"/>
          </a:p>
        </p:txBody>
      </p:sp>
      <p:sp>
        <p:nvSpPr>
          <p:cNvPr id="15" name="Text 12"/>
          <p:cNvSpPr txBox="1"/>
          <p:nvPr/>
        </p:nvSpPr>
        <p:spPr>
          <a:xfrm>
            <a:off x="6510528" y="4347972"/>
            <a:ext cx="5022799" cy="173736"/>
          </a:xfrm>
          <a:prstGeom prst="rect">
            <a:avLst/>
          </a:prstGeom>
          <a:noFill/>
          <a:ln/>
        </p:spPr>
        <p:txBody>
          <a:bodyPr wrap="square" lIns="0" tIns="0" rIns="0" bIns="0" rtlCol="0" anchor="ctr"/>
          <a:lstStyle/>
          <a:p>
            <a:pPr indent="0" marL="0">
              <a:buNone/>
            </a:pPr>
            <a:r>
              <a:rPr lang="en-US" sz="900" b="1" spc="60" kern="0" dirty="0">
                <a:solidFill>
                  <a:srgbClr val="A43A00"/>
                </a:solidFill>
                <a:latin typeface="Noto Sans" pitchFamily="34" charset="0"/>
                <a:ea typeface="Noto Sans" pitchFamily="34" charset="-122"/>
                <a:cs typeface="Noto Sans" pitchFamily="34" charset="-120"/>
              </a:rPr>
              <a:t>AGAINST IT</a:t>
            </a:r>
            <a:endParaRPr lang="en-US" sz="900" dirty="0"/>
          </a:p>
        </p:txBody>
      </p:sp>
      <p:sp>
        <p:nvSpPr>
          <p:cNvPr id="16" name="Text 13"/>
          <p:cNvSpPr txBox="1"/>
          <p:nvPr/>
        </p:nvSpPr>
        <p:spPr>
          <a:xfrm>
            <a:off x="6510528" y="4539996"/>
            <a:ext cx="5022799" cy="420624"/>
          </a:xfrm>
          <a:prstGeom prst="rect">
            <a:avLst/>
          </a:prstGeom>
          <a:noFill/>
          <a:ln/>
        </p:spPr>
        <p:txBody>
          <a:bodyPr wrap="square" lIns="0" tIns="0" rIns="0" bIns="0" rtlCol="0" anchor="ctr"/>
          <a:lstStyle/>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 card has no room for whom the scheme names</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Two schemes cannot be compared side by side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457200"/>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The Schemes Page · Option B of 2</a:t>
            </a:r>
            <a:endParaRPr lang="en-US" sz="2700" dirty="0"/>
          </a:p>
        </p:txBody>
      </p:sp>
      <p:sp>
        <p:nvSpPr>
          <p:cNvPr id="3" name="Text 1"/>
          <p:cNvSpPr txBox="1"/>
          <p:nvPr/>
        </p:nvSpPr>
        <p:spPr>
          <a:xfrm>
            <a:off x="658368" y="914400"/>
            <a:ext cx="10874959" cy="310896"/>
          </a:xfrm>
          <a:prstGeom prst="rect">
            <a:avLst/>
          </a:prstGeom>
          <a:noFill/>
          <a:ln/>
        </p:spPr>
        <p:txBody>
          <a:bodyPr wrap="square" lIns="0" tIns="0" rIns="0" bIns="0" rtlCol="0" anchor="ctr"/>
          <a:lstStyle/>
          <a:p>
            <a:pPr indent="0" marL="0">
              <a:buNone/>
            </a:pPr>
            <a:r>
              <a:rPr lang="en-US" sz="1500" dirty="0">
                <a:solidFill>
                  <a:srgbClr val="005EB9"/>
                </a:solidFill>
                <a:latin typeface="Noto Sans" pitchFamily="34" charset="0"/>
                <a:ea typeface="Noto Sans" pitchFamily="34" charset="-122"/>
                <a:cs typeface="Noto Sans" pitchFamily="34" charset="-120"/>
              </a:rPr>
              <a:t>Filter Panel with a Table of Schemes</a:t>
            </a:r>
            <a:endParaRPr lang="en-US" sz="1500" dirty="0"/>
          </a:p>
        </p:txBody>
      </p:sp>
      <p:sp>
        <p:nvSpPr>
          <p:cNvPr id="4" name="Shape 2"/>
          <p:cNvSpPr/>
          <p:nvPr/>
        </p:nvSpPr>
        <p:spPr>
          <a:xfrm>
            <a:off x="658368" y="1335024"/>
            <a:ext cx="1016813"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335024"/>
            <a:ext cx="1016813" cy="237744"/>
          </a:xfrm>
          <a:prstGeom prst="rect">
            <a:avLst/>
          </a:prstGeom>
          <a:noFill/>
          <a:ln/>
        </p:spPr>
        <p:txBody>
          <a:bodyPr wrap="square" lIns="0" tIns="0" rIns="0" bIns="0" rtlCol="0" anchor="ctr"/>
          <a:lstStyle/>
          <a:p>
            <a:pPr algn="ctr" indent="0" marL="0">
              <a:buNone/>
            </a:pPr>
            <a:r>
              <a:rPr lang="en-US" sz="800" b="1" spc="50" kern="0" dirty="0">
                <a:solidFill>
                  <a:srgbClr val="005EB9"/>
                </a:solidFill>
                <a:latin typeface="Noto Sans" pitchFamily="34" charset="0"/>
                <a:ea typeface="Noto Sans" pitchFamily="34" charset="-122"/>
                <a:cs typeface="Noto Sans" pitchFamily="34" charset="-120"/>
              </a:rPr>
              <a:t>TO BE BUILT</a:t>
            </a:r>
            <a:endParaRPr lang="en-US" sz="800" dirty="0"/>
          </a:p>
        </p:txBody>
      </p:sp>
      <p:sp>
        <p:nvSpPr>
          <p:cNvPr id="6" name="Shape 4"/>
          <p:cNvSpPr/>
          <p:nvPr/>
        </p:nvSpPr>
        <p:spPr>
          <a:xfrm>
            <a:off x="1803197" y="1335024"/>
            <a:ext cx="1016813" cy="237744"/>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1803197" y="1335024"/>
            <a:ext cx="1016813" cy="237744"/>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Noto Sans" pitchFamily="34" charset="0"/>
                <a:ea typeface="Noto Sans" pitchFamily="34" charset="-122"/>
                <a:cs typeface="Noto Sans" pitchFamily="34" charset="-120"/>
              </a:rPr>
              <a:t>RECOMMENDED</a:t>
            </a:r>
            <a:endParaRPr lang="en-US" sz="800" dirty="0"/>
          </a:p>
        </p:txBody>
      </p:sp>
      <p:sp>
        <p:nvSpPr>
          <p:cNvPr id="8" name="Shape 6"/>
          <p:cNvSpPr/>
          <p:nvPr/>
        </p:nvSpPr>
        <p:spPr>
          <a:xfrm>
            <a:off x="630936" y="1728216"/>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755648"/>
            <a:ext cx="5394960" cy="3371850"/>
          </a:xfrm>
          <a:prstGeom prst="rect">
            <a:avLst/>
          </a:prstGeom>
        </p:spPr>
      </p:pic>
      <p:sp>
        <p:nvSpPr>
          <p:cNvPr id="10" name="Text 7"/>
          <p:cNvSpPr txBox="1"/>
          <p:nvPr/>
        </p:nvSpPr>
        <p:spPr>
          <a:xfrm>
            <a:off x="658368" y="5255514"/>
            <a:ext cx="5394960" cy="457200"/>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walkthrough: Other Backward Classes with Scholarships, then Loans added, then one filter removed and the panel reset.</a:t>
            </a:r>
            <a:endParaRPr lang="en-US" sz="850" dirty="0"/>
          </a:p>
        </p:txBody>
      </p:sp>
      <p:sp>
        <p:nvSpPr>
          <p:cNvPr id="11" name="Text 8"/>
          <p:cNvSpPr txBox="1"/>
          <p:nvPr/>
        </p:nvSpPr>
        <p:spPr>
          <a:xfrm>
            <a:off x="6510528" y="1755648"/>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IT IS</a:t>
            </a:r>
            <a:endParaRPr lang="en-US" sz="900" dirty="0"/>
          </a:p>
        </p:txBody>
      </p:sp>
      <p:sp>
        <p:nvSpPr>
          <p:cNvPr id="12" name="Text 9"/>
          <p:cNvSpPr txBox="1"/>
          <p:nvPr/>
        </p:nvSpPr>
        <p:spPr>
          <a:xfrm>
            <a:off x="6510528" y="1947672"/>
            <a:ext cx="5022799" cy="54864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Filters down the left on the same two axes; a table on the right showing what each scheme provides, whom it names and its type. A filter that would leave nothing is greyed rather than numbered. Ten rows a page.</a:t>
            </a:r>
            <a:endParaRPr lang="en-US" sz="1000" dirty="0"/>
          </a:p>
        </p:txBody>
      </p:sp>
      <p:sp>
        <p:nvSpPr>
          <p:cNvPr id="13" name="Text 10"/>
          <p:cNvSpPr txBox="1"/>
          <p:nvPr/>
        </p:nvSpPr>
        <p:spPr>
          <a:xfrm>
            <a:off x="6510528" y="2651760"/>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A CITIZEN DOES</a:t>
            </a:r>
            <a:endParaRPr lang="en-US" sz="900" dirty="0"/>
          </a:p>
        </p:txBody>
      </p:sp>
      <p:sp>
        <p:nvSpPr>
          <p:cNvPr id="14" name="Text 11"/>
          <p:cNvSpPr txBox="1"/>
          <p:nvPr/>
        </p:nvSpPr>
        <p:spPr>
          <a:xfrm>
            <a:off x="6510528" y="2843784"/>
            <a:ext cx="5022799" cy="38862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Ticks the filters that apply and reads the schemes side by side to see which to apply for.</a:t>
            </a:r>
            <a:endParaRPr lang="en-US" sz="1000" dirty="0"/>
          </a:p>
        </p:txBody>
      </p:sp>
      <p:sp>
        <p:nvSpPr>
          <p:cNvPr id="15" name="Text 12"/>
          <p:cNvSpPr txBox="1"/>
          <p:nvPr/>
        </p:nvSpPr>
        <p:spPr>
          <a:xfrm>
            <a:off x="6510528" y="3387852"/>
            <a:ext cx="5022799" cy="173736"/>
          </a:xfrm>
          <a:prstGeom prst="rect">
            <a:avLst/>
          </a:prstGeom>
          <a:noFill/>
          <a:ln/>
        </p:spPr>
        <p:txBody>
          <a:bodyPr wrap="square" lIns="0" tIns="0" rIns="0" bIns="0" rtlCol="0" anchor="ctr"/>
          <a:lstStyle/>
          <a:p>
            <a:pPr indent="0" marL="0">
              <a:buNone/>
            </a:pPr>
            <a:r>
              <a:rPr lang="en-US" sz="900" b="1" spc="60" kern="0" dirty="0">
                <a:solidFill>
                  <a:srgbClr val="005EB9"/>
                </a:solidFill>
                <a:latin typeface="Noto Sans" pitchFamily="34" charset="0"/>
                <a:ea typeface="Noto Sans" pitchFamily="34" charset="-122"/>
                <a:cs typeface="Noto Sans" pitchFamily="34" charset="-120"/>
              </a:rPr>
              <a:t>IN ITS FAVOUR</a:t>
            </a:r>
            <a:endParaRPr lang="en-US" sz="900" dirty="0"/>
          </a:p>
        </p:txBody>
      </p:sp>
      <p:sp>
        <p:nvSpPr>
          <p:cNvPr id="16" name="Text 13"/>
          <p:cNvSpPr txBox="1"/>
          <p:nvPr/>
        </p:nvSpPr>
        <p:spPr>
          <a:xfrm>
            <a:off x="6510528" y="3579876"/>
            <a:ext cx="5022799" cy="804672"/>
          </a:xfrm>
          <a:prstGeom prst="rect">
            <a:avLst/>
          </a:prstGeom>
          <a:noFill/>
          <a:ln/>
        </p:spPr>
        <p:txBody>
          <a:bodyPr wrap="square" lIns="0" tIns="0" rIns="0" bIns="0" rtlCol="0" anchor="ctr"/>
          <a:lstStyle/>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Filters combine — who it is for and what it provides, together</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The table carries whom each scheme names, which a card cannot</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 greyed filter warns before an empty result without printing a count</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Paged, so the page keeps its height</a:t>
            </a:r>
            <a:endParaRPr lang="en-US" sz="1000" dirty="0"/>
          </a:p>
        </p:txBody>
      </p:sp>
      <p:sp>
        <p:nvSpPr>
          <p:cNvPr id="17" name="Text 14"/>
          <p:cNvSpPr txBox="1"/>
          <p:nvPr/>
        </p:nvSpPr>
        <p:spPr>
          <a:xfrm>
            <a:off x="6510528" y="4539996"/>
            <a:ext cx="5022799" cy="173736"/>
          </a:xfrm>
          <a:prstGeom prst="rect">
            <a:avLst/>
          </a:prstGeom>
          <a:noFill/>
          <a:ln/>
        </p:spPr>
        <p:txBody>
          <a:bodyPr wrap="square" lIns="0" tIns="0" rIns="0" bIns="0" rtlCol="0" anchor="ctr"/>
          <a:lstStyle/>
          <a:p>
            <a:pPr indent="0" marL="0">
              <a:buNone/>
            </a:pPr>
            <a:r>
              <a:rPr lang="en-US" sz="900" b="1" spc="60" kern="0" dirty="0">
                <a:solidFill>
                  <a:srgbClr val="A43A00"/>
                </a:solidFill>
                <a:latin typeface="Noto Sans" pitchFamily="34" charset="0"/>
                <a:ea typeface="Noto Sans" pitchFamily="34" charset="-122"/>
                <a:cs typeface="Noto Sans" pitchFamily="34" charset="-120"/>
              </a:rPr>
              <a:t>AGAINST IT</a:t>
            </a:r>
            <a:endParaRPr lang="en-US" sz="900" dirty="0"/>
          </a:p>
        </p:txBody>
      </p:sp>
      <p:sp>
        <p:nvSpPr>
          <p:cNvPr id="18" name="Text 15"/>
          <p:cNvSpPr txBox="1"/>
          <p:nvPr/>
        </p:nvSpPr>
        <p:spPr>
          <a:xfrm>
            <a:off x="6510528" y="4732020"/>
            <a:ext cx="5022799" cy="22860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 table reads as a record rather than an invitation</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457200"/>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The Assistant · Option A of 1</a:t>
            </a:r>
            <a:endParaRPr lang="en-US" sz="2700" dirty="0"/>
          </a:p>
        </p:txBody>
      </p:sp>
      <p:sp>
        <p:nvSpPr>
          <p:cNvPr id="3" name="Text 1"/>
          <p:cNvSpPr txBox="1"/>
          <p:nvPr/>
        </p:nvSpPr>
        <p:spPr>
          <a:xfrm>
            <a:off x="658368" y="914400"/>
            <a:ext cx="10874959" cy="310896"/>
          </a:xfrm>
          <a:prstGeom prst="rect">
            <a:avLst/>
          </a:prstGeom>
          <a:noFill/>
          <a:ln/>
        </p:spPr>
        <p:txBody>
          <a:bodyPr wrap="square" lIns="0" tIns="0" rIns="0" bIns="0" rtlCol="0" anchor="ctr"/>
          <a:lstStyle/>
          <a:p>
            <a:pPr indent="0" marL="0">
              <a:buNone/>
            </a:pPr>
            <a:r>
              <a:rPr lang="en-US" sz="1500" dirty="0">
                <a:solidFill>
                  <a:srgbClr val="005EB9"/>
                </a:solidFill>
                <a:latin typeface="Noto Sans" pitchFamily="34" charset="0"/>
                <a:ea typeface="Noto Sans" pitchFamily="34" charset="-122"/>
                <a:cs typeface="Noto Sans" pitchFamily="34" charset="-120"/>
              </a:rPr>
              <a:t>Samajik Sahayak — the same two questions, in chat</a:t>
            </a:r>
            <a:endParaRPr lang="en-US" sz="1500" dirty="0"/>
          </a:p>
        </p:txBody>
      </p:sp>
      <p:sp>
        <p:nvSpPr>
          <p:cNvPr id="4" name="Shape 2"/>
          <p:cNvSpPr/>
          <p:nvPr/>
        </p:nvSpPr>
        <p:spPr>
          <a:xfrm>
            <a:off x="658368" y="1335024"/>
            <a:ext cx="1543507" cy="237744"/>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658368" y="1335024"/>
            <a:ext cx="1543507" cy="237744"/>
          </a:xfrm>
          <a:prstGeom prst="rect">
            <a:avLst/>
          </a:prstGeom>
          <a:noFill/>
          <a:ln/>
        </p:spPr>
        <p:txBody>
          <a:bodyPr wrap="square" lIns="0" tIns="0" rIns="0" bIns="0" rtlCol="0" anchor="ctr"/>
          <a:lstStyle/>
          <a:p>
            <a:pPr algn="ctr" indent="0" marL="0">
              <a:buNone/>
            </a:pPr>
            <a:r>
              <a:rPr lang="en-US" sz="800" b="1" spc="50" kern="0" dirty="0">
                <a:solidFill>
                  <a:srgbClr val="54585E"/>
                </a:solidFill>
                <a:latin typeface="Noto Sans" pitchFamily="34" charset="0"/>
                <a:ea typeface="Noto Sans" pitchFamily="34" charset="-122"/>
                <a:cs typeface="Noto Sans" pitchFamily="34" charset="-120"/>
              </a:rPr>
              <a:t>ALREADY ON THE SITE</a:t>
            </a:r>
            <a:endParaRPr lang="en-US" sz="800" dirty="0"/>
          </a:p>
        </p:txBody>
      </p:sp>
      <p:sp>
        <p:nvSpPr>
          <p:cNvPr id="6" name="Shape 4"/>
          <p:cNvSpPr/>
          <p:nvPr/>
        </p:nvSpPr>
        <p:spPr>
          <a:xfrm>
            <a:off x="2329891" y="1335024"/>
            <a:ext cx="1016813" cy="237744"/>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2329891" y="1335024"/>
            <a:ext cx="1016813" cy="237744"/>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Noto Sans" pitchFamily="34" charset="0"/>
                <a:ea typeface="Noto Sans" pitchFamily="34" charset="-122"/>
                <a:cs typeface="Noto Sans" pitchFamily="34" charset="-120"/>
              </a:rPr>
              <a:t>RECOMMENDED</a:t>
            </a:r>
            <a:endParaRPr lang="en-US" sz="800" dirty="0"/>
          </a:p>
        </p:txBody>
      </p:sp>
      <p:sp>
        <p:nvSpPr>
          <p:cNvPr id="8" name="Shape 6"/>
          <p:cNvSpPr/>
          <p:nvPr/>
        </p:nvSpPr>
        <p:spPr>
          <a:xfrm>
            <a:off x="630936" y="1728216"/>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755648"/>
            <a:ext cx="5394960" cy="3371850"/>
          </a:xfrm>
          <a:prstGeom prst="rect">
            <a:avLst/>
          </a:prstGeom>
        </p:spPr>
      </p:pic>
      <p:sp>
        <p:nvSpPr>
          <p:cNvPr id="10" name="Text 7"/>
          <p:cNvSpPr txBox="1"/>
          <p:nvPr/>
        </p:nvSpPr>
        <p:spPr>
          <a:xfrm>
            <a:off x="658368" y="5255514"/>
            <a:ext cx="5394960" cy="457200"/>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walkthrough of the assistant the design system ships, opened from an ordinary page: Scheduled Castes, then Loans and Credit.</a:t>
            </a:r>
            <a:endParaRPr lang="en-US" sz="850" dirty="0"/>
          </a:p>
        </p:txBody>
      </p:sp>
      <p:sp>
        <p:nvSpPr>
          <p:cNvPr id="11" name="Text 8"/>
          <p:cNvSpPr txBox="1"/>
          <p:nvPr/>
        </p:nvSpPr>
        <p:spPr>
          <a:xfrm>
            <a:off x="6510528" y="1755648"/>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IT IS</a:t>
            </a:r>
            <a:endParaRPr lang="en-US" sz="900" dirty="0"/>
          </a:p>
        </p:txBody>
      </p:sp>
      <p:sp>
        <p:nvSpPr>
          <p:cNvPr id="12" name="Text 9"/>
          <p:cNvSpPr txBox="1"/>
          <p:nvPr/>
        </p:nvSpPr>
        <p:spPr>
          <a:xfrm>
            <a:off x="6510528" y="1947672"/>
            <a:ext cx="5022799" cy="54864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The same two questions, asked one at a time in the chat window that is already built and reachable from every page. It reads the same list as the home page, so it can never name different schemes for the same person.</a:t>
            </a:r>
            <a:endParaRPr lang="en-US" sz="1000" dirty="0"/>
          </a:p>
        </p:txBody>
      </p:sp>
      <p:sp>
        <p:nvSpPr>
          <p:cNvPr id="13" name="Text 10"/>
          <p:cNvSpPr txBox="1"/>
          <p:nvPr/>
        </p:nvSpPr>
        <p:spPr>
          <a:xfrm>
            <a:off x="6510528" y="2651760"/>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A CITIZEN DOES</a:t>
            </a:r>
            <a:endParaRPr lang="en-US" sz="900" dirty="0"/>
          </a:p>
        </p:txBody>
      </p:sp>
      <p:sp>
        <p:nvSpPr>
          <p:cNvPr id="14" name="Text 11"/>
          <p:cNvSpPr txBox="1"/>
          <p:nvPr/>
        </p:nvSpPr>
        <p:spPr>
          <a:xfrm>
            <a:off x="6510528" y="2843784"/>
            <a:ext cx="5022799" cy="38862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Opens the assistant from whichever page they are on, answers on their phone, and is given schemes to open.</a:t>
            </a:r>
            <a:endParaRPr lang="en-US" sz="1000" dirty="0"/>
          </a:p>
        </p:txBody>
      </p:sp>
      <p:sp>
        <p:nvSpPr>
          <p:cNvPr id="15" name="Text 12"/>
          <p:cNvSpPr txBox="1"/>
          <p:nvPr/>
        </p:nvSpPr>
        <p:spPr>
          <a:xfrm>
            <a:off x="6510528" y="3387852"/>
            <a:ext cx="5022799" cy="173736"/>
          </a:xfrm>
          <a:prstGeom prst="rect">
            <a:avLst/>
          </a:prstGeom>
          <a:noFill/>
          <a:ln/>
        </p:spPr>
        <p:txBody>
          <a:bodyPr wrap="square" lIns="0" tIns="0" rIns="0" bIns="0" rtlCol="0" anchor="ctr"/>
          <a:lstStyle/>
          <a:p>
            <a:pPr indent="0" marL="0">
              <a:buNone/>
            </a:pPr>
            <a:r>
              <a:rPr lang="en-US" sz="900" b="1" spc="60" kern="0" dirty="0">
                <a:solidFill>
                  <a:srgbClr val="005EB9"/>
                </a:solidFill>
                <a:latin typeface="Noto Sans" pitchFamily="34" charset="0"/>
                <a:ea typeface="Noto Sans" pitchFamily="34" charset="-122"/>
                <a:cs typeface="Noto Sans" pitchFamily="34" charset="-120"/>
              </a:rPr>
              <a:t>IN ITS FAVOUR</a:t>
            </a:r>
            <a:endParaRPr lang="en-US" sz="900" dirty="0"/>
          </a:p>
        </p:txBody>
      </p:sp>
      <p:sp>
        <p:nvSpPr>
          <p:cNvPr id="16" name="Text 13"/>
          <p:cNvSpPr txBox="1"/>
          <p:nvPr/>
        </p:nvSpPr>
        <p:spPr>
          <a:xfrm>
            <a:off x="6510528" y="3579876"/>
            <a:ext cx="5022799" cy="804672"/>
          </a:xfrm>
          <a:prstGeom prst="rect">
            <a:avLst/>
          </a:prstGeom>
          <a:noFill/>
          <a:ln/>
        </p:spPr>
        <p:txBody>
          <a:bodyPr wrap="square" lIns="0" tIns="0" rIns="0" bIns="0" rtlCol="0" anchor="ctr"/>
          <a:lstStyle/>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Reachable from every page, including pages that lead nowhere else</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One question per screen, which suits a phone</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Already built — only the scheme branch is new</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States plainly that it cannot decide or change an application</a:t>
            </a:r>
            <a:endParaRPr lang="en-US" sz="1000" dirty="0"/>
          </a:p>
        </p:txBody>
      </p:sp>
      <p:sp>
        <p:nvSpPr>
          <p:cNvPr id="17" name="Text 14"/>
          <p:cNvSpPr txBox="1"/>
          <p:nvPr/>
        </p:nvSpPr>
        <p:spPr>
          <a:xfrm>
            <a:off x="6510528" y="4539996"/>
            <a:ext cx="5022799" cy="173736"/>
          </a:xfrm>
          <a:prstGeom prst="rect">
            <a:avLst/>
          </a:prstGeom>
          <a:noFill/>
          <a:ln/>
        </p:spPr>
        <p:txBody>
          <a:bodyPr wrap="square" lIns="0" tIns="0" rIns="0" bIns="0" rtlCol="0" anchor="ctr"/>
          <a:lstStyle/>
          <a:p>
            <a:pPr indent="0" marL="0">
              <a:buNone/>
            </a:pPr>
            <a:r>
              <a:rPr lang="en-US" sz="900" b="1" spc="60" kern="0" dirty="0">
                <a:solidFill>
                  <a:srgbClr val="A43A00"/>
                </a:solidFill>
                <a:latin typeface="Noto Sans" pitchFamily="34" charset="0"/>
                <a:ea typeface="Noto Sans" pitchFamily="34" charset="-122"/>
                <a:cs typeface="Noto Sans" pitchFamily="34" charset="-120"/>
              </a:rPr>
              <a:t>AGAINST IT</a:t>
            </a:r>
            <a:endParaRPr lang="en-US" sz="900" dirty="0"/>
          </a:p>
        </p:txBody>
      </p:sp>
      <p:sp>
        <p:nvSpPr>
          <p:cNvPr id="18" name="Text 15"/>
          <p:cNvSpPr txBox="1"/>
          <p:nvPr/>
        </p:nvSpPr>
        <p:spPr>
          <a:xfrm>
            <a:off x="6510528" y="4732020"/>
            <a:ext cx="5022799" cy="22860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 button in the corner is found only by those looking for it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900" b="1" spc="80" kern="0" dirty="0">
                <a:solidFill>
                  <a:srgbClr val="54585E"/>
                </a:solidFill>
                <a:latin typeface="Noto Sans" pitchFamily="34" charset="0"/>
                <a:ea typeface="Noto Sans" pitchFamily="34" charset="-122"/>
                <a:cs typeface="Noto Sans" pitchFamily="34" charset="-120"/>
              </a:rPr>
              <a:t>PREPARATORY WORK</a:t>
            </a:r>
            <a:endParaRPr lang="en-US" sz="900" dirty="0"/>
          </a:p>
        </p:txBody>
      </p:sp>
      <p:sp>
        <p:nvSpPr>
          <p:cNvPr id="3" name="Text 1"/>
          <p:cNvSpPr txBox="1"/>
          <p:nvPr/>
        </p:nvSpPr>
        <p:spPr>
          <a:xfrm>
            <a:off x="658368" y="621792"/>
            <a:ext cx="10874959" cy="438912"/>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What Has to Be Done First</a:t>
            </a:r>
            <a:endParaRPr lang="en-US" sz="2700" dirty="0"/>
          </a:p>
        </p:txBody>
      </p:sp>
      <p:sp>
        <p:nvSpPr>
          <p:cNvPr id="4" name="Text 2"/>
          <p:cNvSpPr txBox="1"/>
          <p:nvPr/>
        </p:nvSpPr>
        <p:spPr>
          <a:xfrm>
            <a:off x="658368" y="1097280"/>
            <a:ext cx="10004962" cy="274320"/>
          </a:xfrm>
          <a:prstGeom prst="rect">
            <a:avLst/>
          </a:prstGeom>
          <a:noFill/>
          <a:ln/>
        </p:spPr>
        <p:txBody>
          <a:bodyPr wrap="square" lIns="0" tIns="0" rIns="0" bIns="0" rtlCol="0" anchor="ctr"/>
          <a:lstStyle/>
          <a:p>
            <a:pPr indent="0" marL="0">
              <a:buNone/>
            </a:pPr>
            <a:r>
              <a:rPr lang="en-US" sz="1250" dirty="0">
                <a:solidFill>
                  <a:srgbClr val="3A3D41"/>
                </a:solidFill>
                <a:latin typeface="Noto Sans" pitchFamily="34" charset="0"/>
                <a:ea typeface="Noto Sans" pitchFamily="34" charset="-122"/>
                <a:cs typeface="Noto Sans" pitchFamily="34" charset="-120"/>
              </a:rPr>
              <a:t>Whichever options are approved, the same preparatory work stands behind all of them.</a:t>
            </a:r>
            <a:endParaRPr lang="en-US" sz="1250" dirty="0"/>
          </a:p>
        </p:txBody>
      </p:sp>
      <p:sp>
        <p:nvSpPr>
          <p:cNvPr id="5" name="Text 3"/>
          <p:cNvSpPr txBox="1"/>
          <p:nvPr/>
        </p:nvSpPr>
        <p:spPr>
          <a:xfrm>
            <a:off x="658368" y="1609344"/>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1</a:t>
            </a:r>
            <a:endParaRPr lang="en-US" sz="1700" dirty="0"/>
          </a:p>
        </p:txBody>
      </p:sp>
      <p:sp>
        <p:nvSpPr>
          <p:cNvPr id="6" name="Text 4"/>
          <p:cNvSpPr txBox="1"/>
          <p:nvPr/>
        </p:nvSpPr>
        <p:spPr>
          <a:xfrm>
            <a:off x="1115568" y="1591056"/>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Confirm the two masters</a:t>
            </a:r>
            <a:endParaRPr lang="en-US" sz="1350" dirty="0"/>
          </a:p>
        </p:txBody>
      </p:sp>
      <p:sp>
        <p:nvSpPr>
          <p:cNvPr id="7" name="Text 5"/>
          <p:cNvSpPr txBox="1"/>
          <p:nvPr/>
        </p:nvSpPr>
        <p:spPr>
          <a:xfrm>
            <a:off x="1115568" y="1847088"/>
            <a:ext cx="10417759" cy="566928"/>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The eleven personas and the eight offerings on page 2. Both are drawn from the Department's own mandate and its Annual Report; each division confirms the wording for its groups, and whether Students, Victims of Atrocities and Persons Engaged in Begging are to be named on a public page.</a:t>
            </a:r>
            <a:endParaRPr lang="en-US" sz="1050" dirty="0"/>
          </a:p>
        </p:txBody>
      </p:sp>
      <p:sp>
        <p:nvSpPr>
          <p:cNvPr id="8" name="Shape 6"/>
          <p:cNvSpPr/>
          <p:nvPr/>
        </p:nvSpPr>
        <p:spPr>
          <a:xfrm>
            <a:off x="658368" y="2432304"/>
            <a:ext cx="10874959" cy="0"/>
          </a:xfrm>
          <a:prstGeom prst="line">
            <a:avLst/>
          </a:prstGeom>
          <a:noFill/>
          <a:ln w="9525">
            <a:solidFill>
              <a:srgbClr val="DCDEE1"/>
            </a:solidFill>
            <a:prstDash val="solid"/>
          </a:ln>
        </p:spPr>
      </p:sp>
      <p:sp>
        <p:nvSpPr>
          <p:cNvPr id="9" name="Text 7"/>
          <p:cNvSpPr txBox="1"/>
          <p:nvPr/>
        </p:nvSpPr>
        <p:spPr>
          <a:xfrm>
            <a:off x="658368" y="2560320"/>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2</a:t>
            </a:r>
            <a:endParaRPr lang="en-US" sz="1700" dirty="0"/>
          </a:p>
        </p:txBody>
      </p:sp>
      <p:sp>
        <p:nvSpPr>
          <p:cNvPr id="10" name="Text 8"/>
          <p:cNvSpPr txBox="1"/>
          <p:nvPr/>
        </p:nvSpPr>
        <p:spPr>
          <a:xfrm>
            <a:off x="1115568" y="2542032"/>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Tag every scheme on both axes</a:t>
            </a:r>
            <a:endParaRPr lang="en-US" sz="1350" dirty="0"/>
          </a:p>
        </p:txBody>
      </p:sp>
      <p:sp>
        <p:nvSpPr>
          <p:cNvPr id="11" name="Text 9"/>
          <p:cNvSpPr txBox="1"/>
          <p:nvPr/>
        </p:nvSpPr>
        <p:spPr>
          <a:xfrm>
            <a:off x="1115568" y="2798064"/>
            <a:ext cx="10417759" cy="566928"/>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Each scheme record carries the personas it names and the offerings it provides, taken from the Annual Report 2025-26, the Demand for Grants 2026-27 and the PIB Year-End Review 2025, with a source on every row. The divisions confirm their rows; nothing is shown that a source does not state.</a:t>
            </a:r>
            <a:endParaRPr lang="en-US" sz="1050" dirty="0"/>
          </a:p>
        </p:txBody>
      </p:sp>
      <p:sp>
        <p:nvSpPr>
          <p:cNvPr id="12" name="Shape 10"/>
          <p:cNvSpPr/>
          <p:nvPr/>
        </p:nvSpPr>
        <p:spPr>
          <a:xfrm>
            <a:off x="658368" y="3383280"/>
            <a:ext cx="10874959" cy="0"/>
          </a:xfrm>
          <a:prstGeom prst="line">
            <a:avLst/>
          </a:prstGeom>
          <a:noFill/>
          <a:ln w="9525">
            <a:solidFill>
              <a:srgbClr val="DCDEE1"/>
            </a:solidFill>
            <a:prstDash val="solid"/>
          </a:ln>
        </p:spPr>
      </p:sp>
      <p:sp>
        <p:nvSpPr>
          <p:cNvPr id="13" name="Text 11"/>
          <p:cNvSpPr txBox="1"/>
          <p:nvPr/>
        </p:nvSpPr>
        <p:spPr>
          <a:xfrm>
            <a:off x="658368" y="3511296"/>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3</a:t>
            </a:r>
            <a:endParaRPr lang="en-US" sz="1700" dirty="0"/>
          </a:p>
        </p:txBody>
      </p:sp>
      <p:sp>
        <p:nvSpPr>
          <p:cNvPr id="14" name="Text 12"/>
          <p:cNvSpPr txBox="1"/>
          <p:nvPr/>
        </p:nvSpPr>
        <p:spPr>
          <a:xfrm>
            <a:off x="1115568" y="3493008"/>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Estimate the development work</a:t>
            </a:r>
            <a:endParaRPr lang="en-US" sz="1350" dirty="0"/>
          </a:p>
        </p:txBody>
      </p:sp>
      <p:sp>
        <p:nvSpPr>
          <p:cNvPr id="15" name="Text 13"/>
          <p:cNvSpPr txBox="1"/>
          <p:nvPr/>
        </p:nvSpPr>
        <p:spPr>
          <a:xfrm>
            <a:off x="1115568" y="3749040"/>
            <a:ext cx="10417759" cy="566928"/>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The website's catalogue is tagged on one axis with one value per scheme. Re-tagging it on two axes, multi-valued, is the development task every option depends on, and its estimate is asked of the development team before any option is scheduled.</a:t>
            </a:r>
            <a:endParaRPr lang="en-US" sz="1050" dirty="0"/>
          </a:p>
        </p:txBody>
      </p:sp>
      <p:sp>
        <p:nvSpPr>
          <p:cNvPr id="16" name="Shape 14"/>
          <p:cNvSpPr/>
          <p:nvPr/>
        </p:nvSpPr>
        <p:spPr>
          <a:xfrm>
            <a:off x="658368" y="4334256"/>
            <a:ext cx="10874959" cy="0"/>
          </a:xfrm>
          <a:prstGeom prst="line">
            <a:avLst/>
          </a:prstGeom>
          <a:noFill/>
          <a:ln w="9525">
            <a:solidFill>
              <a:srgbClr val="DCDEE1"/>
            </a:solidFill>
            <a:prstDash val="solid"/>
          </a:ln>
        </p:spPr>
      </p:sp>
      <p:sp>
        <p:nvSpPr>
          <p:cNvPr id="17" name="Text 15"/>
          <p:cNvSpPr txBox="1"/>
          <p:nvPr/>
        </p:nvSpPr>
        <p:spPr>
          <a:xfrm>
            <a:off x="658368" y="4462272"/>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4</a:t>
            </a:r>
            <a:endParaRPr lang="en-US" sz="1700" dirty="0"/>
          </a:p>
        </p:txBody>
      </p:sp>
      <p:sp>
        <p:nvSpPr>
          <p:cNvPr id="18" name="Text 16"/>
          <p:cNvSpPr txBox="1"/>
          <p:nvPr/>
        </p:nvSpPr>
        <p:spPr>
          <a:xfrm>
            <a:off x="1115568" y="4443984"/>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Confirm the application routes</a:t>
            </a:r>
            <a:endParaRPr lang="en-US" sz="1350" dirty="0"/>
          </a:p>
        </p:txBody>
      </p:sp>
      <p:sp>
        <p:nvSpPr>
          <p:cNvPr id="19" name="Text 17"/>
          <p:cNvSpPr txBox="1"/>
          <p:nvPr/>
        </p:nvSpPr>
        <p:spPr>
          <a:xfrm>
            <a:off x="1115568" y="4700016"/>
            <a:ext cx="10417759" cy="566928"/>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Where each scheme is applied for — the National Scholarship Portal, a State's own portal, a corporation's channelising agency, a helpline — is stated per scheme and per State, and confirmed by the division that owns it.</a:t>
            </a:r>
            <a:endParaRPr lang="en-US" sz="1050" dirty="0"/>
          </a:p>
        </p:txBody>
      </p:sp>
      <p:sp>
        <p:nvSpPr>
          <p:cNvPr id="20" name="Shape 18"/>
          <p:cNvSpPr/>
          <p:nvPr/>
        </p:nvSpPr>
        <p:spPr>
          <a:xfrm>
            <a:off x="658368" y="5285232"/>
            <a:ext cx="10874959" cy="0"/>
          </a:xfrm>
          <a:prstGeom prst="line">
            <a:avLst/>
          </a:prstGeom>
          <a:noFill/>
          <a:ln w="9525">
            <a:solidFill>
              <a:srgbClr val="DCDEE1"/>
            </a:solidFill>
            <a:prstDash val="solid"/>
          </a:ln>
        </p:spPr>
      </p:sp>
      <p:sp>
        <p:nvSpPr>
          <p:cNvPr id="21" name="Text 19"/>
          <p:cNvSpPr txBox="1"/>
          <p:nvPr/>
        </p:nvSpPr>
        <p:spPr>
          <a:xfrm>
            <a:off x="658368" y="5413248"/>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5</a:t>
            </a:r>
            <a:endParaRPr lang="en-US" sz="1700" dirty="0"/>
          </a:p>
        </p:txBody>
      </p:sp>
      <p:sp>
        <p:nvSpPr>
          <p:cNvPr id="22" name="Text 20"/>
          <p:cNvSpPr txBox="1"/>
          <p:nvPr/>
        </p:nvSpPr>
        <p:spPr>
          <a:xfrm>
            <a:off x="1115568" y="5394960"/>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Settle the open questions</a:t>
            </a:r>
            <a:endParaRPr lang="en-US" sz="1350" dirty="0"/>
          </a:p>
        </p:txBody>
      </p:sp>
      <p:sp>
        <p:nvSpPr>
          <p:cNvPr id="23" name="Text 21"/>
          <p:cNvSpPr txBox="1"/>
          <p:nvPr/>
        </p:nvSpPr>
        <p:spPr>
          <a:xfrm>
            <a:off x="1115568" y="5650992"/>
            <a:ext cx="10417759" cy="566928"/>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NSFDC's income ceiling is stated differently on two of the Department's own pages; PM-DAKSH merges into PM-KVY from 2026-27; the beta site's Schemes list carries guideline documents, status tables and State schemes as the Department's own. Each is recorded, and none is shown until settled.</a:t>
            </a:r>
            <a:endParaRPr lang="en-US" sz="1050" dirty="0"/>
          </a:p>
        </p:txBody>
      </p:sp>
      <p:sp>
        <p:nvSpPr>
          <p:cNvPr id="24" name="Text 22"/>
          <p:cNvSpPr txBox="1"/>
          <p:nvPr/>
        </p:nvSpPr>
        <p:spPr>
          <a:xfrm>
            <a:off x="658368" y="6437376"/>
            <a:ext cx="10874959" cy="219456"/>
          </a:xfrm>
          <a:prstGeom prst="rect">
            <a:avLst/>
          </a:prstGeom>
          <a:noFill/>
          <a:ln/>
        </p:spPr>
        <p:txBody>
          <a:bodyPr wrap="square" lIns="0" tIns="0" rIns="0" bIns="0" rtlCol="0" anchor="ctr"/>
          <a:lstStyle/>
          <a:p>
            <a:pPr indent="0" marL="0">
              <a:buNone/>
            </a:pPr>
            <a:r>
              <a:rPr lang="en-US" sz="800" dirty="0">
                <a:solidFill>
                  <a:srgbClr val="54585E"/>
                </a:solidFill>
                <a:latin typeface="Noto Sans" pitchFamily="34" charset="0"/>
                <a:ea typeface="Noto Sans" pitchFamily="34" charset="-122"/>
                <a:cs typeface="Noto Sans" pitchFamily="34" charset="-120"/>
              </a:rPr>
              <a:t>The design team supplies the masters and the tagged records; the divisions confirm them; the development team estimates the re-tagging.</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900" b="1" spc="80" kern="0" dirty="0">
                <a:solidFill>
                  <a:srgbClr val="54585E"/>
                </a:solidFill>
                <a:latin typeface="Noto Sans" pitchFamily="34" charset="0"/>
                <a:ea typeface="Noto Sans" pitchFamily="34" charset="-122"/>
                <a:cs typeface="Noto Sans" pitchFamily="34" charset="-120"/>
              </a:rPr>
              <a:t>SAFEGUARDS</a:t>
            </a:r>
            <a:endParaRPr lang="en-US" sz="900" dirty="0"/>
          </a:p>
        </p:txBody>
      </p:sp>
      <p:sp>
        <p:nvSpPr>
          <p:cNvPr id="3" name="Text 1"/>
          <p:cNvSpPr txBox="1"/>
          <p:nvPr/>
        </p:nvSpPr>
        <p:spPr>
          <a:xfrm>
            <a:off x="658368" y="621792"/>
            <a:ext cx="10874959" cy="438912"/>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Five Commitments That Hold Whichever Options Are Approved</a:t>
            </a:r>
            <a:endParaRPr lang="en-US" sz="2700" dirty="0"/>
          </a:p>
        </p:txBody>
      </p:sp>
      <p:sp>
        <p:nvSpPr>
          <p:cNvPr id="4" name="Text 2"/>
          <p:cNvSpPr txBox="1"/>
          <p:nvPr/>
        </p:nvSpPr>
        <p:spPr>
          <a:xfrm>
            <a:off x="658368" y="1316736"/>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1</a:t>
            </a:r>
            <a:endParaRPr lang="en-US" sz="1700" dirty="0"/>
          </a:p>
        </p:txBody>
      </p:sp>
      <p:sp>
        <p:nvSpPr>
          <p:cNvPr id="5" name="Text 3"/>
          <p:cNvSpPr txBox="1"/>
          <p:nvPr/>
        </p:nvSpPr>
        <p:spPr>
          <a:xfrm>
            <a:off x="1115568" y="1298448"/>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Nothing here decides a case</a:t>
            </a:r>
            <a:endParaRPr lang="en-US" sz="1350" dirty="0"/>
          </a:p>
        </p:txBody>
      </p:sp>
      <p:sp>
        <p:nvSpPr>
          <p:cNvPr id="6" name="Text 4"/>
          <p:cNvSpPr txBox="1"/>
          <p:nvPr/>
        </p:nvSpPr>
        <p:spPr>
          <a:xfrm>
            <a:off x="1115568" y="1554480"/>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No screen and no message states that a person is eligible. The wording throughout is that a scheme names the person as its target group, and that the sanctioning authority decides. A citizen who acts on a wrong assurance from a government website bears a real cost, and the Department bears the complaint.</a:t>
            </a:r>
            <a:endParaRPr lang="en-US" sz="1050" dirty="0"/>
          </a:p>
        </p:txBody>
      </p:sp>
      <p:sp>
        <p:nvSpPr>
          <p:cNvPr id="7" name="Shape 5"/>
          <p:cNvSpPr/>
          <p:nvPr/>
        </p:nvSpPr>
        <p:spPr>
          <a:xfrm>
            <a:off x="658368" y="2103120"/>
            <a:ext cx="10874959" cy="0"/>
          </a:xfrm>
          <a:prstGeom prst="line">
            <a:avLst/>
          </a:prstGeom>
          <a:noFill/>
          <a:ln w="9525">
            <a:solidFill>
              <a:srgbClr val="DCDEE1"/>
            </a:solidFill>
            <a:prstDash val="solid"/>
          </a:ln>
        </p:spPr>
      </p:sp>
      <p:sp>
        <p:nvSpPr>
          <p:cNvPr id="8" name="Text 6"/>
          <p:cNvSpPr txBox="1"/>
          <p:nvPr/>
        </p:nvSpPr>
        <p:spPr>
          <a:xfrm>
            <a:off x="658368" y="2249424"/>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2</a:t>
            </a:r>
            <a:endParaRPr lang="en-US" sz="1700" dirty="0"/>
          </a:p>
        </p:txBody>
      </p:sp>
      <p:sp>
        <p:nvSpPr>
          <p:cNvPr id="9" name="Text 7"/>
          <p:cNvSpPr txBox="1"/>
          <p:nvPr/>
        </p:nvSpPr>
        <p:spPr>
          <a:xfrm>
            <a:off x="1115568" y="2231136"/>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The boundary of the Department is stated, not hidden</a:t>
            </a:r>
            <a:endParaRPr lang="en-US" sz="1350" dirty="0"/>
          </a:p>
        </p:txBody>
      </p:sp>
      <p:sp>
        <p:nvSpPr>
          <p:cNvPr id="10" name="Text 8"/>
          <p:cNvSpPr txBox="1"/>
          <p:nvPr/>
        </p:nvSpPr>
        <p:spPr>
          <a:xfrm>
            <a:off x="1115568" y="2487168"/>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Persons with disabilities are served by the Department of Empowerment of Persons with Disabilities, in this same Ministry. Anyone who indicates a disability is told so plainly and directed to depwd.gov.in, rather than being shown an empty result.</a:t>
            </a:r>
            <a:endParaRPr lang="en-US" sz="1050" dirty="0"/>
          </a:p>
        </p:txBody>
      </p:sp>
      <p:sp>
        <p:nvSpPr>
          <p:cNvPr id="11" name="Shape 9"/>
          <p:cNvSpPr/>
          <p:nvPr/>
        </p:nvSpPr>
        <p:spPr>
          <a:xfrm>
            <a:off x="658368" y="3035808"/>
            <a:ext cx="10874959" cy="0"/>
          </a:xfrm>
          <a:prstGeom prst="line">
            <a:avLst/>
          </a:prstGeom>
          <a:noFill/>
          <a:ln w="9525">
            <a:solidFill>
              <a:srgbClr val="DCDEE1"/>
            </a:solidFill>
            <a:prstDash val="solid"/>
          </a:ln>
        </p:spPr>
      </p:sp>
      <p:sp>
        <p:nvSpPr>
          <p:cNvPr id="12" name="Text 10"/>
          <p:cNvSpPr txBox="1"/>
          <p:nvPr/>
        </p:nvSpPr>
        <p:spPr>
          <a:xfrm>
            <a:off x="658368" y="3182112"/>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3</a:t>
            </a:r>
            <a:endParaRPr lang="en-US" sz="1700" dirty="0"/>
          </a:p>
        </p:txBody>
      </p:sp>
      <p:sp>
        <p:nvSpPr>
          <p:cNvPr id="13" name="Text 11"/>
          <p:cNvSpPr txBox="1"/>
          <p:nvPr/>
        </p:nvSpPr>
        <p:spPr>
          <a:xfrm>
            <a:off x="1115568" y="3163824"/>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 personal information is collected</a:t>
            </a:r>
            <a:endParaRPr lang="en-US" sz="1350" dirty="0"/>
          </a:p>
        </p:txBody>
      </p:sp>
      <p:sp>
        <p:nvSpPr>
          <p:cNvPr id="14" name="Text 12"/>
          <p:cNvSpPr txBox="1"/>
          <p:nvPr/>
        </p:nvSpPr>
        <p:spPr>
          <a:xfrm>
            <a:off x="1115568" y="3419856"/>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No sign-in, no Aadhaar, no telephone number, no name and no income figure. The persona and the kind of support are chosen from fixed options, never typed, and nothing is stored.</a:t>
            </a:r>
            <a:endParaRPr lang="en-US" sz="1050" dirty="0"/>
          </a:p>
        </p:txBody>
      </p:sp>
      <p:sp>
        <p:nvSpPr>
          <p:cNvPr id="15" name="Shape 13"/>
          <p:cNvSpPr/>
          <p:nvPr/>
        </p:nvSpPr>
        <p:spPr>
          <a:xfrm>
            <a:off x="658368" y="3968496"/>
            <a:ext cx="10874959" cy="0"/>
          </a:xfrm>
          <a:prstGeom prst="line">
            <a:avLst/>
          </a:prstGeom>
          <a:noFill/>
          <a:ln w="9525">
            <a:solidFill>
              <a:srgbClr val="DCDEE1"/>
            </a:solidFill>
            <a:prstDash val="solid"/>
          </a:ln>
        </p:spPr>
      </p:sp>
      <p:sp>
        <p:nvSpPr>
          <p:cNvPr id="16" name="Text 14"/>
          <p:cNvSpPr txBox="1"/>
          <p:nvPr/>
        </p:nvSpPr>
        <p:spPr>
          <a:xfrm>
            <a:off x="658368" y="4114800"/>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4</a:t>
            </a:r>
            <a:endParaRPr lang="en-US" sz="1700" dirty="0"/>
          </a:p>
        </p:txBody>
      </p:sp>
      <p:sp>
        <p:nvSpPr>
          <p:cNvPr id="17" name="Text 15"/>
          <p:cNvSpPr txBox="1"/>
          <p:nvPr/>
        </p:nvSpPr>
        <p:spPr>
          <a:xfrm>
            <a:off x="1115568" y="4096512"/>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Nobody is left at a dead end</a:t>
            </a:r>
            <a:endParaRPr lang="en-US" sz="1350" dirty="0"/>
          </a:p>
        </p:txBody>
      </p:sp>
      <p:sp>
        <p:nvSpPr>
          <p:cNvPr id="18" name="Text 16"/>
          <p:cNvSpPr txBox="1"/>
          <p:nvPr/>
        </p:nvSpPr>
        <p:spPr>
          <a:xfrm>
            <a:off x="1115568" y="4352544"/>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The second question can be skipped, and skipping widens the answer instead of ending it. Where nothing matches, the screen says so plainly and offers the way back.</a:t>
            </a:r>
            <a:endParaRPr lang="en-US" sz="1050" dirty="0"/>
          </a:p>
        </p:txBody>
      </p:sp>
      <p:sp>
        <p:nvSpPr>
          <p:cNvPr id="19" name="Shape 17"/>
          <p:cNvSpPr/>
          <p:nvPr/>
        </p:nvSpPr>
        <p:spPr>
          <a:xfrm>
            <a:off x="658368" y="4901184"/>
            <a:ext cx="10874959" cy="0"/>
          </a:xfrm>
          <a:prstGeom prst="line">
            <a:avLst/>
          </a:prstGeom>
          <a:noFill/>
          <a:ln w="9525">
            <a:solidFill>
              <a:srgbClr val="DCDEE1"/>
            </a:solidFill>
            <a:prstDash val="solid"/>
          </a:ln>
        </p:spPr>
      </p:sp>
      <p:sp>
        <p:nvSpPr>
          <p:cNvPr id="20" name="Text 18"/>
          <p:cNvSpPr txBox="1"/>
          <p:nvPr/>
        </p:nvSpPr>
        <p:spPr>
          <a:xfrm>
            <a:off x="658368" y="5047488"/>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5</a:t>
            </a:r>
            <a:endParaRPr lang="en-US" sz="1700" dirty="0"/>
          </a:p>
        </p:txBody>
      </p:sp>
      <p:sp>
        <p:nvSpPr>
          <p:cNvPr id="21" name="Text 19"/>
          <p:cNvSpPr txBox="1"/>
          <p:nvPr/>
        </p:nvSpPr>
        <p:spPr>
          <a:xfrm>
            <a:off x="1115568" y="5029200"/>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 number is published from a design file</a:t>
            </a:r>
            <a:endParaRPr lang="en-US" sz="1350" dirty="0"/>
          </a:p>
        </p:txBody>
      </p:sp>
      <p:sp>
        <p:nvSpPr>
          <p:cNvPr id="22" name="Text 20"/>
          <p:cNvSpPr txBox="1"/>
          <p:nvPr/>
        </p:nvSpPr>
        <p:spPr>
          <a:xfrm>
            <a:off x="1115568" y="5285232"/>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No count of schemes appears on any screen. Only the helpline numbers the Department itself publishes — 14567, 14446 and 14566 — appear; every other figure on a screen is one the Annual Report or the Demand for Grants states.</a:t>
            </a:r>
            <a:endParaRPr lang="en-US" sz="1050" dirty="0"/>
          </a:p>
        </p:txBody>
      </p:sp>
      <p:sp>
        <p:nvSpPr>
          <p:cNvPr id="23" name="Text 21"/>
          <p:cNvSpPr txBox="1"/>
          <p:nvPr/>
        </p:nvSpPr>
        <p:spPr>
          <a:xfrm>
            <a:off x="658368" y="6437376"/>
            <a:ext cx="10874959" cy="219456"/>
          </a:xfrm>
          <a:prstGeom prst="rect">
            <a:avLst/>
          </a:prstGeom>
          <a:noFill/>
          <a:ln/>
        </p:spPr>
        <p:txBody>
          <a:bodyPr wrap="square" lIns="0" tIns="0" rIns="0" bIns="0" rtlCol="0" anchor="ctr"/>
          <a:lstStyle/>
          <a:p>
            <a:pPr indent="0" marL="0">
              <a:buNone/>
            </a:pPr>
            <a:r>
              <a:rPr lang="en-US" sz="800" dirty="0">
                <a:solidFill>
                  <a:srgbClr val="54585E"/>
                </a:solidFill>
                <a:latin typeface="Noto Sans" pitchFamily="34" charset="0"/>
                <a:ea typeface="Noto Sans" pitchFamily="34" charset="-122"/>
                <a:cs typeface="Noto Sans" pitchFamily="34" charset="-120"/>
              </a:rPr>
              <a:t>These hold across all six options and are not traded against for speed.</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658368" y="640080"/>
            <a:ext cx="10874959" cy="219456"/>
          </a:xfrm>
          <a:prstGeom prst="rect">
            <a:avLst/>
          </a:prstGeom>
          <a:noFill/>
          <a:ln/>
        </p:spPr>
        <p:txBody>
          <a:bodyPr wrap="square" lIns="0" tIns="0" rIns="0" bIns="0" rtlCol="0" anchor="ctr"/>
          <a:lstStyle/>
          <a:p>
            <a:pPr indent="0" marL="0">
              <a:buNone/>
            </a:pPr>
            <a:r>
              <a:rPr lang="en-US" sz="1000" b="1" spc="130" kern="0" dirty="0">
                <a:solidFill>
                  <a:srgbClr val="C0DBFF"/>
                </a:solidFill>
                <a:latin typeface="Noto Sans" pitchFamily="34" charset="0"/>
                <a:ea typeface="Noto Sans" pitchFamily="34" charset="-122"/>
                <a:cs typeface="Noto Sans" pitchFamily="34" charset="-120"/>
              </a:rPr>
              <a:t>IN SUMMARY</a:t>
            </a:r>
            <a:endParaRPr lang="en-US" sz="1000" dirty="0"/>
          </a:p>
        </p:txBody>
      </p:sp>
      <p:sp>
        <p:nvSpPr>
          <p:cNvPr id="3" name="Text 1"/>
          <p:cNvSpPr txBox="1"/>
          <p:nvPr/>
        </p:nvSpPr>
        <p:spPr>
          <a:xfrm>
            <a:off x="658368" y="914400"/>
            <a:ext cx="10874959" cy="548640"/>
          </a:xfrm>
          <a:prstGeom prst="rect">
            <a:avLst/>
          </a:prstGeom>
          <a:noFill/>
          <a:ln/>
        </p:spPr>
        <p:txBody>
          <a:bodyPr wrap="square" lIns="0" tIns="0" rIns="0" bIns="0" rtlCol="0" anchor="ctr"/>
          <a:lstStyle/>
          <a:p>
            <a:pPr indent="0" marL="0">
              <a:buNone/>
            </a:pPr>
            <a:r>
              <a:rPr lang="en-US" sz="3200" b="1" dirty="0">
                <a:solidFill>
                  <a:srgbClr val="FFFFFF"/>
                </a:solidFill>
                <a:latin typeface="Noto Sans" pitchFamily="34" charset="0"/>
                <a:ea typeface="Noto Sans" pitchFamily="34" charset="-122"/>
                <a:cs typeface="Noto Sans" pitchFamily="34" charset="-120"/>
              </a:rPr>
              <a:t>What the Design Team Recommends</a:t>
            </a:r>
            <a:endParaRPr lang="en-US" sz="3200" dirty="0"/>
          </a:p>
        </p:txBody>
      </p:sp>
      <p:sp>
        <p:nvSpPr>
          <p:cNvPr id="4" name="Text 2"/>
          <p:cNvSpPr txBox="1"/>
          <p:nvPr/>
        </p:nvSpPr>
        <p:spPr>
          <a:xfrm>
            <a:off x="1298448" y="1554480"/>
            <a:ext cx="4023360"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THE PART OF THE SITE</a:t>
            </a:r>
            <a:endParaRPr lang="en-US" sz="900" dirty="0"/>
          </a:p>
        </p:txBody>
      </p:sp>
      <p:sp>
        <p:nvSpPr>
          <p:cNvPr id="5" name="Text 3"/>
          <p:cNvSpPr txBox="1"/>
          <p:nvPr/>
        </p:nvSpPr>
        <p:spPr>
          <a:xfrm>
            <a:off x="5413248" y="1554480"/>
            <a:ext cx="3840480"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OUR RECOMMENDATION</a:t>
            </a:r>
            <a:endParaRPr lang="en-US" sz="900" dirty="0"/>
          </a:p>
        </p:txBody>
      </p:sp>
      <p:sp>
        <p:nvSpPr>
          <p:cNvPr id="6" name="Text 4"/>
          <p:cNvSpPr txBox="1"/>
          <p:nvPr/>
        </p:nvSpPr>
        <p:spPr>
          <a:xfrm>
            <a:off x="9345168" y="1554480"/>
            <a:ext cx="2194560"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WHY</a:t>
            </a:r>
            <a:endParaRPr lang="en-US" sz="900" dirty="0"/>
          </a:p>
        </p:txBody>
      </p:sp>
      <p:sp>
        <p:nvSpPr>
          <p:cNvPr id="7" name="Shape 5"/>
          <p:cNvSpPr/>
          <p:nvPr/>
        </p:nvSpPr>
        <p:spPr>
          <a:xfrm>
            <a:off x="658368" y="1755648"/>
            <a:ext cx="10874959" cy="0"/>
          </a:xfrm>
          <a:prstGeom prst="line">
            <a:avLst/>
          </a:prstGeom>
          <a:noFill/>
          <a:ln w="12700">
            <a:solidFill>
              <a:srgbClr val="004B96"/>
            </a:solidFill>
            <a:prstDash val="solid"/>
          </a:ln>
        </p:spPr>
      </p:sp>
      <p:sp>
        <p:nvSpPr>
          <p:cNvPr id="8" name="Text 6"/>
          <p:cNvSpPr txBox="1"/>
          <p:nvPr/>
        </p:nvSpPr>
        <p:spPr>
          <a:xfrm>
            <a:off x="658368" y="1920240"/>
            <a:ext cx="548640" cy="347472"/>
          </a:xfrm>
          <a:prstGeom prst="rect">
            <a:avLst/>
          </a:prstGeom>
          <a:noFill/>
          <a:ln/>
        </p:spPr>
        <p:txBody>
          <a:bodyPr wrap="square" lIns="0" tIns="0" rIns="0" bIns="0" rtlCol="0" anchor="ctr"/>
          <a:lstStyle/>
          <a:p>
            <a:pPr indent="0" marL="0">
              <a:buNone/>
            </a:pPr>
            <a:r>
              <a:rPr lang="en-US" sz="2000" b="1" dirty="0">
                <a:solidFill>
                  <a:srgbClr val="92C2FF"/>
                </a:solidFill>
                <a:latin typeface="Noto Sans" pitchFamily="34" charset="0"/>
                <a:ea typeface="Noto Sans" pitchFamily="34" charset="-122"/>
                <a:cs typeface="Noto Sans" pitchFamily="34" charset="-120"/>
              </a:rPr>
              <a:t>1</a:t>
            </a:r>
            <a:endParaRPr lang="en-US" sz="2000" dirty="0"/>
          </a:p>
        </p:txBody>
      </p:sp>
      <p:sp>
        <p:nvSpPr>
          <p:cNvPr id="9" name="Text 7"/>
          <p:cNvSpPr txBox="1"/>
          <p:nvPr/>
        </p:nvSpPr>
        <p:spPr>
          <a:xfrm>
            <a:off x="1298448" y="1938528"/>
            <a:ext cx="4023360" cy="457200"/>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home page</a:t>
            </a:r>
            <a:endParaRPr lang="en-US" sz="1300" dirty="0"/>
          </a:p>
        </p:txBody>
      </p:sp>
      <p:sp>
        <p:nvSpPr>
          <p:cNvPr id="10" name="Text 8"/>
          <p:cNvSpPr txBox="1"/>
          <p:nvPr/>
        </p:nvSpPr>
        <p:spPr>
          <a:xfrm>
            <a:off x="5413248" y="1938528"/>
            <a:ext cx="3840480" cy="457200"/>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Option B, with Option A kept</a:t>
            </a:r>
            <a:endParaRPr lang="en-US" sz="1300" dirty="0"/>
          </a:p>
        </p:txBody>
      </p:sp>
      <p:sp>
        <p:nvSpPr>
          <p:cNvPr id="11" name="Text 9"/>
          <p:cNvSpPr txBox="1"/>
          <p:nvPr/>
        </p:nvSpPr>
        <p:spPr>
          <a:xfrm>
            <a:off x="9345168" y="1938528"/>
            <a:ext cx="2194560" cy="457200"/>
          </a:xfrm>
          <a:prstGeom prst="rect">
            <a:avLst/>
          </a:prstGeom>
          <a:noFill/>
          <a:ln/>
        </p:spPr>
        <p:txBody>
          <a:bodyPr wrap="square" lIns="0" tIns="0" rIns="0" bIns="0" rtlCol="0" anchor="ctr"/>
          <a:lstStyle/>
          <a:p>
            <a:pPr indent="0" marL="0">
              <a:lnSpc>
                <a:spcPct val="112000"/>
              </a:lnSpc>
              <a:buNone/>
            </a:pPr>
            <a:r>
              <a:rPr lang="en-US" sz="1050" dirty="0">
                <a:solidFill>
                  <a:srgbClr val="C0DBFF"/>
                </a:solidFill>
                <a:latin typeface="Noto Sans" pitchFamily="34" charset="0"/>
                <a:ea typeface="Noto Sans" pitchFamily="34" charset="-122"/>
                <a:cs typeface="Noto Sans" pitchFamily="34" charset="-120"/>
              </a:rPr>
              <a:t>It answers the question a citizen arrives with; A still serves the visitor who recognises a picture</a:t>
            </a:r>
            <a:endParaRPr lang="en-US" sz="1050" dirty="0"/>
          </a:p>
        </p:txBody>
      </p:sp>
      <p:sp>
        <p:nvSpPr>
          <p:cNvPr id="12" name="Shape 10"/>
          <p:cNvSpPr/>
          <p:nvPr/>
        </p:nvSpPr>
        <p:spPr>
          <a:xfrm>
            <a:off x="658368" y="2505456"/>
            <a:ext cx="10874959" cy="0"/>
          </a:xfrm>
          <a:prstGeom prst="line">
            <a:avLst/>
          </a:prstGeom>
          <a:noFill/>
          <a:ln w="12700">
            <a:solidFill>
              <a:srgbClr val="004B96"/>
            </a:solidFill>
            <a:prstDash val="solid"/>
          </a:ln>
        </p:spPr>
      </p:sp>
      <p:sp>
        <p:nvSpPr>
          <p:cNvPr id="13" name="Text 11"/>
          <p:cNvSpPr txBox="1"/>
          <p:nvPr/>
        </p:nvSpPr>
        <p:spPr>
          <a:xfrm>
            <a:off x="658368" y="2670048"/>
            <a:ext cx="548640" cy="347472"/>
          </a:xfrm>
          <a:prstGeom prst="rect">
            <a:avLst/>
          </a:prstGeom>
          <a:noFill/>
          <a:ln/>
        </p:spPr>
        <p:txBody>
          <a:bodyPr wrap="square" lIns="0" tIns="0" rIns="0" bIns="0" rtlCol="0" anchor="ctr"/>
          <a:lstStyle/>
          <a:p>
            <a:pPr indent="0" marL="0">
              <a:buNone/>
            </a:pPr>
            <a:r>
              <a:rPr lang="en-US" sz="2000" b="1" dirty="0">
                <a:solidFill>
                  <a:srgbClr val="92C2FF"/>
                </a:solidFill>
                <a:latin typeface="Noto Sans" pitchFamily="34" charset="0"/>
                <a:ea typeface="Noto Sans" pitchFamily="34" charset="-122"/>
                <a:cs typeface="Noto Sans" pitchFamily="34" charset="-120"/>
              </a:rPr>
              <a:t>2</a:t>
            </a:r>
            <a:endParaRPr lang="en-US" sz="2000" dirty="0"/>
          </a:p>
        </p:txBody>
      </p:sp>
      <p:sp>
        <p:nvSpPr>
          <p:cNvPr id="14" name="Text 12"/>
          <p:cNvSpPr txBox="1"/>
          <p:nvPr/>
        </p:nvSpPr>
        <p:spPr>
          <a:xfrm>
            <a:off x="1298448" y="2688336"/>
            <a:ext cx="4023360" cy="457200"/>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Schemes page</a:t>
            </a:r>
            <a:endParaRPr lang="en-US" sz="1300" dirty="0"/>
          </a:p>
        </p:txBody>
      </p:sp>
      <p:sp>
        <p:nvSpPr>
          <p:cNvPr id="15" name="Text 13"/>
          <p:cNvSpPr txBox="1"/>
          <p:nvPr/>
        </p:nvSpPr>
        <p:spPr>
          <a:xfrm>
            <a:off x="5413248" y="2688336"/>
            <a:ext cx="3840480" cy="457200"/>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Option B — filter panel with a table</a:t>
            </a:r>
            <a:endParaRPr lang="en-US" sz="1300" dirty="0"/>
          </a:p>
        </p:txBody>
      </p:sp>
      <p:sp>
        <p:nvSpPr>
          <p:cNvPr id="16" name="Text 14"/>
          <p:cNvSpPr txBox="1"/>
          <p:nvPr/>
        </p:nvSpPr>
        <p:spPr>
          <a:xfrm>
            <a:off x="9345168" y="2688336"/>
            <a:ext cx="2194560" cy="457200"/>
          </a:xfrm>
          <a:prstGeom prst="rect">
            <a:avLst/>
          </a:prstGeom>
          <a:noFill/>
          <a:ln/>
        </p:spPr>
        <p:txBody>
          <a:bodyPr wrap="square" lIns="0" tIns="0" rIns="0" bIns="0" rtlCol="0" anchor="ctr"/>
          <a:lstStyle/>
          <a:p>
            <a:pPr indent="0" marL="0">
              <a:lnSpc>
                <a:spcPct val="112000"/>
              </a:lnSpc>
              <a:buNone/>
            </a:pPr>
            <a:r>
              <a:rPr lang="en-US" sz="1050" dirty="0">
                <a:solidFill>
                  <a:srgbClr val="C0DBFF"/>
                </a:solidFill>
                <a:latin typeface="Noto Sans" pitchFamily="34" charset="0"/>
                <a:ea typeface="Noto Sans" pitchFamily="34" charset="-122"/>
                <a:cs typeface="Noto Sans" pitchFamily="34" charset="-120"/>
              </a:rPr>
              <a:t>This is the page where people compare, and a table can carry whom a scheme names</a:t>
            </a:r>
            <a:endParaRPr lang="en-US" sz="1050" dirty="0"/>
          </a:p>
        </p:txBody>
      </p:sp>
      <p:sp>
        <p:nvSpPr>
          <p:cNvPr id="17" name="Shape 15"/>
          <p:cNvSpPr/>
          <p:nvPr/>
        </p:nvSpPr>
        <p:spPr>
          <a:xfrm>
            <a:off x="658368" y="3255264"/>
            <a:ext cx="10874959" cy="0"/>
          </a:xfrm>
          <a:prstGeom prst="line">
            <a:avLst/>
          </a:prstGeom>
          <a:noFill/>
          <a:ln w="12700">
            <a:solidFill>
              <a:srgbClr val="004B96"/>
            </a:solidFill>
            <a:prstDash val="solid"/>
          </a:ln>
        </p:spPr>
      </p:sp>
      <p:sp>
        <p:nvSpPr>
          <p:cNvPr id="18" name="Text 16"/>
          <p:cNvSpPr txBox="1"/>
          <p:nvPr/>
        </p:nvSpPr>
        <p:spPr>
          <a:xfrm>
            <a:off x="658368" y="3419856"/>
            <a:ext cx="548640" cy="347472"/>
          </a:xfrm>
          <a:prstGeom prst="rect">
            <a:avLst/>
          </a:prstGeom>
          <a:noFill/>
          <a:ln/>
        </p:spPr>
        <p:txBody>
          <a:bodyPr wrap="square" lIns="0" tIns="0" rIns="0" bIns="0" rtlCol="0" anchor="ctr"/>
          <a:lstStyle/>
          <a:p>
            <a:pPr indent="0" marL="0">
              <a:buNone/>
            </a:pPr>
            <a:r>
              <a:rPr lang="en-US" sz="2000" b="1" dirty="0">
                <a:solidFill>
                  <a:srgbClr val="92C2FF"/>
                </a:solidFill>
                <a:latin typeface="Noto Sans" pitchFamily="34" charset="0"/>
                <a:ea typeface="Noto Sans" pitchFamily="34" charset="-122"/>
                <a:cs typeface="Noto Sans" pitchFamily="34" charset="-120"/>
              </a:rPr>
              <a:t>3</a:t>
            </a:r>
            <a:endParaRPr lang="en-US" sz="2000" dirty="0"/>
          </a:p>
        </p:txBody>
      </p:sp>
      <p:sp>
        <p:nvSpPr>
          <p:cNvPr id="19" name="Text 17"/>
          <p:cNvSpPr txBox="1"/>
          <p:nvPr/>
        </p:nvSpPr>
        <p:spPr>
          <a:xfrm>
            <a:off x="1298448" y="3438144"/>
            <a:ext cx="4023360" cy="457200"/>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assistant</a:t>
            </a:r>
            <a:endParaRPr lang="en-US" sz="1300" dirty="0"/>
          </a:p>
        </p:txBody>
      </p:sp>
      <p:sp>
        <p:nvSpPr>
          <p:cNvPr id="20" name="Text 18"/>
          <p:cNvSpPr txBox="1"/>
          <p:nvPr/>
        </p:nvSpPr>
        <p:spPr>
          <a:xfrm>
            <a:off x="5413248" y="3438144"/>
            <a:ext cx="3840480" cy="457200"/>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Yes — the same two questions, in chat</a:t>
            </a:r>
            <a:endParaRPr lang="en-US" sz="1300" dirty="0"/>
          </a:p>
        </p:txBody>
      </p:sp>
      <p:sp>
        <p:nvSpPr>
          <p:cNvPr id="21" name="Text 19"/>
          <p:cNvSpPr txBox="1"/>
          <p:nvPr/>
        </p:nvSpPr>
        <p:spPr>
          <a:xfrm>
            <a:off x="9345168" y="3438144"/>
            <a:ext cx="2194560" cy="457200"/>
          </a:xfrm>
          <a:prstGeom prst="rect">
            <a:avLst/>
          </a:prstGeom>
          <a:noFill/>
          <a:ln/>
        </p:spPr>
        <p:txBody>
          <a:bodyPr wrap="square" lIns="0" tIns="0" rIns="0" bIns="0" rtlCol="0" anchor="ctr"/>
          <a:lstStyle/>
          <a:p>
            <a:pPr indent="0" marL="0">
              <a:lnSpc>
                <a:spcPct val="112000"/>
              </a:lnSpc>
              <a:buNone/>
            </a:pPr>
            <a:r>
              <a:rPr lang="en-US" sz="1050" dirty="0">
                <a:solidFill>
                  <a:srgbClr val="C0DBFF"/>
                </a:solidFill>
                <a:latin typeface="Noto Sans" pitchFamily="34" charset="0"/>
                <a:ea typeface="Noto Sans" pitchFamily="34" charset="-122"/>
                <a:cs typeface="Noto Sans" pitchFamily="34" charset="-120"/>
              </a:rPr>
              <a:t>It reaches the person already lost on a page, and is largely built</a:t>
            </a:r>
            <a:endParaRPr lang="en-US" sz="1050" dirty="0"/>
          </a:p>
        </p:txBody>
      </p:sp>
      <p:sp>
        <p:nvSpPr>
          <p:cNvPr id="22" name="Shape 20"/>
          <p:cNvSpPr/>
          <p:nvPr/>
        </p:nvSpPr>
        <p:spPr>
          <a:xfrm>
            <a:off x="658368" y="4005072"/>
            <a:ext cx="10874959" cy="0"/>
          </a:xfrm>
          <a:prstGeom prst="line">
            <a:avLst/>
          </a:prstGeom>
          <a:noFill/>
          <a:ln w="12700">
            <a:solidFill>
              <a:srgbClr val="004B96"/>
            </a:solidFill>
            <a:prstDash val="solid"/>
          </a:ln>
        </p:spPr>
      </p:sp>
      <p:sp>
        <p:nvSpPr>
          <p:cNvPr id="23" name="Shape 21"/>
          <p:cNvSpPr/>
          <p:nvPr/>
        </p:nvSpPr>
        <p:spPr>
          <a:xfrm>
            <a:off x="658368" y="4480560"/>
            <a:ext cx="10874959" cy="914400"/>
          </a:xfrm>
          <a:prstGeom prst="rect">
            <a:avLst/>
          </a:prstGeom>
          <a:solidFill>
            <a:srgbClr val="004B96"/>
          </a:solidFill>
          <a:ln w="12700">
            <a:solidFill>
              <a:srgbClr val="004B96"/>
            </a:solidFill>
            <a:prstDash val="solid"/>
          </a:ln>
        </p:spPr>
      </p:sp>
      <p:sp>
        <p:nvSpPr>
          <p:cNvPr id="24" name="Text 22"/>
          <p:cNvSpPr txBox="1"/>
          <p:nvPr/>
        </p:nvSpPr>
        <p:spPr>
          <a:xfrm>
            <a:off x="969264" y="4626864"/>
            <a:ext cx="10253167" cy="292608"/>
          </a:xfrm>
          <a:prstGeom prst="rect">
            <a:avLst/>
          </a:prstGeom>
          <a:noFill/>
          <a:ln/>
        </p:spPr>
        <p:txBody>
          <a:bodyPr wrap="square" lIns="0" tIns="0" rIns="0" bIns="0" rtlCol="0" anchor="ctr"/>
          <a:lstStyle/>
          <a:p>
            <a:pPr indent="0" marL="0">
              <a:buNone/>
            </a:pPr>
            <a:r>
              <a:rPr lang="en-US" sz="1600" b="1" dirty="0">
                <a:solidFill>
                  <a:srgbClr val="FFFFFF"/>
                </a:solidFill>
                <a:latin typeface="Noto Sans" pitchFamily="34" charset="0"/>
                <a:ea typeface="Noto Sans" pitchFamily="34" charset="-122"/>
                <a:cs typeface="Noto Sans" pitchFamily="34" charset="-120"/>
              </a:rPr>
              <a:t>The three parts are independent. Any combination of these options can be taken.</a:t>
            </a:r>
            <a:endParaRPr lang="en-US" sz="1600" dirty="0"/>
          </a:p>
        </p:txBody>
      </p:sp>
      <p:sp>
        <p:nvSpPr>
          <p:cNvPr id="25" name="Text 23"/>
          <p:cNvSpPr txBox="1"/>
          <p:nvPr/>
        </p:nvSpPr>
        <p:spPr>
          <a:xfrm>
            <a:off x="969264" y="4956048"/>
            <a:ext cx="10253167" cy="292608"/>
          </a:xfrm>
          <a:prstGeom prst="rect">
            <a:avLst/>
          </a:prstGeom>
          <a:noFill/>
          <a:ln/>
        </p:spPr>
        <p:txBody>
          <a:bodyPr wrap="square" lIns="0" tIns="0" rIns="0" bIns="0" rtlCol="0" anchor="ctr"/>
          <a:lstStyle/>
          <a:p>
            <a:pPr indent="0" marL="0">
              <a:buNone/>
            </a:pPr>
            <a:r>
              <a:rPr lang="en-US" sz="1150" dirty="0">
                <a:solidFill>
                  <a:srgbClr val="C0DBFF"/>
                </a:solidFill>
                <a:latin typeface="Noto Sans" pitchFamily="34" charset="0"/>
                <a:ea typeface="Noto Sans" pitchFamily="34" charset="-122"/>
                <a:cs typeface="Noto Sans" pitchFamily="34" charset="-120"/>
              </a:rPr>
              <a:t>Whichever is taken, the preparatory work on page 11 comes first: the two masters, the tagging, and the development estimate.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2026-09-08T18:36:25Z</dcterms:created>
  <dcterms:modified xsi:type="dcterms:W3CDTF">2026-09-08T18:36:25Z</dcterms:modified>
</cp:coreProperties>
</file>