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layout with the filter panel: tick one or more groups, and the table on the right says what each scheme gives and who it is for, ten rows a page, no counts. This is for comparing and deciding.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EXPLORE USER PERSONAS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A of 3</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89704"/>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Already on the site, so nothing new to build</a:t>
            </a:r>
            <a:endParaRPr lang="en-US" sz="120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TWO QUESTIONS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three schemes, each with a link to its own page</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TAP</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85232"/>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Every group on screen at once, then cards. For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6370168"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Tick one or more groups on the left; the table says who each scheme is for. For comparing.</a:t>
            </a:r>
            <a:endParaRPr lang="en-US" sz="1200" dirty="0"/>
          </a:p>
        </p:txBody>
      </p:sp>
      <p:sp>
        <p:nvSpPr>
          <p:cNvPr id="19" name="Text 15"/>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No count is shown on either.</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CARDS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A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Transgender Persons,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picture for every group, so you spot yours at a glance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A TABLE</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B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ticked, then Students added, then one removed, then Reset.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panel of the groups on the left, where more than one can be ticked, and a table on the right.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Tick one or more groups; the chosen ones show above the table</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says what each scheme gives and who it is for</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groups can be compared in one list</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group that would leave nothing is greyed, never counted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Assistant · Samajik Sahayak</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Six Options, Three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Every option starts from who you are. Each part is decided on its own.</a:t>
            </a:r>
            <a:endParaRPr lang="en-US" sz="1400" dirty="0"/>
          </a:p>
        </p:txBody>
      </p:sp>
      <p:sp>
        <p:nvSpPr>
          <p:cNvPr id="5" name="Shape 3"/>
          <p:cNvSpPr/>
          <p:nvPr/>
        </p:nvSpPr>
        <p:spPr>
          <a:xfrm>
            <a:off x="731520" y="2212848"/>
            <a:ext cx="10728655" cy="0"/>
          </a:xfrm>
          <a:prstGeom prst="line">
            <a:avLst/>
          </a:prstGeom>
          <a:noFill/>
          <a:ln w="12700">
            <a:solidFill>
              <a:srgbClr val="004B96"/>
            </a:solidFill>
            <a:prstDash val="solid"/>
          </a:ln>
        </p:spPr>
      </p:sp>
      <p:sp>
        <p:nvSpPr>
          <p:cNvPr id="6" name="Text 4"/>
          <p:cNvSpPr txBox="1"/>
          <p:nvPr/>
        </p:nvSpPr>
        <p:spPr>
          <a:xfrm>
            <a:off x="731520" y="232257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home page</a:t>
            </a:r>
            <a:endParaRPr lang="en-US" sz="1400" dirty="0"/>
          </a:p>
        </p:txBody>
      </p:sp>
      <p:sp>
        <p:nvSpPr>
          <p:cNvPr id="7" name="Text 5"/>
          <p:cNvSpPr txBox="1"/>
          <p:nvPr/>
        </p:nvSpPr>
        <p:spPr>
          <a:xfrm>
            <a:off x="3566160" y="2322576"/>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Explore User Personas</a:t>
            </a:r>
            <a:endParaRPr lang="en-US" sz="1500" dirty="0"/>
          </a:p>
        </p:txBody>
      </p:sp>
      <p:sp>
        <p:nvSpPr>
          <p:cNvPr id="8" name="Text 6"/>
          <p:cNvSpPr txBox="1"/>
          <p:nvPr/>
        </p:nvSpPr>
        <p:spPr>
          <a:xfrm>
            <a:off x="7680960" y="2340864"/>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On the site today. One group at a time.</a:t>
            </a:r>
            <a:endParaRPr lang="en-US" sz="1200" dirty="0"/>
          </a:p>
        </p:txBody>
      </p:sp>
      <p:sp>
        <p:nvSpPr>
          <p:cNvPr id="9" name="Text 7"/>
          <p:cNvSpPr txBox="1"/>
          <p:nvPr/>
        </p:nvSpPr>
        <p:spPr>
          <a:xfrm>
            <a:off x="731520" y="2834640"/>
            <a:ext cx="2743200" cy="365760"/>
          </a:xfrm>
          <a:prstGeom prst="rect">
            <a:avLst/>
          </a:prstGeom>
          <a:noFill/>
          <a:ln/>
        </p:spPr>
        <p:txBody>
          <a:bodyPr wrap="square" lIns="0" tIns="0" rIns="0" bIns="0" rtlCol="0" anchor="ctr"/>
          <a:lstStyle/>
          <a:p>
            <a:pPr indent="0" marL="0">
              <a:buNone/>
            </a:pPr>
            <a:endParaRPr lang="en-US" sz="1400" dirty="0"/>
          </a:p>
        </p:txBody>
      </p:sp>
      <p:sp>
        <p:nvSpPr>
          <p:cNvPr id="10" name="Text 8"/>
          <p:cNvSpPr txBox="1"/>
          <p:nvPr/>
        </p:nvSpPr>
        <p:spPr>
          <a:xfrm>
            <a:off x="3566160" y="2834640"/>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Two Questions</a:t>
            </a:r>
            <a:endParaRPr lang="en-US" sz="1500" dirty="0"/>
          </a:p>
        </p:txBody>
      </p:sp>
      <p:sp>
        <p:nvSpPr>
          <p:cNvPr id="11" name="Text 9"/>
          <p:cNvSpPr txBox="1"/>
          <p:nvPr/>
        </p:nvSpPr>
        <p:spPr>
          <a:xfrm>
            <a:off x="7680960" y="2852928"/>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Who you are, then what you need. Three schemes and a link to all of them.</a:t>
            </a:r>
            <a:endParaRPr lang="en-US" sz="1200" dirty="0"/>
          </a:p>
        </p:txBody>
      </p:sp>
      <p:sp>
        <p:nvSpPr>
          <p:cNvPr id="12" name="Text 10"/>
          <p:cNvSpPr txBox="1"/>
          <p:nvPr/>
        </p:nvSpPr>
        <p:spPr>
          <a:xfrm>
            <a:off x="731520" y="3346704"/>
            <a:ext cx="2743200" cy="365760"/>
          </a:xfrm>
          <a:prstGeom prst="rect">
            <a:avLst/>
          </a:prstGeom>
          <a:noFill/>
          <a:ln/>
        </p:spPr>
        <p:txBody>
          <a:bodyPr wrap="square" lIns="0" tIns="0" rIns="0" bIns="0" rtlCol="0" anchor="ctr"/>
          <a:lstStyle/>
          <a:p>
            <a:pPr indent="0" marL="0">
              <a:buNone/>
            </a:pPr>
            <a:endParaRPr lang="en-US" sz="1400" dirty="0"/>
          </a:p>
        </p:txBody>
      </p:sp>
      <p:sp>
        <p:nvSpPr>
          <p:cNvPr id="13" name="Text 11"/>
          <p:cNvSpPr txBox="1"/>
          <p:nvPr/>
        </p:nvSpPr>
        <p:spPr>
          <a:xfrm>
            <a:off x="3566160" y="3346704"/>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C · One Tap</a:t>
            </a:r>
            <a:endParaRPr lang="en-US" sz="1500" dirty="0"/>
          </a:p>
        </p:txBody>
      </p:sp>
      <p:sp>
        <p:nvSpPr>
          <p:cNvPr id="14" name="Text 12"/>
          <p:cNvSpPr txBox="1"/>
          <p:nvPr/>
        </p:nvSpPr>
        <p:spPr>
          <a:xfrm>
            <a:off x="7680960" y="3364992"/>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Pick your group. Its portal first, then its schemes.</a:t>
            </a:r>
            <a:endParaRPr lang="en-US" sz="1200" dirty="0"/>
          </a:p>
        </p:txBody>
      </p:sp>
      <p:sp>
        <p:nvSpPr>
          <p:cNvPr id="15" name="Shape 13"/>
          <p:cNvSpPr/>
          <p:nvPr/>
        </p:nvSpPr>
        <p:spPr>
          <a:xfrm>
            <a:off x="731520" y="3749040"/>
            <a:ext cx="10728655" cy="0"/>
          </a:xfrm>
          <a:prstGeom prst="line">
            <a:avLst/>
          </a:prstGeom>
          <a:noFill/>
          <a:ln w="12700">
            <a:solidFill>
              <a:srgbClr val="004B96"/>
            </a:solidFill>
            <a:prstDash val="solid"/>
          </a:ln>
        </p:spPr>
      </p:sp>
      <p:sp>
        <p:nvSpPr>
          <p:cNvPr id="16" name="Text 14"/>
          <p:cNvSpPr txBox="1"/>
          <p:nvPr/>
        </p:nvSpPr>
        <p:spPr>
          <a:xfrm>
            <a:off x="731520" y="3858768"/>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Schemes page</a:t>
            </a:r>
            <a:endParaRPr lang="en-US" sz="1400" dirty="0"/>
          </a:p>
        </p:txBody>
      </p:sp>
      <p:sp>
        <p:nvSpPr>
          <p:cNvPr id="17" name="Text 15"/>
          <p:cNvSpPr txBox="1"/>
          <p:nvPr/>
        </p:nvSpPr>
        <p:spPr>
          <a:xfrm>
            <a:off x="3566160" y="3858768"/>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Pictures of the Groups, with Cards</a:t>
            </a:r>
            <a:endParaRPr lang="en-US" sz="1500" dirty="0"/>
          </a:p>
        </p:txBody>
      </p:sp>
      <p:sp>
        <p:nvSpPr>
          <p:cNvPr id="18" name="Text 16"/>
          <p:cNvSpPr txBox="1"/>
          <p:nvPr/>
        </p:nvSpPr>
        <p:spPr>
          <a:xfrm>
            <a:off x="7680960" y="3877056"/>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Every group in one row, then cards. For browsing.</a:t>
            </a:r>
            <a:endParaRPr lang="en-US" sz="1200" dirty="0"/>
          </a:p>
        </p:txBody>
      </p:sp>
      <p:sp>
        <p:nvSpPr>
          <p:cNvPr id="19" name="Text 17"/>
          <p:cNvSpPr txBox="1"/>
          <p:nvPr/>
        </p:nvSpPr>
        <p:spPr>
          <a:xfrm>
            <a:off x="731520" y="4370832"/>
            <a:ext cx="2743200" cy="365760"/>
          </a:xfrm>
          <a:prstGeom prst="rect">
            <a:avLst/>
          </a:prstGeom>
          <a:noFill/>
          <a:ln/>
        </p:spPr>
        <p:txBody>
          <a:bodyPr wrap="square" lIns="0" tIns="0" rIns="0" bIns="0" rtlCol="0" anchor="ctr"/>
          <a:lstStyle/>
          <a:p>
            <a:pPr indent="0" marL="0">
              <a:buNone/>
            </a:pPr>
            <a:endParaRPr lang="en-US" sz="1400" dirty="0"/>
          </a:p>
        </p:txBody>
      </p:sp>
      <p:sp>
        <p:nvSpPr>
          <p:cNvPr id="20" name="Text 18"/>
          <p:cNvSpPr txBox="1"/>
          <p:nvPr/>
        </p:nvSpPr>
        <p:spPr>
          <a:xfrm>
            <a:off x="3566160" y="4370832"/>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Filter Panel with a Table</a:t>
            </a:r>
            <a:endParaRPr lang="en-US" sz="1500" dirty="0"/>
          </a:p>
        </p:txBody>
      </p:sp>
      <p:sp>
        <p:nvSpPr>
          <p:cNvPr id="21" name="Text 19"/>
          <p:cNvSpPr txBox="1"/>
          <p:nvPr/>
        </p:nvSpPr>
        <p:spPr>
          <a:xfrm>
            <a:off x="7680960" y="4389120"/>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Tick groups on the left, table on the right. For comparing.</a:t>
            </a:r>
            <a:endParaRPr lang="en-US" sz="1200" dirty="0"/>
          </a:p>
        </p:txBody>
      </p:sp>
      <p:sp>
        <p:nvSpPr>
          <p:cNvPr id="22" name="Shape 20"/>
          <p:cNvSpPr/>
          <p:nvPr/>
        </p:nvSpPr>
        <p:spPr>
          <a:xfrm>
            <a:off x="731520" y="4773168"/>
            <a:ext cx="10728655" cy="0"/>
          </a:xfrm>
          <a:prstGeom prst="line">
            <a:avLst/>
          </a:prstGeom>
          <a:noFill/>
          <a:ln w="12700">
            <a:solidFill>
              <a:srgbClr val="004B96"/>
            </a:solidFill>
            <a:prstDash val="solid"/>
          </a:ln>
        </p:spPr>
      </p:sp>
      <p:sp>
        <p:nvSpPr>
          <p:cNvPr id="23" name="Text 21"/>
          <p:cNvSpPr txBox="1"/>
          <p:nvPr/>
        </p:nvSpPr>
        <p:spPr>
          <a:xfrm>
            <a:off x="731520" y="488289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assistant</a:t>
            </a:r>
            <a:endParaRPr lang="en-US" sz="1400" dirty="0"/>
          </a:p>
        </p:txBody>
      </p:sp>
      <p:sp>
        <p:nvSpPr>
          <p:cNvPr id="24" name="Text 22"/>
          <p:cNvSpPr txBox="1"/>
          <p:nvPr/>
        </p:nvSpPr>
        <p:spPr>
          <a:xfrm>
            <a:off x="3566160" y="4882896"/>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Samajik Sahayak</a:t>
            </a:r>
            <a:endParaRPr lang="en-US" sz="1500" dirty="0"/>
          </a:p>
        </p:txBody>
      </p:sp>
      <p:sp>
        <p:nvSpPr>
          <p:cNvPr id="25" name="Text 23"/>
          <p:cNvSpPr txBox="1"/>
          <p:nvPr/>
        </p:nvSpPr>
        <p:spPr>
          <a:xfrm>
            <a:off x="7680960" y="4901184"/>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The same two questions, in the chat window on every page.</a:t>
            </a:r>
            <a:endParaRPr lang="en-US" sz="1200" dirty="0"/>
          </a:p>
        </p:txBody>
      </p:sp>
      <p:sp>
        <p:nvSpPr>
          <p:cNvPr id="26" name="Shape 24"/>
          <p:cNvSpPr/>
          <p:nvPr/>
        </p:nvSpPr>
        <p:spPr>
          <a:xfrm>
            <a:off x="731520" y="5285232"/>
            <a:ext cx="10728655" cy="0"/>
          </a:xfrm>
          <a:prstGeom prst="line">
            <a:avLst/>
          </a:prstGeom>
          <a:noFill/>
          <a:ln w="12700">
            <a:solidFill>
              <a:srgbClr val="004B96"/>
            </a:solidFill>
            <a:prstDash val="solid"/>
          </a:ln>
        </p:spPr>
      </p:sp>
      <p:sp>
        <p:nvSpPr>
          <p:cNvPr id="27" name="Text 25"/>
          <p:cNvSpPr txBox="1"/>
          <p:nvPr/>
        </p:nvSpPr>
        <p:spPr>
          <a:xfrm>
            <a:off x="731520" y="5577840"/>
            <a:ext cx="10728655" cy="457200"/>
          </a:xfrm>
          <a:prstGeom prst="rect">
            <a:avLst/>
          </a:prstGeom>
          <a:noFill/>
          <a:ln/>
        </p:spPr>
        <p:txBody>
          <a:bodyPr wrap="square" lIns="0" tIns="0" rIns="0" bIns="0" rtlCol="0" anchor="ctr"/>
          <a:lstStyle/>
          <a:p>
            <a:pPr indent="0" marL="0">
              <a:lnSpc>
                <a:spcPct val="120000"/>
              </a:lnSpc>
              <a:buNone/>
            </a:pPr>
            <a:r>
              <a:rPr lang="en-US" sz="1250" dirty="0">
                <a:solidFill>
                  <a:srgbClr val="C0DB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2026-09-09T07:37:56Z</dcterms:created>
  <dcterms:modified xsi:type="dcterms:W3CDTF">2026-09-09T07:37:56Z</dcterms:modified>
</cp:coreProperties>
</file>