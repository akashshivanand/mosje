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beneath the hero. C serves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persona at a time, moved with arrows. The persona list is the same eleven the other options use, in the same order. A citizen looks at the pictures, sees one that matches, and taps through to the Schemes page filtered to that persona. Today choosing a persona filters nothing — that is fixed in every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 who is looking for support, and what kind of support — over the Department's own list of schemes. The second may be skipped, which widens the list. A citizen answers and is shown the schemes that name them, each with what it provides, whom it names and the place to apply. The tagging is done for the Department's own schemes and is to be confirmed by each division.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lists the schemes that name that group, headed by what they provide, with the place to apply beside each and a link to the scheme's page. Nobody answers anything. The cost is length for the larger groups.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persona visible at once as a row of marks, then what it provides as a row of chips, above a card for each scheme. Two filters and no third; cards are paged so the page keeps its height. This is browsing.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Filters down the left on the same two axes; a table on the right showing what each scheme provides, whom it names and its type. Ten rows a page. This is deciding — the page where people compare, and a table can carry what a card cannot.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states plainly that it cannot decide or change an application.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page the review asked for. The two lists and the tagged records exist and are with the divisions to confirm. The estimate for re-tagging the catalogue is asked of the development team before any option is scheduled. Two questions are open and recorded: whether Victims of Atrocities and Persons Engaged in Begging are acceptable public wording, and NSFDC's income ceiling, which two of the Department's own pages state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commitments that hold whatever is chosen. A citizen who acts on a wrong assurance from a government website bears a real cost, and the Department bears the complaint — so nothing here decides a case, nothing is collected, and no number leaves a design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parts are decided separately. If only one is settled today, the Schemes page is the one that changes most for the most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asks these two things, and nothing else.</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
        <p:nvSpPr>
          <p:cNvPr id="29" name="Text 27"/>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The first eight are the groups the Department's mandate names (Annual Report 2025-26, §1.2); the last three are groups its schemes name. Every scheme is a record in the Annual Report 2025-26 or the Demand for Grants 2026-27, tagged on both.</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page today. B or C takes the section beneath the hero, where Our Offerings sits.</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1751533"/>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1696669"/>
          </a:xfrm>
          <a:prstGeom prst="rect">
            <a:avLst/>
          </a:prstGeom>
        </p:spPr>
      </p:pic>
      <p:sp>
        <p:nvSpPr>
          <p:cNvPr id="9" name="Shape 6"/>
          <p:cNvSpPr/>
          <p:nvPr/>
        </p:nvSpPr>
        <p:spPr>
          <a:xfrm>
            <a:off x="731520" y="4147261"/>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147261"/>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494733"/>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persona at a time. Kept, in the mandate's order.</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1065276" cy="246888"/>
          </a:xfrm>
          <a:prstGeom prst="roundRect">
            <a:avLst>
              <a:gd name="adj" fmla="val 50000"/>
            </a:avLst>
          </a:prstGeom>
          <a:solidFill>
            <a:srgbClr val="005EB9"/>
          </a:solidFill>
          <a:ln w="12700">
            <a:solidFill>
              <a:srgbClr val="005EB9"/>
            </a:solidFill>
            <a:prstDash val="solid"/>
          </a:ln>
        </p:spPr>
      </p:sp>
      <p:sp>
        <p:nvSpPr>
          <p:cNvPr id="17" name="Text 13"/>
          <p:cNvSpPr txBox="1"/>
          <p:nvPr/>
        </p:nvSpPr>
        <p:spPr>
          <a:xfrm>
            <a:off x="4399178" y="4571429"/>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is looking for support, then what kind. Ends at the place to apply.</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127101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127101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COMPANION TO B</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row of the groups. One tap lists what the Department provides for that group.</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replace Our Offerings rather than lengthening the page. Either can be approved.</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A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Explore User Personas</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330098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3246120"/>
          </a:xfrm>
          <a:prstGeom prst="rect">
            <a:avLst/>
          </a:prstGeom>
        </p:spPr>
      </p:pic>
      <p:sp>
        <p:nvSpPr>
          <p:cNvPr id="8" name="Text 5"/>
          <p:cNvSpPr txBox="1"/>
          <p:nvPr/>
        </p:nvSpPr>
        <p:spPr>
          <a:xfrm>
            <a:off x="731520" y="515721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stands on the site today, in the mandate's order.</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IN ITS FAVOUR</a:t>
            </a:r>
            <a:endParaRPr lang="en-US" sz="950" dirty="0"/>
          </a:p>
        </p:txBody>
      </p:sp>
      <p:sp>
        <p:nvSpPr>
          <p:cNvPr id="10" name="Shape 7"/>
          <p:cNvSpPr/>
          <p:nvPr/>
        </p:nvSpPr>
        <p:spPr>
          <a:xfrm>
            <a:off x="7680960" y="2121408"/>
            <a:ext cx="54864" cy="54864"/>
          </a:xfrm>
          <a:prstGeom prst="rect">
            <a:avLst/>
          </a:prstGeom>
          <a:solidFill>
            <a:srgbClr val="005EB9"/>
          </a:solidFill>
          <a:ln w="12700">
            <a:solidFill>
              <a:srgbClr val="005EB9"/>
            </a:solidFill>
            <a:prstDash val="solid"/>
          </a:ln>
        </p:spPr>
      </p:sp>
      <p:sp>
        <p:nvSpPr>
          <p:cNvPr id="11" name="Text 8"/>
          <p:cNvSpPr txBox="1"/>
          <p:nvPr/>
        </p:nvSpPr>
        <p:spPr>
          <a:xfrm>
            <a:off x="7863840" y="2057400"/>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on the site, so no extra height</a:t>
            </a:r>
            <a:endParaRPr lang="en-US" sz="1200" dirty="0"/>
          </a:p>
        </p:txBody>
      </p:sp>
      <p:sp>
        <p:nvSpPr>
          <p:cNvPr id="12" name="Shape 9"/>
          <p:cNvSpPr/>
          <p:nvPr/>
        </p:nvSpPr>
        <p:spPr>
          <a:xfrm>
            <a:off x="7680960" y="2423160"/>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35915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cross language</a:t>
            </a:r>
            <a:endParaRPr lang="en-US" sz="1200" dirty="0"/>
          </a:p>
        </p:txBody>
      </p:sp>
      <p:sp>
        <p:nvSpPr>
          <p:cNvPr id="14" name="Shape 11"/>
          <p:cNvSpPr/>
          <p:nvPr/>
        </p:nvSpPr>
        <p:spPr>
          <a:xfrm>
            <a:off x="7680960" y="2724912"/>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266090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Choosing a persona now filters the Schemes page</a:t>
            </a:r>
            <a:endParaRPr lang="en-US" sz="1200" dirty="0"/>
          </a:p>
        </p:txBody>
      </p:sp>
      <p:sp>
        <p:nvSpPr>
          <p:cNvPr id="16" name="Text 13"/>
          <p:cNvSpPr txBox="1"/>
          <p:nvPr/>
        </p:nvSpPr>
        <p:spPr>
          <a:xfrm>
            <a:off x="7680960" y="3355848"/>
            <a:ext cx="3779215" cy="201168"/>
          </a:xfrm>
          <a:prstGeom prst="rect">
            <a:avLst/>
          </a:prstGeom>
          <a:noFill/>
          <a:ln/>
        </p:spPr>
        <p:txBody>
          <a:bodyPr wrap="square" lIns="0" tIns="0" rIns="0" bIns="0" rtlCol="0" anchor="ctr"/>
          <a:lstStyle/>
          <a:p>
            <a:pPr indent="0" marL="0">
              <a:buNone/>
            </a:pPr>
            <a:r>
              <a:rPr lang="en-US" sz="950" b="1" spc="100" kern="0" dirty="0">
                <a:solidFill>
                  <a:srgbClr val="A43A00"/>
                </a:solidFill>
                <a:latin typeface="Noto Sans" pitchFamily="34" charset="0"/>
                <a:ea typeface="Noto Sans" pitchFamily="34" charset="-122"/>
                <a:cs typeface="Noto Sans" pitchFamily="34" charset="-120"/>
              </a:rPr>
              <a:t>AGAINST IT</a:t>
            </a:r>
            <a:endParaRPr lang="en-US" sz="950" dirty="0"/>
          </a:p>
        </p:txBody>
      </p:sp>
      <p:sp>
        <p:nvSpPr>
          <p:cNvPr id="17" name="Shape 14"/>
          <p:cNvSpPr/>
          <p:nvPr/>
        </p:nvSpPr>
        <p:spPr>
          <a:xfrm>
            <a:off x="7680960" y="3694176"/>
            <a:ext cx="54864" cy="54864"/>
          </a:xfrm>
          <a:prstGeom prst="rect">
            <a:avLst/>
          </a:prstGeom>
          <a:solidFill>
            <a:srgbClr val="A43A00"/>
          </a:solidFill>
          <a:ln w="12700">
            <a:solidFill>
              <a:srgbClr val="A43A00"/>
            </a:solidFill>
            <a:prstDash val="solid"/>
          </a:ln>
        </p:spPr>
      </p:sp>
      <p:sp>
        <p:nvSpPr>
          <p:cNvPr id="18" name="Text 15"/>
          <p:cNvSpPr txBox="1"/>
          <p:nvPr/>
        </p:nvSpPr>
        <p:spPr>
          <a:xfrm>
            <a:off x="7863840" y="3630168"/>
            <a:ext cx="3596335" cy="612648"/>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persona at a time; a visitor cannot see whether they are represented without clicking</a:t>
            </a:r>
            <a:endParaRPr lang="en-US" sz="1200" dirty="0"/>
          </a:p>
        </p:txBody>
      </p:sp>
      <p:sp>
        <p:nvSpPr>
          <p:cNvPr id="19" name="Shape 16"/>
          <p:cNvSpPr/>
          <p:nvPr/>
        </p:nvSpPr>
        <p:spPr>
          <a:xfrm>
            <a:off x="7680960" y="4379976"/>
            <a:ext cx="54864" cy="54864"/>
          </a:xfrm>
          <a:prstGeom prst="rect">
            <a:avLst/>
          </a:prstGeom>
          <a:solidFill>
            <a:srgbClr val="A43A00"/>
          </a:solidFill>
          <a:ln w="12700">
            <a:solidFill>
              <a:srgbClr val="A43A00"/>
            </a:solidFill>
            <a:prstDash val="solid"/>
          </a:ln>
        </p:spPr>
      </p:sp>
      <p:sp>
        <p:nvSpPr>
          <p:cNvPr id="20" name="Text 17"/>
          <p:cNvSpPr txBox="1"/>
          <p:nvPr/>
        </p:nvSpPr>
        <p:spPr>
          <a:xfrm>
            <a:off x="7863840" y="4315968"/>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Asks who, never what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B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Questions</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924812" y="1298448"/>
            <a:ext cx="1065276" cy="246888"/>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924812"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10" name="Text 7"/>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11" name="Text 8"/>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IN ITS FAVOUR</a:t>
            </a:r>
            <a:endParaRPr lang="en-US" sz="950" dirty="0"/>
          </a:p>
        </p:txBody>
      </p:sp>
      <p:sp>
        <p:nvSpPr>
          <p:cNvPr id="12" name="Shape 9"/>
          <p:cNvSpPr/>
          <p:nvPr/>
        </p:nvSpPr>
        <p:spPr>
          <a:xfrm>
            <a:off x="7680960" y="21214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0574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the list; nothing is asked for its own sake</a:t>
            </a:r>
            <a:endParaRPr lang="en-US" sz="1200" dirty="0"/>
          </a:p>
        </p:txBody>
      </p:sp>
      <p:sp>
        <p:nvSpPr>
          <p:cNvPr id="14" name="Shape 11"/>
          <p:cNvSpPr/>
          <p:nvPr/>
        </p:nvSpPr>
        <p:spPr>
          <a:xfrm>
            <a:off x="7680960" y="26151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25511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Ends at the place to apply, with the scheme's page beside it</a:t>
            </a:r>
            <a:endParaRPr lang="en-US" sz="1200" dirty="0"/>
          </a:p>
        </p:txBody>
      </p:sp>
      <p:sp>
        <p:nvSpPr>
          <p:cNvPr id="16" name="Shape 13"/>
          <p:cNvSpPr/>
          <p:nvPr/>
        </p:nvSpPr>
        <p:spPr>
          <a:xfrm>
            <a:off x="7680960" y="31089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0449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Built from the design system, over the validated list</a:t>
            </a:r>
            <a:endParaRPr lang="en-US" sz="1200" dirty="0"/>
          </a:p>
        </p:txBody>
      </p:sp>
      <p:sp>
        <p:nvSpPr>
          <p:cNvPr id="18" name="Text 15"/>
          <p:cNvSpPr txBox="1"/>
          <p:nvPr/>
        </p:nvSpPr>
        <p:spPr>
          <a:xfrm>
            <a:off x="7680960" y="3739896"/>
            <a:ext cx="3779215" cy="201168"/>
          </a:xfrm>
          <a:prstGeom prst="rect">
            <a:avLst/>
          </a:prstGeom>
          <a:noFill/>
          <a:ln/>
        </p:spPr>
        <p:txBody>
          <a:bodyPr wrap="square" lIns="0" tIns="0" rIns="0" bIns="0" rtlCol="0" anchor="ctr"/>
          <a:lstStyle/>
          <a:p>
            <a:pPr indent="0" marL="0">
              <a:buNone/>
            </a:pPr>
            <a:r>
              <a:rPr lang="en-US" sz="950" b="1" spc="100" kern="0" dirty="0">
                <a:solidFill>
                  <a:srgbClr val="A43A00"/>
                </a:solidFill>
                <a:latin typeface="Noto Sans" pitchFamily="34" charset="0"/>
                <a:ea typeface="Noto Sans" pitchFamily="34" charset="-122"/>
                <a:cs typeface="Noto Sans" pitchFamily="34" charset="-120"/>
              </a:rPr>
              <a:t>AGAINST IT</a:t>
            </a:r>
            <a:endParaRPr lang="en-US" sz="950" dirty="0"/>
          </a:p>
        </p:txBody>
      </p:sp>
      <p:sp>
        <p:nvSpPr>
          <p:cNvPr id="19" name="Shape 16"/>
          <p:cNvSpPr/>
          <p:nvPr/>
        </p:nvSpPr>
        <p:spPr>
          <a:xfrm>
            <a:off x="7680960" y="4078224"/>
            <a:ext cx="54864" cy="54864"/>
          </a:xfrm>
          <a:prstGeom prst="rect">
            <a:avLst/>
          </a:prstGeom>
          <a:solidFill>
            <a:srgbClr val="A43A00"/>
          </a:solidFill>
          <a:ln w="12700">
            <a:solidFill>
              <a:srgbClr val="A43A00"/>
            </a:solidFill>
            <a:prstDash val="solid"/>
          </a:ln>
        </p:spPr>
      </p:sp>
      <p:sp>
        <p:nvSpPr>
          <p:cNvPr id="20" name="Text 17"/>
          <p:cNvSpPr txBox="1"/>
          <p:nvPr/>
        </p:nvSpPr>
        <p:spPr>
          <a:xfrm>
            <a:off x="7863840" y="40142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scheme must be tagged on both axes before it works</a:t>
            </a:r>
            <a:endParaRPr lang="en-US" sz="1200" dirty="0"/>
          </a:p>
        </p:txBody>
      </p:sp>
      <p:sp>
        <p:nvSpPr>
          <p:cNvPr id="21" name="Shape 18"/>
          <p:cNvSpPr/>
          <p:nvPr/>
        </p:nvSpPr>
        <p:spPr>
          <a:xfrm>
            <a:off x="7680960" y="4572000"/>
            <a:ext cx="54864" cy="54864"/>
          </a:xfrm>
          <a:prstGeom prst="rect">
            <a:avLst/>
          </a:prstGeom>
          <a:solidFill>
            <a:srgbClr val="A43A00"/>
          </a:solidFill>
          <a:ln w="12700">
            <a:solidFill>
              <a:srgbClr val="A43A00"/>
            </a:solidFill>
            <a:prstDash val="solid"/>
          </a:ln>
        </p:spPr>
      </p:sp>
      <p:sp>
        <p:nvSpPr>
          <p:cNvPr id="22" name="Text 19"/>
          <p:cNvSpPr txBox="1"/>
          <p:nvPr/>
        </p:nvSpPr>
        <p:spPr>
          <a:xfrm>
            <a:off x="7863840" y="450799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Takes the Our Offerings slot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C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One Tap</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IN ITS FAVOUR</a:t>
            </a:r>
            <a:endParaRPr lang="en-US" sz="950" dirty="0"/>
          </a:p>
        </p:txBody>
      </p:sp>
      <p:sp>
        <p:nvSpPr>
          <p:cNvPr id="10" name="Shape 7"/>
          <p:cNvSpPr/>
          <p:nvPr/>
        </p:nvSpPr>
        <p:spPr>
          <a:xfrm>
            <a:off x="7680960" y="2121408"/>
            <a:ext cx="54864" cy="54864"/>
          </a:xfrm>
          <a:prstGeom prst="rect">
            <a:avLst/>
          </a:prstGeom>
          <a:solidFill>
            <a:srgbClr val="005EB9"/>
          </a:solidFill>
          <a:ln w="12700">
            <a:solidFill>
              <a:srgbClr val="005EB9"/>
            </a:solidFill>
            <a:prstDash val="solid"/>
          </a:ln>
        </p:spPr>
      </p:sp>
      <p:sp>
        <p:nvSpPr>
          <p:cNvPr id="11" name="Text 8"/>
          <p:cNvSpPr txBox="1"/>
          <p:nvPr/>
        </p:nvSpPr>
        <p:spPr>
          <a:xfrm>
            <a:off x="7863840" y="2057400"/>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no questions</a:t>
            </a:r>
            <a:endParaRPr lang="en-US" sz="1200" dirty="0"/>
          </a:p>
        </p:txBody>
      </p:sp>
      <p:sp>
        <p:nvSpPr>
          <p:cNvPr id="12" name="Shape 9"/>
          <p:cNvSpPr/>
          <p:nvPr/>
        </p:nvSpPr>
        <p:spPr>
          <a:xfrm>
            <a:off x="7680960" y="2423160"/>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3591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two axes as B, with the second unasked</a:t>
            </a:r>
            <a:endParaRPr lang="en-US" sz="1200" dirty="0"/>
          </a:p>
        </p:txBody>
      </p:sp>
      <p:sp>
        <p:nvSpPr>
          <p:cNvPr id="14" name="Shape 11"/>
          <p:cNvSpPr/>
          <p:nvPr/>
        </p:nvSpPr>
        <p:spPr>
          <a:xfrm>
            <a:off x="7680960" y="2916936"/>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2852928"/>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place to apply beside every scheme</a:t>
            </a:r>
            <a:endParaRPr lang="en-US" sz="1200" dirty="0"/>
          </a:p>
        </p:txBody>
      </p:sp>
      <p:sp>
        <p:nvSpPr>
          <p:cNvPr id="16" name="Text 13"/>
          <p:cNvSpPr txBox="1"/>
          <p:nvPr/>
        </p:nvSpPr>
        <p:spPr>
          <a:xfrm>
            <a:off x="7680960" y="3355848"/>
            <a:ext cx="3779215" cy="201168"/>
          </a:xfrm>
          <a:prstGeom prst="rect">
            <a:avLst/>
          </a:prstGeom>
          <a:noFill/>
          <a:ln/>
        </p:spPr>
        <p:txBody>
          <a:bodyPr wrap="square" lIns="0" tIns="0" rIns="0" bIns="0" rtlCol="0" anchor="ctr"/>
          <a:lstStyle/>
          <a:p>
            <a:pPr indent="0" marL="0">
              <a:buNone/>
            </a:pPr>
            <a:r>
              <a:rPr lang="en-US" sz="950" b="1" spc="100" kern="0" dirty="0">
                <a:solidFill>
                  <a:srgbClr val="A43A00"/>
                </a:solidFill>
                <a:latin typeface="Noto Sans" pitchFamily="34" charset="0"/>
                <a:ea typeface="Noto Sans" pitchFamily="34" charset="-122"/>
                <a:cs typeface="Noto Sans" pitchFamily="34" charset="-120"/>
              </a:rPr>
              <a:t>AGAINST IT</a:t>
            </a:r>
            <a:endParaRPr lang="en-US" sz="950" dirty="0"/>
          </a:p>
        </p:txBody>
      </p:sp>
      <p:sp>
        <p:nvSpPr>
          <p:cNvPr id="17" name="Shape 14"/>
          <p:cNvSpPr/>
          <p:nvPr/>
        </p:nvSpPr>
        <p:spPr>
          <a:xfrm>
            <a:off x="7680960" y="3694176"/>
            <a:ext cx="54864" cy="54864"/>
          </a:xfrm>
          <a:prstGeom prst="rect">
            <a:avLst/>
          </a:prstGeom>
          <a:solidFill>
            <a:srgbClr val="A43A00"/>
          </a:solidFill>
          <a:ln w="12700">
            <a:solidFill>
              <a:srgbClr val="A43A00"/>
            </a:solidFill>
            <a:prstDash val="solid"/>
          </a:ln>
        </p:spPr>
      </p:sp>
      <p:sp>
        <p:nvSpPr>
          <p:cNvPr id="18" name="Text 15"/>
          <p:cNvSpPr txBox="1"/>
          <p:nvPr/>
        </p:nvSpPr>
        <p:spPr>
          <a:xfrm>
            <a:off x="7863840" y="3630168"/>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Long lists for the larger groups</a:t>
            </a:r>
            <a:endParaRPr lang="en-US" sz="1200" dirty="0"/>
          </a:p>
        </p:txBody>
      </p:sp>
      <p:sp>
        <p:nvSpPr>
          <p:cNvPr id="19" name="Shape 16"/>
          <p:cNvSpPr/>
          <p:nvPr/>
        </p:nvSpPr>
        <p:spPr>
          <a:xfrm>
            <a:off x="7680960" y="3995928"/>
            <a:ext cx="54864" cy="54864"/>
          </a:xfrm>
          <a:prstGeom prst="rect">
            <a:avLst/>
          </a:prstGeom>
          <a:solidFill>
            <a:srgbClr val="A43A00"/>
          </a:solidFill>
          <a:ln w="12700">
            <a:solidFill>
              <a:srgbClr val="A43A00"/>
            </a:solidFill>
            <a:prstDash val="solid"/>
          </a:ln>
        </p:spPr>
      </p:sp>
      <p:sp>
        <p:nvSpPr>
          <p:cNvPr id="20" name="Text 17"/>
          <p:cNvSpPr txBox="1"/>
          <p:nvPr/>
        </p:nvSpPr>
        <p:spPr>
          <a:xfrm>
            <a:off x="7863840" y="3931920"/>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Takes the Our Offerings slot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 Both filter on the same two lists.</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Every group on screen at once, then cards.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1065276" cy="246888"/>
          </a:xfrm>
          <a:prstGeom prst="roundRect">
            <a:avLst>
              <a:gd name="adj" fmla="val 50000"/>
            </a:avLst>
          </a:prstGeom>
          <a:solidFill>
            <a:srgbClr val="005EB9"/>
          </a:solidFill>
          <a:ln w="12700">
            <a:solidFill>
              <a:srgbClr val="005EB9"/>
            </a:solidFill>
            <a:prstDash val="solid"/>
          </a:ln>
        </p:spPr>
      </p:sp>
      <p:sp>
        <p:nvSpPr>
          <p:cNvPr id="17" name="Text 13"/>
          <p:cNvSpPr txBox="1"/>
          <p:nvPr/>
        </p:nvSpPr>
        <p:spPr>
          <a:xfrm>
            <a:off x="6370168" y="5631847"/>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Filters that combine; a table that carries whom each scheme names. Deciding.</a:t>
            </a:r>
            <a:endParaRPr lang="en-US" sz="1200" dirty="0"/>
          </a:p>
        </p:txBody>
      </p:sp>
      <p:sp>
        <p:nvSpPr>
          <p:cNvPr id="19" name="Text 15"/>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No count is printed on either. A filter that would leave nothing is greyed.</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 · OPTION A OF 2</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Pictures of the Groups, with Cards</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then Loans and Credit,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IN ITS FAVOUR</a:t>
            </a:r>
            <a:endParaRPr lang="en-US" sz="950" dirty="0"/>
          </a:p>
        </p:txBody>
      </p:sp>
      <p:sp>
        <p:nvSpPr>
          <p:cNvPr id="10" name="Shape 7"/>
          <p:cNvSpPr/>
          <p:nvPr/>
        </p:nvSpPr>
        <p:spPr>
          <a:xfrm>
            <a:off x="7680960" y="2121408"/>
            <a:ext cx="54864" cy="54864"/>
          </a:xfrm>
          <a:prstGeom prst="rect">
            <a:avLst/>
          </a:prstGeom>
          <a:solidFill>
            <a:srgbClr val="005EB9"/>
          </a:solidFill>
          <a:ln w="12700">
            <a:solidFill>
              <a:srgbClr val="005EB9"/>
            </a:solidFill>
            <a:prstDash val="solid"/>
          </a:ln>
        </p:spPr>
      </p:sp>
      <p:sp>
        <p:nvSpPr>
          <p:cNvPr id="11" name="Text 8"/>
          <p:cNvSpPr txBox="1"/>
          <p:nvPr/>
        </p:nvSpPr>
        <p:spPr>
          <a:xfrm>
            <a:off x="7863840" y="2057400"/>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visible at once</a:t>
            </a:r>
            <a:endParaRPr lang="en-US" sz="1200" dirty="0"/>
          </a:p>
        </p:txBody>
      </p:sp>
      <p:sp>
        <p:nvSpPr>
          <p:cNvPr id="12" name="Shape 9"/>
          <p:cNvSpPr/>
          <p:nvPr/>
        </p:nvSpPr>
        <p:spPr>
          <a:xfrm>
            <a:off x="7680960" y="2423160"/>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35915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two filters as the home page</a:t>
            </a:r>
            <a:endParaRPr lang="en-US" sz="1200" dirty="0"/>
          </a:p>
        </p:txBody>
      </p:sp>
      <p:sp>
        <p:nvSpPr>
          <p:cNvPr id="14" name="Shape 11"/>
          <p:cNvSpPr/>
          <p:nvPr/>
        </p:nvSpPr>
        <p:spPr>
          <a:xfrm>
            <a:off x="7680960" y="2724912"/>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266090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carry the scheme's type and what it provides</a:t>
            </a:r>
            <a:endParaRPr lang="en-US" sz="1200" dirty="0"/>
          </a:p>
        </p:txBody>
      </p:sp>
      <p:sp>
        <p:nvSpPr>
          <p:cNvPr id="16" name="Text 13"/>
          <p:cNvSpPr txBox="1"/>
          <p:nvPr/>
        </p:nvSpPr>
        <p:spPr>
          <a:xfrm>
            <a:off x="7680960" y="3355848"/>
            <a:ext cx="3779215" cy="201168"/>
          </a:xfrm>
          <a:prstGeom prst="rect">
            <a:avLst/>
          </a:prstGeom>
          <a:noFill/>
          <a:ln/>
        </p:spPr>
        <p:txBody>
          <a:bodyPr wrap="square" lIns="0" tIns="0" rIns="0" bIns="0" rtlCol="0" anchor="ctr"/>
          <a:lstStyle/>
          <a:p>
            <a:pPr indent="0" marL="0">
              <a:buNone/>
            </a:pPr>
            <a:r>
              <a:rPr lang="en-US" sz="950" b="1" spc="100" kern="0" dirty="0">
                <a:solidFill>
                  <a:srgbClr val="A43A00"/>
                </a:solidFill>
                <a:latin typeface="Noto Sans" pitchFamily="34" charset="0"/>
                <a:ea typeface="Noto Sans" pitchFamily="34" charset="-122"/>
                <a:cs typeface="Noto Sans" pitchFamily="34" charset="-120"/>
              </a:rPr>
              <a:t>AGAINST IT</a:t>
            </a:r>
            <a:endParaRPr lang="en-US" sz="950" dirty="0"/>
          </a:p>
        </p:txBody>
      </p:sp>
      <p:sp>
        <p:nvSpPr>
          <p:cNvPr id="17" name="Shape 14"/>
          <p:cNvSpPr/>
          <p:nvPr/>
        </p:nvSpPr>
        <p:spPr>
          <a:xfrm>
            <a:off x="7680960" y="3694176"/>
            <a:ext cx="54864" cy="54864"/>
          </a:xfrm>
          <a:prstGeom prst="rect">
            <a:avLst/>
          </a:prstGeom>
          <a:solidFill>
            <a:srgbClr val="A43A00"/>
          </a:solidFill>
          <a:ln w="12700">
            <a:solidFill>
              <a:srgbClr val="A43A00"/>
            </a:solidFill>
            <a:prstDash val="solid"/>
          </a:ln>
        </p:spPr>
      </p:sp>
      <p:sp>
        <p:nvSpPr>
          <p:cNvPr id="18" name="Text 15"/>
          <p:cNvSpPr txBox="1"/>
          <p:nvPr/>
        </p:nvSpPr>
        <p:spPr>
          <a:xfrm>
            <a:off x="7863840" y="36301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No room on a card for whom the scheme names</a:t>
            </a:r>
            <a:endParaRPr lang="en-US" sz="1200" dirty="0"/>
          </a:p>
        </p:txBody>
      </p:sp>
      <p:sp>
        <p:nvSpPr>
          <p:cNvPr id="19" name="Shape 16"/>
          <p:cNvSpPr/>
          <p:nvPr/>
        </p:nvSpPr>
        <p:spPr>
          <a:xfrm>
            <a:off x="7680960" y="4187952"/>
            <a:ext cx="54864" cy="54864"/>
          </a:xfrm>
          <a:prstGeom prst="rect">
            <a:avLst/>
          </a:prstGeom>
          <a:solidFill>
            <a:srgbClr val="A43A00"/>
          </a:solidFill>
          <a:ln w="12700">
            <a:solidFill>
              <a:srgbClr val="A43A00"/>
            </a:solidFill>
            <a:prstDash val="solid"/>
          </a:ln>
        </p:spPr>
      </p:sp>
      <p:sp>
        <p:nvSpPr>
          <p:cNvPr id="20" name="Text 17"/>
          <p:cNvSpPr txBox="1"/>
          <p:nvPr/>
        </p:nvSpPr>
        <p:spPr>
          <a:xfrm>
            <a:off x="7863840" y="412394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schemes cannot be compared side by side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 · OPTION B OF 2</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Filter Panel with a Table</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924812" y="1298448"/>
            <a:ext cx="1065276" cy="246888"/>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924812"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10" name="Text 7"/>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with Scholarships, then Loans added, then one filter removed.</a:t>
            </a:r>
            <a:endParaRPr lang="en-US" sz="850" dirty="0"/>
          </a:p>
        </p:txBody>
      </p:sp>
      <p:sp>
        <p:nvSpPr>
          <p:cNvPr id="11" name="Text 8"/>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IN ITS FAVOUR</a:t>
            </a:r>
            <a:endParaRPr lang="en-US" sz="950" dirty="0"/>
          </a:p>
        </p:txBody>
      </p:sp>
      <p:sp>
        <p:nvSpPr>
          <p:cNvPr id="12" name="Shape 9"/>
          <p:cNvSpPr/>
          <p:nvPr/>
        </p:nvSpPr>
        <p:spPr>
          <a:xfrm>
            <a:off x="7680960" y="21214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0574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Filters combine: who it is for and what it provides, together</a:t>
            </a:r>
            <a:endParaRPr lang="en-US" sz="1200" dirty="0"/>
          </a:p>
        </p:txBody>
      </p:sp>
      <p:sp>
        <p:nvSpPr>
          <p:cNvPr id="14" name="Shape 11"/>
          <p:cNvSpPr/>
          <p:nvPr/>
        </p:nvSpPr>
        <p:spPr>
          <a:xfrm>
            <a:off x="7680960" y="26151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255117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carries whom each scheme names</a:t>
            </a:r>
            <a:endParaRPr lang="en-US" sz="1200" dirty="0"/>
          </a:p>
        </p:txBody>
      </p:sp>
      <p:sp>
        <p:nvSpPr>
          <p:cNvPr id="16" name="Shape 13"/>
          <p:cNvSpPr/>
          <p:nvPr/>
        </p:nvSpPr>
        <p:spPr>
          <a:xfrm>
            <a:off x="7680960" y="291693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285292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filter that would leave nothing is greyed, not counted</a:t>
            </a:r>
            <a:endParaRPr lang="en-US" sz="1200" dirty="0"/>
          </a:p>
        </p:txBody>
      </p:sp>
      <p:sp>
        <p:nvSpPr>
          <p:cNvPr id="18" name="Text 15"/>
          <p:cNvSpPr txBox="1"/>
          <p:nvPr/>
        </p:nvSpPr>
        <p:spPr>
          <a:xfrm>
            <a:off x="7680960" y="3547872"/>
            <a:ext cx="3779215" cy="201168"/>
          </a:xfrm>
          <a:prstGeom prst="rect">
            <a:avLst/>
          </a:prstGeom>
          <a:noFill/>
          <a:ln/>
        </p:spPr>
        <p:txBody>
          <a:bodyPr wrap="square" lIns="0" tIns="0" rIns="0" bIns="0" rtlCol="0" anchor="ctr"/>
          <a:lstStyle/>
          <a:p>
            <a:pPr indent="0" marL="0">
              <a:buNone/>
            </a:pPr>
            <a:r>
              <a:rPr lang="en-US" sz="950" b="1" spc="100" kern="0" dirty="0">
                <a:solidFill>
                  <a:srgbClr val="A43A00"/>
                </a:solidFill>
                <a:latin typeface="Noto Sans" pitchFamily="34" charset="0"/>
                <a:ea typeface="Noto Sans" pitchFamily="34" charset="-122"/>
                <a:cs typeface="Noto Sans" pitchFamily="34" charset="-120"/>
              </a:rPr>
              <a:t>AGAINST IT</a:t>
            </a:r>
            <a:endParaRPr lang="en-US" sz="950" dirty="0"/>
          </a:p>
        </p:txBody>
      </p:sp>
      <p:sp>
        <p:nvSpPr>
          <p:cNvPr id="19" name="Shape 16"/>
          <p:cNvSpPr/>
          <p:nvPr/>
        </p:nvSpPr>
        <p:spPr>
          <a:xfrm>
            <a:off x="7680960" y="3886200"/>
            <a:ext cx="54864" cy="54864"/>
          </a:xfrm>
          <a:prstGeom prst="rect">
            <a:avLst/>
          </a:prstGeom>
          <a:solidFill>
            <a:srgbClr val="A43A00"/>
          </a:solidFill>
          <a:ln w="12700">
            <a:solidFill>
              <a:srgbClr val="A43A00"/>
            </a:solidFill>
            <a:prstDash val="solid"/>
          </a:ln>
        </p:spPr>
      </p:sp>
      <p:sp>
        <p:nvSpPr>
          <p:cNvPr id="20" name="Text 17"/>
          <p:cNvSpPr txBox="1"/>
          <p:nvPr/>
        </p:nvSpPr>
        <p:spPr>
          <a:xfrm>
            <a:off x="7863840" y="382219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table reads as a record rather than an invitation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ASSISTANT · 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Samajik Sahayak</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2336292" y="1298448"/>
            <a:ext cx="1065276" cy="246888"/>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2336292"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10" name="Text 7"/>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the design system ships, opened from an ordinary page. Scheduled Castes, then Loans and Credit.</a:t>
            </a:r>
            <a:endParaRPr lang="en-US" sz="850" dirty="0"/>
          </a:p>
        </p:txBody>
      </p:sp>
      <p:sp>
        <p:nvSpPr>
          <p:cNvPr id="11" name="Text 8"/>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IN ITS FAVOUR</a:t>
            </a:r>
            <a:endParaRPr lang="en-US" sz="950" dirty="0"/>
          </a:p>
        </p:txBody>
      </p:sp>
      <p:sp>
        <p:nvSpPr>
          <p:cNvPr id="12" name="Shape 9"/>
          <p:cNvSpPr/>
          <p:nvPr/>
        </p:nvSpPr>
        <p:spPr>
          <a:xfrm>
            <a:off x="7680960" y="21214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057400"/>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a:t>
            </a:r>
            <a:endParaRPr lang="en-US" sz="1200" dirty="0"/>
          </a:p>
        </p:txBody>
      </p:sp>
      <p:sp>
        <p:nvSpPr>
          <p:cNvPr id="14" name="Shape 11"/>
          <p:cNvSpPr/>
          <p:nvPr/>
        </p:nvSpPr>
        <p:spPr>
          <a:xfrm>
            <a:off x="7680960" y="242316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23591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which suits a phone</a:t>
            </a:r>
            <a:endParaRPr lang="en-US" sz="1200" dirty="0"/>
          </a:p>
        </p:txBody>
      </p:sp>
      <p:sp>
        <p:nvSpPr>
          <p:cNvPr id="16" name="Shape 13"/>
          <p:cNvSpPr/>
          <p:nvPr/>
        </p:nvSpPr>
        <p:spPr>
          <a:xfrm>
            <a:off x="7680960" y="291693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285292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built; only the scheme branch is new</a:t>
            </a:r>
            <a:endParaRPr lang="en-US" sz="1200" dirty="0"/>
          </a:p>
        </p:txBody>
      </p:sp>
      <p:sp>
        <p:nvSpPr>
          <p:cNvPr id="18" name="Text 15"/>
          <p:cNvSpPr txBox="1"/>
          <p:nvPr/>
        </p:nvSpPr>
        <p:spPr>
          <a:xfrm>
            <a:off x="7680960" y="3547872"/>
            <a:ext cx="3779215" cy="201168"/>
          </a:xfrm>
          <a:prstGeom prst="rect">
            <a:avLst/>
          </a:prstGeom>
          <a:noFill/>
          <a:ln/>
        </p:spPr>
        <p:txBody>
          <a:bodyPr wrap="square" lIns="0" tIns="0" rIns="0" bIns="0" rtlCol="0" anchor="ctr"/>
          <a:lstStyle/>
          <a:p>
            <a:pPr indent="0" marL="0">
              <a:buNone/>
            </a:pPr>
            <a:r>
              <a:rPr lang="en-US" sz="950" b="1" spc="100" kern="0" dirty="0">
                <a:solidFill>
                  <a:srgbClr val="A43A00"/>
                </a:solidFill>
                <a:latin typeface="Noto Sans" pitchFamily="34" charset="0"/>
                <a:ea typeface="Noto Sans" pitchFamily="34" charset="-122"/>
                <a:cs typeface="Noto Sans" pitchFamily="34" charset="-120"/>
              </a:rPr>
              <a:t>AGAINST IT</a:t>
            </a:r>
            <a:endParaRPr lang="en-US" sz="950" dirty="0"/>
          </a:p>
        </p:txBody>
      </p:sp>
      <p:sp>
        <p:nvSpPr>
          <p:cNvPr id="19" name="Shape 16"/>
          <p:cNvSpPr/>
          <p:nvPr/>
        </p:nvSpPr>
        <p:spPr>
          <a:xfrm>
            <a:off x="7680960" y="3886200"/>
            <a:ext cx="54864" cy="54864"/>
          </a:xfrm>
          <a:prstGeom prst="rect">
            <a:avLst/>
          </a:prstGeom>
          <a:solidFill>
            <a:srgbClr val="A43A00"/>
          </a:solidFill>
          <a:ln w="12700">
            <a:solidFill>
              <a:srgbClr val="A43A00"/>
            </a:solidFill>
            <a:prstDash val="solid"/>
          </a:ln>
        </p:spPr>
      </p:sp>
      <p:sp>
        <p:nvSpPr>
          <p:cNvPr id="20" name="Text 17"/>
          <p:cNvSpPr txBox="1"/>
          <p:nvPr/>
        </p:nvSpPr>
        <p:spPr>
          <a:xfrm>
            <a:off x="7863840" y="382219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button in the corner is found only by those looking for it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FIRST</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Before Anything Is Built</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Whichever options are approved, three things come first.</a:t>
            </a:r>
            <a:endParaRPr lang="en-US" sz="1400" dirty="0"/>
          </a:p>
        </p:txBody>
      </p:sp>
      <p:sp>
        <p:nvSpPr>
          <p:cNvPr id="5" name="Text 3"/>
          <p:cNvSpPr txBox="1"/>
          <p:nvPr/>
        </p:nvSpPr>
        <p:spPr>
          <a:xfrm>
            <a:off x="731520" y="1920240"/>
            <a:ext cx="548640" cy="457200"/>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1</a:t>
            </a:r>
            <a:endParaRPr lang="en-US" sz="2600" dirty="0"/>
          </a:p>
        </p:txBody>
      </p:sp>
      <p:sp>
        <p:nvSpPr>
          <p:cNvPr id="6" name="Text 4"/>
          <p:cNvSpPr txBox="1"/>
          <p:nvPr/>
        </p:nvSpPr>
        <p:spPr>
          <a:xfrm>
            <a:off x="1371600" y="1938528"/>
            <a:ext cx="10088575" cy="329184"/>
          </a:xfrm>
          <a:prstGeom prst="rect">
            <a:avLst/>
          </a:prstGeom>
          <a:noFill/>
          <a:ln/>
        </p:spPr>
        <p:txBody>
          <a:bodyPr wrap="square" lIns="0" tIns="0" rIns="0" bIns="0" rtlCol="0" anchor="ctr"/>
          <a:lstStyle/>
          <a:p>
            <a:pPr indent="0" marL="0">
              <a:buNone/>
            </a:pPr>
            <a:r>
              <a:rPr lang="en-US" sz="1900" b="1" dirty="0">
                <a:solidFill>
                  <a:srgbClr val="003975"/>
                </a:solidFill>
                <a:latin typeface="Noto Sans" pitchFamily="34" charset="0"/>
                <a:ea typeface="Noto Sans" pitchFamily="34" charset="-122"/>
                <a:cs typeface="Noto Sans" pitchFamily="34" charset="-120"/>
              </a:rPr>
              <a:t>Confirm the two lists</a:t>
            </a:r>
            <a:endParaRPr lang="en-US" sz="1900" dirty="0"/>
          </a:p>
        </p:txBody>
      </p:sp>
      <p:sp>
        <p:nvSpPr>
          <p:cNvPr id="7" name="Text 5"/>
          <p:cNvSpPr txBox="1"/>
          <p:nvPr/>
        </p:nvSpPr>
        <p:spPr>
          <a:xfrm>
            <a:off x="1371600" y="2304288"/>
            <a:ext cx="10088575"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The eleven groups and the eight kinds of support, by the divisions that own them — including whether every group is to be named on a public page.</a:t>
            </a:r>
            <a:endParaRPr lang="en-US" sz="1200" dirty="0"/>
          </a:p>
        </p:txBody>
      </p:sp>
      <p:sp>
        <p:nvSpPr>
          <p:cNvPr id="8" name="Shape 6"/>
          <p:cNvSpPr/>
          <p:nvPr/>
        </p:nvSpPr>
        <p:spPr>
          <a:xfrm>
            <a:off x="731520" y="2944368"/>
            <a:ext cx="10728655" cy="0"/>
          </a:xfrm>
          <a:prstGeom prst="line">
            <a:avLst/>
          </a:prstGeom>
          <a:noFill/>
          <a:ln w="9525">
            <a:solidFill>
              <a:srgbClr val="DCDEE1"/>
            </a:solidFill>
            <a:prstDash val="solid"/>
          </a:ln>
        </p:spPr>
      </p:sp>
      <p:sp>
        <p:nvSpPr>
          <p:cNvPr id="9" name="Text 7"/>
          <p:cNvSpPr txBox="1"/>
          <p:nvPr/>
        </p:nvSpPr>
        <p:spPr>
          <a:xfrm>
            <a:off x="731520" y="3145536"/>
            <a:ext cx="548640" cy="457200"/>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2</a:t>
            </a:r>
            <a:endParaRPr lang="en-US" sz="2600" dirty="0"/>
          </a:p>
        </p:txBody>
      </p:sp>
      <p:sp>
        <p:nvSpPr>
          <p:cNvPr id="10" name="Text 8"/>
          <p:cNvSpPr txBox="1"/>
          <p:nvPr/>
        </p:nvSpPr>
        <p:spPr>
          <a:xfrm>
            <a:off x="1371600" y="3163824"/>
            <a:ext cx="10088575" cy="329184"/>
          </a:xfrm>
          <a:prstGeom prst="rect">
            <a:avLst/>
          </a:prstGeom>
          <a:noFill/>
          <a:ln/>
        </p:spPr>
        <p:txBody>
          <a:bodyPr wrap="square" lIns="0" tIns="0" rIns="0" bIns="0" rtlCol="0" anchor="ctr"/>
          <a:lstStyle/>
          <a:p>
            <a:pPr indent="0" marL="0">
              <a:buNone/>
            </a:pPr>
            <a:r>
              <a:rPr lang="en-US" sz="1900" b="1" dirty="0">
                <a:solidFill>
                  <a:srgbClr val="003975"/>
                </a:solidFill>
                <a:latin typeface="Noto Sans" pitchFamily="34" charset="0"/>
                <a:ea typeface="Noto Sans" pitchFamily="34" charset="-122"/>
                <a:cs typeface="Noto Sans" pitchFamily="34" charset="-120"/>
              </a:rPr>
              <a:t>Tag every scheme on both</a:t>
            </a:r>
            <a:endParaRPr lang="en-US" sz="1900" dirty="0"/>
          </a:p>
        </p:txBody>
      </p:sp>
      <p:sp>
        <p:nvSpPr>
          <p:cNvPr id="11" name="Text 9"/>
          <p:cNvSpPr txBox="1"/>
          <p:nvPr/>
        </p:nvSpPr>
        <p:spPr>
          <a:xfrm>
            <a:off x="1371600" y="3529584"/>
            <a:ext cx="10088575"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Each record carries whom it names, what it provides and where it is applied for, with a source on every row. The divisions confirm their rows.</a:t>
            </a:r>
            <a:endParaRPr lang="en-US" sz="1200" dirty="0"/>
          </a:p>
        </p:txBody>
      </p:sp>
      <p:sp>
        <p:nvSpPr>
          <p:cNvPr id="12" name="Shape 10"/>
          <p:cNvSpPr/>
          <p:nvPr/>
        </p:nvSpPr>
        <p:spPr>
          <a:xfrm>
            <a:off x="731520" y="4169664"/>
            <a:ext cx="10728655" cy="0"/>
          </a:xfrm>
          <a:prstGeom prst="line">
            <a:avLst/>
          </a:prstGeom>
          <a:noFill/>
          <a:ln w="9525">
            <a:solidFill>
              <a:srgbClr val="DCDEE1"/>
            </a:solidFill>
            <a:prstDash val="solid"/>
          </a:ln>
        </p:spPr>
      </p:sp>
      <p:sp>
        <p:nvSpPr>
          <p:cNvPr id="13" name="Text 11"/>
          <p:cNvSpPr txBox="1"/>
          <p:nvPr/>
        </p:nvSpPr>
        <p:spPr>
          <a:xfrm>
            <a:off x="731520" y="4370832"/>
            <a:ext cx="548640" cy="457200"/>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3</a:t>
            </a:r>
            <a:endParaRPr lang="en-US" sz="2600" dirty="0"/>
          </a:p>
        </p:txBody>
      </p:sp>
      <p:sp>
        <p:nvSpPr>
          <p:cNvPr id="14" name="Text 12"/>
          <p:cNvSpPr txBox="1"/>
          <p:nvPr/>
        </p:nvSpPr>
        <p:spPr>
          <a:xfrm>
            <a:off x="1371600" y="4389120"/>
            <a:ext cx="10088575" cy="329184"/>
          </a:xfrm>
          <a:prstGeom prst="rect">
            <a:avLst/>
          </a:prstGeom>
          <a:noFill/>
          <a:ln/>
        </p:spPr>
        <p:txBody>
          <a:bodyPr wrap="square" lIns="0" tIns="0" rIns="0" bIns="0" rtlCol="0" anchor="ctr"/>
          <a:lstStyle/>
          <a:p>
            <a:pPr indent="0" marL="0">
              <a:buNone/>
            </a:pPr>
            <a:r>
              <a:rPr lang="en-US" sz="1900" b="1" dirty="0">
                <a:solidFill>
                  <a:srgbClr val="003975"/>
                </a:solidFill>
                <a:latin typeface="Noto Sans" pitchFamily="34" charset="0"/>
                <a:ea typeface="Noto Sans" pitchFamily="34" charset="-122"/>
                <a:cs typeface="Noto Sans" pitchFamily="34" charset="-120"/>
              </a:rPr>
              <a:t>Estimate the re-tagging</a:t>
            </a:r>
            <a:endParaRPr lang="en-US" sz="1900" dirty="0"/>
          </a:p>
        </p:txBody>
      </p:sp>
      <p:sp>
        <p:nvSpPr>
          <p:cNvPr id="15" name="Text 13"/>
          <p:cNvSpPr txBox="1"/>
          <p:nvPr/>
        </p:nvSpPr>
        <p:spPr>
          <a:xfrm>
            <a:off x="1371600" y="4754880"/>
            <a:ext cx="10088575"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The website's catalogue is tagged on one axis, one value a scheme. Two axes, many values, is the development work every option needs.</a:t>
            </a:r>
            <a:endParaRPr lang="en-US" sz="1200" dirty="0"/>
          </a:p>
        </p:txBody>
      </p:sp>
      <p:sp>
        <p:nvSpPr>
          <p:cNvPr id="16" name="Text 14"/>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The design team supplies the lists and the tagged records; the divisions confirm them; the development team estimates the re-tagging.</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WHICHEVER OPTIONS ARE APPROVED</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Rules</a:t>
            </a:r>
            <a:endParaRPr lang="en-US" sz="3000" dirty="0"/>
          </a:p>
        </p:txBody>
      </p:sp>
      <p:sp>
        <p:nvSpPr>
          <p:cNvPr id="4" name="Text 2"/>
          <p:cNvSpPr txBox="1"/>
          <p:nvPr/>
        </p:nvSpPr>
        <p:spPr>
          <a:xfrm>
            <a:off x="731520" y="1645920"/>
            <a:ext cx="10728655" cy="420624"/>
          </a:xfrm>
          <a:prstGeom prst="rect">
            <a:avLst/>
          </a:prstGeom>
          <a:noFill/>
          <a:ln/>
        </p:spPr>
        <p:txBody>
          <a:bodyPr wrap="square" lIns="0" tIns="0" rIns="0" bIns="0" rtlCol="0" anchor="ctr"/>
          <a:lstStyle/>
          <a:p>
            <a:pPr indent="0" marL="0">
              <a:buNone/>
            </a:pPr>
            <a:r>
              <a:rPr lang="en-US" sz="2200" b="1" dirty="0">
                <a:solidFill>
                  <a:srgbClr val="003975"/>
                </a:solidFill>
                <a:latin typeface="Noto Sans" pitchFamily="34" charset="0"/>
                <a:ea typeface="Noto Sans" pitchFamily="34" charset="-122"/>
                <a:cs typeface="Noto Sans" pitchFamily="34" charset="-120"/>
              </a:rPr>
              <a:t>It names the group. It never decides the case.</a:t>
            </a:r>
            <a:endParaRPr lang="en-US" sz="2200" dirty="0"/>
          </a:p>
        </p:txBody>
      </p:sp>
      <p:sp>
        <p:nvSpPr>
          <p:cNvPr id="5" name="Text 3"/>
          <p:cNvSpPr txBox="1"/>
          <p:nvPr/>
        </p:nvSpPr>
        <p:spPr>
          <a:xfrm>
            <a:off x="731520" y="2103120"/>
            <a:ext cx="10728655" cy="329184"/>
          </a:xfrm>
          <a:prstGeom prst="rect">
            <a:avLst/>
          </a:prstGeom>
          <a:noFill/>
          <a:ln/>
        </p:spPr>
        <p:txBody>
          <a:bodyPr wrap="square" lIns="0" tIns="0" rIns="0" bIns="0" rtlCol="0" anchor="ctr"/>
          <a:lstStyle/>
          <a:p>
            <a:pPr indent="0" marL="0">
              <a:lnSpc>
                <a:spcPct val="120000"/>
              </a:lnSpc>
              <a:buNone/>
            </a:pPr>
            <a:r>
              <a:rPr lang="en-US" sz="1200" dirty="0">
                <a:solidFill>
                  <a:srgbClr val="3A3D41"/>
                </a:solidFill>
                <a:latin typeface="Noto Sans" pitchFamily="34" charset="0"/>
                <a:ea typeface="Noto Sans" pitchFamily="34" charset="-122"/>
                <a:cs typeface="Noto Sans" pitchFamily="34" charset="-120"/>
              </a:rPr>
              <a:t>No screen and no message says a person is eligible. The sanctioning authority decides every application.</a:t>
            </a:r>
            <a:endParaRPr lang="en-US" sz="1200" dirty="0"/>
          </a:p>
        </p:txBody>
      </p:sp>
      <p:sp>
        <p:nvSpPr>
          <p:cNvPr id="6" name="Shape 4"/>
          <p:cNvSpPr/>
          <p:nvPr/>
        </p:nvSpPr>
        <p:spPr>
          <a:xfrm>
            <a:off x="731520" y="2743200"/>
            <a:ext cx="10728655" cy="0"/>
          </a:xfrm>
          <a:prstGeom prst="line">
            <a:avLst/>
          </a:prstGeom>
          <a:noFill/>
          <a:ln w="9525">
            <a:solidFill>
              <a:srgbClr val="DCDEE1"/>
            </a:solidFill>
            <a:prstDash val="solid"/>
          </a:ln>
        </p:spPr>
      </p:sp>
      <p:sp>
        <p:nvSpPr>
          <p:cNvPr id="7" name="Text 5"/>
          <p:cNvSpPr txBox="1"/>
          <p:nvPr/>
        </p:nvSpPr>
        <p:spPr>
          <a:xfrm>
            <a:off x="731520" y="3017520"/>
            <a:ext cx="10728655" cy="420624"/>
          </a:xfrm>
          <a:prstGeom prst="rect">
            <a:avLst/>
          </a:prstGeom>
          <a:noFill/>
          <a:ln/>
        </p:spPr>
        <p:txBody>
          <a:bodyPr wrap="square" lIns="0" tIns="0" rIns="0" bIns="0" rtlCol="0" anchor="ctr"/>
          <a:lstStyle/>
          <a:p>
            <a:pPr indent="0" marL="0">
              <a:buNone/>
            </a:pPr>
            <a:r>
              <a:rPr lang="en-US" sz="2200" b="1" dirty="0">
                <a:solidFill>
                  <a:srgbClr val="003975"/>
                </a:solidFill>
                <a:latin typeface="Noto Sans" pitchFamily="34" charset="0"/>
                <a:ea typeface="Noto Sans" pitchFamily="34" charset="-122"/>
                <a:cs typeface="Noto Sans" pitchFamily="34" charset="-120"/>
              </a:rPr>
              <a:t>It asks two things. It stores nothing.</a:t>
            </a:r>
            <a:endParaRPr lang="en-US" sz="2200" dirty="0"/>
          </a:p>
        </p:txBody>
      </p:sp>
      <p:sp>
        <p:nvSpPr>
          <p:cNvPr id="8" name="Text 6"/>
          <p:cNvSpPr txBox="1"/>
          <p:nvPr/>
        </p:nvSpPr>
        <p:spPr>
          <a:xfrm>
            <a:off x="731520" y="3474720"/>
            <a:ext cx="10728655" cy="329184"/>
          </a:xfrm>
          <a:prstGeom prst="rect">
            <a:avLst/>
          </a:prstGeom>
          <a:noFill/>
          <a:ln/>
        </p:spPr>
        <p:txBody>
          <a:bodyPr wrap="square" lIns="0" tIns="0" rIns="0" bIns="0" rtlCol="0" anchor="ctr"/>
          <a:lstStyle/>
          <a:p>
            <a:pPr indent="0" marL="0">
              <a:lnSpc>
                <a:spcPct val="120000"/>
              </a:lnSpc>
              <a:buNone/>
            </a:pPr>
            <a:r>
              <a:rPr lang="en-US" sz="1200" dirty="0">
                <a:solidFill>
                  <a:srgbClr val="3A3D41"/>
                </a:solidFill>
                <a:latin typeface="Noto Sans" pitchFamily="34" charset="0"/>
                <a:ea typeface="Noto Sans" pitchFamily="34" charset="-122"/>
                <a:cs typeface="Noto Sans" pitchFamily="34" charset="-120"/>
              </a:rPr>
              <a:t>No sign-in, no Aadhaar, no telephone number, no income. The answers are chosen from fixed options, never typed.</a:t>
            </a:r>
            <a:endParaRPr lang="en-US" sz="1200" dirty="0"/>
          </a:p>
        </p:txBody>
      </p:sp>
      <p:sp>
        <p:nvSpPr>
          <p:cNvPr id="9" name="Shape 7"/>
          <p:cNvSpPr/>
          <p:nvPr/>
        </p:nvSpPr>
        <p:spPr>
          <a:xfrm>
            <a:off x="731520" y="4114800"/>
            <a:ext cx="10728655" cy="0"/>
          </a:xfrm>
          <a:prstGeom prst="line">
            <a:avLst/>
          </a:prstGeom>
          <a:noFill/>
          <a:ln w="9525">
            <a:solidFill>
              <a:srgbClr val="DCDEE1"/>
            </a:solidFill>
            <a:prstDash val="solid"/>
          </a:ln>
        </p:spPr>
      </p:sp>
      <p:sp>
        <p:nvSpPr>
          <p:cNvPr id="10" name="Text 8"/>
          <p:cNvSpPr txBox="1"/>
          <p:nvPr/>
        </p:nvSpPr>
        <p:spPr>
          <a:xfrm>
            <a:off x="731520" y="4389120"/>
            <a:ext cx="10728655" cy="420624"/>
          </a:xfrm>
          <a:prstGeom prst="rect">
            <a:avLst/>
          </a:prstGeom>
          <a:noFill/>
          <a:ln/>
        </p:spPr>
        <p:txBody>
          <a:bodyPr wrap="square" lIns="0" tIns="0" rIns="0" bIns="0" rtlCol="0" anchor="ctr"/>
          <a:lstStyle/>
          <a:p>
            <a:pPr indent="0" marL="0">
              <a:buNone/>
            </a:pPr>
            <a:r>
              <a:rPr lang="en-US" sz="2200" b="1" dirty="0">
                <a:solidFill>
                  <a:srgbClr val="003975"/>
                </a:solidFill>
                <a:latin typeface="Noto Sans" pitchFamily="34" charset="0"/>
                <a:ea typeface="Noto Sans" pitchFamily="34" charset="-122"/>
                <a:cs typeface="Noto Sans" pitchFamily="34" charset="-120"/>
              </a:rPr>
              <a:t>It prints no number.</a:t>
            </a:r>
            <a:endParaRPr lang="en-US" sz="2200" dirty="0"/>
          </a:p>
        </p:txBody>
      </p:sp>
      <p:sp>
        <p:nvSpPr>
          <p:cNvPr id="11" name="Text 9"/>
          <p:cNvSpPr txBox="1"/>
          <p:nvPr/>
        </p:nvSpPr>
        <p:spPr>
          <a:xfrm>
            <a:off x="731520" y="4846320"/>
            <a:ext cx="10728655" cy="329184"/>
          </a:xfrm>
          <a:prstGeom prst="rect">
            <a:avLst/>
          </a:prstGeom>
          <a:noFill/>
          <a:ln/>
        </p:spPr>
        <p:txBody>
          <a:bodyPr wrap="square" lIns="0" tIns="0" rIns="0" bIns="0" rtlCol="0" anchor="ctr"/>
          <a:lstStyle/>
          <a:p>
            <a:pPr indent="0" marL="0">
              <a:lnSpc>
                <a:spcPct val="120000"/>
              </a:lnSpc>
              <a:buNone/>
            </a:pPr>
            <a:r>
              <a:rPr lang="en-US" sz="1200" dirty="0">
                <a:solidFill>
                  <a:srgbClr val="3A3D41"/>
                </a:solidFill>
                <a:latin typeface="Noto Sans" pitchFamily="34" charset="0"/>
                <a:ea typeface="Noto Sans" pitchFamily="34" charset="-122"/>
                <a:cs typeface="Noto Sans" pitchFamily="34" charset="-120"/>
              </a:rPr>
              <a:t>No count of schemes on any screen. The only figures are the helplines the Department publishes and the amounts its Annual Report states.</a:t>
            </a:r>
            <a:endParaRPr lang="en-US" sz="1200" dirty="0"/>
          </a:p>
        </p:txBody>
      </p:sp>
      <p:sp>
        <p:nvSpPr>
          <p:cNvPr id="12" name="Text 10"/>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These hold across all six options and are not traded against for speed.</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What the Design Team Recommends</a:t>
            </a:r>
            <a:endParaRPr lang="en-US" sz="3400" dirty="0"/>
          </a:p>
        </p:txBody>
      </p:sp>
      <p:sp>
        <p:nvSpPr>
          <p:cNvPr id="4" name="Shape 2"/>
          <p:cNvSpPr/>
          <p:nvPr/>
        </p:nvSpPr>
        <p:spPr>
          <a:xfrm>
            <a:off x="731520" y="2011680"/>
            <a:ext cx="10728655" cy="0"/>
          </a:xfrm>
          <a:prstGeom prst="line">
            <a:avLst/>
          </a:prstGeom>
          <a:noFill/>
          <a:ln w="12700">
            <a:solidFill>
              <a:srgbClr val="004B96"/>
            </a:solidFill>
            <a:prstDash val="solid"/>
          </a:ln>
        </p:spPr>
      </p:sp>
      <p:sp>
        <p:nvSpPr>
          <p:cNvPr id="5" name="Text 3"/>
          <p:cNvSpPr txBox="1"/>
          <p:nvPr/>
        </p:nvSpPr>
        <p:spPr>
          <a:xfrm>
            <a:off x="731520" y="2212848"/>
            <a:ext cx="3291840" cy="457200"/>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The home page</a:t>
            </a:r>
            <a:endParaRPr lang="en-US" sz="1500" dirty="0"/>
          </a:p>
        </p:txBody>
      </p:sp>
      <p:sp>
        <p:nvSpPr>
          <p:cNvPr id="6" name="Text 4"/>
          <p:cNvSpPr txBox="1"/>
          <p:nvPr/>
        </p:nvSpPr>
        <p:spPr>
          <a:xfrm>
            <a:off x="4114800" y="2212848"/>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Noto Sans" pitchFamily="34" charset="0"/>
                <a:ea typeface="Noto Sans" pitchFamily="34" charset="-122"/>
                <a:cs typeface="Noto Sans" pitchFamily="34" charset="-120"/>
              </a:rPr>
              <a:t>Option B, with A kept</a:t>
            </a:r>
            <a:endParaRPr lang="en-US" sz="1700" dirty="0"/>
          </a:p>
        </p:txBody>
      </p:sp>
      <p:sp>
        <p:nvSpPr>
          <p:cNvPr id="7" name="Text 5"/>
          <p:cNvSpPr txBox="1"/>
          <p:nvPr/>
        </p:nvSpPr>
        <p:spPr>
          <a:xfrm>
            <a:off x="8412480" y="2231136"/>
            <a:ext cx="3047695" cy="457200"/>
          </a:xfrm>
          <a:prstGeom prst="rect">
            <a:avLst/>
          </a:prstGeom>
          <a:noFill/>
          <a:ln/>
        </p:spPr>
        <p:txBody>
          <a:bodyPr wrap="square" lIns="0" tIns="0" rIns="0" bIns="0" rtlCol="0" anchor="ctr"/>
          <a:lstStyle/>
          <a:p>
            <a:pPr indent="0" marL="0">
              <a:lnSpc>
                <a:spcPct val="115000"/>
              </a:lnSpc>
              <a:buNone/>
            </a:pPr>
            <a:r>
              <a:rPr lang="en-US" sz="1200" dirty="0">
                <a:solidFill>
                  <a:srgbClr val="C0DBFF"/>
                </a:solidFill>
                <a:latin typeface="Noto Sans" pitchFamily="34" charset="0"/>
                <a:ea typeface="Noto Sans" pitchFamily="34" charset="-122"/>
                <a:cs typeface="Noto Sans" pitchFamily="34" charset="-120"/>
              </a:rPr>
              <a:t>It answers the question a citizen arrives with</a:t>
            </a:r>
            <a:endParaRPr lang="en-US" sz="1200" dirty="0"/>
          </a:p>
        </p:txBody>
      </p:sp>
      <p:sp>
        <p:nvSpPr>
          <p:cNvPr id="8" name="Shape 6"/>
          <p:cNvSpPr/>
          <p:nvPr/>
        </p:nvSpPr>
        <p:spPr>
          <a:xfrm>
            <a:off x="731520" y="2834640"/>
            <a:ext cx="10728655" cy="0"/>
          </a:xfrm>
          <a:prstGeom prst="line">
            <a:avLst/>
          </a:prstGeom>
          <a:noFill/>
          <a:ln w="12700">
            <a:solidFill>
              <a:srgbClr val="004B96"/>
            </a:solidFill>
            <a:prstDash val="solid"/>
          </a:ln>
        </p:spPr>
      </p:sp>
      <p:sp>
        <p:nvSpPr>
          <p:cNvPr id="9" name="Text 7"/>
          <p:cNvSpPr txBox="1"/>
          <p:nvPr/>
        </p:nvSpPr>
        <p:spPr>
          <a:xfrm>
            <a:off x="731520" y="3035808"/>
            <a:ext cx="3291840" cy="457200"/>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The Schemes page</a:t>
            </a:r>
            <a:endParaRPr lang="en-US" sz="1500" dirty="0"/>
          </a:p>
        </p:txBody>
      </p:sp>
      <p:sp>
        <p:nvSpPr>
          <p:cNvPr id="10" name="Text 8"/>
          <p:cNvSpPr txBox="1"/>
          <p:nvPr/>
        </p:nvSpPr>
        <p:spPr>
          <a:xfrm>
            <a:off x="4114800" y="3035808"/>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Noto Sans" pitchFamily="34" charset="0"/>
                <a:ea typeface="Noto Sans" pitchFamily="34" charset="-122"/>
                <a:cs typeface="Noto Sans" pitchFamily="34" charset="-120"/>
              </a:rPr>
              <a:t>Option B — filters with a table</a:t>
            </a:r>
            <a:endParaRPr lang="en-US" sz="1700" dirty="0"/>
          </a:p>
        </p:txBody>
      </p:sp>
      <p:sp>
        <p:nvSpPr>
          <p:cNvPr id="11" name="Text 9"/>
          <p:cNvSpPr txBox="1"/>
          <p:nvPr/>
        </p:nvSpPr>
        <p:spPr>
          <a:xfrm>
            <a:off x="8412480" y="3054096"/>
            <a:ext cx="3047695" cy="457200"/>
          </a:xfrm>
          <a:prstGeom prst="rect">
            <a:avLst/>
          </a:prstGeom>
          <a:noFill/>
          <a:ln/>
        </p:spPr>
        <p:txBody>
          <a:bodyPr wrap="square" lIns="0" tIns="0" rIns="0" bIns="0" rtlCol="0" anchor="ctr"/>
          <a:lstStyle/>
          <a:p>
            <a:pPr indent="0" marL="0">
              <a:lnSpc>
                <a:spcPct val="115000"/>
              </a:lnSpc>
              <a:buNone/>
            </a:pPr>
            <a:r>
              <a:rPr lang="en-US" sz="1200" dirty="0">
                <a:solidFill>
                  <a:srgbClr val="C0DBFF"/>
                </a:solidFill>
                <a:latin typeface="Noto Sans" pitchFamily="34" charset="0"/>
                <a:ea typeface="Noto Sans" pitchFamily="34" charset="-122"/>
                <a:cs typeface="Noto Sans" pitchFamily="34" charset="-120"/>
              </a:rPr>
              <a:t>It is where people compare</a:t>
            </a:r>
            <a:endParaRPr lang="en-US" sz="1200" dirty="0"/>
          </a:p>
        </p:txBody>
      </p:sp>
      <p:sp>
        <p:nvSpPr>
          <p:cNvPr id="12" name="Shape 10"/>
          <p:cNvSpPr/>
          <p:nvPr/>
        </p:nvSpPr>
        <p:spPr>
          <a:xfrm>
            <a:off x="731520" y="3657600"/>
            <a:ext cx="10728655" cy="0"/>
          </a:xfrm>
          <a:prstGeom prst="line">
            <a:avLst/>
          </a:prstGeom>
          <a:noFill/>
          <a:ln w="12700">
            <a:solidFill>
              <a:srgbClr val="004B96"/>
            </a:solidFill>
            <a:prstDash val="solid"/>
          </a:ln>
        </p:spPr>
      </p:sp>
      <p:sp>
        <p:nvSpPr>
          <p:cNvPr id="13" name="Text 11"/>
          <p:cNvSpPr txBox="1"/>
          <p:nvPr/>
        </p:nvSpPr>
        <p:spPr>
          <a:xfrm>
            <a:off x="731520" y="3858768"/>
            <a:ext cx="3291840" cy="457200"/>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The assistant</a:t>
            </a:r>
            <a:endParaRPr lang="en-US" sz="1500" dirty="0"/>
          </a:p>
        </p:txBody>
      </p:sp>
      <p:sp>
        <p:nvSpPr>
          <p:cNvPr id="14" name="Text 12"/>
          <p:cNvSpPr txBox="1"/>
          <p:nvPr/>
        </p:nvSpPr>
        <p:spPr>
          <a:xfrm>
            <a:off x="4114800" y="3858768"/>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Noto Sans" pitchFamily="34" charset="0"/>
                <a:ea typeface="Noto Sans" pitchFamily="34" charset="-122"/>
                <a:cs typeface="Noto Sans" pitchFamily="34" charset="-120"/>
              </a:rPr>
              <a:t>Yes — the same two questions</a:t>
            </a:r>
            <a:endParaRPr lang="en-US" sz="1700" dirty="0"/>
          </a:p>
        </p:txBody>
      </p:sp>
      <p:sp>
        <p:nvSpPr>
          <p:cNvPr id="15" name="Text 13"/>
          <p:cNvSpPr txBox="1"/>
          <p:nvPr/>
        </p:nvSpPr>
        <p:spPr>
          <a:xfrm>
            <a:off x="8412480" y="3877056"/>
            <a:ext cx="3047695" cy="457200"/>
          </a:xfrm>
          <a:prstGeom prst="rect">
            <a:avLst/>
          </a:prstGeom>
          <a:noFill/>
          <a:ln/>
        </p:spPr>
        <p:txBody>
          <a:bodyPr wrap="square" lIns="0" tIns="0" rIns="0" bIns="0" rtlCol="0" anchor="ctr"/>
          <a:lstStyle/>
          <a:p>
            <a:pPr indent="0" marL="0">
              <a:lnSpc>
                <a:spcPct val="115000"/>
              </a:lnSpc>
              <a:buNone/>
            </a:pPr>
            <a:r>
              <a:rPr lang="en-US" sz="1200" dirty="0">
                <a:solidFill>
                  <a:srgbClr val="C0DBFF"/>
                </a:solidFill>
                <a:latin typeface="Noto Sans" pitchFamily="34" charset="0"/>
                <a:ea typeface="Noto Sans" pitchFamily="34" charset="-122"/>
                <a:cs typeface="Noto Sans" pitchFamily="34" charset="-120"/>
              </a:rPr>
              <a:t>It reaches the person already lost on a page</a:t>
            </a:r>
            <a:endParaRPr lang="en-US" sz="1200" dirty="0"/>
          </a:p>
        </p:txBody>
      </p:sp>
      <p:sp>
        <p:nvSpPr>
          <p:cNvPr id="16" name="Shape 14"/>
          <p:cNvSpPr/>
          <p:nvPr/>
        </p:nvSpPr>
        <p:spPr>
          <a:xfrm>
            <a:off x="731520" y="4480560"/>
            <a:ext cx="10728655" cy="0"/>
          </a:xfrm>
          <a:prstGeom prst="line">
            <a:avLst/>
          </a:prstGeom>
          <a:noFill/>
          <a:ln w="12700">
            <a:solidFill>
              <a:srgbClr val="004B96"/>
            </a:solidFill>
            <a:prstDash val="solid"/>
          </a:ln>
        </p:spPr>
      </p:sp>
      <p:sp>
        <p:nvSpPr>
          <p:cNvPr id="17" name="Text 15"/>
          <p:cNvSpPr txBox="1"/>
          <p:nvPr/>
        </p:nvSpPr>
        <p:spPr>
          <a:xfrm>
            <a:off x="731520" y="5029200"/>
            <a:ext cx="10728655" cy="457200"/>
          </a:xfrm>
          <a:prstGeom prst="rect">
            <a:avLst/>
          </a:prstGeom>
          <a:noFill/>
          <a:ln/>
        </p:spPr>
        <p:txBody>
          <a:bodyPr wrap="square" lIns="0" tIns="0" rIns="0" bIns="0"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The three parts are decided separately. Whichever is chosen, the two lists and the tagging come first.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2026-09-09T04:31:52Z</dcterms:created>
  <dcterms:modified xsi:type="dcterms:W3CDTF">2026-09-09T04:31:52Z</dcterms:modified>
</cp:coreProperties>
</file>