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the first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the group filter only, no counts, ten rows a page. This is for comparing and deciding, which is what most people come to this page to do.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1751533"/>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1696669"/>
          </a:xfrm>
          <a:prstGeom prst="rect">
            <a:avLst/>
          </a:prstGeom>
        </p:spPr>
      </p:pic>
      <p:sp>
        <p:nvSpPr>
          <p:cNvPr id="9" name="Shape 6"/>
          <p:cNvSpPr/>
          <p:nvPr/>
        </p:nvSpPr>
        <p:spPr>
          <a:xfrm>
            <a:off x="731520" y="4147261"/>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147261"/>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494733"/>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A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Explore User Personas</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330098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3246120"/>
          </a:xfrm>
          <a:prstGeom prst="rect">
            <a:avLst/>
          </a:prstGeom>
        </p:spPr>
      </p:pic>
      <p:sp>
        <p:nvSpPr>
          <p:cNvPr id="8" name="Text 5"/>
          <p:cNvSpPr txBox="1"/>
          <p:nvPr/>
        </p:nvSpPr>
        <p:spPr>
          <a:xfrm>
            <a:off x="731520" y="515721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98848"/>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nothing new to build</a:t>
            </a:r>
            <a:endParaRPr lang="en-US" sz="120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B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Questions</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21608"/>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the first three schemes, each with a link to its own page</a:t>
            </a:r>
            <a:endParaRPr lang="en-US" sz="1200" dirty="0"/>
          </a:p>
        </p:txBody>
      </p:sp>
      <p:sp>
        <p:nvSpPr>
          <p:cNvPr id="16" name="Shape 13"/>
          <p:cNvSpPr/>
          <p:nvPr/>
        </p:nvSpPr>
        <p:spPr>
          <a:xfrm>
            <a:off x="7680960" y="4215384"/>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84648"/>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78424"/>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C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One Tap</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358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9437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Every group on screen at once,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the groups, and a table that says who each scheme is for. For comparing.</a:t>
            </a:r>
            <a:endParaRPr lang="en-US" sz="1200" dirty="0"/>
          </a:p>
        </p:txBody>
      </p:sp>
      <p:sp>
        <p:nvSpPr>
          <p:cNvPr id="19" name="Text 15"/>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No count is shown on either.</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 · OPTION A OF 2</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Pictures of the Groups, with Cards</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then Loans and Credit,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358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search by name if you know it</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card opens the scheme's page</a:t>
            </a:r>
            <a:endParaRPr lang="en-US" sz="1200" dirty="0"/>
          </a:p>
        </p:txBody>
      </p:sp>
      <p:sp>
        <p:nvSpPr>
          <p:cNvPr id="18" name="Text 15"/>
          <p:cNvSpPr txBox="1"/>
          <p:nvPr/>
        </p:nvSpPr>
        <p:spPr>
          <a:xfrm>
            <a:off x="7680960" y="4462272"/>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80060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73659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is visible at once, with no scrolling to find yourself</a:t>
            </a:r>
            <a:endParaRPr lang="en-US" sz="1200" dirty="0"/>
          </a:p>
        </p:txBody>
      </p:sp>
      <p:sp>
        <p:nvSpPr>
          <p:cNvPr id="21" name="Shape 18"/>
          <p:cNvSpPr/>
          <p:nvPr/>
        </p:nvSpPr>
        <p:spPr>
          <a:xfrm>
            <a:off x="7680960" y="529437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 · OPTION B OF 2</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Filter Panel with a Table</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with Scholarships, then Loans added, then one filter removed.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target groups down the left, a table on the right. Tick one or more groups.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358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Ticked groups add up, so two groups show both their schemes</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No number beside any filter</a:t>
            </a:r>
            <a:endParaRPr lang="en-US" sz="1200" dirty="0"/>
          </a:p>
        </p:txBody>
      </p:sp>
      <p:sp>
        <p:nvSpPr>
          <p:cNvPr id="16" name="Shape 13"/>
          <p:cNvSpPr/>
          <p:nvPr/>
        </p:nvSpPr>
        <p:spPr>
          <a:xfrm>
            <a:off x="7680960" y="383133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76732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Ten rows a page; each scheme links to its page</a:t>
            </a:r>
            <a:endParaRPr lang="en-US" sz="1200" dirty="0"/>
          </a:p>
        </p:txBody>
      </p:sp>
      <p:sp>
        <p:nvSpPr>
          <p:cNvPr id="18" name="Text 15"/>
          <p:cNvSpPr txBox="1"/>
          <p:nvPr/>
        </p:nvSpPr>
        <p:spPr>
          <a:xfrm>
            <a:off x="7680960" y="4462272"/>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80060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73659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schemes can be read side by side</a:t>
            </a:r>
            <a:endParaRPr lang="en-US" sz="1200" dirty="0"/>
          </a:p>
        </p:txBody>
      </p:sp>
      <p:sp>
        <p:nvSpPr>
          <p:cNvPr id="21" name="Shape 18"/>
          <p:cNvSpPr/>
          <p:nvPr/>
        </p:nvSpPr>
        <p:spPr>
          <a:xfrm>
            <a:off x="7680960" y="510235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03834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has room to say who each scheme is for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ASSISTANT · 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8640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7680960" y="234086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834640"/>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34640"/>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7680960" y="2852928"/>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Who you are, then what you need. Three schemes and a link to all of them.</a:t>
            </a:r>
            <a:endParaRPr lang="en-US" sz="1200" dirty="0"/>
          </a:p>
        </p:txBody>
      </p:sp>
      <p:sp>
        <p:nvSpPr>
          <p:cNvPr id="12" name="Text 10"/>
          <p:cNvSpPr txBox="1"/>
          <p:nvPr/>
        </p:nvSpPr>
        <p:spPr>
          <a:xfrm>
            <a:off x="731520" y="3346704"/>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346704"/>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7680960" y="3364992"/>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749040"/>
            <a:ext cx="10728655" cy="0"/>
          </a:xfrm>
          <a:prstGeom prst="line">
            <a:avLst/>
          </a:prstGeom>
          <a:noFill/>
          <a:ln w="12700">
            <a:solidFill>
              <a:srgbClr val="004B96"/>
            </a:solidFill>
            <a:prstDash val="solid"/>
          </a:ln>
        </p:spPr>
      </p:sp>
      <p:sp>
        <p:nvSpPr>
          <p:cNvPr id="16" name="Text 14"/>
          <p:cNvSpPr txBox="1"/>
          <p:nvPr/>
        </p:nvSpPr>
        <p:spPr>
          <a:xfrm>
            <a:off x="731520" y="3858768"/>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3858768"/>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7680960" y="3877056"/>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19" name="Text 17"/>
          <p:cNvSpPr txBox="1"/>
          <p:nvPr/>
        </p:nvSpPr>
        <p:spPr>
          <a:xfrm>
            <a:off x="731520" y="4370832"/>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370832"/>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7680960" y="4389120"/>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Tick the groups, and a table. For comparing.</a:t>
            </a:r>
            <a:endParaRPr lang="en-US" sz="1200" dirty="0"/>
          </a:p>
        </p:txBody>
      </p:sp>
      <p:sp>
        <p:nvSpPr>
          <p:cNvPr id="22" name="Shape 20"/>
          <p:cNvSpPr/>
          <p:nvPr/>
        </p:nvSpPr>
        <p:spPr>
          <a:xfrm>
            <a:off x="731520" y="4773168"/>
            <a:ext cx="10728655" cy="0"/>
          </a:xfrm>
          <a:prstGeom prst="line">
            <a:avLst/>
          </a:prstGeom>
          <a:noFill/>
          <a:ln w="12700">
            <a:solidFill>
              <a:srgbClr val="004B96"/>
            </a:solidFill>
            <a:prstDash val="solid"/>
          </a:ln>
        </p:spPr>
      </p:sp>
      <p:sp>
        <p:nvSpPr>
          <p:cNvPr id="23" name="Text 21"/>
          <p:cNvSpPr txBox="1"/>
          <p:nvPr/>
        </p:nvSpPr>
        <p:spPr>
          <a:xfrm>
            <a:off x="731520" y="488289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488289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7680960" y="490118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The same two questions, in the chat window on every page.</a:t>
            </a:r>
            <a:endParaRPr lang="en-US" sz="1200" dirty="0"/>
          </a:p>
        </p:txBody>
      </p:sp>
      <p:sp>
        <p:nvSpPr>
          <p:cNvPr id="26" name="Shape 24"/>
          <p:cNvSpPr/>
          <p:nvPr/>
        </p:nvSpPr>
        <p:spPr>
          <a:xfrm>
            <a:off x="731520" y="5285232"/>
            <a:ext cx="10728655" cy="0"/>
          </a:xfrm>
          <a:prstGeom prst="line">
            <a:avLst/>
          </a:prstGeom>
          <a:noFill/>
          <a:ln w="12700">
            <a:solidFill>
              <a:srgbClr val="004B96"/>
            </a:solidFill>
            <a:prstDash val="solid"/>
          </a:ln>
        </p:spPr>
      </p:sp>
      <p:sp>
        <p:nvSpPr>
          <p:cNvPr id="27" name="Text 25"/>
          <p:cNvSpPr txBox="1"/>
          <p:nvPr/>
        </p:nvSpPr>
        <p:spPr>
          <a:xfrm>
            <a:off x="731520" y="5577840"/>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2026-09-09T05:48:05Z</dcterms:created>
  <dcterms:modified xsi:type="dcterms:W3CDTF">2026-09-09T05:48:05Z</dcterms:modified>
</cp:coreProperties>
</file>