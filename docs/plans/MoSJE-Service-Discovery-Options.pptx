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Schemes page, then the assistant, then what has to come first.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the first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Two arrangements of the same two filters. The next two pages show each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Six options for the website. One idea behind all of them.</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The panel as it is on the site today.</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6" name="Text 13"/>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7" name="Shape 14"/>
          <p:cNvSpPr/>
          <p:nvPr/>
        </p:nvSpPr>
        <p:spPr>
          <a:xfrm>
            <a:off x="7680960" y="4498848"/>
            <a:ext cx="54864" cy="54864"/>
          </a:xfrm>
          <a:prstGeom prst="rect">
            <a:avLst/>
          </a:prstGeom>
          <a:solidFill>
            <a:srgbClr val="005EB9"/>
          </a:solidFill>
          <a:ln w="12700">
            <a:solidFill>
              <a:srgbClr val="005EB9"/>
            </a:solidFill>
            <a:prstDash val="solid"/>
          </a:ln>
        </p:spPr>
      </p:sp>
      <p:sp>
        <p:nvSpPr>
          <p:cNvPr id="18" name="Text 15"/>
          <p:cNvSpPr txBox="1"/>
          <p:nvPr/>
        </p:nvSpPr>
        <p:spPr>
          <a:xfrm>
            <a:off x="7863840" y="443484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Already on the site, so nothing new to build</a:t>
            </a:r>
            <a:endParaRPr lang="en-US" sz="120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21608"/>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the first three schemes, each with a link to its own page</a:t>
            </a:r>
            <a:endParaRPr lang="en-US" sz="1200" dirty="0"/>
          </a:p>
        </p:txBody>
      </p:sp>
      <p:sp>
        <p:nvSpPr>
          <p:cNvPr id="16" name="Shape 13"/>
          <p:cNvSpPr/>
          <p:nvPr/>
        </p:nvSpPr>
        <p:spPr>
          <a:xfrm>
            <a:off x="7680960" y="4215384"/>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84648"/>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78424"/>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358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9437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Two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5144872" cy="3236119"/>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5090008" cy="3181255"/>
          </a:xfrm>
          <a:prstGeom prst="rect">
            <a:avLst/>
          </a:prstGeom>
        </p:spPr>
      </p:pic>
      <p:sp>
        <p:nvSpPr>
          <p:cNvPr id="9" name="Shape 6"/>
          <p:cNvSpPr/>
          <p:nvPr/>
        </p:nvSpPr>
        <p:spPr>
          <a:xfrm>
            <a:off x="731520" y="5631847"/>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Every group on screen at once, then cards. For browsing.</a:t>
            </a:r>
            <a:endParaRPr lang="en-US" sz="1200" dirty="0"/>
          </a:p>
        </p:txBody>
      </p:sp>
      <p:sp>
        <p:nvSpPr>
          <p:cNvPr id="12" name="Text 9"/>
          <p:cNvSpPr txBox="1"/>
          <p:nvPr/>
        </p:nvSpPr>
        <p:spPr>
          <a:xfrm>
            <a:off x="637016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6873088" y="1810512"/>
            <a:ext cx="458708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6342736" y="2276856"/>
            <a:ext cx="5144872" cy="3236119"/>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6370168" y="2304288"/>
            <a:ext cx="5090008" cy="3181255"/>
          </a:xfrm>
          <a:prstGeom prst="rect">
            <a:avLst/>
          </a:prstGeom>
        </p:spPr>
      </p:pic>
      <p:sp>
        <p:nvSpPr>
          <p:cNvPr id="16" name="Shape 12"/>
          <p:cNvSpPr/>
          <p:nvPr/>
        </p:nvSpPr>
        <p:spPr>
          <a:xfrm>
            <a:off x="6370168" y="5631847"/>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6370168" y="5631847"/>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6370168" y="5979319"/>
            <a:ext cx="5090008" cy="45720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
        <p:nvSpPr>
          <p:cNvPr id="19" name="Text 15"/>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No count is shown on either.</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3580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is visible at once, with no scrolling to find yourself</a:t>
            </a:r>
            <a:endParaRPr lang="en-US" sz="1200" dirty="0"/>
          </a:p>
        </p:txBody>
      </p:sp>
      <p:sp>
        <p:nvSpPr>
          <p:cNvPr id="21" name="Shape 18"/>
          <p:cNvSpPr/>
          <p:nvPr/>
        </p:nvSpPr>
        <p:spPr>
          <a:xfrm>
            <a:off x="7680960" y="548640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2</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21608"/>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15384"/>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84648"/>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8640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27832"/>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958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2336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9262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8640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ctr"/>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Six Options, Three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Every option starts from who you are. Each part is decided on its own.</a:t>
            </a:r>
            <a:endParaRPr lang="en-US" sz="1400" dirty="0"/>
          </a:p>
        </p:txBody>
      </p:sp>
      <p:sp>
        <p:nvSpPr>
          <p:cNvPr id="5" name="Shape 3"/>
          <p:cNvSpPr/>
          <p:nvPr/>
        </p:nvSpPr>
        <p:spPr>
          <a:xfrm>
            <a:off x="731520" y="2212848"/>
            <a:ext cx="10728655" cy="0"/>
          </a:xfrm>
          <a:prstGeom prst="line">
            <a:avLst/>
          </a:prstGeom>
          <a:noFill/>
          <a:ln w="12700">
            <a:solidFill>
              <a:srgbClr val="004B96"/>
            </a:solidFill>
            <a:prstDash val="solid"/>
          </a:ln>
        </p:spPr>
      </p:sp>
      <p:sp>
        <p:nvSpPr>
          <p:cNvPr id="6" name="Text 4"/>
          <p:cNvSpPr txBox="1"/>
          <p:nvPr/>
        </p:nvSpPr>
        <p:spPr>
          <a:xfrm>
            <a:off x="731520" y="232257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home page</a:t>
            </a:r>
            <a:endParaRPr lang="en-US" sz="1400" dirty="0"/>
          </a:p>
        </p:txBody>
      </p:sp>
      <p:sp>
        <p:nvSpPr>
          <p:cNvPr id="7" name="Text 5"/>
          <p:cNvSpPr txBox="1"/>
          <p:nvPr/>
        </p:nvSpPr>
        <p:spPr>
          <a:xfrm>
            <a:off x="3566160" y="232257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Explore User Personas</a:t>
            </a:r>
            <a:endParaRPr lang="en-US" sz="1500" dirty="0"/>
          </a:p>
        </p:txBody>
      </p:sp>
      <p:sp>
        <p:nvSpPr>
          <p:cNvPr id="8" name="Text 6"/>
          <p:cNvSpPr txBox="1"/>
          <p:nvPr/>
        </p:nvSpPr>
        <p:spPr>
          <a:xfrm>
            <a:off x="7680960" y="234086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On the site today. One group at a time.</a:t>
            </a:r>
            <a:endParaRPr lang="en-US" sz="1200" dirty="0"/>
          </a:p>
        </p:txBody>
      </p:sp>
      <p:sp>
        <p:nvSpPr>
          <p:cNvPr id="9" name="Text 7"/>
          <p:cNvSpPr txBox="1"/>
          <p:nvPr/>
        </p:nvSpPr>
        <p:spPr>
          <a:xfrm>
            <a:off x="731520" y="2834640"/>
            <a:ext cx="2743200" cy="365760"/>
          </a:xfrm>
          <a:prstGeom prst="rect">
            <a:avLst/>
          </a:prstGeom>
          <a:noFill/>
          <a:ln/>
        </p:spPr>
        <p:txBody>
          <a:bodyPr wrap="square" lIns="0" tIns="0" rIns="0" bIns="0" rtlCol="0" anchor="ctr"/>
          <a:lstStyle/>
          <a:p>
            <a:pPr indent="0" marL="0">
              <a:buNone/>
            </a:pPr>
            <a:endParaRPr lang="en-US" sz="1400" dirty="0"/>
          </a:p>
        </p:txBody>
      </p:sp>
      <p:sp>
        <p:nvSpPr>
          <p:cNvPr id="10" name="Text 8"/>
          <p:cNvSpPr txBox="1"/>
          <p:nvPr/>
        </p:nvSpPr>
        <p:spPr>
          <a:xfrm>
            <a:off x="3566160" y="2834640"/>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Two Questions</a:t>
            </a:r>
            <a:endParaRPr lang="en-US" sz="1500" dirty="0"/>
          </a:p>
        </p:txBody>
      </p:sp>
      <p:sp>
        <p:nvSpPr>
          <p:cNvPr id="11" name="Text 9"/>
          <p:cNvSpPr txBox="1"/>
          <p:nvPr/>
        </p:nvSpPr>
        <p:spPr>
          <a:xfrm>
            <a:off x="7680960" y="2852928"/>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Who you are, then what you need. Three schemes and a link to all of them.</a:t>
            </a:r>
            <a:endParaRPr lang="en-US" sz="1200" dirty="0"/>
          </a:p>
        </p:txBody>
      </p:sp>
      <p:sp>
        <p:nvSpPr>
          <p:cNvPr id="12" name="Text 10"/>
          <p:cNvSpPr txBox="1"/>
          <p:nvPr/>
        </p:nvSpPr>
        <p:spPr>
          <a:xfrm>
            <a:off x="731520" y="3346704"/>
            <a:ext cx="2743200" cy="365760"/>
          </a:xfrm>
          <a:prstGeom prst="rect">
            <a:avLst/>
          </a:prstGeom>
          <a:noFill/>
          <a:ln/>
        </p:spPr>
        <p:txBody>
          <a:bodyPr wrap="square" lIns="0" tIns="0" rIns="0" bIns="0" rtlCol="0" anchor="ctr"/>
          <a:lstStyle/>
          <a:p>
            <a:pPr indent="0" marL="0">
              <a:buNone/>
            </a:pPr>
            <a:endParaRPr lang="en-US" sz="1400" dirty="0"/>
          </a:p>
        </p:txBody>
      </p:sp>
      <p:sp>
        <p:nvSpPr>
          <p:cNvPr id="13" name="Text 11"/>
          <p:cNvSpPr txBox="1"/>
          <p:nvPr/>
        </p:nvSpPr>
        <p:spPr>
          <a:xfrm>
            <a:off x="3566160" y="3346704"/>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C · One Tap</a:t>
            </a:r>
            <a:endParaRPr lang="en-US" sz="1500" dirty="0"/>
          </a:p>
        </p:txBody>
      </p:sp>
      <p:sp>
        <p:nvSpPr>
          <p:cNvPr id="14" name="Text 12"/>
          <p:cNvSpPr txBox="1"/>
          <p:nvPr/>
        </p:nvSpPr>
        <p:spPr>
          <a:xfrm>
            <a:off x="7680960" y="3364992"/>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Pick your group. Its portal first, then its schemes.</a:t>
            </a:r>
            <a:endParaRPr lang="en-US" sz="1200" dirty="0"/>
          </a:p>
        </p:txBody>
      </p:sp>
      <p:sp>
        <p:nvSpPr>
          <p:cNvPr id="15" name="Shape 13"/>
          <p:cNvSpPr/>
          <p:nvPr/>
        </p:nvSpPr>
        <p:spPr>
          <a:xfrm>
            <a:off x="731520" y="3749040"/>
            <a:ext cx="10728655" cy="0"/>
          </a:xfrm>
          <a:prstGeom prst="line">
            <a:avLst/>
          </a:prstGeom>
          <a:noFill/>
          <a:ln w="12700">
            <a:solidFill>
              <a:srgbClr val="004B96"/>
            </a:solidFill>
            <a:prstDash val="solid"/>
          </a:ln>
        </p:spPr>
      </p:sp>
      <p:sp>
        <p:nvSpPr>
          <p:cNvPr id="16" name="Text 14"/>
          <p:cNvSpPr txBox="1"/>
          <p:nvPr/>
        </p:nvSpPr>
        <p:spPr>
          <a:xfrm>
            <a:off x="731520" y="3858768"/>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Schemes page</a:t>
            </a:r>
            <a:endParaRPr lang="en-US" sz="1400" dirty="0"/>
          </a:p>
        </p:txBody>
      </p:sp>
      <p:sp>
        <p:nvSpPr>
          <p:cNvPr id="17" name="Text 15"/>
          <p:cNvSpPr txBox="1"/>
          <p:nvPr/>
        </p:nvSpPr>
        <p:spPr>
          <a:xfrm>
            <a:off x="3566160" y="3858768"/>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A · Pictures of the Groups, with Cards</a:t>
            </a:r>
            <a:endParaRPr lang="en-US" sz="1500" dirty="0"/>
          </a:p>
        </p:txBody>
      </p:sp>
      <p:sp>
        <p:nvSpPr>
          <p:cNvPr id="18" name="Text 16"/>
          <p:cNvSpPr txBox="1"/>
          <p:nvPr/>
        </p:nvSpPr>
        <p:spPr>
          <a:xfrm>
            <a:off x="7680960" y="3877056"/>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Every group in one row, then cards. For browsing.</a:t>
            </a:r>
            <a:endParaRPr lang="en-US" sz="1200" dirty="0"/>
          </a:p>
        </p:txBody>
      </p:sp>
      <p:sp>
        <p:nvSpPr>
          <p:cNvPr id="19" name="Text 17"/>
          <p:cNvSpPr txBox="1"/>
          <p:nvPr/>
        </p:nvSpPr>
        <p:spPr>
          <a:xfrm>
            <a:off x="731520" y="4370832"/>
            <a:ext cx="2743200" cy="365760"/>
          </a:xfrm>
          <a:prstGeom prst="rect">
            <a:avLst/>
          </a:prstGeom>
          <a:noFill/>
          <a:ln/>
        </p:spPr>
        <p:txBody>
          <a:bodyPr wrap="square" lIns="0" tIns="0" rIns="0" bIns="0" rtlCol="0" anchor="ctr"/>
          <a:lstStyle/>
          <a:p>
            <a:pPr indent="0" marL="0">
              <a:buNone/>
            </a:pPr>
            <a:endParaRPr lang="en-US" sz="1400" dirty="0"/>
          </a:p>
        </p:txBody>
      </p:sp>
      <p:sp>
        <p:nvSpPr>
          <p:cNvPr id="20" name="Text 18"/>
          <p:cNvSpPr txBox="1"/>
          <p:nvPr/>
        </p:nvSpPr>
        <p:spPr>
          <a:xfrm>
            <a:off x="3566160" y="4370832"/>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B · Filter Panel with a Table</a:t>
            </a:r>
            <a:endParaRPr lang="en-US" sz="1500" dirty="0"/>
          </a:p>
        </p:txBody>
      </p:sp>
      <p:sp>
        <p:nvSpPr>
          <p:cNvPr id="21" name="Text 19"/>
          <p:cNvSpPr txBox="1"/>
          <p:nvPr/>
        </p:nvSpPr>
        <p:spPr>
          <a:xfrm>
            <a:off x="7680960" y="4389120"/>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Tick groups on the left, table on the right. For comparing.</a:t>
            </a:r>
            <a:endParaRPr lang="en-US" sz="1200" dirty="0"/>
          </a:p>
        </p:txBody>
      </p:sp>
      <p:sp>
        <p:nvSpPr>
          <p:cNvPr id="22" name="Shape 20"/>
          <p:cNvSpPr/>
          <p:nvPr/>
        </p:nvSpPr>
        <p:spPr>
          <a:xfrm>
            <a:off x="731520" y="4773168"/>
            <a:ext cx="10728655" cy="0"/>
          </a:xfrm>
          <a:prstGeom prst="line">
            <a:avLst/>
          </a:prstGeom>
          <a:noFill/>
          <a:ln w="12700">
            <a:solidFill>
              <a:srgbClr val="004B96"/>
            </a:solidFill>
            <a:prstDash val="solid"/>
          </a:ln>
        </p:spPr>
      </p:sp>
      <p:sp>
        <p:nvSpPr>
          <p:cNvPr id="23" name="Text 21"/>
          <p:cNvSpPr txBox="1"/>
          <p:nvPr/>
        </p:nvSpPr>
        <p:spPr>
          <a:xfrm>
            <a:off x="731520" y="4882896"/>
            <a:ext cx="2743200" cy="365760"/>
          </a:xfrm>
          <a:prstGeom prst="rect">
            <a:avLst/>
          </a:prstGeom>
          <a:noFill/>
          <a:ln/>
        </p:spPr>
        <p:txBody>
          <a:bodyPr wrap="square" lIns="0" tIns="0" rIns="0" bIns="0" rtlCol="0" anchor="ctr"/>
          <a:lstStyle/>
          <a:p>
            <a:pPr indent="0" marL="0">
              <a:buNone/>
            </a:pPr>
            <a:r>
              <a:rPr lang="en-US" sz="1400" dirty="0">
                <a:solidFill>
                  <a:srgbClr val="C0DBFF"/>
                </a:solidFill>
                <a:latin typeface="Noto Sans" pitchFamily="34" charset="0"/>
                <a:ea typeface="Noto Sans" pitchFamily="34" charset="-122"/>
                <a:cs typeface="Noto Sans" pitchFamily="34" charset="-120"/>
              </a:rPr>
              <a:t>The assistant</a:t>
            </a:r>
            <a:endParaRPr lang="en-US" sz="1400" dirty="0"/>
          </a:p>
        </p:txBody>
      </p:sp>
      <p:sp>
        <p:nvSpPr>
          <p:cNvPr id="24" name="Text 22"/>
          <p:cNvSpPr txBox="1"/>
          <p:nvPr/>
        </p:nvSpPr>
        <p:spPr>
          <a:xfrm>
            <a:off x="3566160" y="4882896"/>
            <a:ext cx="4023360" cy="365760"/>
          </a:xfrm>
          <a:prstGeom prst="rect">
            <a:avLst/>
          </a:prstGeom>
          <a:noFill/>
          <a:ln/>
        </p:spPr>
        <p:txBody>
          <a:bodyPr wrap="square" lIns="0" tIns="0" rIns="0" bIns="0" rtlCol="0" anchor="ctr"/>
          <a:lstStyle/>
          <a:p>
            <a:pPr indent="0" marL="0">
              <a:buNone/>
            </a:pPr>
            <a:r>
              <a:rPr lang="en-US" sz="1500" b="1" dirty="0">
                <a:solidFill>
                  <a:srgbClr val="FFFFFF"/>
                </a:solidFill>
                <a:latin typeface="Noto Sans" pitchFamily="34" charset="0"/>
                <a:ea typeface="Noto Sans" pitchFamily="34" charset="-122"/>
                <a:cs typeface="Noto Sans" pitchFamily="34" charset="-120"/>
              </a:rPr>
              <a:t>Samajik Sahayak</a:t>
            </a:r>
            <a:endParaRPr lang="en-US" sz="1500" dirty="0"/>
          </a:p>
        </p:txBody>
      </p:sp>
      <p:sp>
        <p:nvSpPr>
          <p:cNvPr id="25" name="Text 23"/>
          <p:cNvSpPr txBox="1"/>
          <p:nvPr/>
        </p:nvSpPr>
        <p:spPr>
          <a:xfrm>
            <a:off x="7680960" y="4901184"/>
            <a:ext cx="3779215" cy="365760"/>
          </a:xfrm>
          <a:prstGeom prst="rect">
            <a:avLst/>
          </a:prstGeom>
          <a:noFill/>
          <a:ln/>
        </p:spPr>
        <p:txBody>
          <a:bodyPr wrap="square" lIns="0" tIns="0" rIns="0" bIns="0" rtlCol="0" anchor="ctr"/>
          <a:lstStyle/>
          <a:p>
            <a:pPr indent="0" marL="0">
              <a:buNone/>
            </a:pPr>
            <a:r>
              <a:rPr lang="en-US" sz="1200" dirty="0">
                <a:solidFill>
                  <a:srgbClr val="C0DBFF"/>
                </a:solidFill>
                <a:latin typeface="Noto Sans" pitchFamily="34" charset="0"/>
                <a:ea typeface="Noto Sans" pitchFamily="34" charset="-122"/>
                <a:cs typeface="Noto Sans" pitchFamily="34" charset="-120"/>
              </a:rPr>
              <a:t>The same two questions, in the chat window on every page.</a:t>
            </a:r>
            <a:endParaRPr lang="en-US" sz="1200" dirty="0"/>
          </a:p>
        </p:txBody>
      </p:sp>
      <p:sp>
        <p:nvSpPr>
          <p:cNvPr id="26" name="Shape 24"/>
          <p:cNvSpPr/>
          <p:nvPr/>
        </p:nvSpPr>
        <p:spPr>
          <a:xfrm>
            <a:off x="731520" y="5285232"/>
            <a:ext cx="10728655" cy="0"/>
          </a:xfrm>
          <a:prstGeom prst="line">
            <a:avLst/>
          </a:prstGeom>
          <a:noFill/>
          <a:ln w="12700">
            <a:solidFill>
              <a:srgbClr val="004B96"/>
            </a:solidFill>
            <a:prstDash val="solid"/>
          </a:ln>
        </p:spPr>
      </p:sp>
      <p:sp>
        <p:nvSpPr>
          <p:cNvPr id="27" name="Text 25"/>
          <p:cNvSpPr txBox="1"/>
          <p:nvPr/>
        </p:nvSpPr>
        <p:spPr>
          <a:xfrm>
            <a:off x="731520" y="5577840"/>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2026-09-09T07:28:51Z</dcterms:created>
  <dcterms:modified xsi:type="dcterms:W3CDTF">2026-09-09T07:28:51Z</dcterms:modified>
</cp:coreProperties>
</file>