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624328"/>
            <a:ext cx="10728655" cy="0"/>
          </a:xfrm>
          <a:prstGeom prst="line">
            <a:avLst/>
          </a:prstGeom>
          <a:noFill/>
          <a:ln w="12700">
            <a:solidFill>
              <a:srgbClr val="004B96"/>
            </a:solidFill>
            <a:prstDash val="solid"/>
          </a:ln>
        </p:spPr>
      </p:sp>
      <p:sp>
        <p:nvSpPr>
          <p:cNvPr id="6" name="Text 4"/>
          <p:cNvSpPr txBox="1"/>
          <p:nvPr/>
        </p:nvSpPr>
        <p:spPr>
          <a:xfrm>
            <a:off x="731520" y="273405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73405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752344"/>
            <a:ext cx="377921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324612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324612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3264408"/>
            <a:ext cx="377921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75818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75818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776472"/>
            <a:ext cx="377921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4160520"/>
            <a:ext cx="10728655" cy="0"/>
          </a:xfrm>
          <a:prstGeom prst="line">
            <a:avLst/>
          </a:prstGeom>
          <a:noFill/>
          <a:ln w="12700">
            <a:solidFill>
              <a:srgbClr val="004B96"/>
            </a:solidFill>
            <a:prstDash val="solid"/>
          </a:ln>
        </p:spPr>
      </p:sp>
      <p:sp>
        <p:nvSpPr>
          <p:cNvPr id="16" name="Text 14"/>
          <p:cNvSpPr txBox="1"/>
          <p:nvPr/>
        </p:nvSpPr>
        <p:spPr>
          <a:xfrm>
            <a:off x="731520" y="427024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27024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4288536"/>
            <a:ext cx="377921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78231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78231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800600"/>
            <a:ext cx="377921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184648"/>
            <a:ext cx="10728655" cy="0"/>
          </a:xfrm>
          <a:prstGeom prst="line">
            <a:avLst/>
          </a:prstGeom>
          <a:noFill/>
          <a:ln w="12700">
            <a:solidFill>
              <a:srgbClr val="004B96"/>
            </a:solidFill>
            <a:prstDash val="solid"/>
          </a:ln>
        </p:spPr>
      </p:sp>
      <p:sp>
        <p:nvSpPr>
          <p:cNvPr id="23" name="Text 21"/>
          <p:cNvSpPr txBox="1"/>
          <p:nvPr/>
        </p:nvSpPr>
        <p:spPr>
          <a:xfrm>
            <a:off x="731520" y="52943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2943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5312664"/>
            <a:ext cx="377921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96712"/>
            <a:ext cx="10728655" cy="0"/>
          </a:xfrm>
          <a:prstGeom prst="line">
            <a:avLst/>
          </a:prstGeom>
          <a:noFill/>
          <a:ln w="12700">
            <a:solidFill>
              <a:srgbClr val="004B96"/>
            </a:solidFill>
            <a:prstDash val="solid"/>
          </a:ln>
        </p:spPr>
      </p:sp>
      <p:sp>
        <p:nvSpPr>
          <p:cNvPr id="27" name="Text 25"/>
          <p:cNvSpPr txBox="1"/>
          <p:nvPr/>
        </p:nvSpPr>
        <p:spPr>
          <a:xfrm>
            <a:off x="731520" y="2084832"/>
            <a:ext cx="10728655" cy="457200"/>
          </a:xfrm>
          <a:prstGeom prst="rect">
            <a:avLst/>
          </a:prstGeom>
          <a:noFill/>
          <a:ln/>
        </p:spPr>
        <p:txBody>
          <a:bodyPr wrap="square" lIns="0" tIns="0" rIns="0" bIns="0" rtlCol="0" anchor="ctr"/>
          <a:lstStyle/>
          <a:p>
            <a:pPr indent="0" marL="0">
              <a:lnSpc>
                <a:spcPct val="120000"/>
              </a:lnSpc>
              <a:buNone/>
            </a:pPr>
            <a:r>
              <a:rPr lang="en-US" sz="1300" dirty="0">
                <a:solidFill>
                  <a:srgbClr val="FFFF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300" dirty="0"/>
          </a:p>
        </p:txBody>
      </p:sp>
      <p:sp>
        <p:nvSpPr>
          <p:cNvPr id="28" name="Text 26"/>
          <p:cNvSpPr txBox="1"/>
          <p:nvPr/>
        </p:nvSpPr>
        <p:spPr>
          <a:xfrm>
            <a:off x="731520" y="5861304"/>
            <a:ext cx="10728655" cy="274320"/>
          </a:xfrm>
          <a:prstGeom prst="rect">
            <a:avLst/>
          </a:prstGeom>
          <a:noFill/>
          <a:ln/>
        </p:spPr>
        <p:txBody>
          <a:bodyPr wrap="square" lIns="0" tIns="0" rIns="0" bIns="0" rtlCol="0" anchor="ctr"/>
          <a:lstStyle/>
          <a:p>
            <a:pPr indent="0" marL="0">
              <a:buNone/>
            </a:pPr>
            <a:r>
              <a:rPr lang="en-US" sz="1250" dirty="0">
                <a:solidFill>
                  <a:srgbClr val="C0DBFF"/>
                </a:solidFill>
                <a:latin typeface="Noto Sans" pitchFamily="34" charset="0"/>
                <a:ea typeface="Noto Sans" pitchFamily="34" charset="-122"/>
                <a:cs typeface="Noto Sans" pitchFamily="34" charset="-120"/>
              </a:rPr>
              <a:t>Options that share a mechanism: Home B with Schemes B, the two lists; Home C with Schemes A, the picture row.</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2026-09-09T08:08:08Z</dcterms:created>
  <dcterms:modified xsi:type="dcterms:W3CDTF">2026-09-09T08:08:08Z</dcterms:modified>
</cp:coreProperties>
</file>