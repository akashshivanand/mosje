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Presented live. The order is the one asked for on 8 September: the idea behind every option first, then the home page, then the menu, then the Schemes page, then the assistant, then what has to come first. The menu was added on 14 September. Only Schemes page Option C shows scheme counts, one on each heading; that was decided on 14 September. Every other option shows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idea. On the left, the person: the groups the Department's own mandate names, plus the three its schemes name — students, victims of atrocities, and the voluntary organisations it funds. On the right, what the Department gives, in its own words. A scheme is findable under every group it names and every kind of support it provides, at once. Everything that follows is a view over these two lists. Not stage of life, not State: the review cut those, and a scheme record is tagged on these two axes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options for the home page. A stays where it is. B or C takes the section below the banner. C is for the visitor who will not answer questions. The next three pages show each one being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panel already on the home page: one group at a time, moved with arrows. The list of groups is the same eleven the other options use, in the same order. Today, choosing a group filters nothing on the Schemes page; every option fixes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short questions over the Department's own list of schemes. The second may be skipped, which widens the list. The answer shows both choices, three schemes, and a link to the Schemes page filtered to the same choices. There is no apply button here: the scheme's own page says where to apply. Before this can be built, every scheme has to be tagged on both lists; that is on the page near the end. Press play: it is a real page being used, not an animation.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row of the groups. Tapping one shows the portal or helpline for that group first, where the Department has one, then the schemes that name the group, sorted by what they give. Each links to its own page. The larger groups get long lists, which is why the list is cut at three per kind of support with a link to the rest. Press play: it is a real page being used, not an animation.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after the internal review of 14 September. The feedback was that a scheme portal is not an organisation, so it should not sit under Associated Organisations. A answers that with the name alone. B moves the portals into Offerings. C gives schemes a place of their own in the top row. The next three pages show each one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lightest of the three, added on 14 September. Nothing moves; the name of the menu now covers what is in it. Wherever the site says All Organisations today, including the Schemes page filter, it would say Organisations &amp; Scheme Portals. The longer name fits on a desktop screen and still has to be checked on a smaller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portals leave Associated Organisations and join Offerings. View All Schemes is a full-width button under the portals, as asked on 14 September, so the list of all schemes is not reduced to a small link. The top row stays as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row gains an eighth entry. It only fits because Associated Organisations becomes Organisations, and that name changes on every page. A new entry was felt to crowd the row on smaller screens, so this is the option to take only if schemes should not sit near the organisations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internal page. Three arrangements of the same filters. A and B were shown on 9 September; C was drawn after the review of 14 September. The next three pages show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layout from before the review, with the review's changes: one filter, the group, no counts, and paged cards so the page keeps its height. This is for browsing. Press play: it is a real page being used, not an animation.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reference layout with the filter panel: tick one or more groups, and the table on the right says what each scheme gives and who it is for, ten rows a page, no counts. This is for comparing and deciding. Press play: it is a real page being used, not an animation.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Drawn after the review of 14 September. Services are a choice of their own because some portals, Senior Citizens Welfare among them, offer services as well as schemes. The first visit still opens on the Department's own schemes; choosing any filter widens it to all organisations and portals. Each heading shows how many schemes sit under it, as socialjustice.gov.in does, so a visitor knows how much is there before opening it. The counts are read from the list when the page loads, never typed in, so they change as schemes are added or cleaned up. This is the only option in the deck that shows a count. The headings are the categories dosje.gov.in uses today; they would become the list on the second slide once every scheme is tagged. A second version, grouped by organisation, is drawn beside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two questions, asked one at a time in the chat window that is already built and reachable from every page. It reads the same list as the home page, so it can never name different schemes for the same person. It says plainly that it cannot decide or change an application. Press play: it is a real page being used, not an animation.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ten options, in one place. Each part of the site is decided on its own; any combination can be taken. Whatever is chosen, the two lists have to be confirmed, every scheme tagged on both, and the re-tagging estimated before the build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video" Target="../media/media-5-1.mp4"/><Relationship Id="rId2" Type="http://schemas.microsoft.com/office/2007/relationships/media" Target="../media/media-5-1.mp4"/><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video" Target="../media/media-6-1.mp4"/><Relationship Id="rId2" Type="http://schemas.microsoft.com/office/2007/relationships/media" Target="../media/media-6-1.mp4"/><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video" Target="../media/media-12-1.mp4"/><Relationship Id="rId2" Type="http://schemas.microsoft.com/office/2007/relationships/media" Target="../media/media-12-1.mp4"/><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video" Target="../media/media-13-1.mp4"/><Relationship Id="rId2" Type="http://schemas.microsoft.com/office/2007/relationships/media" Target="../media/media-13-1.mp4"/><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video" Target="../media/media-15-1.mp4"/><Relationship Id="rId2" Type="http://schemas.microsoft.com/office/2007/relationships/media" Target="../media/media-15-1.mp4"/><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975"/>
        </a:solidFill>
      </p:bgPr>
    </p:bg>
    <p:spTree>
      <p:nvGrpSpPr>
        <p:cNvPr id="1" name=""/>
        <p:cNvGrpSpPr/>
        <p:nvPr/>
      </p:nvGrpSpPr>
      <p:grpSpPr>
        <a:xfrm>
          <a:off x="0" y="0"/>
          <a:ext cx="0" cy="0"/>
          <a:chOff x="0" y="0"/>
          <a:chExt cx="0" cy="0"/>
        </a:xfrm>
      </p:grpSpPr>
      <p:pic>
        <p:nvPicPr>
          <p:cNvPr id="2" name="Image 0" descr="assets/emblem-white.png">    </p:cNvPr>
          <p:cNvPicPr>
            <a:picLocks noChangeAspect="1"/>
          </p:cNvPicPr>
          <p:nvPr/>
        </p:nvPicPr>
        <p:blipFill>
          <a:blip r:embed="rId1"/>
          <a:stretch>
            <a:fillRect/>
          </a:stretch>
        </p:blipFill>
        <p:spPr>
          <a:xfrm>
            <a:off x="731520" y="731520"/>
            <a:ext cx="548640" cy="768096"/>
          </a:xfrm>
          <a:prstGeom prst="rect">
            <a:avLst/>
          </a:prstGeom>
        </p:spPr>
      </p:pic>
      <p:sp>
        <p:nvSpPr>
          <p:cNvPr id="3" name="Text 0"/>
          <p:cNvSpPr txBox="1"/>
          <p:nvPr/>
        </p:nvSpPr>
        <p:spPr>
          <a:xfrm>
            <a:off x="1463040" y="786384"/>
            <a:ext cx="6035040" cy="713232"/>
          </a:xfrm>
          <a:prstGeom prst="rect">
            <a:avLst/>
          </a:prstGeom>
          <a:noFill/>
          <a:ln/>
        </p:spPr>
        <p:txBody>
          <a:bodyPr wrap="square" lIns="0" tIns="0" rIns="0" bIns="0" rtlCol="0" anchor="ctr"/>
          <a:lstStyle/>
          <a:p>
            <a:pPr indent="0" marL="0">
              <a:lnSpc>
                <a:spcPct val="120000"/>
              </a:lnSpc>
              <a:buNone/>
            </a:pPr>
            <a:r>
              <a:rPr lang="en-US" sz="1150" dirty="0">
                <a:solidFill>
                  <a:srgbClr val="C0DBFF"/>
                </a:solidFill>
                <a:latin typeface="Noto Sans" pitchFamily="34" charset="0"/>
                <a:ea typeface="Noto Sans" pitchFamily="34" charset="-122"/>
                <a:cs typeface="Noto Sans" pitchFamily="34" charset="-120"/>
              </a:rPr>
              <a:t>Government of India</a:t>
            </a:r>
            <a:endParaRPr lang="en-US" sz="1150" dirty="0"/>
          </a:p>
          <a:p>
            <a:pPr indent="0" marL="0">
              <a:lnSpc>
                <a:spcPct val="120000"/>
              </a:lnSpc>
              <a:buNone/>
            </a:pPr>
            <a:r>
              <a:rPr lang="en-US" sz="1150" dirty="0">
                <a:solidFill>
                  <a:srgbClr val="C0DBFF"/>
                </a:solidFill>
                <a:latin typeface="Noto Sans" pitchFamily="34" charset="0"/>
                <a:ea typeface="Noto Sans" pitchFamily="34" charset="-122"/>
                <a:cs typeface="Noto Sans" pitchFamily="34" charset="-120"/>
              </a:rPr>
              <a:t>Ministry of Social Justice &amp; Empowerment</a:t>
            </a:r>
            <a:endParaRPr lang="en-US" sz="1150" dirty="0"/>
          </a:p>
          <a:p>
            <a:pPr indent="0" marL="0">
              <a:lnSpc>
                <a:spcPct val="120000"/>
              </a:lnSpc>
              <a:buNone/>
            </a:pPr>
            <a:r>
              <a:rPr lang="en-US" sz="1150" dirty="0">
                <a:solidFill>
                  <a:srgbClr val="C0DBFF"/>
                </a:solidFill>
                <a:latin typeface="Noto Sans" pitchFamily="34" charset="0"/>
                <a:ea typeface="Noto Sans" pitchFamily="34" charset="-122"/>
                <a:cs typeface="Noto Sans" pitchFamily="34" charset="-120"/>
              </a:rPr>
              <a:t>Department of Social Justice &amp; Empowerment</a:t>
            </a:r>
            <a:endParaRPr lang="en-US" sz="1150" dirty="0"/>
          </a:p>
        </p:txBody>
      </p:sp>
      <p:sp>
        <p:nvSpPr>
          <p:cNvPr id="4" name="Text 1"/>
          <p:cNvSpPr txBox="1"/>
          <p:nvPr/>
        </p:nvSpPr>
        <p:spPr>
          <a:xfrm>
            <a:off x="731520" y="2468880"/>
            <a:ext cx="9144000" cy="1005840"/>
          </a:xfrm>
          <a:prstGeom prst="rect">
            <a:avLst/>
          </a:prstGeom>
          <a:noFill/>
          <a:ln/>
        </p:spPr>
        <p:txBody>
          <a:bodyPr wrap="square" lIns="0" tIns="0" rIns="0" bIns="0" rtlCol="0" anchor="ctr"/>
          <a:lstStyle/>
          <a:p>
            <a:pPr indent="0" marL="0">
              <a:buNone/>
            </a:pPr>
            <a:r>
              <a:rPr lang="en-US" sz="4400" b="1" dirty="0">
                <a:solidFill>
                  <a:srgbClr val="FFFFFF"/>
                </a:solidFill>
                <a:latin typeface="Noto Sans" pitchFamily="34" charset="0"/>
                <a:ea typeface="Noto Sans" pitchFamily="34" charset="-122"/>
                <a:cs typeface="Noto Sans" pitchFamily="34" charset="-120"/>
              </a:rPr>
              <a:t>How Citizens Find Schemes</a:t>
            </a:r>
            <a:endParaRPr lang="en-US" sz="4400" dirty="0"/>
          </a:p>
        </p:txBody>
      </p:sp>
      <p:sp>
        <p:nvSpPr>
          <p:cNvPr id="5" name="Text 2"/>
          <p:cNvSpPr txBox="1"/>
          <p:nvPr/>
        </p:nvSpPr>
        <p:spPr>
          <a:xfrm>
            <a:off x="731520" y="3566160"/>
            <a:ext cx="9509760" cy="457200"/>
          </a:xfrm>
          <a:prstGeom prst="rect">
            <a:avLst/>
          </a:prstGeom>
          <a:noFill/>
          <a:ln/>
        </p:spPr>
        <p:txBody>
          <a:bodyPr wrap="square" lIns="0" tIns="0" rIns="0" bIns="0" rtlCol="0" anchor="ctr"/>
          <a:lstStyle/>
          <a:p>
            <a:pPr indent="0" marL="0">
              <a:buNone/>
            </a:pPr>
            <a:r>
              <a:rPr lang="en-US" sz="1800" dirty="0">
                <a:solidFill>
                  <a:srgbClr val="C0DBFF"/>
                </a:solidFill>
                <a:latin typeface="Noto Sans" pitchFamily="34" charset="0"/>
                <a:ea typeface="Noto Sans" pitchFamily="34" charset="-122"/>
                <a:cs typeface="Noto Sans" pitchFamily="34" charset="-120"/>
              </a:rPr>
              <a:t>Ten options for four parts of the website.</a:t>
            </a:r>
            <a:endParaRPr lang="en-US" sz="1800" dirty="0"/>
          </a:p>
        </p:txBody>
      </p:sp>
      <p:sp>
        <p:nvSpPr>
          <p:cNvPr id="6" name="Text 3"/>
          <p:cNvSpPr txBox="1"/>
          <p:nvPr/>
        </p:nvSpPr>
        <p:spPr>
          <a:xfrm>
            <a:off x="731520" y="6400800"/>
            <a:ext cx="10728655" cy="237744"/>
          </a:xfrm>
          <a:prstGeom prst="rect">
            <a:avLst/>
          </a:prstGeom>
          <a:noFill/>
          <a:ln/>
        </p:spPr>
        <p:txBody>
          <a:bodyPr wrap="square" lIns="0" tIns="0" rIns="0" bIns="0" rtlCol="0" anchor="ctr"/>
          <a:lstStyle/>
          <a:p>
            <a:pPr indent="0" marL="0">
              <a:buNone/>
            </a:pPr>
            <a:r>
              <a:rPr lang="en-US" sz="850" dirty="0">
                <a:solidFill>
                  <a:srgbClr val="92C2FF"/>
                </a:solidFill>
                <a:latin typeface="Noto Sans" pitchFamily="34" charset="0"/>
                <a:ea typeface="Noto Sans" pitchFamily="34" charset="-122"/>
                <a:cs typeface="Noto Sans" pitchFamily="34" charset="-120"/>
              </a:rPr>
              <a:t>MoSJE Design Research · September 2026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38912"/>
            <a:ext cx="10728655" cy="219456"/>
          </a:xfrm>
          <a:prstGeom prst="rect">
            <a:avLst/>
          </a:prstGeom>
          <a:noFill/>
          <a:ln/>
        </p:spPr>
        <p:txBody>
          <a:bodyPr wrap="square" lIns="0" tIns="0" rIns="0" bIns="0" rtlCol="0" anchor="ctr"/>
          <a:lstStyle/>
          <a:p>
            <a:pPr indent="0" marL="0">
              <a:buNone/>
            </a:pPr>
            <a:r>
              <a:rPr lang="en-US" sz="950" b="1" spc="100" kern="0" dirty="0">
                <a:solidFill>
                  <a:srgbClr val="54585E"/>
                </a:solidFill>
                <a:latin typeface="Noto Sans" pitchFamily="34" charset="0"/>
                <a:ea typeface="Noto Sans" pitchFamily="34" charset="-122"/>
                <a:cs typeface="Noto Sans" pitchFamily="34" charset="-120"/>
              </a:rPr>
              <a:t>ONE IDEA BEHIND EVERY OPTION</a:t>
            </a:r>
            <a:endParaRPr lang="en-US" sz="950" dirty="0"/>
          </a:p>
        </p:txBody>
      </p:sp>
      <p:sp>
        <p:nvSpPr>
          <p:cNvPr id="3" name="Text 1"/>
          <p:cNvSpPr txBox="1"/>
          <p:nvPr/>
        </p:nvSpPr>
        <p:spPr>
          <a:xfrm>
            <a:off x="731520" y="694944"/>
            <a:ext cx="10728655" cy="640080"/>
          </a:xfrm>
          <a:prstGeom prst="rect">
            <a:avLst/>
          </a:prstGeom>
          <a:noFill/>
          <a:ln/>
        </p:spPr>
        <p:txBody>
          <a:bodyPr wrap="square" lIns="0" tIns="0" rIns="0" bIns="0" rtlCol="0" anchor="ctr"/>
          <a:lstStyle/>
          <a:p>
            <a:pPr indent="0" marL="0">
              <a:buNone/>
            </a:pPr>
            <a:r>
              <a:rPr lang="en-US" sz="3600" b="1" dirty="0">
                <a:solidFill>
                  <a:srgbClr val="003975"/>
                </a:solidFill>
                <a:latin typeface="Noto Sans" pitchFamily="34" charset="0"/>
                <a:ea typeface="Noto Sans" pitchFamily="34" charset="-122"/>
                <a:cs typeface="Noto Sans" pitchFamily="34" charset="-120"/>
              </a:rPr>
              <a:t>Who You Are. What You Need.</a:t>
            </a:r>
            <a:endParaRPr lang="en-US" sz="3600" dirty="0"/>
          </a:p>
        </p:txBody>
      </p:sp>
      <p:sp>
        <p:nvSpPr>
          <p:cNvPr id="4" name="Text 2"/>
          <p:cNvSpPr txBox="1"/>
          <p:nvPr/>
        </p:nvSpPr>
        <p:spPr>
          <a:xfrm>
            <a:off x="731520" y="1371600"/>
            <a:ext cx="10728655" cy="310896"/>
          </a:xfrm>
          <a:prstGeom prst="rect">
            <a:avLst/>
          </a:prstGeom>
          <a:noFill/>
          <a:ln/>
        </p:spPr>
        <p:txBody>
          <a:bodyPr wrap="square" lIns="0" tIns="0" rIns="0" bIns="0" rtlCol="0" anchor="ctr"/>
          <a:lstStyle/>
          <a:p>
            <a:pPr indent="0" marL="0">
              <a:buNone/>
            </a:pPr>
            <a:r>
              <a:rPr lang="en-US" sz="1400" dirty="0">
                <a:solidFill>
                  <a:srgbClr val="3A3D41"/>
                </a:solidFill>
                <a:latin typeface="Noto Sans" pitchFamily="34" charset="0"/>
                <a:ea typeface="Noto Sans" pitchFamily="34" charset="-122"/>
                <a:cs typeface="Noto Sans" pitchFamily="34" charset="-120"/>
              </a:rPr>
              <a:t>Every option for finding a scheme is built on these two lists.</a:t>
            </a:r>
            <a:endParaRPr lang="en-US" sz="1400" dirty="0"/>
          </a:p>
        </p:txBody>
      </p:sp>
      <p:sp>
        <p:nvSpPr>
          <p:cNvPr id="5" name="Text 3"/>
          <p:cNvSpPr txBox="1"/>
          <p:nvPr/>
        </p:nvSpPr>
        <p:spPr>
          <a:xfrm>
            <a:off x="731520" y="2011680"/>
            <a:ext cx="5029200" cy="292608"/>
          </a:xfrm>
          <a:prstGeom prst="rect">
            <a:avLst/>
          </a:prstGeom>
          <a:noFill/>
          <a:ln/>
        </p:spPr>
        <p:txBody>
          <a:bodyPr wrap="square" lIns="0" tIns="0" rIns="0" bIns="0" rtlCol="0" anchor="ctr"/>
          <a:lstStyle/>
          <a:p>
            <a:pPr indent="0" marL="0">
              <a:buNone/>
            </a:pPr>
            <a:r>
              <a:rPr lang="en-US" sz="1900" b="1" dirty="0">
                <a:solidFill>
                  <a:srgbClr val="005EB9"/>
                </a:solidFill>
                <a:latin typeface="Noto Sans" pitchFamily="34" charset="0"/>
                <a:ea typeface="Noto Sans" pitchFamily="34" charset="-122"/>
                <a:cs typeface="Noto Sans" pitchFamily="34" charset="-120"/>
              </a:rPr>
              <a:t>Who Is Looking for Support</a:t>
            </a:r>
            <a:endParaRPr lang="en-US" sz="1900" dirty="0"/>
          </a:p>
        </p:txBody>
      </p:sp>
      <p:sp>
        <p:nvSpPr>
          <p:cNvPr id="6" name="Shape 4"/>
          <p:cNvSpPr/>
          <p:nvPr/>
        </p:nvSpPr>
        <p:spPr>
          <a:xfrm>
            <a:off x="731520" y="2395728"/>
            <a:ext cx="5029200" cy="0"/>
          </a:xfrm>
          <a:prstGeom prst="line">
            <a:avLst/>
          </a:prstGeom>
          <a:noFill/>
          <a:ln w="9525">
            <a:solidFill>
              <a:srgbClr val="DCDEE1"/>
            </a:solidFill>
            <a:prstDash val="solid"/>
          </a:ln>
        </p:spPr>
      </p:sp>
      <p:sp>
        <p:nvSpPr>
          <p:cNvPr id="7" name="Text 5"/>
          <p:cNvSpPr txBox="1"/>
          <p:nvPr/>
        </p:nvSpPr>
        <p:spPr>
          <a:xfrm>
            <a:off x="731520" y="2523744"/>
            <a:ext cx="5029200" cy="315468"/>
          </a:xfrm>
          <a:prstGeom prst="rect">
            <a:avLst/>
          </a:prstGeom>
          <a:noFill/>
          <a:ln/>
        </p:spPr>
        <p:txBody>
          <a:bodyPr wrap="square" lIns="0" tIns="0" rIns="0" bIns="0" rtlCol="0" anchor="ctr"/>
          <a:lstStyle/>
          <a:p>
            <a:pPr indent="0" marL="0">
              <a:buNone/>
            </a:pPr>
            <a:r>
              <a:rPr lang="en-US" sz="1300" dirty="0">
                <a:solidFill>
                  <a:srgbClr val="1E2124"/>
                </a:solidFill>
                <a:latin typeface="Noto Sans" pitchFamily="34" charset="0"/>
                <a:ea typeface="Noto Sans" pitchFamily="34" charset="-122"/>
                <a:cs typeface="Noto Sans" pitchFamily="34" charset="-120"/>
              </a:rPr>
              <a:t>Students</a:t>
            </a:r>
            <a:endParaRPr lang="en-US" sz="1300" dirty="0"/>
          </a:p>
        </p:txBody>
      </p:sp>
      <p:sp>
        <p:nvSpPr>
          <p:cNvPr id="8" name="Text 6"/>
          <p:cNvSpPr txBox="1"/>
          <p:nvPr/>
        </p:nvSpPr>
        <p:spPr>
          <a:xfrm>
            <a:off x="731520" y="2839212"/>
            <a:ext cx="5029200" cy="315468"/>
          </a:xfrm>
          <a:prstGeom prst="rect">
            <a:avLst/>
          </a:prstGeom>
          <a:noFill/>
          <a:ln/>
        </p:spPr>
        <p:txBody>
          <a:bodyPr wrap="square" lIns="0" tIns="0" rIns="0" bIns="0" rtlCol="0" anchor="ctr"/>
          <a:lstStyle/>
          <a:p>
            <a:pPr indent="0" marL="0">
              <a:buNone/>
            </a:pPr>
            <a:r>
              <a:rPr lang="en-US" sz="1300" dirty="0">
                <a:solidFill>
                  <a:srgbClr val="1E2124"/>
                </a:solidFill>
                <a:latin typeface="Noto Sans" pitchFamily="34" charset="0"/>
                <a:ea typeface="Noto Sans" pitchFamily="34" charset="-122"/>
                <a:cs typeface="Noto Sans" pitchFamily="34" charset="-120"/>
              </a:rPr>
              <a:t>Scheduled Castes</a:t>
            </a:r>
            <a:endParaRPr lang="en-US" sz="1300" dirty="0"/>
          </a:p>
        </p:txBody>
      </p:sp>
      <p:sp>
        <p:nvSpPr>
          <p:cNvPr id="9" name="Text 7"/>
          <p:cNvSpPr txBox="1"/>
          <p:nvPr/>
        </p:nvSpPr>
        <p:spPr>
          <a:xfrm>
            <a:off x="731520" y="3154680"/>
            <a:ext cx="5029200" cy="315468"/>
          </a:xfrm>
          <a:prstGeom prst="rect">
            <a:avLst/>
          </a:prstGeom>
          <a:noFill/>
          <a:ln/>
        </p:spPr>
        <p:txBody>
          <a:bodyPr wrap="square" lIns="0" tIns="0" rIns="0" bIns="0" rtlCol="0" anchor="ctr"/>
          <a:lstStyle/>
          <a:p>
            <a:pPr indent="0" marL="0">
              <a:buNone/>
            </a:pPr>
            <a:r>
              <a:rPr lang="en-US" sz="1300" dirty="0">
                <a:solidFill>
                  <a:srgbClr val="1E2124"/>
                </a:solidFill>
                <a:latin typeface="Noto Sans" pitchFamily="34" charset="0"/>
                <a:ea typeface="Noto Sans" pitchFamily="34" charset="-122"/>
                <a:cs typeface="Noto Sans" pitchFamily="34" charset="-120"/>
              </a:rPr>
              <a:t>Other Backward Classes</a:t>
            </a:r>
            <a:endParaRPr lang="en-US" sz="1300" dirty="0"/>
          </a:p>
        </p:txBody>
      </p:sp>
      <p:sp>
        <p:nvSpPr>
          <p:cNvPr id="10" name="Text 8"/>
          <p:cNvSpPr txBox="1"/>
          <p:nvPr/>
        </p:nvSpPr>
        <p:spPr>
          <a:xfrm>
            <a:off x="731520" y="3470148"/>
            <a:ext cx="5029200" cy="315468"/>
          </a:xfrm>
          <a:prstGeom prst="rect">
            <a:avLst/>
          </a:prstGeom>
          <a:noFill/>
          <a:ln/>
        </p:spPr>
        <p:txBody>
          <a:bodyPr wrap="square" lIns="0" tIns="0" rIns="0" bIns="0" rtlCol="0" anchor="ctr"/>
          <a:lstStyle/>
          <a:p>
            <a:pPr indent="0" marL="0">
              <a:buNone/>
            </a:pPr>
            <a:r>
              <a:rPr lang="en-US" sz="1300" dirty="0">
                <a:solidFill>
                  <a:srgbClr val="1E2124"/>
                </a:solidFill>
                <a:latin typeface="Noto Sans" pitchFamily="34" charset="0"/>
                <a:ea typeface="Noto Sans" pitchFamily="34" charset="-122"/>
                <a:cs typeface="Noto Sans" pitchFamily="34" charset="-120"/>
              </a:rPr>
              <a:t>De-notified, Nomadic and Semi-Nomadic Tribes</a:t>
            </a:r>
            <a:endParaRPr lang="en-US" sz="1300" dirty="0"/>
          </a:p>
        </p:txBody>
      </p:sp>
      <p:sp>
        <p:nvSpPr>
          <p:cNvPr id="11" name="Text 9"/>
          <p:cNvSpPr txBox="1"/>
          <p:nvPr/>
        </p:nvSpPr>
        <p:spPr>
          <a:xfrm>
            <a:off x="731520" y="3785616"/>
            <a:ext cx="5029200" cy="315468"/>
          </a:xfrm>
          <a:prstGeom prst="rect">
            <a:avLst/>
          </a:prstGeom>
          <a:noFill/>
          <a:ln/>
        </p:spPr>
        <p:txBody>
          <a:bodyPr wrap="square" lIns="0" tIns="0" rIns="0" bIns="0" rtlCol="0" anchor="ctr"/>
          <a:lstStyle/>
          <a:p>
            <a:pPr indent="0" marL="0">
              <a:buNone/>
            </a:pPr>
            <a:r>
              <a:rPr lang="en-US" sz="1300" dirty="0">
                <a:solidFill>
                  <a:srgbClr val="1E2124"/>
                </a:solidFill>
                <a:latin typeface="Noto Sans" pitchFamily="34" charset="0"/>
                <a:ea typeface="Noto Sans" pitchFamily="34" charset="-122"/>
                <a:cs typeface="Noto Sans" pitchFamily="34" charset="-120"/>
              </a:rPr>
              <a:t>Safai Karamcharis</a:t>
            </a:r>
            <a:endParaRPr lang="en-US" sz="1300" dirty="0"/>
          </a:p>
        </p:txBody>
      </p:sp>
      <p:sp>
        <p:nvSpPr>
          <p:cNvPr id="12" name="Text 10"/>
          <p:cNvSpPr txBox="1"/>
          <p:nvPr/>
        </p:nvSpPr>
        <p:spPr>
          <a:xfrm>
            <a:off x="731520" y="4101084"/>
            <a:ext cx="5029200" cy="315468"/>
          </a:xfrm>
          <a:prstGeom prst="rect">
            <a:avLst/>
          </a:prstGeom>
          <a:noFill/>
          <a:ln/>
        </p:spPr>
        <p:txBody>
          <a:bodyPr wrap="square" lIns="0" tIns="0" rIns="0" bIns="0" rtlCol="0" anchor="ctr"/>
          <a:lstStyle/>
          <a:p>
            <a:pPr indent="0" marL="0">
              <a:buNone/>
            </a:pPr>
            <a:r>
              <a:rPr lang="en-US" sz="1300" dirty="0">
                <a:solidFill>
                  <a:srgbClr val="1E2124"/>
                </a:solidFill>
                <a:latin typeface="Noto Sans" pitchFamily="34" charset="0"/>
                <a:ea typeface="Noto Sans" pitchFamily="34" charset="-122"/>
                <a:cs typeface="Noto Sans" pitchFamily="34" charset="-120"/>
              </a:rPr>
              <a:t>Senior Citizens</a:t>
            </a:r>
            <a:endParaRPr lang="en-US" sz="1300" dirty="0"/>
          </a:p>
        </p:txBody>
      </p:sp>
      <p:sp>
        <p:nvSpPr>
          <p:cNvPr id="13" name="Text 11"/>
          <p:cNvSpPr txBox="1"/>
          <p:nvPr/>
        </p:nvSpPr>
        <p:spPr>
          <a:xfrm>
            <a:off x="731520" y="4416552"/>
            <a:ext cx="5029200" cy="315468"/>
          </a:xfrm>
          <a:prstGeom prst="rect">
            <a:avLst/>
          </a:prstGeom>
          <a:noFill/>
          <a:ln/>
        </p:spPr>
        <p:txBody>
          <a:bodyPr wrap="square" lIns="0" tIns="0" rIns="0" bIns="0" rtlCol="0" anchor="ctr"/>
          <a:lstStyle/>
          <a:p>
            <a:pPr indent="0" marL="0">
              <a:buNone/>
            </a:pPr>
            <a:r>
              <a:rPr lang="en-US" sz="1300" dirty="0">
                <a:solidFill>
                  <a:srgbClr val="1E2124"/>
                </a:solidFill>
                <a:latin typeface="Noto Sans" pitchFamily="34" charset="0"/>
                <a:ea typeface="Noto Sans" pitchFamily="34" charset="-122"/>
                <a:cs typeface="Noto Sans" pitchFamily="34" charset="-120"/>
              </a:rPr>
              <a:t>Transgender Persons</a:t>
            </a:r>
            <a:endParaRPr lang="en-US" sz="1300" dirty="0"/>
          </a:p>
        </p:txBody>
      </p:sp>
      <p:sp>
        <p:nvSpPr>
          <p:cNvPr id="14" name="Text 12"/>
          <p:cNvSpPr txBox="1"/>
          <p:nvPr/>
        </p:nvSpPr>
        <p:spPr>
          <a:xfrm>
            <a:off x="731520" y="4732020"/>
            <a:ext cx="5029200" cy="315468"/>
          </a:xfrm>
          <a:prstGeom prst="rect">
            <a:avLst/>
          </a:prstGeom>
          <a:noFill/>
          <a:ln/>
        </p:spPr>
        <p:txBody>
          <a:bodyPr wrap="square" lIns="0" tIns="0" rIns="0" bIns="0" rtlCol="0" anchor="ctr"/>
          <a:lstStyle/>
          <a:p>
            <a:pPr indent="0" marL="0">
              <a:buNone/>
            </a:pPr>
            <a:r>
              <a:rPr lang="en-US" sz="1300" dirty="0">
                <a:solidFill>
                  <a:srgbClr val="1E2124"/>
                </a:solidFill>
                <a:latin typeface="Noto Sans" pitchFamily="34" charset="0"/>
                <a:ea typeface="Noto Sans" pitchFamily="34" charset="-122"/>
                <a:cs typeface="Noto Sans" pitchFamily="34" charset="-120"/>
              </a:rPr>
              <a:t>Persons Affected by Substance Use</a:t>
            </a:r>
            <a:endParaRPr lang="en-US" sz="1300" dirty="0"/>
          </a:p>
        </p:txBody>
      </p:sp>
      <p:sp>
        <p:nvSpPr>
          <p:cNvPr id="15" name="Text 13"/>
          <p:cNvSpPr txBox="1"/>
          <p:nvPr/>
        </p:nvSpPr>
        <p:spPr>
          <a:xfrm>
            <a:off x="731520" y="5047488"/>
            <a:ext cx="5029200" cy="315468"/>
          </a:xfrm>
          <a:prstGeom prst="rect">
            <a:avLst/>
          </a:prstGeom>
          <a:noFill/>
          <a:ln/>
        </p:spPr>
        <p:txBody>
          <a:bodyPr wrap="square" lIns="0" tIns="0" rIns="0" bIns="0" rtlCol="0" anchor="ctr"/>
          <a:lstStyle/>
          <a:p>
            <a:pPr indent="0" marL="0">
              <a:buNone/>
            </a:pPr>
            <a:r>
              <a:rPr lang="en-US" sz="1300" dirty="0">
                <a:solidFill>
                  <a:srgbClr val="1E2124"/>
                </a:solidFill>
                <a:latin typeface="Noto Sans" pitchFamily="34" charset="0"/>
                <a:ea typeface="Noto Sans" pitchFamily="34" charset="-122"/>
                <a:cs typeface="Noto Sans" pitchFamily="34" charset="-120"/>
              </a:rPr>
              <a:t>Persons Engaged in Begging</a:t>
            </a:r>
            <a:endParaRPr lang="en-US" sz="1300" dirty="0"/>
          </a:p>
        </p:txBody>
      </p:sp>
      <p:sp>
        <p:nvSpPr>
          <p:cNvPr id="16" name="Text 14"/>
          <p:cNvSpPr txBox="1"/>
          <p:nvPr/>
        </p:nvSpPr>
        <p:spPr>
          <a:xfrm>
            <a:off x="731520" y="5362956"/>
            <a:ext cx="5029200" cy="315468"/>
          </a:xfrm>
          <a:prstGeom prst="rect">
            <a:avLst/>
          </a:prstGeom>
          <a:noFill/>
          <a:ln/>
        </p:spPr>
        <p:txBody>
          <a:bodyPr wrap="square" lIns="0" tIns="0" rIns="0" bIns="0" rtlCol="0" anchor="ctr"/>
          <a:lstStyle/>
          <a:p>
            <a:pPr indent="0" marL="0">
              <a:buNone/>
            </a:pPr>
            <a:r>
              <a:rPr lang="en-US" sz="1300" dirty="0">
                <a:solidFill>
                  <a:srgbClr val="1E2124"/>
                </a:solidFill>
                <a:latin typeface="Noto Sans" pitchFamily="34" charset="0"/>
                <a:ea typeface="Noto Sans" pitchFamily="34" charset="-122"/>
                <a:cs typeface="Noto Sans" pitchFamily="34" charset="-120"/>
              </a:rPr>
              <a:t>Victims of Atrocities</a:t>
            </a:r>
            <a:endParaRPr lang="en-US" sz="1300" dirty="0"/>
          </a:p>
        </p:txBody>
      </p:sp>
      <p:sp>
        <p:nvSpPr>
          <p:cNvPr id="17" name="Text 15"/>
          <p:cNvSpPr txBox="1"/>
          <p:nvPr/>
        </p:nvSpPr>
        <p:spPr>
          <a:xfrm>
            <a:off x="731520" y="5678424"/>
            <a:ext cx="5029200" cy="315468"/>
          </a:xfrm>
          <a:prstGeom prst="rect">
            <a:avLst/>
          </a:prstGeom>
          <a:noFill/>
          <a:ln/>
        </p:spPr>
        <p:txBody>
          <a:bodyPr wrap="square" lIns="0" tIns="0" rIns="0" bIns="0" rtlCol="0" anchor="ctr"/>
          <a:lstStyle/>
          <a:p>
            <a:pPr indent="0" marL="0">
              <a:buNone/>
            </a:pPr>
            <a:r>
              <a:rPr lang="en-US" sz="1300" dirty="0">
                <a:solidFill>
                  <a:srgbClr val="1E2124"/>
                </a:solidFill>
                <a:latin typeface="Noto Sans" pitchFamily="34" charset="0"/>
                <a:ea typeface="Noto Sans" pitchFamily="34" charset="-122"/>
                <a:cs typeface="Noto Sans" pitchFamily="34" charset="-120"/>
              </a:rPr>
              <a:t>Voluntary Organisations</a:t>
            </a:r>
            <a:endParaRPr lang="en-US" sz="1300" dirty="0"/>
          </a:p>
        </p:txBody>
      </p:sp>
      <p:sp>
        <p:nvSpPr>
          <p:cNvPr id="18" name="Shape 16"/>
          <p:cNvSpPr/>
          <p:nvPr/>
        </p:nvSpPr>
        <p:spPr>
          <a:xfrm>
            <a:off x="6095848" y="2011680"/>
            <a:ext cx="0" cy="3982212"/>
          </a:xfrm>
          <a:prstGeom prst="line">
            <a:avLst/>
          </a:prstGeom>
          <a:noFill/>
          <a:ln w="9525">
            <a:solidFill>
              <a:srgbClr val="DCDEE1"/>
            </a:solidFill>
            <a:prstDash val="solid"/>
          </a:ln>
        </p:spPr>
      </p:sp>
      <p:sp>
        <p:nvSpPr>
          <p:cNvPr id="19" name="Text 17"/>
          <p:cNvSpPr txBox="1"/>
          <p:nvPr/>
        </p:nvSpPr>
        <p:spPr>
          <a:xfrm>
            <a:off x="6430975" y="2011680"/>
            <a:ext cx="5029200" cy="292608"/>
          </a:xfrm>
          <a:prstGeom prst="rect">
            <a:avLst/>
          </a:prstGeom>
          <a:noFill/>
          <a:ln/>
        </p:spPr>
        <p:txBody>
          <a:bodyPr wrap="square" lIns="0" tIns="0" rIns="0" bIns="0" rtlCol="0" anchor="ctr"/>
          <a:lstStyle/>
          <a:p>
            <a:pPr indent="0" marL="0">
              <a:buNone/>
            </a:pPr>
            <a:r>
              <a:rPr lang="en-US" sz="1900" b="1" dirty="0">
                <a:solidFill>
                  <a:srgbClr val="005EB9"/>
                </a:solidFill>
                <a:latin typeface="Noto Sans" pitchFamily="34" charset="0"/>
                <a:ea typeface="Noto Sans" pitchFamily="34" charset="-122"/>
                <a:cs typeface="Noto Sans" pitchFamily="34" charset="-120"/>
              </a:rPr>
              <a:t>What the Department Provides</a:t>
            </a:r>
            <a:endParaRPr lang="en-US" sz="1900" dirty="0"/>
          </a:p>
        </p:txBody>
      </p:sp>
      <p:sp>
        <p:nvSpPr>
          <p:cNvPr id="20" name="Shape 18"/>
          <p:cNvSpPr/>
          <p:nvPr/>
        </p:nvSpPr>
        <p:spPr>
          <a:xfrm>
            <a:off x="6430975" y="2395728"/>
            <a:ext cx="5029200" cy="0"/>
          </a:xfrm>
          <a:prstGeom prst="line">
            <a:avLst/>
          </a:prstGeom>
          <a:noFill/>
          <a:ln w="9525">
            <a:solidFill>
              <a:srgbClr val="DCDEE1"/>
            </a:solidFill>
            <a:prstDash val="solid"/>
          </a:ln>
        </p:spPr>
      </p:sp>
      <p:sp>
        <p:nvSpPr>
          <p:cNvPr id="21" name="Text 19"/>
          <p:cNvSpPr txBox="1"/>
          <p:nvPr/>
        </p:nvSpPr>
        <p:spPr>
          <a:xfrm>
            <a:off x="6430975" y="2523744"/>
            <a:ext cx="5029200" cy="315468"/>
          </a:xfrm>
          <a:prstGeom prst="rect">
            <a:avLst/>
          </a:prstGeom>
          <a:noFill/>
          <a:ln/>
        </p:spPr>
        <p:txBody>
          <a:bodyPr wrap="square" lIns="0" tIns="0" rIns="0" bIns="0" rtlCol="0" anchor="ctr"/>
          <a:lstStyle/>
          <a:p>
            <a:pPr indent="0" marL="0">
              <a:buNone/>
            </a:pPr>
            <a:r>
              <a:rPr lang="en-US" sz="1300" dirty="0">
                <a:solidFill>
                  <a:srgbClr val="1E2124"/>
                </a:solidFill>
                <a:latin typeface="Noto Sans" pitchFamily="34" charset="0"/>
                <a:ea typeface="Noto Sans" pitchFamily="34" charset="-122"/>
                <a:cs typeface="Noto Sans" pitchFamily="34" charset="-120"/>
              </a:rPr>
              <a:t>Scholarships and Fellowships</a:t>
            </a:r>
            <a:endParaRPr lang="en-US" sz="1300" dirty="0"/>
          </a:p>
        </p:txBody>
      </p:sp>
      <p:sp>
        <p:nvSpPr>
          <p:cNvPr id="22" name="Text 20"/>
          <p:cNvSpPr txBox="1"/>
          <p:nvPr/>
        </p:nvSpPr>
        <p:spPr>
          <a:xfrm>
            <a:off x="6430975" y="2839212"/>
            <a:ext cx="5029200" cy="315468"/>
          </a:xfrm>
          <a:prstGeom prst="rect">
            <a:avLst/>
          </a:prstGeom>
          <a:noFill/>
          <a:ln/>
        </p:spPr>
        <p:txBody>
          <a:bodyPr wrap="square" lIns="0" tIns="0" rIns="0" bIns="0" rtlCol="0" anchor="ctr"/>
          <a:lstStyle/>
          <a:p>
            <a:pPr indent="0" marL="0">
              <a:buNone/>
            </a:pPr>
            <a:r>
              <a:rPr lang="en-US" sz="1300" dirty="0">
                <a:solidFill>
                  <a:srgbClr val="1E2124"/>
                </a:solidFill>
                <a:latin typeface="Noto Sans" pitchFamily="34" charset="0"/>
                <a:ea typeface="Noto Sans" pitchFamily="34" charset="-122"/>
                <a:cs typeface="Noto Sans" pitchFamily="34" charset="-120"/>
              </a:rPr>
              <a:t>Residential Schools, Hostels and Coaching</a:t>
            </a:r>
            <a:endParaRPr lang="en-US" sz="1300" dirty="0"/>
          </a:p>
        </p:txBody>
      </p:sp>
      <p:sp>
        <p:nvSpPr>
          <p:cNvPr id="23" name="Text 21"/>
          <p:cNvSpPr txBox="1"/>
          <p:nvPr/>
        </p:nvSpPr>
        <p:spPr>
          <a:xfrm>
            <a:off x="6430975" y="3154680"/>
            <a:ext cx="5029200" cy="315468"/>
          </a:xfrm>
          <a:prstGeom prst="rect">
            <a:avLst/>
          </a:prstGeom>
          <a:noFill/>
          <a:ln/>
        </p:spPr>
        <p:txBody>
          <a:bodyPr wrap="square" lIns="0" tIns="0" rIns="0" bIns="0" rtlCol="0" anchor="ctr"/>
          <a:lstStyle/>
          <a:p>
            <a:pPr indent="0" marL="0">
              <a:buNone/>
            </a:pPr>
            <a:r>
              <a:rPr lang="en-US" sz="1300" dirty="0">
                <a:solidFill>
                  <a:srgbClr val="1E2124"/>
                </a:solidFill>
                <a:latin typeface="Noto Sans" pitchFamily="34" charset="0"/>
                <a:ea typeface="Noto Sans" pitchFamily="34" charset="-122"/>
                <a:cs typeface="Noto Sans" pitchFamily="34" charset="-120"/>
              </a:rPr>
              <a:t>Loans and Credit</a:t>
            </a:r>
            <a:endParaRPr lang="en-US" sz="1300" dirty="0"/>
          </a:p>
        </p:txBody>
      </p:sp>
      <p:sp>
        <p:nvSpPr>
          <p:cNvPr id="24" name="Text 22"/>
          <p:cNvSpPr txBox="1"/>
          <p:nvPr/>
        </p:nvSpPr>
        <p:spPr>
          <a:xfrm>
            <a:off x="6430975" y="3470148"/>
            <a:ext cx="5029200" cy="315468"/>
          </a:xfrm>
          <a:prstGeom prst="rect">
            <a:avLst/>
          </a:prstGeom>
          <a:noFill/>
          <a:ln/>
        </p:spPr>
        <p:txBody>
          <a:bodyPr wrap="square" lIns="0" tIns="0" rIns="0" bIns="0" rtlCol="0" anchor="ctr"/>
          <a:lstStyle/>
          <a:p>
            <a:pPr indent="0" marL="0">
              <a:buNone/>
            </a:pPr>
            <a:r>
              <a:rPr lang="en-US" sz="1300" dirty="0">
                <a:solidFill>
                  <a:srgbClr val="1E2124"/>
                </a:solidFill>
                <a:latin typeface="Noto Sans" pitchFamily="34" charset="0"/>
                <a:ea typeface="Noto Sans" pitchFamily="34" charset="-122"/>
                <a:cs typeface="Noto Sans" pitchFamily="34" charset="-120"/>
              </a:rPr>
              <a:t>Skill Training and Livelihood</a:t>
            </a:r>
            <a:endParaRPr lang="en-US" sz="1300" dirty="0"/>
          </a:p>
        </p:txBody>
      </p:sp>
      <p:sp>
        <p:nvSpPr>
          <p:cNvPr id="25" name="Text 23"/>
          <p:cNvSpPr txBox="1"/>
          <p:nvPr/>
        </p:nvSpPr>
        <p:spPr>
          <a:xfrm>
            <a:off x="6430975" y="3785616"/>
            <a:ext cx="5029200" cy="315468"/>
          </a:xfrm>
          <a:prstGeom prst="rect">
            <a:avLst/>
          </a:prstGeom>
          <a:noFill/>
          <a:ln/>
        </p:spPr>
        <p:txBody>
          <a:bodyPr wrap="square" lIns="0" tIns="0" rIns="0" bIns="0" rtlCol="0" anchor="ctr"/>
          <a:lstStyle/>
          <a:p>
            <a:pPr indent="0" marL="0">
              <a:buNone/>
            </a:pPr>
            <a:r>
              <a:rPr lang="en-US" sz="1300" dirty="0">
                <a:solidFill>
                  <a:srgbClr val="1E2124"/>
                </a:solidFill>
                <a:latin typeface="Noto Sans" pitchFamily="34" charset="0"/>
                <a:ea typeface="Noto Sans" pitchFamily="34" charset="-122"/>
                <a:cs typeface="Noto Sans" pitchFamily="34" charset="-120"/>
              </a:rPr>
              <a:t>Care, Shelter and Health</a:t>
            </a:r>
            <a:endParaRPr lang="en-US" sz="1300" dirty="0"/>
          </a:p>
        </p:txBody>
      </p:sp>
      <p:sp>
        <p:nvSpPr>
          <p:cNvPr id="26" name="Text 24"/>
          <p:cNvSpPr txBox="1"/>
          <p:nvPr/>
        </p:nvSpPr>
        <p:spPr>
          <a:xfrm>
            <a:off x="6430975" y="4101084"/>
            <a:ext cx="5029200" cy="315468"/>
          </a:xfrm>
          <a:prstGeom prst="rect">
            <a:avLst/>
          </a:prstGeom>
          <a:noFill/>
          <a:ln/>
        </p:spPr>
        <p:txBody>
          <a:bodyPr wrap="square" lIns="0" tIns="0" rIns="0" bIns="0" rtlCol="0" anchor="ctr"/>
          <a:lstStyle/>
          <a:p>
            <a:pPr indent="0" marL="0">
              <a:buNone/>
            </a:pPr>
            <a:r>
              <a:rPr lang="en-US" sz="1300" dirty="0">
                <a:solidFill>
                  <a:srgbClr val="1E2124"/>
                </a:solidFill>
                <a:latin typeface="Noto Sans" pitchFamily="34" charset="0"/>
                <a:ea typeface="Noto Sans" pitchFamily="34" charset="-122"/>
                <a:cs typeface="Noto Sans" pitchFamily="34" charset="-120"/>
              </a:rPr>
              <a:t>De-addiction and Counselling</a:t>
            </a:r>
            <a:endParaRPr lang="en-US" sz="1300" dirty="0"/>
          </a:p>
        </p:txBody>
      </p:sp>
      <p:sp>
        <p:nvSpPr>
          <p:cNvPr id="27" name="Text 25"/>
          <p:cNvSpPr txBox="1"/>
          <p:nvPr/>
        </p:nvSpPr>
        <p:spPr>
          <a:xfrm>
            <a:off x="6430975" y="4416552"/>
            <a:ext cx="5029200" cy="315468"/>
          </a:xfrm>
          <a:prstGeom prst="rect">
            <a:avLst/>
          </a:prstGeom>
          <a:noFill/>
          <a:ln/>
        </p:spPr>
        <p:txBody>
          <a:bodyPr wrap="square" lIns="0" tIns="0" rIns="0" bIns="0" rtlCol="0" anchor="ctr"/>
          <a:lstStyle/>
          <a:p>
            <a:pPr indent="0" marL="0">
              <a:buNone/>
            </a:pPr>
            <a:r>
              <a:rPr lang="en-US" sz="1300" dirty="0">
                <a:solidFill>
                  <a:srgbClr val="1E2124"/>
                </a:solidFill>
                <a:latin typeface="Noto Sans" pitchFamily="34" charset="0"/>
                <a:ea typeface="Noto Sans" pitchFamily="34" charset="-122"/>
                <a:cs typeface="Noto Sans" pitchFamily="34" charset="-120"/>
              </a:rPr>
              <a:t>Protection, Relief and Grievance</a:t>
            </a:r>
            <a:endParaRPr lang="en-US" sz="1300" dirty="0"/>
          </a:p>
        </p:txBody>
      </p:sp>
      <p:sp>
        <p:nvSpPr>
          <p:cNvPr id="28" name="Text 26"/>
          <p:cNvSpPr txBox="1"/>
          <p:nvPr/>
        </p:nvSpPr>
        <p:spPr>
          <a:xfrm>
            <a:off x="6430975" y="4732020"/>
            <a:ext cx="5029200" cy="315468"/>
          </a:xfrm>
          <a:prstGeom prst="rect">
            <a:avLst/>
          </a:prstGeom>
          <a:noFill/>
          <a:ln/>
        </p:spPr>
        <p:txBody>
          <a:bodyPr wrap="square" lIns="0" tIns="0" rIns="0" bIns="0" rtlCol="0" anchor="ctr"/>
          <a:lstStyle/>
          <a:p>
            <a:pPr indent="0" marL="0">
              <a:buNone/>
            </a:pPr>
            <a:r>
              <a:rPr lang="en-US" sz="1300" dirty="0">
                <a:solidFill>
                  <a:srgbClr val="1E2124"/>
                </a:solidFill>
                <a:latin typeface="Noto Sans" pitchFamily="34" charset="0"/>
                <a:ea typeface="Noto Sans" pitchFamily="34" charset="-122"/>
                <a:cs typeface="Noto Sans" pitchFamily="34" charset="-120"/>
              </a:rPr>
              <a:t>Grants to Voluntary Organisations</a:t>
            </a:r>
            <a:endParaRPr lang="en-US" sz="1300" dirty="0"/>
          </a:p>
        </p:txBody>
      </p:sp>
      <p:sp>
        <p:nvSpPr>
          <p:cNvPr id="29" name="Text 27"/>
          <p:cNvSpPr txBox="1"/>
          <p:nvPr/>
        </p:nvSpPr>
        <p:spPr>
          <a:xfrm>
            <a:off x="6430975" y="5047488"/>
            <a:ext cx="5029200" cy="315468"/>
          </a:xfrm>
          <a:prstGeom prst="rect">
            <a:avLst/>
          </a:prstGeom>
          <a:noFill/>
          <a:ln/>
        </p:spPr>
        <p:txBody>
          <a:bodyPr wrap="square" lIns="0" tIns="0" rIns="0" bIns="0" rtlCol="0" anchor="ctr"/>
          <a:lstStyle/>
          <a:p>
            <a:pPr indent="0" marL="0">
              <a:buNone/>
            </a:pPr>
            <a:r>
              <a:rPr lang="en-US" sz="1300" dirty="0">
                <a:solidFill>
                  <a:srgbClr val="1E2124"/>
                </a:solidFill>
                <a:latin typeface="Noto Sans" pitchFamily="34" charset="0"/>
                <a:ea typeface="Noto Sans" pitchFamily="34" charset="-122"/>
                <a:cs typeface="Noto Sans" pitchFamily="34" charset="-120"/>
              </a:rPr>
              <a:t>Housing and Settlement</a:t>
            </a:r>
            <a:endParaRPr lang="en-US" sz="1300" dirty="0"/>
          </a:p>
        </p:txBody>
      </p:sp>
      <p:sp>
        <p:nvSpPr>
          <p:cNvPr id="30" name="Text 28"/>
          <p:cNvSpPr txBox="1"/>
          <p:nvPr/>
        </p:nvSpPr>
        <p:spPr>
          <a:xfrm>
            <a:off x="6430975" y="5362956"/>
            <a:ext cx="5029200" cy="315468"/>
          </a:xfrm>
          <a:prstGeom prst="rect">
            <a:avLst/>
          </a:prstGeom>
          <a:noFill/>
          <a:ln/>
        </p:spPr>
        <p:txBody>
          <a:bodyPr wrap="square" lIns="0" tIns="0" rIns="0" bIns="0" rtlCol="0" anchor="ctr"/>
          <a:lstStyle/>
          <a:p>
            <a:pPr indent="0" marL="0">
              <a:buNone/>
            </a:pPr>
            <a:r>
              <a:rPr lang="en-US" sz="1300" dirty="0">
                <a:solidFill>
                  <a:srgbClr val="1E2124"/>
                </a:solidFill>
                <a:latin typeface="Noto Sans" pitchFamily="34" charset="0"/>
                <a:ea typeface="Noto Sans" pitchFamily="34" charset="-122"/>
                <a:cs typeface="Noto Sans" pitchFamily="34" charset="-120"/>
              </a:rPr>
              <a:t>Awards and Recognition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38912"/>
            <a:ext cx="10728655" cy="219456"/>
          </a:xfrm>
          <a:prstGeom prst="rect">
            <a:avLst/>
          </a:prstGeom>
          <a:noFill/>
          <a:ln/>
        </p:spPr>
        <p:txBody>
          <a:bodyPr wrap="square" lIns="0" tIns="0" rIns="0" bIns="0" rtlCol="0" anchor="ctr"/>
          <a:lstStyle/>
          <a:p>
            <a:pPr indent="0" marL="0">
              <a:buNone/>
            </a:pPr>
            <a:r>
              <a:rPr lang="en-US" sz="950" b="1" spc="100" kern="0" dirty="0">
                <a:solidFill>
                  <a:srgbClr val="54585E"/>
                </a:solidFill>
                <a:latin typeface="Noto Sans" pitchFamily="34" charset="0"/>
                <a:ea typeface="Noto Sans" pitchFamily="34" charset="-122"/>
                <a:cs typeface="Noto Sans" pitchFamily="34" charset="-120"/>
              </a:rPr>
              <a:t>THE HOME PAGE</a:t>
            </a:r>
            <a:endParaRPr lang="en-US" sz="950" dirty="0"/>
          </a:p>
        </p:txBody>
      </p:sp>
      <p:sp>
        <p:nvSpPr>
          <p:cNvPr id="3" name="Text 1"/>
          <p:cNvSpPr txBox="1"/>
          <p:nvPr/>
        </p:nvSpPr>
        <p:spPr>
          <a:xfrm>
            <a:off x="731520" y="694944"/>
            <a:ext cx="10728655" cy="512064"/>
          </a:xfrm>
          <a:prstGeom prst="rect">
            <a:avLst/>
          </a:prstGeom>
          <a:noFill/>
          <a:ln/>
        </p:spPr>
        <p:txBody>
          <a:bodyPr wrap="square" lIns="0" tIns="0" rIns="0" bIns="0" rtlCol="0" anchor="ctr"/>
          <a:lstStyle/>
          <a:p>
            <a:pPr indent="0" marL="0">
              <a:buNone/>
            </a:pPr>
            <a:r>
              <a:rPr lang="en-US" sz="3000" b="1" dirty="0">
                <a:solidFill>
                  <a:srgbClr val="003975"/>
                </a:solidFill>
                <a:latin typeface="Noto Sans" pitchFamily="34" charset="0"/>
                <a:ea typeface="Noto Sans" pitchFamily="34" charset="-122"/>
                <a:cs typeface="Noto Sans" pitchFamily="34" charset="-120"/>
              </a:rPr>
              <a:t>Three Options</a:t>
            </a:r>
            <a:endParaRPr lang="en-US" sz="3000" dirty="0"/>
          </a:p>
        </p:txBody>
      </p:sp>
      <p:sp>
        <p:nvSpPr>
          <p:cNvPr id="4" name="Text 2"/>
          <p:cNvSpPr txBox="1"/>
          <p:nvPr/>
        </p:nvSpPr>
        <p:spPr>
          <a:xfrm>
            <a:off x="731520" y="1243584"/>
            <a:ext cx="9655790" cy="310896"/>
          </a:xfrm>
          <a:prstGeom prst="rect">
            <a:avLst/>
          </a:prstGeom>
          <a:noFill/>
          <a:ln/>
        </p:spPr>
        <p:txBody>
          <a:bodyPr wrap="square" lIns="0" tIns="0" rIns="0" bIns="0" rtlCol="0" anchor="ctr"/>
          <a:lstStyle/>
          <a:p>
            <a:pPr indent="0" marL="0">
              <a:buNone/>
            </a:pPr>
            <a:r>
              <a:rPr lang="en-US" sz="1400" dirty="0">
                <a:solidFill>
                  <a:srgbClr val="3A3D41"/>
                </a:solidFill>
                <a:latin typeface="Noto Sans" pitchFamily="34" charset="0"/>
                <a:ea typeface="Noto Sans" pitchFamily="34" charset="-122"/>
                <a:cs typeface="Noto Sans" pitchFamily="34" charset="-120"/>
              </a:rPr>
              <a:t>A is on the site today. B or C would take the section below the banner, where Our Offerings sits now.</a:t>
            </a:r>
            <a:endParaRPr lang="en-US" sz="1400" dirty="0"/>
          </a:p>
        </p:txBody>
      </p:sp>
      <p:sp>
        <p:nvSpPr>
          <p:cNvPr id="5" name="Text 3"/>
          <p:cNvSpPr txBox="1"/>
          <p:nvPr/>
        </p:nvSpPr>
        <p:spPr>
          <a:xfrm>
            <a:off x="731520" y="1737360"/>
            <a:ext cx="502920" cy="457200"/>
          </a:xfrm>
          <a:prstGeom prst="rect">
            <a:avLst/>
          </a:prstGeom>
          <a:noFill/>
          <a:ln/>
        </p:spPr>
        <p:txBody>
          <a:bodyPr wrap="square" lIns="0" tIns="0" rIns="0" bIns="0" rtlCol="0" anchor="ctr"/>
          <a:lstStyle/>
          <a:p>
            <a:pPr indent="0" marL="0">
              <a:buNone/>
            </a:pPr>
            <a:r>
              <a:rPr lang="en-US" sz="2800" b="1" dirty="0">
                <a:solidFill>
                  <a:srgbClr val="005EB9"/>
                </a:solidFill>
                <a:latin typeface="Noto Sans" pitchFamily="34" charset="0"/>
                <a:ea typeface="Noto Sans" pitchFamily="34" charset="-122"/>
                <a:cs typeface="Noto Sans" pitchFamily="34" charset="-120"/>
              </a:rPr>
              <a:t>A</a:t>
            </a:r>
            <a:endParaRPr lang="en-US" sz="2800" dirty="0"/>
          </a:p>
        </p:txBody>
      </p:sp>
      <p:sp>
        <p:nvSpPr>
          <p:cNvPr id="6" name="Text 4"/>
          <p:cNvSpPr txBox="1"/>
          <p:nvPr/>
        </p:nvSpPr>
        <p:spPr>
          <a:xfrm>
            <a:off x="1234440" y="1810512"/>
            <a:ext cx="2890418" cy="365760"/>
          </a:xfrm>
          <a:prstGeom prst="rect">
            <a:avLst/>
          </a:prstGeom>
          <a:noFill/>
          <a:ln/>
        </p:spPr>
        <p:txBody>
          <a:bodyPr wrap="square" lIns="0" tIns="0" rIns="0" bIns="0" rtlCol="0" anchor="ctr"/>
          <a:lstStyle/>
          <a:p>
            <a:pPr indent="0" marL="0">
              <a:buNone/>
            </a:pPr>
            <a:r>
              <a:rPr lang="en-US" sz="1400" b="1" dirty="0">
                <a:solidFill>
                  <a:srgbClr val="003975"/>
                </a:solidFill>
                <a:latin typeface="Noto Sans" pitchFamily="34" charset="0"/>
                <a:ea typeface="Noto Sans" pitchFamily="34" charset="-122"/>
                <a:cs typeface="Noto Sans" pitchFamily="34" charset="-120"/>
              </a:rPr>
              <a:t>Explore User Personas</a:t>
            </a:r>
            <a:endParaRPr lang="en-US" sz="1400" dirty="0"/>
          </a:p>
        </p:txBody>
      </p:sp>
      <p:sp>
        <p:nvSpPr>
          <p:cNvPr id="7" name="Shape 5"/>
          <p:cNvSpPr/>
          <p:nvPr/>
        </p:nvSpPr>
        <p:spPr>
          <a:xfrm>
            <a:off x="704088" y="2276856"/>
            <a:ext cx="3448202" cy="2175701"/>
          </a:xfrm>
          <a:prstGeom prst="rect">
            <a:avLst/>
          </a:prstGeom>
          <a:solidFill>
            <a:srgbClr val="FFFFFF"/>
          </a:solidFill>
          <a:ln w="9525">
            <a:solidFill>
              <a:srgbClr val="DCDEE1"/>
            </a:solidFill>
            <a:prstDash val="solid"/>
          </a:ln>
        </p:spPr>
      </p:sp>
      <p:pic>
        <p:nvPicPr>
          <p:cNvPr id="8" name="Image 0" descr="assets/still/home-a.png">    </p:cNvPr>
          <p:cNvPicPr>
            <a:picLocks noChangeAspect="1"/>
          </p:cNvPicPr>
          <p:nvPr/>
        </p:nvPicPr>
        <p:blipFill>
          <a:blip r:embed="rId1"/>
          <a:stretch>
            <a:fillRect/>
          </a:stretch>
        </p:blipFill>
        <p:spPr>
          <a:xfrm>
            <a:off x="731520" y="2304288"/>
            <a:ext cx="3393338" cy="2120837"/>
          </a:xfrm>
          <a:prstGeom prst="rect">
            <a:avLst/>
          </a:prstGeom>
        </p:spPr>
      </p:pic>
      <p:sp>
        <p:nvSpPr>
          <p:cNvPr id="9" name="Shape 6"/>
          <p:cNvSpPr/>
          <p:nvPr/>
        </p:nvSpPr>
        <p:spPr>
          <a:xfrm>
            <a:off x="731520" y="4571429"/>
            <a:ext cx="1476756" cy="246888"/>
          </a:xfrm>
          <a:prstGeom prst="roundRect">
            <a:avLst>
              <a:gd name="adj" fmla="val 50000"/>
            </a:avLst>
          </a:prstGeom>
          <a:solidFill>
            <a:srgbClr val="EEF0F3"/>
          </a:solidFill>
          <a:ln w="12700">
            <a:solidFill>
              <a:srgbClr val="EEF0F3"/>
            </a:solidFill>
            <a:prstDash val="solid"/>
          </a:ln>
        </p:spPr>
      </p:sp>
      <p:sp>
        <p:nvSpPr>
          <p:cNvPr id="10" name="Text 7"/>
          <p:cNvSpPr txBox="1"/>
          <p:nvPr/>
        </p:nvSpPr>
        <p:spPr>
          <a:xfrm>
            <a:off x="731520" y="4571429"/>
            <a:ext cx="1476756" cy="246888"/>
          </a:xfrm>
          <a:prstGeom prst="rect">
            <a:avLst/>
          </a:prstGeom>
          <a:noFill/>
          <a:ln/>
        </p:spPr>
        <p:txBody>
          <a:bodyPr wrap="square" lIns="0" tIns="0" rIns="0" bIns="0" rtlCol="0" anchor="ctr"/>
          <a:lstStyle/>
          <a:p>
            <a:pPr algn="ctr" indent="0" marL="0">
              <a:buNone/>
            </a:pPr>
            <a:r>
              <a:rPr lang="en-US" sz="850" b="1" spc="50" kern="0" dirty="0">
                <a:solidFill>
                  <a:srgbClr val="54585E"/>
                </a:solidFill>
                <a:latin typeface="Noto Sans" pitchFamily="34" charset="0"/>
                <a:ea typeface="Noto Sans" pitchFamily="34" charset="-122"/>
                <a:cs typeface="Noto Sans" pitchFamily="34" charset="-120"/>
              </a:rPr>
              <a:t>ON THE SITE TODAY</a:t>
            </a:r>
            <a:endParaRPr lang="en-US" sz="850" dirty="0"/>
          </a:p>
        </p:txBody>
      </p:sp>
      <p:sp>
        <p:nvSpPr>
          <p:cNvPr id="11" name="Text 8"/>
          <p:cNvSpPr txBox="1"/>
          <p:nvPr/>
        </p:nvSpPr>
        <p:spPr>
          <a:xfrm>
            <a:off x="731520" y="4918901"/>
            <a:ext cx="3393338" cy="640080"/>
          </a:xfrm>
          <a:prstGeom prst="rect">
            <a:avLst/>
          </a:prstGeom>
          <a:noFill/>
          <a:ln/>
        </p:spPr>
        <p:txBody>
          <a:bodyPr wrap="square" lIns="0" tIns="0" rIns="0" bIns="0" rtlCol="0" anchor="ctr"/>
          <a:lstStyle/>
          <a:p>
            <a:pPr indent="0" marL="0">
              <a:lnSpc>
                <a:spcPct val="120000"/>
              </a:lnSpc>
              <a:buNone/>
            </a:pPr>
            <a:r>
              <a:rPr lang="en-US" sz="1200" dirty="0">
                <a:solidFill>
                  <a:srgbClr val="1E2124"/>
                </a:solidFill>
                <a:latin typeface="Noto Sans" pitchFamily="34" charset="0"/>
                <a:ea typeface="Noto Sans" pitchFamily="34" charset="-122"/>
                <a:cs typeface="Noto Sans" pitchFamily="34" charset="-120"/>
              </a:rPr>
              <a:t>One group at a time. Kept as it is.</a:t>
            </a:r>
            <a:endParaRPr lang="en-US" sz="1200" dirty="0"/>
          </a:p>
        </p:txBody>
      </p:sp>
      <p:sp>
        <p:nvSpPr>
          <p:cNvPr id="12" name="Text 9"/>
          <p:cNvSpPr txBox="1"/>
          <p:nvPr/>
        </p:nvSpPr>
        <p:spPr>
          <a:xfrm>
            <a:off x="4399178" y="1737360"/>
            <a:ext cx="502920" cy="457200"/>
          </a:xfrm>
          <a:prstGeom prst="rect">
            <a:avLst/>
          </a:prstGeom>
          <a:noFill/>
          <a:ln/>
        </p:spPr>
        <p:txBody>
          <a:bodyPr wrap="square" lIns="0" tIns="0" rIns="0" bIns="0" rtlCol="0" anchor="ctr"/>
          <a:lstStyle/>
          <a:p>
            <a:pPr indent="0" marL="0">
              <a:buNone/>
            </a:pPr>
            <a:r>
              <a:rPr lang="en-US" sz="2800" b="1" dirty="0">
                <a:solidFill>
                  <a:srgbClr val="005EB9"/>
                </a:solidFill>
                <a:latin typeface="Noto Sans" pitchFamily="34" charset="0"/>
                <a:ea typeface="Noto Sans" pitchFamily="34" charset="-122"/>
                <a:cs typeface="Noto Sans" pitchFamily="34" charset="-120"/>
              </a:rPr>
              <a:t>B</a:t>
            </a:r>
            <a:endParaRPr lang="en-US" sz="2800" dirty="0"/>
          </a:p>
        </p:txBody>
      </p:sp>
      <p:sp>
        <p:nvSpPr>
          <p:cNvPr id="13" name="Text 10"/>
          <p:cNvSpPr txBox="1"/>
          <p:nvPr/>
        </p:nvSpPr>
        <p:spPr>
          <a:xfrm>
            <a:off x="4902098" y="1810512"/>
            <a:ext cx="2890418" cy="365760"/>
          </a:xfrm>
          <a:prstGeom prst="rect">
            <a:avLst/>
          </a:prstGeom>
          <a:noFill/>
          <a:ln/>
        </p:spPr>
        <p:txBody>
          <a:bodyPr wrap="square" lIns="0" tIns="0" rIns="0" bIns="0" rtlCol="0" anchor="ctr"/>
          <a:lstStyle/>
          <a:p>
            <a:pPr indent="0" marL="0">
              <a:buNone/>
            </a:pPr>
            <a:r>
              <a:rPr lang="en-US" sz="1400" b="1" dirty="0">
                <a:solidFill>
                  <a:srgbClr val="003975"/>
                </a:solidFill>
                <a:latin typeface="Noto Sans" pitchFamily="34" charset="0"/>
                <a:ea typeface="Noto Sans" pitchFamily="34" charset="-122"/>
                <a:cs typeface="Noto Sans" pitchFamily="34" charset="-120"/>
              </a:rPr>
              <a:t>Two Questions</a:t>
            </a:r>
            <a:endParaRPr lang="en-US" sz="1400" dirty="0"/>
          </a:p>
        </p:txBody>
      </p:sp>
      <p:sp>
        <p:nvSpPr>
          <p:cNvPr id="14" name="Shape 11"/>
          <p:cNvSpPr/>
          <p:nvPr/>
        </p:nvSpPr>
        <p:spPr>
          <a:xfrm>
            <a:off x="4371746" y="2276856"/>
            <a:ext cx="3448202" cy="2175701"/>
          </a:xfrm>
          <a:prstGeom prst="rect">
            <a:avLst/>
          </a:prstGeom>
          <a:solidFill>
            <a:srgbClr val="FFFFFF"/>
          </a:solidFill>
          <a:ln w="9525">
            <a:solidFill>
              <a:srgbClr val="DCDEE1"/>
            </a:solidFill>
            <a:prstDash val="solid"/>
          </a:ln>
        </p:spPr>
      </p:sp>
      <p:pic>
        <p:nvPicPr>
          <p:cNvPr id="15" name="Image 1" descr="assets/still/home-b.png">    </p:cNvPr>
          <p:cNvPicPr>
            <a:picLocks noChangeAspect="1"/>
          </p:cNvPicPr>
          <p:nvPr/>
        </p:nvPicPr>
        <p:blipFill>
          <a:blip r:embed="rId2"/>
          <a:stretch>
            <a:fillRect/>
          </a:stretch>
        </p:blipFill>
        <p:spPr>
          <a:xfrm>
            <a:off x="4399178" y="2304288"/>
            <a:ext cx="3393338" cy="2120837"/>
          </a:xfrm>
          <a:prstGeom prst="rect">
            <a:avLst/>
          </a:prstGeom>
        </p:spPr>
      </p:pic>
      <p:sp>
        <p:nvSpPr>
          <p:cNvPr id="16" name="Shape 12"/>
          <p:cNvSpPr/>
          <p:nvPr/>
        </p:nvSpPr>
        <p:spPr>
          <a:xfrm>
            <a:off x="4399178" y="4571429"/>
            <a:ext cx="859536" cy="246888"/>
          </a:xfrm>
          <a:prstGeom prst="roundRect">
            <a:avLst>
              <a:gd name="adj" fmla="val 50000"/>
            </a:avLst>
          </a:prstGeom>
          <a:solidFill>
            <a:srgbClr val="EEF0F3"/>
          </a:solidFill>
          <a:ln w="12700">
            <a:solidFill>
              <a:srgbClr val="EEF0F3"/>
            </a:solidFill>
            <a:prstDash val="solid"/>
          </a:ln>
        </p:spPr>
      </p:sp>
      <p:sp>
        <p:nvSpPr>
          <p:cNvPr id="17" name="Text 13"/>
          <p:cNvSpPr txBox="1"/>
          <p:nvPr/>
        </p:nvSpPr>
        <p:spPr>
          <a:xfrm>
            <a:off x="4399178" y="4571429"/>
            <a:ext cx="859536" cy="246888"/>
          </a:xfrm>
          <a:prstGeom prst="rect">
            <a:avLst/>
          </a:prstGeom>
          <a:noFill/>
          <a:ln/>
        </p:spPr>
        <p:txBody>
          <a:bodyPr wrap="square" lIns="0" tIns="0" rIns="0" bIns="0" rtlCol="0" anchor="ctr"/>
          <a:lstStyle/>
          <a:p>
            <a:pPr algn="ctr" indent="0" marL="0">
              <a:buNone/>
            </a:pPr>
            <a:r>
              <a:rPr lang="en-US" sz="850" b="1" spc="50" kern="0" dirty="0">
                <a:solidFill>
                  <a:srgbClr val="54585E"/>
                </a:solidFill>
                <a:latin typeface="Noto Sans" pitchFamily="34" charset="0"/>
                <a:ea typeface="Noto Sans" pitchFamily="34" charset="-122"/>
                <a:cs typeface="Noto Sans" pitchFamily="34" charset="-120"/>
              </a:rPr>
              <a:t>OPTION B</a:t>
            </a:r>
            <a:endParaRPr lang="en-US" sz="850" dirty="0"/>
          </a:p>
        </p:txBody>
      </p:sp>
      <p:sp>
        <p:nvSpPr>
          <p:cNvPr id="18" name="Text 14"/>
          <p:cNvSpPr txBox="1"/>
          <p:nvPr/>
        </p:nvSpPr>
        <p:spPr>
          <a:xfrm>
            <a:off x="4399178" y="4918901"/>
            <a:ext cx="3393338" cy="640080"/>
          </a:xfrm>
          <a:prstGeom prst="rect">
            <a:avLst/>
          </a:prstGeom>
          <a:noFill/>
          <a:ln/>
        </p:spPr>
        <p:txBody>
          <a:bodyPr wrap="square" lIns="0" tIns="0" rIns="0" bIns="0" rtlCol="0" anchor="ctr"/>
          <a:lstStyle/>
          <a:p>
            <a:pPr indent="0" marL="0">
              <a:lnSpc>
                <a:spcPct val="120000"/>
              </a:lnSpc>
              <a:buNone/>
            </a:pPr>
            <a:r>
              <a:rPr lang="en-US" sz="1200" dirty="0">
                <a:solidFill>
                  <a:srgbClr val="1E2124"/>
                </a:solidFill>
                <a:latin typeface="Noto Sans" pitchFamily="34" charset="0"/>
                <a:ea typeface="Noto Sans" pitchFamily="34" charset="-122"/>
                <a:cs typeface="Noto Sans" pitchFamily="34" charset="-120"/>
              </a:rPr>
              <a:t>Who you are, then what you need. Ends with the schemes and a link to see them all.</a:t>
            </a:r>
            <a:endParaRPr lang="en-US" sz="1200" dirty="0"/>
          </a:p>
        </p:txBody>
      </p:sp>
      <p:sp>
        <p:nvSpPr>
          <p:cNvPr id="19" name="Text 15"/>
          <p:cNvSpPr txBox="1"/>
          <p:nvPr/>
        </p:nvSpPr>
        <p:spPr>
          <a:xfrm>
            <a:off x="8066837" y="1737360"/>
            <a:ext cx="502920" cy="457200"/>
          </a:xfrm>
          <a:prstGeom prst="rect">
            <a:avLst/>
          </a:prstGeom>
          <a:noFill/>
          <a:ln/>
        </p:spPr>
        <p:txBody>
          <a:bodyPr wrap="square" lIns="0" tIns="0" rIns="0" bIns="0" rtlCol="0" anchor="ctr"/>
          <a:lstStyle/>
          <a:p>
            <a:pPr indent="0" marL="0">
              <a:buNone/>
            </a:pPr>
            <a:r>
              <a:rPr lang="en-US" sz="2800" b="1" dirty="0">
                <a:solidFill>
                  <a:srgbClr val="005EB9"/>
                </a:solidFill>
                <a:latin typeface="Noto Sans" pitchFamily="34" charset="0"/>
                <a:ea typeface="Noto Sans" pitchFamily="34" charset="-122"/>
                <a:cs typeface="Noto Sans" pitchFamily="34" charset="-120"/>
              </a:rPr>
              <a:t>C</a:t>
            </a:r>
            <a:endParaRPr lang="en-US" sz="2800" dirty="0"/>
          </a:p>
        </p:txBody>
      </p:sp>
      <p:sp>
        <p:nvSpPr>
          <p:cNvPr id="20" name="Text 16"/>
          <p:cNvSpPr txBox="1"/>
          <p:nvPr/>
        </p:nvSpPr>
        <p:spPr>
          <a:xfrm>
            <a:off x="8569757" y="1810512"/>
            <a:ext cx="2890418" cy="365760"/>
          </a:xfrm>
          <a:prstGeom prst="rect">
            <a:avLst/>
          </a:prstGeom>
          <a:noFill/>
          <a:ln/>
        </p:spPr>
        <p:txBody>
          <a:bodyPr wrap="square" lIns="0" tIns="0" rIns="0" bIns="0" rtlCol="0" anchor="ctr"/>
          <a:lstStyle/>
          <a:p>
            <a:pPr indent="0" marL="0">
              <a:buNone/>
            </a:pPr>
            <a:r>
              <a:rPr lang="en-US" sz="1400" b="1" dirty="0">
                <a:solidFill>
                  <a:srgbClr val="003975"/>
                </a:solidFill>
                <a:latin typeface="Noto Sans" pitchFamily="34" charset="0"/>
                <a:ea typeface="Noto Sans" pitchFamily="34" charset="-122"/>
                <a:cs typeface="Noto Sans" pitchFamily="34" charset="-120"/>
              </a:rPr>
              <a:t>One Tap</a:t>
            </a:r>
            <a:endParaRPr lang="en-US" sz="1400" dirty="0"/>
          </a:p>
        </p:txBody>
      </p:sp>
      <p:sp>
        <p:nvSpPr>
          <p:cNvPr id="21" name="Shape 17"/>
          <p:cNvSpPr/>
          <p:nvPr/>
        </p:nvSpPr>
        <p:spPr>
          <a:xfrm>
            <a:off x="8039405" y="2276856"/>
            <a:ext cx="3448202" cy="2175701"/>
          </a:xfrm>
          <a:prstGeom prst="rect">
            <a:avLst/>
          </a:prstGeom>
          <a:solidFill>
            <a:srgbClr val="FFFFFF"/>
          </a:solidFill>
          <a:ln w="9525">
            <a:solidFill>
              <a:srgbClr val="DCDEE1"/>
            </a:solidFill>
            <a:prstDash val="solid"/>
          </a:ln>
        </p:spPr>
      </p:sp>
      <p:pic>
        <p:nvPicPr>
          <p:cNvPr id="22" name="Image 2" descr="assets/still/home-c.png">    </p:cNvPr>
          <p:cNvPicPr>
            <a:picLocks noChangeAspect="1"/>
          </p:cNvPicPr>
          <p:nvPr/>
        </p:nvPicPr>
        <p:blipFill>
          <a:blip r:embed="rId3"/>
          <a:stretch>
            <a:fillRect/>
          </a:stretch>
        </p:blipFill>
        <p:spPr>
          <a:xfrm>
            <a:off x="8066837" y="2304288"/>
            <a:ext cx="3393338" cy="2120837"/>
          </a:xfrm>
          <a:prstGeom prst="rect">
            <a:avLst/>
          </a:prstGeom>
        </p:spPr>
      </p:pic>
      <p:sp>
        <p:nvSpPr>
          <p:cNvPr id="23" name="Shape 18"/>
          <p:cNvSpPr/>
          <p:nvPr/>
        </p:nvSpPr>
        <p:spPr>
          <a:xfrm>
            <a:off x="8066837" y="4571429"/>
            <a:ext cx="859536" cy="246888"/>
          </a:xfrm>
          <a:prstGeom prst="roundRect">
            <a:avLst>
              <a:gd name="adj" fmla="val 50000"/>
            </a:avLst>
          </a:prstGeom>
          <a:solidFill>
            <a:srgbClr val="EEF0F3"/>
          </a:solidFill>
          <a:ln w="12700">
            <a:solidFill>
              <a:srgbClr val="EEF0F3"/>
            </a:solidFill>
            <a:prstDash val="solid"/>
          </a:ln>
        </p:spPr>
      </p:sp>
      <p:sp>
        <p:nvSpPr>
          <p:cNvPr id="24" name="Text 19"/>
          <p:cNvSpPr txBox="1"/>
          <p:nvPr/>
        </p:nvSpPr>
        <p:spPr>
          <a:xfrm>
            <a:off x="8066837" y="4571429"/>
            <a:ext cx="859536" cy="246888"/>
          </a:xfrm>
          <a:prstGeom prst="rect">
            <a:avLst/>
          </a:prstGeom>
          <a:noFill/>
          <a:ln/>
        </p:spPr>
        <p:txBody>
          <a:bodyPr wrap="square" lIns="0" tIns="0" rIns="0" bIns="0" rtlCol="0" anchor="ctr"/>
          <a:lstStyle/>
          <a:p>
            <a:pPr algn="ctr" indent="0" marL="0">
              <a:buNone/>
            </a:pPr>
            <a:r>
              <a:rPr lang="en-US" sz="850" b="1" spc="50" kern="0" dirty="0">
                <a:solidFill>
                  <a:srgbClr val="54585E"/>
                </a:solidFill>
                <a:latin typeface="Noto Sans" pitchFamily="34" charset="0"/>
                <a:ea typeface="Noto Sans" pitchFamily="34" charset="-122"/>
                <a:cs typeface="Noto Sans" pitchFamily="34" charset="-120"/>
              </a:rPr>
              <a:t>OPTION C</a:t>
            </a:r>
            <a:endParaRPr lang="en-US" sz="850" dirty="0"/>
          </a:p>
        </p:txBody>
      </p:sp>
      <p:sp>
        <p:nvSpPr>
          <p:cNvPr id="25" name="Text 20"/>
          <p:cNvSpPr txBox="1"/>
          <p:nvPr/>
        </p:nvSpPr>
        <p:spPr>
          <a:xfrm>
            <a:off x="8066837" y="4918901"/>
            <a:ext cx="3393338" cy="640080"/>
          </a:xfrm>
          <a:prstGeom prst="rect">
            <a:avLst/>
          </a:prstGeom>
          <a:noFill/>
          <a:ln/>
        </p:spPr>
        <p:txBody>
          <a:bodyPr wrap="square" lIns="0" tIns="0" rIns="0" bIns="0" rtlCol="0" anchor="ctr"/>
          <a:lstStyle/>
          <a:p>
            <a:pPr indent="0" marL="0">
              <a:lnSpc>
                <a:spcPct val="120000"/>
              </a:lnSpc>
              <a:buNone/>
            </a:pPr>
            <a:r>
              <a:rPr lang="en-US" sz="1200" dirty="0">
                <a:solidFill>
                  <a:srgbClr val="1E2124"/>
                </a:solidFill>
                <a:latin typeface="Noto Sans" pitchFamily="34" charset="0"/>
                <a:ea typeface="Noto Sans" pitchFamily="34" charset="-122"/>
                <a:cs typeface="Noto Sans" pitchFamily="34" charset="-120"/>
              </a:rPr>
              <a:t>Pick your group. First the portal for that group, then its schemes.</a:t>
            </a:r>
            <a:endParaRPr lang="en-US" sz="1200" dirty="0"/>
          </a:p>
        </p:txBody>
      </p:sp>
      <p:sp>
        <p:nvSpPr>
          <p:cNvPr id="26" name="Text 21"/>
          <p:cNvSpPr txBox="1"/>
          <p:nvPr/>
        </p:nvSpPr>
        <p:spPr>
          <a:xfrm>
            <a:off x="731520" y="6400800"/>
            <a:ext cx="10728655" cy="237744"/>
          </a:xfrm>
          <a:prstGeom prst="rect">
            <a:avLst/>
          </a:prstGeom>
          <a:noFill/>
          <a:ln/>
        </p:spPr>
        <p:txBody>
          <a:bodyPr wrap="square" lIns="0" tIns="0" rIns="0" bIns="0" rtlCol="0" anchor="ctr"/>
          <a:lstStyle/>
          <a:p>
            <a:pPr indent="0" marL="0">
              <a:buNone/>
            </a:pPr>
            <a:r>
              <a:rPr lang="en-US" sz="850" dirty="0">
                <a:solidFill>
                  <a:srgbClr val="54585E"/>
                </a:solidFill>
                <a:latin typeface="Noto Sans" pitchFamily="34" charset="0"/>
                <a:ea typeface="Noto Sans" pitchFamily="34" charset="-122"/>
                <a:cs typeface="Noto Sans" pitchFamily="34" charset="-120"/>
              </a:rPr>
              <a:t>B and C take the place of Our Offerings, so the page does not get longer.</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38912"/>
            <a:ext cx="10728655" cy="219456"/>
          </a:xfrm>
          <a:prstGeom prst="rect">
            <a:avLst/>
          </a:prstGeom>
          <a:noFill/>
          <a:ln/>
        </p:spPr>
        <p:txBody>
          <a:bodyPr wrap="square" lIns="0" tIns="0" rIns="0" bIns="0" rtlCol="0" anchor="ctr"/>
          <a:lstStyle/>
          <a:p>
            <a:pPr indent="0" marL="0">
              <a:buNone/>
            </a:pPr>
            <a:r>
              <a:rPr lang="en-US" sz="950" b="1" spc="100" kern="0" dirty="0">
                <a:solidFill>
                  <a:srgbClr val="54585E"/>
                </a:solidFill>
                <a:latin typeface="Noto Sans" pitchFamily="34" charset="0"/>
                <a:ea typeface="Noto Sans" pitchFamily="34" charset="-122"/>
                <a:cs typeface="Noto Sans" pitchFamily="34" charset="-120"/>
              </a:rPr>
              <a:t>EXPLORE USER PERSONAS</a:t>
            </a:r>
            <a:endParaRPr lang="en-US" sz="950" dirty="0"/>
          </a:p>
        </p:txBody>
      </p:sp>
      <p:sp>
        <p:nvSpPr>
          <p:cNvPr id="3" name="Text 1"/>
          <p:cNvSpPr txBox="1"/>
          <p:nvPr/>
        </p:nvSpPr>
        <p:spPr>
          <a:xfrm>
            <a:off x="731520" y="694944"/>
            <a:ext cx="8351215" cy="512064"/>
          </a:xfrm>
          <a:prstGeom prst="rect">
            <a:avLst/>
          </a:prstGeom>
          <a:noFill/>
          <a:ln/>
        </p:spPr>
        <p:txBody>
          <a:bodyPr wrap="square" lIns="0" tIns="0" rIns="0" bIns="0" rtlCol="0" anchor="ctr"/>
          <a:lstStyle/>
          <a:p>
            <a:pPr indent="0" marL="0">
              <a:buNone/>
            </a:pPr>
            <a:r>
              <a:rPr lang="en-US" sz="3000" b="1" dirty="0">
                <a:solidFill>
                  <a:srgbClr val="003975"/>
                </a:solidFill>
                <a:latin typeface="Noto Sans" pitchFamily="34" charset="0"/>
                <a:ea typeface="Noto Sans" pitchFamily="34" charset="-122"/>
                <a:cs typeface="Noto Sans" pitchFamily="34" charset="-120"/>
              </a:rPr>
              <a:t>The Home Page · Option A of 3</a:t>
            </a:r>
            <a:endParaRPr lang="en-US" sz="3000" dirty="0"/>
          </a:p>
        </p:txBody>
      </p:sp>
      <p:sp>
        <p:nvSpPr>
          <p:cNvPr id="4" name="Shape 2"/>
          <p:cNvSpPr/>
          <p:nvPr/>
        </p:nvSpPr>
        <p:spPr>
          <a:xfrm>
            <a:off x="731520" y="1298448"/>
            <a:ext cx="1476756" cy="246888"/>
          </a:xfrm>
          <a:prstGeom prst="roundRect">
            <a:avLst>
              <a:gd name="adj" fmla="val 50000"/>
            </a:avLst>
          </a:prstGeom>
          <a:solidFill>
            <a:srgbClr val="EEF0F3"/>
          </a:solidFill>
          <a:ln w="12700">
            <a:solidFill>
              <a:srgbClr val="EEF0F3"/>
            </a:solidFill>
            <a:prstDash val="solid"/>
          </a:ln>
        </p:spPr>
      </p:sp>
      <p:sp>
        <p:nvSpPr>
          <p:cNvPr id="5" name="Text 3"/>
          <p:cNvSpPr txBox="1"/>
          <p:nvPr/>
        </p:nvSpPr>
        <p:spPr>
          <a:xfrm>
            <a:off x="731520" y="1298448"/>
            <a:ext cx="1476756" cy="246888"/>
          </a:xfrm>
          <a:prstGeom prst="rect">
            <a:avLst/>
          </a:prstGeom>
          <a:noFill/>
          <a:ln/>
        </p:spPr>
        <p:txBody>
          <a:bodyPr wrap="square" lIns="0" tIns="0" rIns="0" bIns="0" rtlCol="0" anchor="ctr"/>
          <a:lstStyle/>
          <a:p>
            <a:pPr algn="ctr" indent="0" marL="0">
              <a:buNone/>
            </a:pPr>
            <a:r>
              <a:rPr lang="en-US" sz="850" b="1" spc="50" kern="0" dirty="0">
                <a:solidFill>
                  <a:srgbClr val="54585E"/>
                </a:solidFill>
                <a:latin typeface="Noto Sans" pitchFamily="34" charset="0"/>
                <a:ea typeface="Noto Sans" pitchFamily="34" charset="-122"/>
                <a:cs typeface="Noto Sans" pitchFamily="34" charset="-120"/>
              </a:rPr>
              <a:t>ON THE SITE TODAY</a:t>
            </a:r>
            <a:endParaRPr lang="en-US" sz="850" dirty="0"/>
          </a:p>
        </p:txBody>
      </p:sp>
      <p:sp>
        <p:nvSpPr>
          <p:cNvPr id="6" name="Shape 4"/>
          <p:cNvSpPr/>
          <p:nvPr/>
        </p:nvSpPr>
        <p:spPr>
          <a:xfrm>
            <a:off x="704088" y="1755648"/>
            <a:ext cx="6547104" cy="4112514"/>
          </a:xfrm>
          <a:prstGeom prst="rect">
            <a:avLst/>
          </a:prstGeom>
          <a:solidFill>
            <a:srgbClr val="FFFFFF"/>
          </a:solidFill>
          <a:ln w="9525">
            <a:solidFill>
              <a:srgbClr val="DCDEE1"/>
            </a:solidFill>
            <a:prstDash val="solid"/>
          </a:ln>
        </p:spPr>
      </p:sp>
      <p:pic>
        <p:nvPicPr>
          <p:cNvPr id="7" name="Image 0" descr="assets/still/home-a.png">    </p:cNvPr>
          <p:cNvPicPr>
            <a:picLocks noChangeAspect="1"/>
          </p:cNvPicPr>
          <p:nvPr/>
        </p:nvPicPr>
        <p:blipFill>
          <a:blip r:embed="rId1"/>
          <a:stretch>
            <a:fillRect/>
          </a:stretch>
        </p:blipFill>
        <p:spPr>
          <a:xfrm>
            <a:off x="731520" y="1783080"/>
            <a:ext cx="6492240" cy="4057650"/>
          </a:xfrm>
          <a:prstGeom prst="rect">
            <a:avLst/>
          </a:prstGeom>
        </p:spPr>
      </p:pic>
      <p:sp>
        <p:nvSpPr>
          <p:cNvPr id="8" name="Text 5"/>
          <p:cNvSpPr txBox="1"/>
          <p:nvPr/>
        </p:nvSpPr>
        <p:spPr>
          <a:xfrm>
            <a:off x="7680960" y="1783080"/>
            <a:ext cx="3779215" cy="201168"/>
          </a:xfrm>
          <a:prstGeom prst="rect">
            <a:avLst/>
          </a:prstGeom>
          <a:noFill/>
          <a:ln/>
        </p:spPr>
        <p:txBody>
          <a:bodyPr wrap="square" lIns="0" tIns="0" rIns="0" bIns="0" rtlCol="0" anchor="ctr"/>
          <a:lstStyle/>
          <a:p>
            <a:pPr indent="0" marL="0">
              <a:buNone/>
            </a:pPr>
            <a:r>
              <a:rPr lang="en-US" sz="950" b="1" spc="100" kern="0" dirty="0">
                <a:solidFill>
                  <a:srgbClr val="003975"/>
                </a:solidFill>
                <a:latin typeface="Noto Sans" pitchFamily="34" charset="0"/>
                <a:ea typeface="Noto Sans" pitchFamily="34" charset="-122"/>
                <a:cs typeface="Noto Sans" pitchFamily="34" charset="-120"/>
              </a:rPr>
              <a:t>WHAT IT IS</a:t>
            </a:r>
            <a:endParaRPr lang="en-US" sz="950" dirty="0"/>
          </a:p>
        </p:txBody>
      </p:sp>
      <p:sp>
        <p:nvSpPr>
          <p:cNvPr id="9" name="Text 6"/>
          <p:cNvSpPr txBox="1"/>
          <p:nvPr/>
        </p:nvSpPr>
        <p:spPr>
          <a:xfrm>
            <a:off x="7680960" y="2057400"/>
            <a:ext cx="3779215" cy="630936"/>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The panel already on the home page. It shows one group at a time, and you move between them with the arrows.</a:t>
            </a:r>
            <a:endParaRPr lang="en-US" sz="1200" dirty="0"/>
          </a:p>
        </p:txBody>
      </p:sp>
      <p:sp>
        <p:nvSpPr>
          <p:cNvPr id="10" name="Text 7"/>
          <p:cNvSpPr txBox="1"/>
          <p:nvPr/>
        </p:nvSpPr>
        <p:spPr>
          <a:xfrm>
            <a:off x="7680960" y="2889504"/>
            <a:ext cx="3779215" cy="201168"/>
          </a:xfrm>
          <a:prstGeom prst="rect">
            <a:avLst/>
          </a:prstGeom>
          <a:noFill/>
          <a:ln/>
        </p:spPr>
        <p:txBody>
          <a:bodyPr wrap="square" lIns="0" tIns="0" rIns="0" bIns="0" rtlCol="0" anchor="ctr"/>
          <a:lstStyle/>
          <a:p>
            <a:pPr indent="0" marL="0">
              <a:buNone/>
            </a:pPr>
            <a:r>
              <a:rPr lang="en-US" sz="950" b="1" spc="100" kern="0" dirty="0">
                <a:solidFill>
                  <a:srgbClr val="005EB9"/>
                </a:solidFill>
                <a:latin typeface="Noto Sans" pitchFamily="34" charset="0"/>
                <a:ea typeface="Noto Sans" pitchFamily="34" charset="-122"/>
                <a:cs typeface="Noto Sans" pitchFamily="34" charset="-120"/>
              </a:rPr>
              <a:t>HOW IT WORKS</a:t>
            </a:r>
            <a:endParaRPr lang="en-US" sz="950" dirty="0"/>
          </a:p>
        </p:txBody>
      </p:sp>
      <p:sp>
        <p:nvSpPr>
          <p:cNvPr id="11" name="Shape 8"/>
          <p:cNvSpPr/>
          <p:nvPr/>
        </p:nvSpPr>
        <p:spPr>
          <a:xfrm>
            <a:off x="7680960" y="3218688"/>
            <a:ext cx="54864" cy="54864"/>
          </a:xfrm>
          <a:prstGeom prst="rect">
            <a:avLst/>
          </a:prstGeom>
          <a:solidFill>
            <a:srgbClr val="005EB9"/>
          </a:solidFill>
          <a:ln w="12700">
            <a:solidFill>
              <a:srgbClr val="005EB9"/>
            </a:solidFill>
            <a:prstDash val="solid"/>
          </a:ln>
        </p:spPr>
      </p:sp>
      <p:sp>
        <p:nvSpPr>
          <p:cNvPr id="12" name="Text 9"/>
          <p:cNvSpPr txBox="1"/>
          <p:nvPr/>
        </p:nvSpPr>
        <p:spPr>
          <a:xfrm>
            <a:off x="7863840" y="3163824"/>
            <a:ext cx="3596335" cy="228600"/>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Tap the arrows to move between the groups</a:t>
            </a:r>
            <a:endParaRPr lang="en-US" sz="1200" dirty="0"/>
          </a:p>
        </p:txBody>
      </p:sp>
      <p:sp>
        <p:nvSpPr>
          <p:cNvPr id="13" name="Shape 10"/>
          <p:cNvSpPr/>
          <p:nvPr/>
        </p:nvSpPr>
        <p:spPr>
          <a:xfrm>
            <a:off x="7680960" y="3520440"/>
            <a:ext cx="54864" cy="54864"/>
          </a:xfrm>
          <a:prstGeom prst="rect">
            <a:avLst/>
          </a:prstGeom>
          <a:solidFill>
            <a:srgbClr val="005EB9"/>
          </a:solidFill>
          <a:ln w="12700">
            <a:solidFill>
              <a:srgbClr val="005EB9"/>
            </a:solidFill>
            <a:prstDash val="solid"/>
          </a:ln>
        </p:spPr>
      </p:sp>
      <p:sp>
        <p:nvSpPr>
          <p:cNvPr id="14" name="Text 11"/>
          <p:cNvSpPr txBox="1"/>
          <p:nvPr/>
        </p:nvSpPr>
        <p:spPr>
          <a:xfrm>
            <a:off x="7863840" y="3465576"/>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Tap a group to open the Schemes page for that group</a:t>
            </a:r>
            <a:endParaRPr lang="en-US" sz="1200" dirty="0"/>
          </a:p>
        </p:txBody>
      </p:sp>
      <p:sp>
        <p:nvSpPr>
          <p:cNvPr id="15" name="Text 12"/>
          <p:cNvSpPr txBox="1"/>
          <p:nvPr/>
        </p:nvSpPr>
        <p:spPr>
          <a:xfrm>
            <a:off x="7680960" y="4160520"/>
            <a:ext cx="3779215" cy="201168"/>
          </a:xfrm>
          <a:prstGeom prst="rect">
            <a:avLst/>
          </a:prstGeom>
          <a:noFill/>
          <a:ln/>
        </p:spPr>
        <p:txBody>
          <a:bodyPr wrap="square" lIns="0" tIns="0" rIns="0" bIns="0" rtlCol="0" anchor="ctr"/>
          <a:lstStyle/>
          <a:p>
            <a:pPr indent="0" marL="0">
              <a:buNone/>
            </a:pPr>
            <a:r>
              <a:rPr lang="en-US" sz="950" b="1" spc="100" kern="0" dirty="0">
                <a:solidFill>
                  <a:srgbClr val="005EB9"/>
                </a:solidFill>
                <a:latin typeface="Noto Sans" pitchFamily="34" charset="0"/>
                <a:ea typeface="Noto Sans" pitchFamily="34" charset="-122"/>
                <a:cs typeface="Noto Sans" pitchFamily="34" charset="-120"/>
              </a:rPr>
              <a:t>WHY IT HELPS</a:t>
            </a:r>
            <a:endParaRPr lang="en-US" sz="950" dirty="0"/>
          </a:p>
        </p:txBody>
      </p:sp>
      <p:sp>
        <p:nvSpPr>
          <p:cNvPr id="16" name="Shape 13"/>
          <p:cNvSpPr/>
          <p:nvPr/>
        </p:nvSpPr>
        <p:spPr>
          <a:xfrm>
            <a:off x="7680960" y="4489704"/>
            <a:ext cx="54864" cy="54864"/>
          </a:xfrm>
          <a:prstGeom prst="rect">
            <a:avLst/>
          </a:prstGeom>
          <a:solidFill>
            <a:srgbClr val="005EB9"/>
          </a:solidFill>
          <a:ln w="12700">
            <a:solidFill>
              <a:srgbClr val="005EB9"/>
            </a:solidFill>
            <a:prstDash val="solid"/>
          </a:ln>
        </p:spPr>
      </p:sp>
      <p:sp>
        <p:nvSpPr>
          <p:cNvPr id="17" name="Text 14"/>
          <p:cNvSpPr txBox="1"/>
          <p:nvPr/>
        </p:nvSpPr>
        <p:spPr>
          <a:xfrm>
            <a:off x="7863840" y="4434840"/>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The smallest change: only the link behind each picture is new</a:t>
            </a:r>
            <a:endParaRPr lang="en-US" sz="1200" dirty="0"/>
          </a:p>
        </p:txBody>
      </p:sp>
      <p:sp>
        <p:nvSpPr>
          <p:cNvPr id="18" name="Shape 15"/>
          <p:cNvSpPr/>
          <p:nvPr/>
        </p:nvSpPr>
        <p:spPr>
          <a:xfrm>
            <a:off x="7680960" y="4983480"/>
            <a:ext cx="54864" cy="54864"/>
          </a:xfrm>
          <a:prstGeom prst="rect">
            <a:avLst/>
          </a:prstGeom>
          <a:solidFill>
            <a:srgbClr val="005EB9"/>
          </a:solidFill>
          <a:ln w="12700">
            <a:solidFill>
              <a:srgbClr val="005EB9"/>
            </a:solidFill>
            <a:prstDash val="solid"/>
          </a:ln>
        </p:spPr>
      </p:sp>
      <p:sp>
        <p:nvSpPr>
          <p:cNvPr id="19" name="Text 16"/>
          <p:cNvSpPr txBox="1"/>
          <p:nvPr/>
        </p:nvSpPr>
        <p:spPr>
          <a:xfrm>
            <a:off x="7863840" y="4928616"/>
            <a:ext cx="3596335" cy="228600"/>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The pictures work in any language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38912"/>
            <a:ext cx="10728655" cy="219456"/>
          </a:xfrm>
          <a:prstGeom prst="rect">
            <a:avLst/>
          </a:prstGeom>
          <a:noFill/>
          <a:ln/>
        </p:spPr>
        <p:txBody>
          <a:bodyPr wrap="square" lIns="0" tIns="0" rIns="0" bIns="0" rtlCol="0" anchor="ctr"/>
          <a:lstStyle/>
          <a:p>
            <a:pPr indent="0" marL="0">
              <a:buNone/>
            </a:pPr>
            <a:r>
              <a:rPr lang="en-US" sz="950" b="1" spc="100" kern="0" dirty="0">
                <a:solidFill>
                  <a:srgbClr val="54585E"/>
                </a:solidFill>
                <a:latin typeface="Noto Sans" pitchFamily="34" charset="0"/>
                <a:ea typeface="Noto Sans" pitchFamily="34" charset="-122"/>
                <a:cs typeface="Noto Sans" pitchFamily="34" charset="-120"/>
              </a:rPr>
              <a:t>TWO QUESTIONS</a:t>
            </a:r>
            <a:endParaRPr lang="en-US" sz="950" dirty="0"/>
          </a:p>
        </p:txBody>
      </p:sp>
      <p:sp>
        <p:nvSpPr>
          <p:cNvPr id="3" name="Text 1"/>
          <p:cNvSpPr txBox="1"/>
          <p:nvPr/>
        </p:nvSpPr>
        <p:spPr>
          <a:xfrm>
            <a:off x="731520" y="694944"/>
            <a:ext cx="8351215" cy="512064"/>
          </a:xfrm>
          <a:prstGeom prst="rect">
            <a:avLst/>
          </a:prstGeom>
          <a:noFill/>
          <a:ln/>
        </p:spPr>
        <p:txBody>
          <a:bodyPr wrap="square" lIns="0" tIns="0" rIns="0" bIns="0" rtlCol="0" anchor="ctr"/>
          <a:lstStyle/>
          <a:p>
            <a:pPr indent="0" marL="0">
              <a:buNone/>
            </a:pPr>
            <a:r>
              <a:rPr lang="en-US" sz="3000" b="1" dirty="0">
                <a:solidFill>
                  <a:srgbClr val="003975"/>
                </a:solidFill>
                <a:latin typeface="Noto Sans" pitchFamily="34" charset="0"/>
                <a:ea typeface="Noto Sans" pitchFamily="34" charset="-122"/>
                <a:cs typeface="Noto Sans" pitchFamily="34" charset="-120"/>
              </a:rPr>
              <a:t>The Home Page · Option B of 3</a:t>
            </a:r>
            <a:endParaRPr lang="en-US" sz="3000" dirty="0"/>
          </a:p>
        </p:txBody>
      </p:sp>
      <p:sp>
        <p:nvSpPr>
          <p:cNvPr id="4" name="Shape 2"/>
          <p:cNvSpPr/>
          <p:nvPr/>
        </p:nvSpPr>
        <p:spPr>
          <a:xfrm>
            <a:off x="731520" y="1298448"/>
            <a:ext cx="1065276" cy="246888"/>
          </a:xfrm>
          <a:prstGeom prst="roundRect">
            <a:avLst>
              <a:gd name="adj" fmla="val 50000"/>
            </a:avLst>
          </a:prstGeom>
          <a:solidFill>
            <a:srgbClr val="ECF4FF"/>
          </a:solidFill>
          <a:ln w="12700">
            <a:solidFill>
              <a:srgbClr val="ECF4FF"/>
            </a:solidFill>
            <a:prstDash val="solid"/>
          </a:ln>
        </p:spPr>
      </p:sp>
      <p:sp>
        <p:nvSpPr>
          <p:cNvPr id="5" name="Text 3"/>
          <p:cNvSpPr txBox="1"/>
          <p:nvPr/>
        </p:nvSpPr>
        <p:spPr>
          <a:xfrm>
            <a:off x="731520" y="1298448"/>
            <a:ext cx="1065276" cy="246888"/>
          </a:xfrm>
          <a:prstGeom prst="rect">
            <a:avLst/>
          </a:prstGeom>
          <a:noFill/>
          <a:ln/>
        </p:spPr>
        <p:txBody>
          <a:bodyPr wrap="square" lIns="0" tIns="0" rIns="0" bIns="0" rtlCol="0" anchor="ctr"/>
          <a:lstStyle/>
          <a:p>
            <a:pPr algn="ctr" indent="0" marL="0">
              <a:buNone/>
            </a:pPr>
            <a:r>
              <a:rPr lang="en-US" sz="850" b="1" spc="50" kern="0" dirty="0">
                <a:solidFill>
                  <a:srgbClr val="005EB9"/>
                </a:solidFill>
                <a:latin typeface="Noto Sans" pitchFamily="34" charset="0"/>
                <a:ea typeface="Noto Sans" pitchFamily="34" charset="-122"/>
                <a:cs typeface="Noto Sans" pitchFamily="34" charset="-120"/>
              </a:rPr>
              <a:t>TO BE BUILT</a:t>
            </a:r>
            <a:endParaRPr lang="en-US" sz="850" dirty="0"/>
          </a:p>
        </p:txBody>
      </p:sp>
      <p:sp>
        <p:nvSpPr>
          <p:cNvPr id="6" name="Shape 4"/>
          <p:cNvSpPr/>
          <p:nvPr/>
        </p:nvSpPr>
        <p:spPr>
          <a:xfrm>
            <a:off x="704088" y="1755648"/>
            <a:ext cx="6547104" cy="4112514"/>
          </a:xfrm>
          <a:prstGeom prst="rect">
            <a:avLst/>
          </a:prstGeom>
          <a:solidFill>
            <a:srgbClr val="FFFFFF"/>
          </a:solidFill>
          <a:ln w="9525">
            <a:solidFill>
              <a:srgbClr val="DCDEE1"/>
            </a:solidFill>
            <a:prstDash val="solid"/>
          </a:ln>
        </p:spPr>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31520" y="1783080"/>
            <a:ext cx="6492240" cy="4057650"/>
          </a:xfrm>
          <a:prstGeom prst="rect">
            <a:avLst/>
          </a:prstGeom>
        </p:spPr>
      </p:pic>
      <p:sp>
        <p:nvSpPr>
          <p:cNvPr id="8" name="Text 5"/>
          <p:cNvSpPr txBox="1"/>
          <p:nvPr/>
        </p:nvSpPr>
        <p:spPr>
          <a:xfrm>
            <a:off x="731520" y="5968746"/>
            <a:ext cx="6492240" cy="384048"/>
          </a:xfrm>
          <a:prstGeom prst="rect">
            <a:avLst/>
          </a:prstGeom>
          <a:noFill/>
          <a:ln/>
        </p:spPr>
        <p:txBody>
          <a:bodyPr wrap="square" lIns="0" tIns="0" rIns="0" bIns="0" rtlCol="0" anchor="ctr"/>
          <a:lstStyle/>
          <a:p>
            <a:pPr indent="0" marL="0">
              <a:lnSpc>
                <a:spcPct val="115000"/>
              </a:lnSpc>
              <a:buNone/>
            </a:pPr>
            <a:r>
              <a:rPr lang="en-US" sz="850" dirty="0">
                <a:solidFill>
                  <a:srgbClr val="54585E"/>
                </a:solidFill>
                <a:latin typeface="Noto Sans" pitchFamily="34" charset="0"/>
                <a:ea typeface="Noto Sans" pitchFamily="34" charset="-122"/>
                <a:cs typeface="Noto Sans" pitchFamily="34" charset="-120"/>
              </a:rPr>
              <a:t>▶  Recorded: Scheduled Castes, then Scholarships. Then Senior Citizens with the second question skipped.</a:t>
            </a:r>
            <a:endParaRPr lang="en-US" sz="850" dirty="0"/>
          </a:p>
        </p:txBody>
      </p:sp>
      <p:sp>
        <p:nvSpPr>
          <p:cNvPr id="9" name="Text 6"/>
          <p:cNvSpPr txBox="1"/>
          <p:nvPr/>
        </p:nvSpPr>
        <p:spPr>
          <a:xfrm>
            <a:off x="7680960" y="1783080"/>
            <a:ext cx="3779215" cy="201168"/>
          </a:xfrm>
          <a:prstGeom prst="rect">
            <a:avLst/>
          </a:prstGeom>
          <a:noFill/>
          <a:ln/>
        </p:spPr>
        <p:txBody>
          <a:bodyPr wrap="square" lIns="0" tIns="0" rIns="0" bIns="0" rtlCol="0" anchor="ctr"/>
          <a:lstStyle/>
          <a:p>
            <a:pPr indent="0" marL="0">
              <a:buNone/>
            </a:pPr>
            <a:r>
              <a:rPr lang="en-US" sz="950" b="1" spc="100" kern="0" dirty="0">
                <a:solidFill>
                  <a:srgbClr val="003975"/>
                </a:solidFill>
                <a:latin typeface="Noto Sans" pitchFamily="34" charset="0"/>
                <a:ea typeface="Noto Sans" pitchFamily="34" charset="-122"/>
                <a:cs typeface="Noto Sans" pitchFamily="34" charset="-120"/>
              </a:rPr>
              <a:t>WHAT IT IS</a:t>
            </a:r>
            <a:endParaRPr lang="en-US" sz="950" dirty="0"/>
          </a:p>
        </p:txBody>
      </p:sp>
      <p:sp>
        <p:nvSpPr>
          <p:cNvPr id="10" name="Text 7"/>
          <p:cNvSpPr txBox="1"/>
          <p:nvPr/>
        </p:nvSpPr>
        <p:spPr>
          <a:xfrm>
            <a:off x="7680960" y="2057400"/>
            <a:ext cx="3779215" cy="630936"/>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Two short questions on the home page: who you are, and what kind of support you need.</a:t>
            </a:r>
            <a:endParaRPr lang="en-US" sz="1200" dirty="0"/>
          </a:p>
        </p:txBody>
      </p:sp>
      <p:sp>
        <p:nvSpPr>
          <p:cNvPr id="11" name="Text 8"/>
          <p:cNvSpPr txBox="1"/>
          <p:nvPr/>
        </p:nvSpPr>
        <p:spPr>
          <a:xfrm>
            <a:off x="7680960" y="2889504"/>
            <a:ext cx="3779215" cy="201168"/>
          </a:xfrm>
          <a:prstGeom prst="rect">
            <a:avLst/>
          </a:prstGeom>
          <a:noFill/>
          <a:ln/>
        </p:spPr>
        <p:txBody>
          <a:bodyPr wrap="square" lIns="0" tIns="0" rIns="0" bIns="0" rtlCol="0" anchor="ctr"/>
          <a:lstStyle/>
          <a:p>
            <a:pPr indent="0" marL="0">
              <a:buNone/>
            </a:pPr>
            <a:r>
              <a:rPr lang="en-US" sz="950" b="1" spc="100" kern="0" dirty="0">
                <a:solidFill>
                  <a:srgbClr val="005EB9"/>
                </a:solidFill>
                <a:latin typeface="Noto Sans" pitchFamily="34" charset="0"/>
                <a:ea typeface="Noto Sans" pitchFamily="34" charset="-122"/>
                <a:cs typeface="Noto Sans" pitchFamily="34" charset="-120"/>
              </a:rPr>
              <a:t>HOW IT WORKS</a:t>
            </a:r>
            <a:endParaRPr lang="en-US" sz="950" dirty="0"/>
          </a:p>
        </p:txBody>
      </p:sp>
      <p:sp>
        <p:nvSpPr>
          <p:cNvPr id="12" name="Shape 9"/>
          <p:cNvSpPr/>
          <p:nvPr/>
        </p:nvSpPr>
        <p:spPr>
          <a:xfrm>
            <a:off x="7680960" y="3218688"/>
            <a:ext cx="54864" cy="54864"/>
          </a:xfrm>
          <a:prstGeom prst="rect">
            <a:avLst/>
          </a:prstGeom>
          <a:solidFill>
            <a:srgbClr val="005EB9"/>
          </a:solidFill>
          <a:ln w="12700">
            <a:solidFill>
              <a:srgbClr val="005EB9"/>
            </a:solidFill>
            <a:prstDash val="solid"/>
          </a:ln>
        </p:spPr>
      </p:sp>
      <p:sp>
        <p:nvSpPr>
          <p:cNvPr id="13" name="Text 10"/>
          <p:cNvSpPr txBox="1"/>
          <p:nvPr/>
        </p:nvSpPr>
        <p:spPr>
          <a:xfrm>
            <a:off x="7863840" y="3163824"/>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Question 2 can be skipped, which shows everything for the group</a:t>
            </a:r>
            <a:endParaRPr lang="en-US" sz="1200" dirty="0"/>
          </a:p>
        </p:txBody>
      </p:sp>
      <p:sp>
        <p:nvSpPr>
          <p:cNvPr id="14" name="Shape 11"/>
          <p:cNvSpPr/>
          <p:nvPr/>
        </p:nvSpPr>
        <p:spPr>
          <a:xfrm>
            <a:off x="7680960" y="3712464"/>
            <a:ext cx="54864" cy="54864"/>
          </a:xfrm>
          <a:prstGeom prst="rect">
            <a:avLst/>
          </a:prstGeom>
          <a:solidFill>
            <a:srgbClr val="005EB9"/>
          </a:solidFill>
          <a:ln w="12700">
            <a:solidFill>
              <a:srgbClr val="005EB9"/>
            </a:solidFill>
            <a:prstDash val="solid"/>
          </a:ln>
        </p:spPr>
      </p:sp>
      <p:sp>
        <p:nvSpPr>
          <p:cNvPr id="15" name="Text 12"/>
          <p:cNvSpPr txBox="1"/>
          <p:nvPr/>
        </p:nvSpPr>
        <p:spPr>
          <a:xfrm>
            <a:off x="7863840" y="3657600"/>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The answer shows three schemes, each with a link to its own page</a:t>
            </a:r>
            <a:endParaRPr lang="en-US" sz="1200" dirty="0"/>
          </a:p>
        </p:txBody>
      </p:sp>
      <p:sp>
        <p:nvSpPr>
          <p:cNvPr id="16" name="Shape 13"/>
          <p:cNvSpPr/>
          <p:nvPr/>
        </p:nvSpPr>
        <p:spPr>
          <a:xfrm>
            <a:off x="7680960" y="4206240"/>
            <a:ext cx="54864" cy="54864"/>
          </a:xfrm>
          <a:prstGeom prst="rect">
            <a:avLst/>
          </a:prstGeom>
          <a:solidFill>
            <a:srgbClr val="005EB9"/>
          </a:solidFill>
          <a:ln w="12700">
            <a:solidFill>
              <a:srgbClr val="005EB9"/>
            </a:solidFill>
            <a:prstDash val="solid"/>
          </a:ln>
        </p:spPr>
      </p:sp>
      <p:sp>
        <p:nvSpPr>
          <p:cNvPr id="17" name="Text 14"/>
          <p:cNvSpPr txBox="1"/>
          <p:nvPr/>
        </p:nvSpPr>
        <p:spPr>
          <a:xfrm>
            <a:off x="7863840" y="4151376"/>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One more link opens the Schemes page, already filtered to the same two answers</a:t>
            </a:r>
            <a:endParaRPr lang="en-US" sz="1200" dirty="0"/>
          </a:p>
        </p:txBody>
      </p:sp>
      <p:sp>
        <p:nvSpPr>
          <p:cNvPr id="18" name="Text 15"/>
          <p:cNvSpPr txBox="1"/>
          <p:nvPr/>
        </p:nvSpPr>
        <p:spPr>
          <a:xfrm>
            <a:off x="7680960" y="4846320"/>
            <a:ext cx="3779215" cy="201168"/>
          </a:xfrm>
          <a:prstGeom prst="rect">
            <a:avLst/>
          </a:prstGeom>
          <a:noFill/>
          <a:ln/>
        </p:spPr>
        <p:txBody>
          <a:bodyPr wrap="square" lIns="0" tIns="0" rIns="0" bIns="0" rtlCol="0" anchor="ctr"/>
          <a:lstStyle/>
          <a:p>
            <a:pPr indent="0" marL="0">
              <a:buNone/>
            </a:pPr>
            <a:r>
              <a:rPr lang="en-US" sz="950" b="1" spc="100" kern="0" dirty="0">
                <a:solidFill>
                  <a:srgbClr val="005EB9"/>
                </a:solidFill>
                <a:latin typeface="Noto Sans" pitchFamily="34" charset="0"/>
                <a:ea typeface="Noto Sans" pitchFamily="34" charset="-122"/>
                <a:cs typeface="Noto Sans" pitchFamily="34" charset="-120"/>
              </a:rPr>
              <a:t>WHY IT HELPS</a:t>
            </a:r>
            <a:endParaRPr lang="en-US" sz="950" dirty="0"/>
          </a:p>
        </p:txBody>
      </p:sp>
      <p:sp>
        <p:nvSpPr>
          <p:cNvPr id="19" name="Shape 16"/>
          <p:cNvSpPr/>
          <p:nvPr/>
        </p:nvSpPr>
        <p:spPr>
          <a:xfrm>
            <a:off x="7680960" y="5175504"/>
            <a:ext cx="54864" cy="54864"/>
          </a:xfrm>
          <a:prstGeom prst="rect">
            <a:avLst/>
          </a:prstGeom>
          <a:solidFill>
            <a:srgbClr val="005EB9"/>
          </a:solidFill>
          <a:ln w="12700">
            <a:solidFill>
              <a:srgbClr val="005EB9"/>
            </a:solidFill>
            <a:prstDash val="solid"/>
          </a:ln>
        </p:spPr>
      </p:sp>
      <p:sp>
        <p:nvSpPr>
          <p:cNvPr id="20" name="Text 17"/>
          <p:cNvSpPr txBox="1"/>
          <p:nvPr/>
        </p:nvSpPr>
        <p:spPr>
          <a:xfrm>
            <a:off x="7863840" y="5120640"/>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Both questions change what you see; nothing is asked for its own sake</a:t>
            </a:r>
            <a:endParaRPr lang="en-US" sz="1200" dirty="0"/>
          </a:p>
        </p:txBody>
      </p:sp>
      <p:sp>
        <p:nvSpPr>
          <p:cNvPr id="21" name="Shape 18"/>
          <p:cNvSpPr/>
          <p:nvPr/>
        </p:nvSpPr>
        <p:spPr>
          <a:xfrm>
            <a:off x="7680960" y="5669280"/>
            <a:ext cx="54864" cy="54864"/>
          </a:xfrm>
          <a:prstGeom prst="rect">
            <a:avLst/>
          </a:prstGeom>
          <a:solidFill>
            <a:srgbClr val="005EB9"/>
          </a:solidFill>
          <a:ln w="12700">
            <a:solidFill>
              <a:srgbClr val="005EB9"/>
            </a:solidFill>
            <a:prstDash val="solid"/>
          </a:ln>
        </p:spPr>
      </p:sp>
      <p:sp>
        <p:nvSpPr>
          <p:cNvPr id="22" name="Text 19"/>
          <p:cNvSpPr txBox="1"/>
          <p:nvPr/>
        </p:nvSpPr>
        <p:spPr>
          <a:xfrm>
            <a:off x="7863840" y="5614416"/>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A visitor gets an answer without leaving the home page</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38912"/>
            <a:ext cx="10728655" cy="219456"/>
          </a:xfrm>
          <a:prstGeom prst="rect">
            <a:avLst/>
          </a:prstGeom>
          <a:noFill/>
          <a:ln/>
        </p:spPr>
        <p:txBody>
          <a:bodyPr wrap="square" lIns="0" tIns="0" rIns="0" bIns="0" rtlCol="0" anchor="ctr"/>
          <a:lstStyle/>
          <a:p>
            <a:pPr indent="0" marL="0">
              <a:buNone/>
            </a:pPr>
            <a:r>
              <a:rPr lang="en-US" sz="950" b="1" spc="100" kern="0" dirty="0">
                <a:solidFill>
                  <a:srgbClr val="54585E"/>
                </a:solidFill>
                <a:latin typeface="Noto Sans" pitchFamily="34" charset="0"/>
                <a:ea typeface="Noto Sans" pitchFamily="34" charset="-122"/>
                <a:cs typeface="Noto Sans" pitchFamily="34" charset="-120"/>
              </a:rPr>
              <a:t>ONE TAP</a:t>
            </a:r>
            <a:endParaRPr lang="en-US" sz="950" dirty="0"/>
          </a:p>
        </p:txBody>
      </p:sp>
      <p:sp>
        <p:nvSpPr>
          <p:cNvPr id="3" name="Text 1"/>
          <p:cNvSpPr txBox="1"/>
          <p:nvPr/>
        </p:nvSpPr>
        <p:spPr>
          <a:xfrm>
            <a:off x="731520" y="694944"/>
            <a:ext cx="8351215" cy="512064"/>
          </a:xfrm>
          <a:prstGeom prst="rect">
            <a:avLst/>
          </a:prstGeom>
          <a:noFill/>
          <a:ln/>
        </p:spPr>
        <p:txBody>
          <a:bodyPr wrap="square" lIns="0" tIns="0" rIns="0" bIns="0" rtlCol="0" anchor="ctr"/>
          <a:lstStyle/>
          <a:p>
            <a:pPr indent="0" marL="0">
              <a:buNone/>
            </a:pPr>
            <a:r>
              <a:rPr lang="en-US" sz="3000" b="1" dirty="0">
                <a:solidFill>
                  <a:srgbClr val="003975"/>
                </a:solidFill>
                <a:latin typeface="Noto Sans" pitchFamily="34" charset="0"/>
                <a:ea typeface="Noto Sans" pitchFamily="34" charset="-122"/>
                <a:cs typeface="Noto Sans" pitchFamily="34" charset="-120"/>
              </a:rPr>
              <a:t>The Home Page · Option C of 3</a:t>
            </a:r>
            <a:endParaRPr lang="en-US" sz="3000" dirty="0"/>
          </a:p>
        </p:txBody>
      </p:sp>
      <p:sp>
        <p:nvSpPr>
          <p:cNvPr id="4" name="Shape 2"/>
          <p:cNvSpPr/>
          <p:nvPr/>
        </p:nvSpPr>
        <p:spPr>
          <a:xfrm>
            <a:off x="731520" y="1298448"/>
            <a:ext cx="1065276" cy="246888"/>
          </a:xfrm>
          <a:prstGeom prst="roundRect">
            <a:avLst>
              <a:gd name="adj" fmla="val 50000"/>
            </a:avLst>
          </a:prstGeom>
          <a:solidFill>
            <a:srgbClr val="ECF4FF"/>
          </a:solidFill>
          <a:ln w="12700">
            <a:solidFill>
              <a:srgbClr val="ECF4FF"/>
            </a:solidFill>
            <a:prstDash val="solid"/>
          </a:ln>
        </p:spPr>
      </p:sp>
      <p:sp>
        <p:nvSpPr>
          <p:cNvPr id="5" name="Text 3"/>
          <p:cNvSpPr txBox="1"/>
          <p:nvPr/>
        </p:nvSpPr>
        <p:spPr>
          <a:xfrm>
            <a:off x="731520" y="1298448"/>
            <a:ext cx="1065276" cy="246888"/>
          </a:xfrm>
          <a:prstGeom prst="rect">
            <a:avLst/>
          </a:prstGeom>
          <a:noFill/>
          <a:ln/>
        </p:spPr>
        <p:txBody>
          <a:bodyPr wrap="square" lIns="0" tIns="0" rIns="0" bIns="0" rtlCol="0" anchor="ctr"/>
          <a:lstStyle/>
          <a:p>
            <a:pPr algn="ctr" indent="0" marL="0">
              <a:buNone/>
            </a:pPr>
            <a:r>
              <a:rPr lang="en-US" sz="850" b="1" spc="50" kern="0" dirty="0">
                <a:solidFill>
                  <a:srgbClr val="005EB9"/>
                </a:solidFill>
                <a:latin typeface="Noto Sans" pitchFamily="34" charset="0"/>
                <a:ea typeface="Noto Sans" pitchFamily="34" charset="-122"/>
                <a:cs typeface="Noto Sans" pitchFamily="34" charset="-120"/>
              </a:rPr>
              <a:t>TO BE BUILT</a:t>
            </a:r>
            <a:endParaRPr lang="en-US" sz="850" dirty="0"/>
          </a:p>
        </p:txBody>
      </p:sp>
      <p:sp>
        <p:nvSpPr>
          <p:cNvPr id="6" name="Shape 4"/>
          <p:cNvSpPr/>
          <p:nvPr/>
        </p:nvSpPr>
        <p:spPr>
          <a:xfrm>
            <a:off x="704088" y="1755648"/>
            <a:ext cx="6547104" cy="4112514"/>
          </a:xfrm>
          <a:prstGeom prst="rect">
            <a:avLst/>
          </a:prstGeom>
          <a:solidFill>
            <a:srgbClr val="FFFFFF"/>
          </a:solidFill>
          <a:ln w="9525">
            <a:solidFill>
              <a:srgbClr val="DCDEE1"/>
            </a:solidFill>
            <a:prstDash val="solid"/>
          </a:ln>
        </p:spPr>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31520" y="1783080"/>
            <a:ext cx="6492240" cy="4057650"/>
          </a:xfrm>
          <a:prstGeom prst="rect">
            <a:avLst/>
          </a:prstGeom>
        </p:spPr>
      </p:pic>
      <p:sp>
        <p:nvSpPr>
          <p:cNvPr id="8" name="Text 5"/>
          <p:cNvSpPr txBox="1"/>
          <p:nvPr/>
        </p:nvSpPr>
        <p:spPr>
          <a:xfrm>
            <a:off x="731520" y="5968746"/>
            <a:ext cx="6492240" cy="384048"/>
          </a:xfrm>
          <a:prstGeom prst="rect">
            <a:avLst/>
          </a:prstGeom>
          <a:noFill/>
          <a:ln/>
        </p:spPr>
        <p:txBody>
          <a:bodyPr wrap="square" lIns="0" tIns="0" rIns="0" bIns="0" rtlCol="0" anchor="ctr"/>
          <a:lstStyle/>
          <a:p>
            <a:pPr indent="0" marL="0">
              <a:lnSpc>
                <a:spcPct val="115000"/>
              </a:lnSpc>
              <a:buNone/>
            </a:pPr>
            <a:r>
              <a:rPr lang="en-US" sz="850" dirty="0">
                <a:solidFill>
                  <a:srgbClr val="54585E"/>
                </a:solidFill>
                <a:latin typeface="Noto Sans" pitchFamily="34" charset="0"/>
                <a:ea typeface="Noto Sans" pitchFamily="34" charset="-122"/>
                <a:cs typeface="Noto Sans" pitchFamily="34" charset="-120"/>
              </a:rPr>
              <a:t>▶  Recorded: Scheduled Castes, Senior Citizens, Transgender Persons, Voluntary Organisations. One tap each.</a:t>
            </a:r>
            <a:endParaRPr lang="en-US" sz="850" dirty="0"/>
          </a:p>
        </p:txBody>
      </p:sp>
      <p:sp>
        <p:nvSpPr>
          <p:cNvPr id="9" name="Text 6"/>
          <p:cNvSpPr txBox="1"/>
          <p:nvPr/>
        </p:nvSpPr>
        <p:spPr>
          <a:xfrm>
            <a:off x="7680960" y="1783080"/>
            <a:ext cx="3779215" cy="201168"/>
          </a:xfrm>
          <a:prstGeom prst="rect">
            <a:avLst/>
          </a:prstGeom>
          <a:noFill/>
          <a:ln/>
        </p:spPr>
        <p:txBody>
          <a:bodyPr wrap="square" lIns="0" tIns="0" rIns="0" bIns="0" rtlCol="0" anchor="ctr"/>
          <a:lstStyle/>
          <a:p>
            <a:pPr indent="0" marL="0">
              <a:buNone/>
            </a:pPr>
            <a:r>
              <a:rPr lang="en-US" sz="950" b="1" spc="100" kern="0" dirty="0">
                <a:solidFill>
                  <a:srgbClr val="003975"/>
                </a:solidFill>
                <a:latin typeface="Noto Sans" pitchFamily="34" charset="0"/>
                <a:ea typeface="Noto Sans" pitchFamily="34" charset="-122"/>
                <a:cs typeface="Noto Sans" pitchFamily="34" charset="-120"/>
              </a:rPr>
              <a:t>WHAT IT IS</a:t>
            </a:r>
            <a:endParaRPr lang="en-US" sz="950" dirty="0"/>
          </a:p>
        </p:txBody>
      </p:sp>
      <p:sp>
        <p:nvSpPr>
          <p:cNvPr id="10" name="Text 7"/>
          <p:cNvSpPr txBox="1"/>
          <p:nvPr/>
        </p:nvSpPr>
        <p:spPr>
          <a:xfrm>
            <a:off x="7680960" y="2057400"/>
            <a:ext cx="3779215" cy="438912"/>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A row of the groups. Pick yours and the schemes appear. No questions asked.</a:t>
            </a:r>
            <a:endParaRPr lang="en-US" sz="1200" dirty="0"/>
          </a:p>
        </p:txBody>
      </p:sp>
      <p:sp>
        <p:nvSpPr>
          <p:cNvPr id="11" name="Text 8"/>
          <p:cNvSpPr txBox="1"/>
          <p:nvPr/>
        </p:nvSpPr>
        <p:spPr>
          <a:xfrm>
            <a:off x="7680960" y="2697480"/>
            <a:ext cx="3779215" cy="201168"/>
          </a:xfrm>
          <a:prstGeom prst="rect">
            <a:avLst/>
          </a:prstGeom>
          <a:noFill/>
          <a:ln/>
        </p:spPr>
        <p:txBody>
          <a:bodyPr wrap="square" lIns="0" tIns="0" rIns="0" bIns="0" rtlCol="0" anchor="ctr"/>
          <a:lstStyle/>
          <a:p>
            <a:pPr indent="0" marL="0">
              <a:buNone/>
            </a:pPr>
            <a:r>
              <a:rPr lang="en-US" sz="950" b="1" spc="100" kern="0" dirty="0">
                <a:solidFill>
                  <a:srgbClr val="005EB9"/>
                </a:solidFill>
                <a:latin typeface="Noto Sans" pitchFamily="34" charset="0"/>
                <a:ea typeface="Noto Sans" pitchFamily="34" charset="-122"/>
                <a:cs typeface="Noto Sans" pitchFamily="34" charset="-120"/>
              </a:rPr>
              <a:t>HOW IT WORKS</a:t>
            </a:r>
            <a:endParaRPr lang="en-US" sz="950" dirty="0"/>
          </a:p>
        </p:txBody>
      </p:sp>
      <p:sp>
        <p:nvSpPr>
          <p:cNvPr id="12" name="Shape 9"/>
          <p:cNvSpPr/>
          <p:nvPr/>
        </p:nvSpPr>
        <p:spPr>
          <a:xfrm>
            <a:off x="7680960" y="3026664"/>
            <a:ext cx="54864" cy="54864"/>
          </a:xfrm>
          <a:prstGeom prst="rect">
            <a:avLst/>
          </a:prstGeom>
          <a:solidFill>
            <a:srgbClr val="005EB9"/>
          </a:solidFill>
          <a:ln w="12700">
            <a:solidFill>
              <a:srgbClr val="005EB9"/>
            </a:solidFill>
            <a:prstDash val="solid"/>
          </a:ln>
        </p:spPr>
      </p:sp>
      <p:sp>
        <p:nvSpPr>
          <p:cNvPr id="13" name="Text 10"/>
          <p:cNvSpPr txBox="1"/>
          <p:nvPr/>
        </p:nvSpPr>
        <p:spPr>
          <a:xfrm>
            <a:off x="7863840" y="2971800"/>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The first band is the portal or helpline the Department runs for that group</a:t>
            </a:r>
            <a:endParaRPr lang="en-US" sz="1200" dirty="0"/>
          </a:p>
        </p:txBody>
      </p:sp>
      <p:sp>
        <p:nvSpPr>
          <p:cNvPr id="14" name="Shape 11"/>
          <p:cNvSpPr/>
          <p:nvPr/>
        </p:nvSpPr>
        <p:spPr>
          <a:xfrm>
            <a:off x="7680960" y="3520440"/>
            <a:ext cx="54864" cy="54864"/>
          </a:xfrm>
          <a:prstGeom prst="rect">
            <a:avLst/>
          </a:prstGeom>
          <a:solidFill>
            <a:srgbClr val="005EB9"/>
          </a:solidFill>
          <a:ln w="12700">
            <a:solidFill>
              <a:srgbClr val="005EB9"/>
            </a:solidFill>
            <a:prstDash val="solid"/>
          </a:ln>
        </p:spPr>
      </p:sp>
      <p:sp>
        <p:nvSpPr>
          <p:cNvPr id="15" name="Text 12"/>
          <p:cNvSpPr txBox="1"/>
          <p:nvPr/>
        </p:nvSpPr>
        <p:spPr>
          <a:xfrm>
            <a:off x="7863840" y="3465576"/>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Below it, the schemes for the group, sorted by what they give</a:t>
            </a:r>
            <a:endParaRPr lang="en-US" sz="1200" dirty="0"/>
          </a:p>
        </p:txBody>
      </p:sp>
      <p:sp>
        <p:nvSpPr>
          <p:cNvPr id="16" name="Shape 13"/>
          <p:cNvSpPr/>
          <p:nvPr/>
        </p:nvSpPr>
        <p:spPr>
          <a:xfrm>
            <a:off x="7680960" y="4014216"/>
            <a:ext cx="54864" cy="54864"/>
          </a:xfrm>
          <a:prstGeom prst="rect">
            <a:avLst/>
          </a:prstGeom>
          <a:solidFill>
            <a:srgbClr val="005EB9"/>
          </a:solidFill>
          <a:ln w="12700">
            <a:solidFill>
              <a:srgbClr val="005EB9"/>
            </a:solidFill>
            <a:prstDash val="solid"/>
          </a:ln>
        </p:spPr>
      </p:sp>
      <p:sp>
        <p:nvSpPr>
          <p:cNvPr id="17" name="Text 14"/>
          <p:cNvSpPr txBox="1"/>
          <p:nvPr/>
        </p:nvSpPr>
        <p:spPr>
          <a:xfrm>
            <a:off x="7863840" y="3959352"/>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Each scheme links to its page, and one link opens the full list</a:t>
            </a:r>
            <a:endParaRPr lang="en-US" sz="1200" dirty="0"/>
          </a:p>
        </p:txBody>
      </p:sp>
      <p:sp>
        <p:nvSpPr>
          <p:cNvPr id="18" name="Text 15"/>
          <p:cNvSpPr txBox="1"/>
          <p:nvPr/>
        </p:nvSpPr>
        <p:spPr>
          <a:xfrm>
            <a:off x="7680960" y="4654296"/>
            <a:ext cx="3779215" cy="201168"/>
          </a:xfrm>
          <a:prstGeom prst="rect">
            <a:avLst/>
          </a:prstGeom>
          <a:noFill/>
          <a:ln/>
        </p:spPr>
        <p:txBody>
          <a:bodyPr wrap="square" lIns="0" tIns="0" rIns="0" bIns="0" rtlCol="0" anchor="ctr"/>
          <a:lstStyle/>
          <a:p>
            <a:pPr indent="0" marL="0">
              <a:buNone/>
            </a:pPr>
            <a:r>
              <a:rPr lang="en-US" sz="950" b="1" spc="100" kern="0" dirty="0">
                <a:solidFill>
                  <a:srgbClr val="005EB9"/>
                </a:solidFill>
                <a:latin typeface="Noto Sans" pitchFamily="34" charset="0"/>
                <a:ea typeface="Noto Sans" pitchFamily="34" charset="-122"/>
                <a:cs typeface="Noto Sans" pitchFamily="34" charset="-120"/>
              </a:rPr>
              <a:t>WHY IT HELPS</a:t>
            </a:r>
            <a:endParaRPr lang="en-US" sz="950" dirty="0"/>
          </a:p>
        </p:txBody>
      </p:sp>
      <p:sp>
        <p:nvSpPr>
          <p:cNvPr id="19" name="Shape 16"/>
          <p:cNvSpPr/>
          <p:nvPr/>
        </p:nvSpPr>
        <p:spPr>
          <a:xfrm>
            <a:off x="7680960" y="4983480"/>
            <a:ext cx="54864" cy="54864"/>
          </a:xfrm>
          <a:prstGeom prst="rect">
            <a:avLst/>
          </a:prstGeom>
          <a:solidFill>
            <a:srgbClr val="005EB9"/>
          </a:solidFill>
          <a:ln w="12700">
            <a:solidFill>
              <a:srgbClr val="005EB9"/>
            </a:solidFill>
            <a:prstDash val="solid"/>
          </a:ln>
        </p:spPr>
      </p:sp>
      <p:sp>
        <p:nvSpPr>
          <p:cNvPr id="20" name="Text 17"/>
          <p:cNvSpPr txBox="1"/>
          <p:nvPr/>
        </p:nvSpPr>
        <p:spPr>
          <a:xfrm>
            <a:off x="7863840" y="4928616"/>
            <a:ext cx="3596335" cy="228600"/>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One tap and nothing to answer</a:t>
            </a:r>
            <a:endParaRPr lang="en-US" sz="1200" dirty="0"/>
          </a:p>
        </p:txBody>
      </p:sp>
      <p:sp>
        <p:nvSpPr>
          <p:cNvPr id="21" name="Shape 18"/>
          <p:cNvSpPr/>
          <p:nvPr/>
        </p:nvSpPr>
        <p:spPr>
          <a:xfrm>
            <a:off x="7680960" y="5285232"/>
            <a:ext cx="54864" cy="54864"/>
          </a:xfrm>
          <a:prstGeom prst="rect">
            <a:avLst/>
          </a:prstGeom>
          <a:solidFill>
            <a:srgbClr val="005EB9"/>
          </a:solidFill>
          <a:ln w="12700">
            <a:solidFill>
              <a:srgbClr val="005EB9"/>
            </a:solidFill>
            <a:prstDash val="solid"/>
          </a:ln>
        </p:spPr>
      </p:sp>
      <p:sp>
        <p:nvSpPr>
          <p:cNvPr id="22" name="Text 19"/>
          <p:cNvSpPr txBox="1"/>
          <p:nvPr/>
        </p:nvSpPr>
        <p:spPr>
          <a:xfrm>
            <a:off x="7863840" y="5230368"/>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The portal a group already uses comes first</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38912"/>
            <a:ext cx="10728655" cy="219456"/>
          </a:xfrm>
          <a:prstGeom prst="rect">
            <a:avLst/>
          </a:prstGeom>
          <a:noFill/>
          <a:ln/>
        </p:spPr>
        <p:txBody>
          <a:bodyPr wrap="square" lIns="0" tIns="0" rIns="0" bIns="0" rtlCol="0" anchor="ctr"/>
          <a:lstStyle/>
          <a:p>
            <a:pPr indent="0" marL="0">
              <a:buNone/>
            </a:pPr>
            <a:r>
              <a:rPr lang="en-US" sz="950" b="1" spc="100" kern="0" dirty="0">
                <a:solidFill>
                  <a:srgbClr val="54585E"/>
                </a:solidFill>
                <a:latin typeface="Noto Sans" pitchFamily="34" charset="0"/>
                <a:ea typeface="Noto Sans" pitchFamily="34" charset="-122"/>
                <a:cs typeface="Noto Sans" pitchFamily="34" charset="-120"/>
              </a:rPr>
              <a:t>THE MENU</a:t>
            </a:r>
            <a:endParaRPr lang="en-US" sz="950" dirty="0"/>
          </a:p>
        </p:txBody>
      </p:sp>
      <p:sp>
        <p:nvSpPr>
          <p:cNvPr id="3" name="Text 1"/>
          <p:cNvSpPr txBox="1"/>
          <p:nvPr/>
        </p:nvSpPr>
        <p:spPr>
          <a:xfrm>
            <a:off x="731520" y="694944"/>
            <a:ext cx="10728655" cy="512064"/>
          </a:xfrm>
          <a:prstGeom prst="rect">
            <a:avLst/>
          </a:prstGeom>
          <a:noFill/>
          <a:ln/>
        </p:spPr>
        <p:txBody>
          <a:bodyPr wrap="square" lIns="0" tIns="0" rIns="0" bIns="0" rtlCol="0" anchor="ctr"/>
          <a:lstStyle/>
          <a:p>
            <a:pPr indent="0" marL="0">
              <a:buNone/>
            </a:pPr>
            <a:r>
              <a:rPr lang="en-US" sz="3000" b="1" dirty="0">
                <a:solidFill>
                  <a:srgbClr val="003975"/>
                </a:solidFill>
                <a:latin typeface="Noto Sans" pitchFamily="34" charset="0"/>
                <a:ea typeface="Noto Sans" pitchFamily="34" charset="-122"/>
                <a:cs typeface="Noto Sans" pitchFamily="34" charset="-120"/>
              </a:rPr>
              <a:t>Three Options</a:t>
            </a:r>
            <a:endParaRPr lang="en-US" sz="3000" dirty="0"/>
          </a:p>
        </p:txBody>
      </p:sp>
      <p:sp>
        <p:nvSpPr>
          <p:cNvPr id="4" name="Text 2"/>
          <p:cNvSpPr txBox="1"/>
          <p:nvPr/>
        </p:nvSpPr>
        <p:spPr>
          <a:xfrm>
            <a:off x="731520" y="1243584"/>
            <a:ext cx="9655790" cy="310896"/>
          </a:xfrm>
          <a:prstGeom prst="rect">
            <a:avLst/>
          </a:prstGeom>
          <a:noFill/>
          <a:ln/>
        </p:spPr>
        <p:txBody>
          <a:bodyPr wrap="square" lIns="0" tIns="0" rIns="0" bIns="0" rtlCol="0" anchor="ctr"/>
          <a:lstStyle/>
          <a:p>
            <a:pPr indent="0" marL="0">
              <a:buNone/>
            </a:pPr>
            <a:r>
              <a:rPr lang="en-US" sz="1400" dirty="0">
                <a:solidFill>
                  <a:srgbClr val="3A3D41"/>
                </a:solidFill>
                <a:latin typeface="Noto Sans" pitchFamily="34" charset="0"/>
                <a:ea typeface="Noto Sans" pitchFamily="34" charset="-122"/>
                <a:cs typeface="Noto Sans" pitchFamily="34" charset="-120"/>
              </a:rPr>
              <a:t>Where the Department's scheme portals sit. Today they are listed under Associated Organisations.</a:t>
            </a:r>
            <a:endParaRPr lang="en-US" sz="1400" dirty="0"/>
          </a:p>
        </p:txBody>
      </p:sp>
      <p:sp>
        <p:nvSpPr>
          <p:cNvPr id="5" name="Text 3"/>
          <p:cNvSpPr txBox="1"/>
          <p:nvPr/>
        </p:nvSpPr>
        <p:spPr>
          <a:xfrm>
            <a:off x="731520" y="1737360"/>
            <a:ext cx="502920" cy="457200"/>
          </a:xfrm>
          <a:prstGeom prst="rect">
            <a:avLst/>
          </a:prstGeom>
          <a:noFill/>
          <a:ln/>
        </p:spPr>
        <p:txBody>
          <a:bodyPr wrap="square" lIns="0" tIns="0" rIns="0" bIns="0" rtlCol="0" anchor="ctr"/>
          <a:lstStyle/>
          <a:p>
            <a:pPr indent="0" marL="0">
              <a:buNone/>
            </a:pPr>
            <a:r>
              <a:rPr lang="en-US" sz="2800" b="1" dirty="0">
                <a:solidFill>
                  <a:srgbClr val="005EB9"/>
                </a:solidFill>
                <a:latin typeface="Noto Sans" pitchFamily="34" charset="0"/>
                <a:ea typeface="Noto Sans" pitchFamily="34" charset="-122"/>
                <a:cs typeface="Noto Sans" pitchFamily="34" charset="-120"/>
              </a:rPr>
              <a:t>A</a:t>
            </a:r>
            <a:endParaRPr lang="en-US" sz="2800" dirty="0"/>
          </a:p>
        </p:txBody>
      </p:sp>
      <p:sp>
        <p:nvSpPr>
          <p:cNvPr id="6" name="Text 4"/>
          <p:cNvSpPr txBox="1"/>
          <p:nvPr/>
        </p:nvSpPr>
        <p:spPr>
          <a:xfrm>
            <a:off x="1234440" y="1810512"/>
            <a:ext cx="2890418" cy="365760"/>
          </a:xfrm>
          <a:prstGeom prst="rect">
            <a:avLst/>
          </a:prstGeom>
          <a:noFill/>
          <a:ln/>
        </p:spPr>
        <p:txBody>
          <a:bodyPr wrap="square" lIns="0" tIns="0" rIns="0" bIns="0" rtlCol="0" anchor="ctr"/>
          <a:lstStyle/>
          <a:p>
            <a:pPr indent="0" marL="0">
              <a:buNone/>
            </a:pPr>
            <a:r>
              <a:rPr lang="en-US" sz="1400" b="1" dirty="0">
                <a:solidFill>
                  <a:srgbClr val="003975"/>
                </a:solidFill>
                <a:latin typeface="Noto Sans" pitchFamily="34" charset="0"/>
                <a:ea typeface="Noto Sans" pitchFamily="34" charset="-122"/>
                <a:cs typeface="Noto Sans" pitchFamily="34" charset="-120"/>
              </a:rPr>
              <a:t>Rename Only</a:t>
            </a:r>
            <a:endParaRPr lang="en-US" sz="1400" dirty="0"/>
          </a:p>
        </p:txBody>
      </p:sp>
      <p:sp>
        <p:nvSpPr>
          <p:cNvPr id="7" name="Shape 5"/>
          <p:cNvSpPr/>
          <p:nvPr/>
        </p:nvSpPr>
        <p:spPr>
          <a:xfrm>
            <a:off x="1054194" y="2276856"/>
            <a:ext cx="2747990" cy="2175701"/>
          </a:xfrm>
          <a:prstGeom prst="rect">
            <a:avLst/>
          </a:prstGeom>
          <a:solidFill>
            <a:srgbClr val="FFFFFF"/>
          </a:solidFill>
          <a:ln w="9525">
            <a:solidFill>
              <a:srgbClr val="DCDEE1"/>
            </a:solidFill>
            <a:prstDash val="solid"/>
          </a:ln>
        </p:spPr>
      </p:sp>
      <p:pic>
        <p:nvPicPr>
          <p:cNvPr id="8" name="Image 0" descr="assets/still/nav-a.png">    </p:cNvPr>
          <p:cNvPicPr>
            <a:picLocks noChangeAspect="1"/>
          </p:cNvPicPr>
          <p:nvPr/>
        </p:nvPicPr>
        <p:blipFill>
          <a:blip r:embed="rId1"/>
          <a:stretch>
            <a:fillRect/>
          </a:stretch>
        </p:blipFill>
        <p:spPr>
          <a:xfrm>
            <a:off x="1081626" y="2304288"/>
            <a:ext cx="2693126" cy="2120837"/>
          </a:xfrm>
          <a:prstGeom prst="rect">
            <a:avLst/>
          </a:prstGeom>
        </p:spPr>
      </p:pic>
      <p:sp>
        <p:nvSpPr>
          <p:cNvPr id="9" name="Shape 6"/>
          <p:cNvSpPr/>
          <p:nvPr/>
        </p:nvSpPr>
        <p:spPr>
          <a:xfrm>
            <a:off x="731520" y="4571429"/>
            <a:ext cx="859536" cy="246888"/>
          </a:xfrm>
          <a:prstGeom prst="roundRect">
            <a:avLst>
              <a:gd name="adj" fmla="val 50000"/>
            </a:avLst>
          </a:prstGeom>
          <a:solidFill>
            <a:srgbClr val="EEF0F3"/>
          </a:solidFill>
          <a:ln w="12700">
            <a:solidFill>
              <a:srgbClr val="EEF0F3"/>
            </a:solidFill>
            <a:prstDash val="solid"/>
          </a:ln>
        </p:spPr>
      </p:sp>
      <p:sp>
        <p:nvSpPr>
          <p:cNvPr id="10" name="Text 7"/>
          <p:cNvSpPr txBox="1"/>
          <p:nvPr/>
        </p:nvSpPr>
        <p:spPr>
          <a:xfrm>
            <a:off x="731520" y="4571429"/>
            <a:ext cx="859536" cy="246888"/>
          </a:xfrm>
          <a:prstGeom prst="rect">
            <a:avLst/>
          </a:prstGeom>
          <a:noFill/>
          <a:ln/>
        </p:spPr>
        <p:txBody>
          <a:bodyPr wrap="square" lIns="0" tIns="0" rIns="0" bIns="0" rtlCol="0" anchor="ctr"/>
          <a:lstStyle/>
          <a:p>
            <a:pPr algn="ctr" indent="0" marL="0">
              <a:buNone/>
            </a:pPr>
            <a:r>
              <a:rPr lang="en-US" sz="850" b="1" spc="50" kern="0" dirty="0">
                <a:solidFill>
                  <a:srgbClr val="54585E"/>
                </a:solidFill>
                <a:latin typeface="Noto Sans" pitchFamily="34" charset="0"/>
                <a:ea typeface="Noto Sans" pitchFamily="34" charset="-122"/>
                <a:cs typeface="Noto Sans" pitchFamily="34" charset="-120"/>
              </a:rPr>
              <a:t>OPTION A</a:t>
            </a:r>
            <a:endParaRPr lang="en-US" sz="850" dirty="0"/>
          </a:p>
        </p:txBody>
      </p:sp>
      <p:sp>
        <p:nvSpPr>
          <p:cNvPr id="11" name="Text 8"/>
          <p:cNvSpPr txBox="1"/>
          <p:nvPr/>
        </p:nvSpPr>
        <p:spPr>
          <a:xfrm>
            <a:off x="731520" y="4918901"/>
            <a:ext cx="3393338" cy="640080"/>
          </a:xfrm>
          <a:prstGeom prst="rect">
            <a:avLst/>
          </a:prstGeom>
          <a:noFill/>
          <a:ln/>
        </p:spPr>
        <p:txBody>
          <a:bodyPr wrap="square" lIns="0" tIns="0" rIns="0" bIns="0" rtlCol="0" anchor="ctr"/>
          <a:lstStyle/>
          <a:p>
            <a:pPr indent="0" marL="0">
              <a:lnSpc>
                <a:spcPct val="120000"/>
              </a:lnSpc>
              <a:buNone/>
            </a:pPr>
            <a:r>
              <a:rPr lang="en-US" sz="1200" dirty="0">
                <a:solidFill>
                  <a:srgbClr val="1E2124"/>
                </a:solidFill>
                <a:latin typeface="Noto Sans" pitchFamily="34" charset="0"/>
                <a:ea typeface="Noto Sans" pitchFamily="34" charset="-122"/>
                <a:cs typeface="Noto Sans" pitchFamily="34" charset="-120"/>
              </a:rPr>
              <a:t>Associated Organisations becomes Organisations &amp; Scheme Portals. Everything listed today stays.</a:t>
            </a:r>
            <a:endParaRPr lang="en-US" sz="1200" dirty="0"/>
          </a:p>
        </p:txBody>
      </p:sp>
      <p:sp>
        <p:nvSpPr>
          <p:cNvPr id="12" name="Text 9"/>
          <p:cNvSpPr txBox="1"/>
          <p:nvPr/>
        </p:nvSpPr>
        <p:spPr>
          <a:xfrm>
            <a:off x="4399178" y="1737360"/>
            <a:ext cx="502920" cy="457200"/>
          </a:xfrm>
          <a:prstGeom prst="rect">
            <a:avLst/>
          </a:prstGeom>
          <a:noFill/>
          <a:ln/>
        </p:spPr>
        <p:txBody>
          <a:bodyPr wrap="square" lIns="0" tIns="0" rIns="0" bIns="0" rtlCol="0" anchor="ctr"/>
          <a:lstStyle/>
          <a:p>
            <a:pPr indent="0" marL="0">
              <a:buNone/>
            </a:pPr>
            <a:r>
              <a:rPr lang="en-US" sz="2800" b="1" dirty="0">
                <a:solidFill>
                  <a:srgbClr val="005EB9"/>
                </a:solidFill>
                <a:latin typeface="Noto Sans" pitchFamily="34" charset="0"/>
                <a:ea typeface="Noto Sans" pitchFamily="34" charset="-122"/>
                <a:cs typeface="Noto Sans" pitchFamily="34" charset="-120"/>
              </a:rPr>
              <a:t>B</a:t>
            </a:r>
            <a:endParaRPr lang="en-US" sz="2800" dirty="0"/>
          </a:p>
        </p:txBody>
      </p:sp>
      <p:sp>
        <p:nvSpPr>
          <p:cNvPr id="13" name="Text 10"/>
          <p:cNvSpPr txBox="1"/>
          <p:nvPr/>
        </p:nvSpPr>
        <p:spPr>
          <a:xfrm>
            <a:off x="4902098" y="1810512"/>
            <a:ext cx="2890418" cy="365760"/>
          </a:xfrm>
          <a:prstGeom prst="rect">
            <a:avLst/>
          </a:prstGeom>
          <a:noFill/>
          <a:ln/>
        </p:spPr>
        <p:txBody>
          <a:bodyPr wrap="square" lIns="0" tIns="0" rIns="0" bIns="0" rtlCol="0" anchor="ctr"/>
          <a:lstStyle/>
          <a:p>
            <a:pPr indent="0" marL="0">
              <a:buNone/>
            </a:pPr>
            <a:r>
              <a:rPr lang="en-US" sz="1400" b="1" dirty="0">
                <a:solidFill>
                  <a:srgbClr val="003975"/>
                </a:solidFill>
                <a:latin typeface="Noto Sans" pitchFamily="34" charset="0"/>
                <a:ea typeface="Noto Sans" pitchFamily="34" charset="-122"/>
                <a:cs typeface="Noto Sans" pitchFamily="34" charset="-120"/>
              </a:rPr>
              <a:t>Portals under Offerings</a:t>
            </a:r>
            <a:endParaRPr lang="en-US" sz="1400" dirty="0"/>
          </a:p>
        </p:txBody>
      </p:sp>
      <p:sp>
        <p:nvSpPr>
          <p:cNvPr id="14" name="Shape 11"/>
          <p:cNvSpPr/>
          <p:nvPr/>
        </p:nvSpPr>
        <p:spPr>
          <a:xfrm>
            <a:off x="4371746" y="2276856"/>
            <a:ext cx="3448202" cy="1765672"/>
          </a:xfrm>
          <a:prstGeom prst="rect">
            <a:avLst/>
          </a:prstGeom>
          <a:solidFill>
            <a:srgbClr val="FFFFFF"/>
          </a:solidFill>
          <a:ln w="9525">
            <a:solidFill>
              <a:srgbClr val="DCDEE1"/>
            </a:solidFill>
            <a:prstDash val="solid"/>
          </a:ln>
        </p:spPr>
      </p:sp>
      <p:pic>
        <p:nvPicPr>
          <p:cNvPr id="15" name="Image 1" descr="assets/still/nav-b.png">    </p:cNvPr>
          <p:cNvPicPr>
            <a:picLocks noChangeAspect="1"/>
          </p:cNvPicPr>
          <p:nvPr/>
        </p:nvPicPr>
        <p:blipFill>
          <a:blip r:embed="rId2"/>
          <a:stretch>
            <a:fillRect/>
          </a:stretch>
        </p:blipFill>
        <p:spPr>
          <a:xfrm>
            <a:off x="4399178" y="2304288"/>
            <a:ext cx="3393338" cy="1710808"/>
          </a:xfrm>
          <a:prstGeom prst="rect">
            <a:avLst/>
          </a:prstGeom>
        </p:spPr>
      </p:pic>
      <p:sp>
        <p:nvSpPr>
          <p:cNvPr id="16" name="Shape 12"/>
          <p:cNvSpPr/>
          <p:nvPr/>
        </p:nvSpPr>
        <p:spPr>
          <a:xfrm>
            <a:off x="4399178" y="4571429"/>
            <a:ext cx="859536" cy="246888"/>
          </a:xfrm>
          <a:prstGeom prst="roundRect">
            <a:avLst>
              <a:gd name="adj" fmla="val 50000"/>
            </a:avLst>
          </a:prstGeom>
          <a:solidFill>
            <a:srgbClr val="EEF0F3"/>
          </a:solidFill>
          <a:ln w="12700">
            <a:solidFill>
              <a:srgbClr val="EEF0F3"/>
            </a:solidFill>
            <a:prstDash val="solid"/>
          </a:ln>
        </p:spPr>
      </p:sp>
      <p:sp>
        <p:nvSpPr>
          <p:cNvPr id="17" name="Text 13"/>
          <p:cNvSpPr txBox="1"/>
          <p:nvPr/>
        </p:nvSpPr>
        <p:spPr>
          <a:xfrm>
            <a:off x="4399178" y="4571429"/>
            <a:ext cx="859536" cy="246888"/>
          </a:xfrm>
          <a:prstGeom prst="rect">
            <a:avLst/>
          </a:prstGeom>
          <a:noFill/>
          <a:ln/>
        </p:spPr>
        <p:txBody>
          <a:bodyPr wrap="square" lIns="0" tIns="0" rIns="0" bIns="0" rtlCol="0" anchor="ctr"/>
          <a:lstStyle/>
          <a:p>
            <a:pPr algn="ctr" indent="0" marL="0">
              <a:buNone/>
            </a:pPr>
            <a:r>
              <a:rPr lang="en-US" sz="850" b="1" spc="50" kern="0" dirty="0">
                <a:solidFill>
                  <a:srgbClr val="54585E"/>
                </a:solidFill>
                <a:latin typeface="Noto Sans" pitchFamily="34" charset="0"/>
                <a:ea typeface="Noto Sans" pitchFamily="34" charset="-122"/>
                <a:cs typeface="Noto Sans" pitchFamily="34" charset="-120"/>
              </a:rPr>
              <a:t>OPTION B</a:t>
            </a:r>
            <a:endParaRPr lang="en-US" sz="850" dirty="0"/>
          </a:p>
        </p:txBody>
      </p:sp>
      <p:sp>
        <p:nvSpPr>
          <p:cNvPr id="18" name="Text 14"/>
          <p:cNvSpPr txBox="1"/>
          <p:nvPr/>
        </p:nvSpPr>
        <p:spPr>
          <a:xfrm>
            <a:off x="4399178" y="4918901"/>
            <a:ext cx="3393338" cy="640080"/>
          </a:xfrm>
          <a:prstGeom prst="rect">
            <a:avLst/>
          </a:prstGeom>
          <a:noFill/>
          <a:ln/>
        </p:spPr>
        <p:txBody>
          <a:bodyPr wrap="square" lIns="0" tIns="0" rIns="0" bIns="0" rtlCol="0" anchor="ctr"/>
          <a:lstStyle/>
          <a:p>
            <a:pPr indent="0" marL="0">
              <a:lnSpc>
                <a:spcPct val="120000"/>
              </a:lnSpc>
              <a:buNone/>
            </a:pPr>
            <a:r>
              <a:rPr lang="en-US" sz="1200" dirty="0">
                <a:solidFill>
                  <a:srgbClr val="1E2124"/>
                </a:solidFill>
                <a:latin typeface="Noto Sans" pitchFamily="34" charset="0"/>
                <a:ea typeface="Noto Sans" pitchFamily="34" charset="-122"/>
                <a:cs typeface="Noto Sans" pitchFamily="34" charset="-120"/>
              </a:rPr>
              <a:t>The portals move to Offerings, with a button to all schemes.</a:t>
            </a:r>
            <a:endParaRPr lang="en-US" sz="1200" dirty="0"/>
          </a:p>
        </p:txBody>
      </p:sp>
      <p:sp>
        <p:nvSpPr>
          <p:cNvPr id="19" name="Text 15"/>
          <p:cNvSpPr txBox="1"/>
          <p:nvPr/>
        </p:nvSpPr>
        <p:spPr>
          <a:xfrm>
            <a:off x="8066837" y="1737360"/>
            <a:ext cx="502920" cy="457200"/>
          </a:xfrm>
          <a:prstGeom prst="rect">
            <a:avLst/>
          </a:prstGeom>
          <a:noFill/>
          <a:ln/>
        </p:spPr>
        <p:txBody>
          <a:bodyPr wrap="square" lIns="0" tIns="0" rIns="0" bIns="0" rtlCol="0" anchor="ctr"/>
          <a:lstStyle/>
          <a:p>
            <a:pPr indent="0" marL="0">
              <a:buNone/>
            </a:pPr>
            <a:r>
              <a:rPr lang="en-US" sz="2800" b="1" dirty="0">
                <a:solidFill>
                  <a:srgbClr val="005EB9"/>
                </a:solidFill>
                <a:latin typeface="Noto Sans" pitchFamily="34" charset="0"/>
                <a:ea typeface="Noto Sans" pitchFamily="34" charset="-122"/>
                <a:cs typeface="Noto Sans" pitchFamily="34" charset="-120"/>
              </a:rPr>
              <a:t>C</a:t>
            </a:r>
            <a:endParaRPr lang="en-US" sz="2800" dirty="0"/>
          </a:p>
        </p:txBody>
      </p:sp>
      <p:sp>
        <p:nvSpPr>
          <p:cNvPr id="20" name="Text 16"/>
          <p:cNvSpPr txBox="1"/>
          <p:nvPr/>
        </p:nvSpPr>
        <p:spPr>
          <a:xfrm>
            <a:off x="8569757" y="1810512"/>
            <a:ext cx="2890418" cy="365760"/>
          </a:xfrm>
          <a:prstGeom prst="rect">
            <a:avLst/>
          </a:prstGeom>
          <a:noFill/>
          <a:ln/>
        </p:spPr>
        <p:txBody>
          <a:bodyPr wrap="square" lIns="0" tIns="0" rIns="0" bIns="0" rtlCol="0" anchor="ctr"/>
          <a:lstStyle/>
          <a:p>
            <a:pPr indent="0" marL="0">
              <a:buNone/>
            </a:pPr>
            <a:r>
              <a:rPr lang="en-US" sz="1400" b="1" dirty="0">
                <a:solidFill>
                  <a:srgbClr val="003975"/>
                </a:solidFill>
                <a:latin typeface="Noto Sans" pitchFamily="34" charset="0"/>
                <a:ea typeface="Noto Sans" pitchFamily="34" charset="-122"/>
                <a:cs typeface="Noto Sans" pitchFamily="34" charset="-120"/>
              </a:rPr>
              <a:t>Schemes as Its Own Menu</a:t>
            </a:r>
            <a:endParaRPr lang="en-US" sz="1400" dirty="0"/>
          </a:p>
        </p:txBody>
      </p:sp>
      <p:sp>
        <p:nvSpPr>
          <p:cNvPr id="21" name="Shape 17"/>
          <p:cNvSpPr/>
          <p:nvPr/>
        </p:nvSpPr>
        <p:spPr>
          <a:xfrm>
            <a:off x="8039405" y="2276856"/>
            <a:ext cx="3448202" cy="1850506"/>
          </a:xfrm>
          <a:prstGeom prst="rect">
            <a:avLst/>
          </a:prstGeom>
          <a:solidFill>
            <a:srgbClr val="FFFFFF"/>
          </a:solidFill>
          <a:ln w="9525">
            <a:solidFill>
              <a:srgbClr val="DCDEE1"/>
            </a:solidFill>
            <a:prstDash val="solid"/>
          </a:ln>
        </p:spPr>
      </p:sp>
      <p:pic>
        <p:nvPicPr>
          <p:cNvPr id="22" name="Image 2" descr="assets/still/nav-c.png">    </p:cNvPr>
          <p:cNvPicPr>
            <a:picLocks noChangeAspect="1"/>
          </p:cNvPicPr>
          <p:nvPr/>
        </p:nvPicPr>
        <p:blipFill>
          <a:blip r:embed="rId3"/>
          <a:stretch>
            <a:fillRect/>
          </a:stretch>
        </p:blipFill>
        <p:spPr>
          <a:xfrm>
            <a:off x="8066837" y="2304288"/>
            <a:ext cx="3393338" cy="1795642"/>
          </a:xfrm>
          <a:prstGeom prst="rect">
            <a:avLst/>
          </a:prstGeom>
        </p:spPr>
      </p:pic>
      <p:sp>
        <p:nvSpPr>
          <p:cNvPr id="23" name="Shape 18"/>
          <p:cNvSpPr/>
          <p:nvPr/>
        </p:nvSpPr>
        <p:spPr>
          <a:xfrm>
            <a:off x="8066837" y="4571429"/>
            <a:ext cx="859536" cy="246888"/>
          </a:xfrm>
          <a:prstGeom prst="roundRect">
            <a:avLst>
              <a:gd name="adj" fmla="val 50000"/>
            </a:avLst>
          </a:prstGeom>
          <a:solidFill>
            <a:srgbClr val="EEF0F3"/>
          </a:solidFill>
          <a:ln w="12700">
            <a:solidFill>
              <a:srgbClr val="EEF0F3"/>
            </a:solidFill>
            <a:prstDash val="solid"/>
          </a:ln>
        </p:spPr>
      </p:sp>
      <p:sp>
        <p:nvSpPr>
          <p:cNvPr id="24" name="Text 19"/>
          <p:cNvSpPr txBox="1"/>
          <p:nvPr/>
        </p:nvSpPr>
        <p:spPr>
          <a:xfrm>
            <a:off x="8066837" y="4571429"/>
            <a:ext cx="859536" cy="246888"/>
          </a:xfrm>
          <a:prstGeom prst="rect">
            <a:avLst/>
          </a:prstGeom>
          <a:noFill/>
          <a:ln/>
        </p:spPr>
        <p:txBody>
          <a:bodyPr wrap="square" lIns="0" tIns="0" rIns="0" bIns="0" rtlCol="0" anchor="ctr"/>
          <a:lstStyle/>
          <a:p>
            <a:pPr algn="ctr" indent="0" marL="0">
              <a:buNone/>
            </a:pPr>
            <a:r>
              <a:rPr lang="en-US" sz="850" b="1" spc="50" kern="0" dirty="0">
                <a:solidFill>
                  <a:srgbClr val="54585E"/>
                </a:solidFill>
                <a:latin typeface="Noto Sans" pitchFamily="34" charset="0"/>
                <a:ea typeface="Noto Sans" pitchFamily="34" charset="-122"/>
                <a:cs typeface="Noto Sans" pitchFamily="34" charset="-120"/>
              </a:rPr>
              <a:t>OPTION C</a:t>
            </a:r>
            <a:endParaRPr lang="en-US" sz="850" dirty="0"/>
          </a:p>
        </p:txBody>
      </p:sp>
      <p:sp>
        <p:nvSpPr>
          <p:cNvPr id="25" name="Text 20"/>
          <p:cNvSpPr txBox="1"/>
          <p:nvPr/>
        </p:nvSpPr>
        <p:spPr>
          <a:xfrm>
            <a:off x="8066837" y="4918901"/>
            <a:ext cx="3393338" cy="640080"/>
          </a:xfrm>
          <a:prstGeom prst="rect">
            <a:avLst/>
          </a:prstGeom>
          <a:noFill/>
          <a:ln/>
        </p:spPr>
        <p:txBody>
          <a:bodyPr wrap="square" lIns="0" tIns="0" rIns="0" bIns="0" rtlCol="0" anchor="ctr"/>
          <a:lstStyle/>
          <a:p>
            <a:pPr indent="0" marL="0">
              <a:lnSpc>
                <a:spcPct val="120000"/>
              </a:lnSpc>
              <a:buNone/>
            </a:pPr>
            <a:r>
              <a:rPr lang="en-US" sz="1200" dirty="0">
                <a:solidFill>
                  <a:srgbClr val="1E2124"/>
                </a:solidFill>
                <a:latin typeface="Noto Sans" pitchFamily="34" charset="0"/>
                <a:ea typeface="Noto Sans" pitchFamily="34" charset="-122"/>
                <a:cs typeface="Noto Sans" pitchFamily="34" charset="-120"/>
              </a:rPr>
              <a:t>A new Schemes entry holds the portals and the helplines.</a:t>
            </a:r>
            <a:endParaRPr lang="en-US" sz="1200" dirty="0"/>
          </a:p>
        </p:txBody>
      </p:sp>
      <p:sp>
        <p:nvSpPr>
          <p:cNvPr id="26" name="Text 21"/>
          <p:cNvSpPr txBox="1"/>
          <p:nvPr/>
        </p:nvSpPr>
        <p:spPr>
          <a:xfrm>
            <a:off x="731520" y="6400800"/>
            <a:ext cx="10728655" cy="237744"/>
          </a:xfrm>
          <a:prstGeom prst="rect">
            <a:avLst/>
          </a:prstGeom>
          <a:noFill/>
          <a:ln/>
        </p:spPr>
        <p:txBody>
          <a:bodyPr wrap="square" lIns="0" tIns="0" rIns="0" bIns="0" rtlCol="0" anchor="ctr"/>
          <a:lstStyle/>
          <a:p>
            <a:pPr indent="0" marL="0">
              <a:buNone/>
            </a:pPr>
            <a:r>
              <a:rPr lang="en-US" sz="850" dirty="0">
                <a:solidFill>
                  <a:srgbClr val="54585E"/>
                </a:solidFill>
                <a:latin typeface="Noto Sans" pitchFamily="34" charset="0"/>
                <a:ea typeface="Noto Sans" pitchFamily="34" charset="-122"/>
                <a:cs typeface="Noto Sans" pitchFamily="34" charset="-120"/>
              </a:rPr>
              <a:t>All three list the same seven portals and open the same pages.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38912"/>
            <a:ext cx="10728655" cy="219456"/>
          </a:xfrm>
          <a:prstGeom prst="rect">
            <a:avLst/>
          </a:prstGeom>
          <a:noFill/>
          <a:ln/>
        </p:spPr>
        <p:txBody>
          <a:bodyPr wrap="square" lIns="0" tIns="0" rIns="0" bIns="0" rtlCol="0" anchor="ctr"/>
          <a:lstStyle/>
          <a:p>
            <a:pPr indent="0" marL="0">
              <a:buNone/>
            </a:pPr>
            <a:r>
              <a:rPr lang="en-US" sz="950" b="1" spc="100" kern="0" dirty="0">
                <a:solidFill>
                  <a:srgbClr val="54585E"/>
                </a:solidFill>
                <a:latin typeface="Noto Sans" pitchFamily="34" charset="0"/>
                <a:ea typeface="Noto Sans" pitchFamily="34" charset="-122"/>
                <a:cs typeface="Noto Sans" pitchFamily="34" charset="-120"/>
              </a:rPr>
              <a:t>RENAME ONLY</a:t>
            </a:r>
            <a:endParaRPr lang="en-US" sz="950" dirty="0"/>
          </a:p>
        </p:txBody>
      </p:sp>
      <p:sp>
        <p:nvSpPr>
          <p:cNvPr id="3" name="Text 1"/>
          <p:cNvSpPr txBox="1"/>
          <p:nvPr/>
        </p:nvSpPr>
        <p:spPr>
          <a:xfrm>
            <a:off x="731520" y="694944"/>
            <a:ext cx="8351215" cy="512064"/>
          </a:xfrm>
          <a:prstGeom prst="rect">
            <a:avLst/>
          </a:prstGeom>
          <a:noFill/>
          <a:ln/>
        </p:spPr>
        <p:txBody>
          <a:bodyPr wrap="square" lIns="0" tIns="0" rIns="0" bIns="0" rtlCol="0" anchor="ctr"/>
          <a:lstStyle/>
          <a:p>
            <a:pPr indent="0" marL="0">
              <a:buNone/>
            </a:pPr>
            <a:r>
              <a:rPr lang="en-US" sz="3000" b="1" dirty="0">
                <a:solidFill>
                  <a:srgbClr val="003975"/>
                </a:solidFill>
                <a:latin typeface="Noto Sans" pitchFamily="34" charset="0"/>
                <a:ea typeface="Noto Sans" pitchFamily="34" charset="-122"/>
                <a:cs typeface="Noto Sans" pitchFamily="34" charset="-120"/>
              </a:rPr>
              <a:t>The Menu · Option A of 3</a:t>
            </a:r>
            <a:endParaRPr lang="en-US" sz="3000" dirty="0"/>
          </a:p>
        </p:txBody>
      </p:sp>
      <p:sp>
        <p:nvSpPr>
          <p:cNvPr id="4" name="Shape 2"/>
          <p:cNvSpPr/>
          <p:nvPr/>
        </p:nvSpPr>
        <p:spPr>
          <a:xfrm>
            <a:off x="731520" y="1298448"/>
            <a:ext cx="1065276" cy="246888"/>
          </a:xfrm>
          <a:prstGeom prst="roundRect">
            <a:avLst>
              <a:gd name="adj" fmla="val 50000"/>
            </a:avLst>
          </a:prstGeom>
          <a:solidFill>
            <a:srgbClr val="ECF4FF"/>
          </a:solidFill>
          <a:ln w="12700">
            <a:solidFill>
              <a:srgbClr val="ECF4FF"/>
            </a:solidFill>
            <a:prstDash val="solid"/>
          </a:ln>
        </p:spPr>
      </p:sp>
      <p:sp>
        <p:nvSpPr>
          <p:cNvPr id="5" name="Text 3"/>
          <p:cNvSpPr txBox="1"/>
          <p:nvPr/>
        </p:nvSpPr>
        <p:spPr>
          <a:xfrm>
            <a:off x="731520" y="1298448"/>
            <a:ext cx="1065276" cy="246888"/>
          </a:xfrm>
          <a:prstGeom prst="rect">
            <a:avLst/>
          </a:prstGeom>
          <a:noFill/>
          <a:ln/>
        </p:spPr>
        <p:txBody>
          <a:bodyPr wrap="square" lIns="0" tIns="0" rIns="0" bIns="0" rtlCol="0" anchor="ctr"/>
          <a:lstStyle/>
          <a:p>
            <a:pPr algn="ctr" indent="0" marL="0">
              <a:buNone/>
            </a:pPr>
            <a:r>
              <a:rPr lang="en-US" sz="850" b="1" spc="50" kern="0" dirty="0">
                <a:solidFill>
                  <a:srgbClr val="005EB9"/>
                </a:solidFill>
                <a:latin typeface="Noto Sans" pitchFamily="34" charset="0"/>
                <a:ea typeface="Noto Sans" pitchFamily="34" charset="-122"/>
                <a:cs typeface="Noto Sans" pitchFamily="34" charset="-120"/>
              </a:rPr>
              <a:t>TO BE BUILT</a:t>
            </a:r>
            <a:endParaRPr lang="en-US" sz="850" dirty="0"/>
          </a:p>
        </p:txBody>
      </p:sp>
      <p:sp>
        <p:nvSpPr>
          <p:cNvPr id="6" name="Shape 4"/>
          <p:cNvSpPr/>
          <p:nvPr/>
        </p:nvSpPr>
        <p:spPr>
          <a:xfrm>
            <a:off x="1366665" y="1755648"/>
            <a:ext cx="5221950" cy="4123944"/>
          </a:xfrm>
          <a:prstGeom prst="rect">
            <a:avLst/>
          </a:prstGeom>
          <a:solidFill>
            <a:srgbClr val="FFFFFF"/>
          </a:solidFill>
          <a:ln w="9525">
            <a:solidFill>
              <a:srgbClr val="DCDEE1"/>
            </a:solidFill>
            <a:prstDash val="solid"/>
          </a:ln>
        </p:spPr>
      </p:sp>
      <p:pic>
        <p:nvPicPr>
          <p:cNvPr id="7" name="Image 0" descr="assets/still/nav-a.png">    </p:cNvPr>
          <p:cNvPicPr>
            <a:picLocks noChangeAspect="1"/>
          </p:cNvPicPr>
          <p:nvPr/>
        </p:nvPicPr>
        <p:blipFill>
          <a:blip r:embed="rId1"/>
          <a:stretch>
            <a:fillRect/>
          </a:stretch>
        </p:blipFill>
        <p:spPr>
          <a:xfrm>
            <a:off x="1394097" y="1783080"/>
            <a:ext cx="5167086" cy="4069080"/>
          </a:xfrm>
          <a:prstGeom prst="rect">
            <a:avLst/>
          </a:prstGeom>
        </p:spPr>
      </p:pic>
      <p:sp>
        <p:nvSpPr>
          <p:cNvPr id="8" name="Text 5"/>
          <p:cNvSpPr txBox="1"/>
          <p:nvPr/>
        </p:nvSpPr>
        <p:spPr>
          <a:xfrm>
            <a:off x="7680960" y="1783080"/>
            <a:ext cx="3779215" cy="201168"/>
          </a:xfrm>
          <a:prstGeom prst="rect">
            <a:avLst/>
          </a:prstGeom>
          <a:noFill/>
          <a:ln/>
        </p:spPr>
        <p:txBody>
          <a:bodyPr wrap="square" lIns="0" tIns="0" rIns="0" bIns="0" rtlCol="0" anchor="ctr"/>
          <a:lstStyle/>
          <a:p>
            <a:pPr indent="0" marL="0">
              <a:buNone/>
            </a:pPr>
            <a:r>
              <a:rPr lang="en-US" sz="950" b="1" spc="100" kern="0" dirty="0">
                <a:solidFill>
                  <a:srgbClr val="003975"/>
                </a:solidFill>
                <a:latin typeface="Noto Sans" pitchFamily="34" charset="0"/>
                <a:ea typeface="Noto Sans" pitchFamily="34" charset="-122"/>
                <a:cs typeface="Noto Sans" pitchFamily="34" charset="-120"/>
              </a:rPr>
              <a:t>WHAT IT IS</a:t>
            </a:r>
            <a:endParaRPr lang="en-US" sz="950" dirty="0"/>
          </a:p>
        </p:txBody>
      </p:sp>
      <p:sp>
        <p:nvSpPr>
          <p:cNvPr id="9" name="Text 6"/>
          <p:cNvSpPr txBox="1"/>
          <p:nvPr/>
        </p:nvSpPr>
        <p:spPr>
          <a:xfrm>
            <a:off x="7680960" y="2057400"/>
            <a:ext cx="3779215" cy="630936"/>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The menu keeps everything it lists today. Only its name changes, so it says that scheme portals are inside.</a:t>
            </a:r>
            <a:endParaRPr lang="en-US" sz="1200" dirty="0"/>
          </a:p>
        </p:txBody>
      </p:sp>
      <p:sp>
        <p:nvSpPr>
          <p:cNvPr id="10" name="Text 7"/>
          <p:cNvSpPr txBox="1"/>
          <p:nvPr/>
        </p:nvSpPr>
        <p:spPr>
          <a:xfrm>
            <a:off x="7680960" y="2889504"/>
            <a:ext cx="3779215" cy="201168"/>
          </a:xfrm>
          <a:prstGeom prst="rect">
            <a:avLst/>
          </a:prstGeom>
          <a:noFill/>
          <a:ln/>
        </p:spPr>
        <p:txBody>
          <a:bodyPr wrap="square" lIns="0" tIns="0" rIns="0" bIns="0" rtlCol="0" anchor="ctr"/>
          <a:lstStyle/>
          <a:p>
            <a:pPr indent="0" marL="0">
              <a:buNone/>
            </a:pPr>
            <a:r>
              <a:rPr lang="en-US" sz="950" b="1" spc="100" kern="0" dirty="0">
                <a:solidFill>
                  <a:srgbClr val="005EB9"/>
                </a:solidFill>
                <a:latin typeface="Noto Sans" pitchFamily="34" charset="0"/>
                <a:ea typeface="Noto Sans" pitchFamily="34" charset="-122"/>
                <a:cs typeface="Noto Sans" pitchFamily="34" charset="-120"/>
              </a:rPr>
              <a:t>HOW IT WORKS</a:t>
            </a:r>
            <a:endParaRPr lang="en-US" sz="950" dirty="0"/>
          </a:p>
        </p:txBody>
      </p:sp>
      <p:sp>
        <p:nvSpPr>
          <p:cNvPr id="11" name="Shape 8"/>
          <p:cNvSpPr/>
          <p:nvPr/>
        </p:nvSpPr>
        <p:spPr>
          <a:xfrm>
            <a:off x="7680960" y="3218688"/>
            <a:ext cx="54864" cy="54864"/>
          </a:xfrm>
          <a:prstGeom prst="rect">
            <a:avLst/>
          </a:prstGeom>
          <a:solidFill>
            <a:srgbClr val="005EB9"/>
          </a:solidFill>
          <a:ln w="12700">
            <a:solidFill>
              <a:srgbClr val="005EB9"/>
            </a:solidFill>
            <a:prstDash val="solid"/>
          </a:ln>
        </p:spPr>
      </p:sp>
      <p:sp>
        <p:nvSpPr>
          <p:cNvPr id="12" name="Text 9"/>
          <p:cNvSpPr txBox="1"/>
          <p:nvPr/>
        </p:nvSpPr>
        <p:spPr>
          <a:xfrm>
            <a:off x="7863840" y="3163824"/>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Associated Organisations becomes Organisations &amp; Scheme Portals</a:t>
            </a:r>
            <a:endParaRPr lang="en-US" sz="1200" dirty="0"/>
          </a:p>
        </p:txBody>
      </p:sp>
      <p:sp>
        <p:nvSpPr>
          <p:cNvPr id="13" name="Shape 10"/>
          <p:cNvSpPr/>
          <p:nvPr/>
        </p:nvSpPr>
        <p:spPr>
          <a:xfrm>
            <a:off x="7680960" y="3712464"/>
            <a:ext cx="54864" cy="54864"/>
          </a:xfrm>
          <a:prstGeom prst="rect">
            <a:avLst/>
          </a:prstGeom>
          <a:solidFill>
            <a:srgbClr val="005EB9"/>
          </a:solidFill>
          <a:ln w="12700">
            <a:solidFill>
              <a:srgbClr val="005EB9"/>
            </a:solidFill>
            <a:prstDash val="solid"/>
          </a:ln>
        </p:spPr>
      </p:sp>
      <p:sp>
        <p:nvSpPr>
          <p:cNvPr id="14" name="Text 11"/>
          <p:cNvSpPr txBox="1"/>
          <p:nvPr/>
        </p:nvSpPr>
        <p:spPr>
          <a:xfrm>
            <a:off x="7863840" y="3657600"/>
            <a:ext cx="3596335" cy="612648"/>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Commissions, Corporations and Foundations stay; the portals get a column of their own</a:t>
            </a:r>
            <a:endParaRPr lang="en-US" sz="1200" dirty="0"/>
          </a:p>
        </p:txBody>
      </p:sp>
      <p:sp>
        <p:nvSpPr>
          <p:cNvPr id="15" name="Shape 12"/>
          <p:cNvSpPr/>
          <p:nvPr/>
        </p:nvSpPr>
        <p:spPr>
          <a:xfrm>
            <a:off x="7680960" y="4398264"/>
            <a:ext cx="54864" cy="54864"/>
          </a:xfrm>
          <a:prstGeom prst="rect">
            <a:avLst/>
          </a:prstGeom>
          <a:solidFill>
            <a:srgbClr val="005EB9"/>
          </a:solidFill>
          <a:ln w="12700">
            <a:solidFill>
              <a:srgbClr val="005EB9"/>
            </a:solidFill>
            <a:prstDash val="solid"/>
          </a:ln>
        </p:spPr>
      </p:sp>
      <p:sp>
        <p:nvSpPr>
          <p:cNvPr id="16" name="Text 13"/>
          <p:cNvSpPr txBox="1"/>
          <p:nvPr/>
        </p:nvSpPr>
        <p:spPr>
          <a:xfrm>
            <a:off x="7863840" y="4343400"/>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The Schemes page filter uses the same name</a:t>
            </a:r>
            <a:endParaRPr lang="en-US" sz="1200" dirty="0"/>
          </a:p>
        </p:txBody>
      </p:sp>
      <p:sp>
        <p:nvSpPr>
          <p:cNvPr id="17" name="Text 14"/>
          <p:cNvSpPr txBox="1"/>
          <p:nvPr/>
        </p:nvSpPr>
        <p:spPr>
          <a:xfrm>
            <a:off x="7680960" y="5038344"/>
            <a:ext cx="3779215" cy="201168"/>
          </a:xfrm>
          <a:prstGeom prst="rect">
            <a:avLst/>
          </a:prstGeom>
          <a:noFill/>
          <a:ln/>
        </p:spPr>
        <p:txBody>
          <a:bodyPr wrap="square" lIns="0" tIns="0" rIns="0" bIns="0" rtlCol="0" anchor="ctr"/>
          <a:lstStyle/>
          <a:p>
            <a:pPr indent="0" marL="0">
              <a:buNone/>
            </a:pPr>
            <a:r>
              <a:rPr lang="en-US" sz="950" b="1" spc="100" kern="0" dirty="0">
                <a:solidFill>
                  <a:srgbClr val="005EB9"/>
                </a:solidFill>
                <a:latin typeface="Noto Sans" pitchFamily="34" charset="0"/>
                <a:ea typeface="Noto Sans" pitchFamily="34" charset="-122"/>
                <a:cs typeface="Noto Sans" pitchFamily="34" charset="-120"/>
              </a:rPr>
              <a:t>WHY IT HELPS</a:t>
            </a:r>
            <a:endParaRPr lang="en-US" sz="950" dirty="0"/>
          </a:p>
        </p:txBody>
      </p:sp>
      <p:sp>
        <p:nvSpPr>
          <p:cNvPr id="18" name="Shape 15"/>
          <p:cNvSpPr/>
          <p:nvPr/>
        </p:nvSpPr>
        <p:spPr>
          <a:xfrm>
            <a:off x="7680960" y="5367528"/>
            <a:ext cx="54864" cy="54864"/>
          </a:xfrm>
          <a:prstGeom prst="rect">
            <a:avLst/>
          </a:prstGeom>
          <a:solidFill>
            <a:srgbClr val="005EB9"/>
          </a:solidFill>
          <a:ln w="12700">
            <a:solidFill>
              <a:srgbClr val="005EB9"/>
            </a:solidFill>
            <a:prstDash val="solid"/>
          </a:ln>
        </p:spPr>
      </p:sp>
      <p:sp>
        <p:nvSpPr>
          <p:cNvPr id="19" name="Text 16"/>
          <p:cNvSpPr txBox="1"/>
          <p:nvPr/>
        </p:nvSpPr>
        <p:spPr>
          <a:xfrm>
            <a:off x="7863840" y="5312664"/>
            <a:ext cx="3596335" cy="228600"/>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The smallest change to the menu</a:t>
            </a:r>
            <a:endParaRPr lang="en-US" sz="1200" dirty="0"/>
          </a:p>
        </p:txBody>
      </p:sp>
      <p:sp>
        <p:nvSpPr>
          <p:cNvPr id="20" name="Shape 17"/>
          <p:cNvSpPr/>
          <p:nvPr/>
        </p:nvSpPr>
        <p:spPr>
          <a:xfrm>
            <a:off x="7680960" y="5669280"/>
            <a:ext cx="54864" cy="54864"/>
          </a:xfrm>
          <a:prstGeom prst="rect">
            <a:avLst/>
          </a:prstGeom>
          <a:solidFill>
            <a:srgbClr val="005EB9"/>
          </a:solidFill>
          <a:ln w="12700">
            <a:solidFill>
              <a:srgbClr val="005EB9"/>
            </a:solidFill>
            <a:prstDash val="solid"/>
          </a:ln>
        </p:spPr>
      </p:sp>
      <p:sp>
        <p:nvSpPr>
          <p:cNvPr id="21" name="Text 18"/>
          <p:cNvSpPr txBox="1"/>
          <p:nvPr/>
        </p:nvSpPr>
        <p:spPr>
          <a:xfrm>
            <a:off x="7863840" y="5614416"/>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A returning visitor finds everything where it was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38912"/>
            <a:ext cx="10728655" cy="219456"/>
          </a:xfrm>
          <a:prstGeom prst="rect">
            <a:avLst/>
          </a:prstGeom>
          <a:noFill/>
          <a:ln/>
        </p:spPr>
        <p:txBody>
          <a:bodyPr wrap="square" lIns="0" tIns="0" rIns="0" bIns="0" rtlCol="0" anchor="ctr"/>
          <a:lstStyle/>
          <a:p>
            <a:pPr indent="0" marL="0">
              <a:buNone/>
            </a:pPr>
            <a:r>
              <a:rPr lang="en-US" sz="950" b="1" spc="100" kern="0" dirty="0">
                <a:solidFill>
                  <a:srgbClr val="54585E"/>
                </a:solidFill>
                <a:latin typeface="Noto Sans" pitchFamily="34" charset="0"/>
                <a:ea typeface="Noto Sans" pitchFamily="34" charset="-122"/>
                <a:cs typeface="Noto Sans" pitchFamily="34" charset="-120"/>
              </a:rPr>
              <a:t>PORTALS UNDER OFFERINGS</a:t>
            </a:r>
            <a:endParaRPr lang="en-US" sz="950" dirty="0"/>
          </a:p>
        </p:txBody>
      </p:sp>
      <p:sp>
        <p:nvSpPr>
          <p:cNvPr id="3" name="Text 1"/>
          <p:cNvSpPr txBox="1"/>
          <p:nvPr/>
        </p:nvSpPr>
        <p:spPr>
          <a:xfrm>
            <a:off x="731520" y="694944"/>
            <a:ext cx="8351215" cy="512064"/>
          </a:xfrm>
          <a:prstGeom prst="rect">
            <a:avLst/>
          </a:prstGeom>
          <a:noFill/>
          <a:ln/>
        </p:spPr>
        <p:txBody>
          <a:bodyPr wrap="square" lIns="0" tIns="0" rIns="0" bIns="0" rtlCol="0" anchor="ctr"/>
          <a:lstStyle/>
          <a:p>
            <a:pPr indent="0" marL="0">
              <a:buNone/>
            </a:pPr>
            <a:r>
              <a:rPr lang="en-US" sz="3000" b="1" dirty="0">
                <a:solidFill>
                  <a:srgbClr val="003975"/>
                </a:solidFill>
                <a:latin typeface="Noto Sans" pitchFamily="34" charset="0"/>
                <a:ea typeface="Noto Sans" pitchFamily="34" charset="-122"/>
                <a:cs typeface="Noto Sans" pitchFamily="34" charset="-120"/>
              </a:rPr>
              <a:t>The Menu · Option B of 3</a:t>
            </a:r>
            <a:endParaRPr lang="en-US" sz="3000" dirty="0"/>
          </a:p>
        </p:txBody>
      </p:sp>
      <p:sp>
        <p:nvSpPr>
          <p:cNvPr id="4" name="Shape 2"/>
          <p:cNvSpPr/>
          <p:nvPr/>
        </p:nvSpPr>
        <p:spPr>
          <a:xfrm>
            <a:off x="731520" y="1298448"/>
            <a:ext cx="1065276" cy="246888"/>
          </a:xfrm>
          <a:prstGeom prst="roundRect">
            <a:avLst>
              <a:gd name="adj" fmla="val 50000"/>
            </a:avLst>
          </a:prstGeom>
          <a:solidFill>
            <a:srgbClr val="ECF4FF"/>
          </a:solidFill>
          <a:ln w="12700">
            <a:solidFill>
              <a:srgbClr val="ECF4FF"/>
            </a:solidFill>
            <a:prstDash val="solid"/>
          </a:ln>
        </p:spPr>
      </p:sp>
      <p:sp>
        <p:nvSpPr>
          <p:cNvPr id="5" name="Text 3"/>
          <p:cNvSpPr txBox="1"/>
          <p:nvPr/>
        </p:nvSpPr>
        <p:spPr>
          <a:xfrm>
            <a:off x="731520" y="1298448"/>
            <a:ext cx="1065276" cy="246888"/>
          </a:xfrm>
          <a:prstGeom prst="rect">
            <a:avLst/>
          </a:prstGeom>
          <a:noFill/>
          <a:ln/>
        </p:spPr>
        <p:txBody>
          <a:bodyPr wrap="square" lIns="0" tIns="0" rIns="0" bIns="0" rtlCol="0" anchor="ctr"/>
          <a:lstStyle/>
          <a:p>
            <a:pPr algn="ctr" indent="0" marL="0">
              <a:buNone/>
            </a:pPr>
            <a:r>
              <a:rPr lang="en-US" sz="850" b="1" spc="50" kern="0" dirty="0">
                <a:solidFill>
                  <a:srgbClr val="005EB9"/>
                </a:solidFill>
                <a:latin typeface="Noto Sans" pitchFamily="34" charset="0"/>
                <a:ea typeface="Noto Sans" pitchFamily="34" charset="-122"/>
                <a:cs typeface="Noto Sans" pitchFamily="34" charset="-120"/>
              </a:rPr>
              <a:t>TO BE BUILT</a:t>
            </a:r>
            <a:endParaRPr lang="en-US" sz="850" dirty="0"/>
          </a:p>
        </p:txBody>
      </p:sp>
      <p:sp>
        <p:nvSpPr>
          <p:cNvPr id="6" name="Shape 4"/>
          <p:cNvSpPr/>
          <p:nvPr/>
        </p:nvSpPr>
        <p:spPr>
          <a:xfrm>
            <a:off x="704088" y="1755648"/>
            <a:ext cx="6547104" cy="3328035"/>
          </a:xfrm>
          <a:prstGeom prst="rect">
            <a:avLst/>
          </a:prstGeom>
          <a:solidFill>
            <a:srgbClr val="FFFFFF"/>
          </a:solidFill>
          <a:ln w="9525">
            <a:solidFill>
              <a:srgbClr val="DCDEE1"/>
            </a:solidFill>
            <a:prstDash val="solid"/>
          </a:ln>
        </p:spPr>
      </p:sp>
      <p:pic>
        <p:nvPicPr>
          <p:cNvPr id="7" name="Image 0" descr="assets/still/nav-b.png">    </p:cNvPr>
          <p:cNvPicPr>
            <a:picLocks noChangeAspect="1"/>
          </p:cNvPicPr>
          <p:nvPr/>
        </p:nvPicPr>
        <p:blipFill>
          <a:blip r:embed="rId1"/>
          <a:stretch>
            <a:fillRect/>
          </a:stretch>
        </p:blipFill>
        <p:spPr>
          <a:xfrm>
            <a:off x="731520" y="1783080"/>
            <a:ext cx="6492240" cy="3273171"/>
          </a:xfrm>
          <a:prstGeom prst="rect">
            <a:avLst/>
          </a:prstGeom>
        </p:spPr>
      </p:pic>
      <p:sp>
        <p:nvSpPr>
          <p:cNvPr id="8" name="Text 5"/>
          <p:cNvSpPr txBox="1"/>
          <p:nvPr/>
        </p:nvSpPr>
        <p:spPr>
          <a:xfrm>
            <a:off x="7680960" y="1783080"/>
            <a:ext cx="3779215" cy="201168"/>
          </a:xfrm>
          <a:prstGeom prst="rect">
            <a:avLst/>
          </a:prstGeom>
          <a:noFill/>
          <a:ln/>
        </p:spPr>
        <p:txBody>
          <a:bodyPr wrap="square" lIns="0" tIns="0" rIns="0" bIns="0" rtlCol="0" anchor="ctr"/>
          <a:lstStyle/>
          <a:p>
            <a:pPr indent="0" marL="0">
              <a:buNone/>
            </a:pPr>
            <a:r>
              <a:rPr lang="en-US" sz="950" b="1" spc="100" kern="0" dirty="0">
                <a:solidFill>
                  <a:srgbClr val="003975"/>
                </a:solidFill>
                <a:latin typeface="Noto Sans" pitchFamily="34" charset="0"/>
                <a:ea typeface="Noto Sans" pitchFamily="34" charset="-122"/>
                <a:cs typeface="Noto Sans" pitchFamily="34" charset="-120"/>
              </a:rPr>
              <a:t>WHAT IT IS</a:t>
            </a:r>
            <a:endParaRPr lang="en-US" sz="950" dirty="0"/>
          </a:p>
        </p:txBody>
      </p:sp>
      <p:sp>
        <p:nvSpPr>
          <p:cNvPr id="9" name="Text 6"/>
          <p:cNvSpPr txBox="1"/>
          <p:nvPr/>
        </p:nvSpPr>
        <p:spPr>
          <a:xfrm>
            <a:off x="7680960" y="2057400"/>
            <a:ext cx="3779215" cy="630936"/>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The seven portals move out of Associated Organisations and into Offerings, beside Vacancies and Tenders.</a:t>
            </a:r>
            <a:endParaRPr lang="en-US" sz="1200" dirty="0"/>
          </a:p>
        </p:txBody>
      </p:sp>
      <p:sp>
        <p:nvSpPr>
          <p:cNvPr id="10" name="Text 7"/>
          <p:cNvSpPr txBox="1"/>
          <p:nvPr/>
        </p:nvSpPr>
        <p:spPr>
          <a:xfrm>
            <a:off x="7680960" y="2889504"/>
            <a:ext cx="3779215" cy="201168"/>
          </a:xfrm>
          <a:prstGeom prst="rect">
            <a:avLst/>
          </a:prstGeom>
          <a:noFill/>
          <a:ln/>
        </p:spPr>
        <p:txBody>
          <a:bodyPr wrap="square" lIns="0" tIns="0" rIns="0" bIns="0" rtlCol="0" anchor="ctr"/>
          <a:lstStyle/>
          <a:p>
            <a:pPr indent="0" marL="0">
              <a:buNone/>
            </a:pPr>
            <a:r>
              <a:rPr lang="en-US" sz="950" b="1" spc="100" kern="0" dirty="0">
                <a:solidFill>
                  <a:srgbClr val="005EB9"/>
                </a:solidFill>
                <a:latin typeface="Noto Sans" pitchFamily="34" charset="0"/>
                <a:ea typeface="Noto Sans" pitchFamily="34" charset="-122"/>
                <a:cs typeface="Noto Sans" pitchFamily="34" charset="-120"/>
              </a:rPr>
              <a:t>HOW IT WORKS</a:t>
            </a:r>
            <a:endParaRPr lang="en-US" sz="950" dirty="0"/>
          </a:p>
        </p:txBody>
      </p:sp>
      <p:sp>
        <p:nvSpPr>
          <p:cNvPr id="11" name="Shape 8"/>
          <p:cNvSpPr/>
          <p:nvPr/>
        </p:nvSpPr>
        <p:spPr>
          <a:xfrm>
            <a:off x="7680960" y="3218688"/>
            <a:ext cx="54864" cy="54864"/>
          </a:xfrm>
          <a:prstGeom prst="rect">
            <a:avLst/>
          </a:prstGeom>
          <a:solidFill>
            <a:srgbClr val="005EB9"/>
          </a:solidFill>
          <a:ln w="12700">
            <a:solidFill>
              <a:srgbClr val="005EB9"/>
            </a:solidFill>
            <a:prstDash val="solid"/>
          </a:ln>
        </p:spPr>
      </p:sp>
      <p:sp>
        <p:nvSpPr>
          <p:cNvPr id="12" name="Text 9"/>
          <p:cNvSpPr txBox="1"/>
          <p:nvPr/>
        </p:nvSpPr>
        <p:spPr>
          <a:xfrm>
            <a:off x="7863840" y="3163824"/>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Each portal is listed with the scheme it serves</a:t>
            </a:r>
            <a:endParaRPr lang="en-US" sz="1200" dirty="0"/>
          </a:p>
        </p:txBody>
      </p:sp>
      <p:sp>
        <p:nvSpPr>
          <p:cNvPr id="13" name="Shape 10"/>
          <p:cNvSpPr/>
          <p:nvPr/>
        </p:nvSpPr>
        <p:spPr>
          <a:xfrm>
            <a:off x="7680960" y="3712464"/>
            <a:ext cx="54864" cy="54864"/>
          </a:xfrm>
          <a:prstGeom prst="rect">
            <a:avLst/>
          </a:prstGeom>
          <a:solidFill>
            <a:srgbClr val="005EB9"/>
          </a:solidFill>
          <a:ln w="12700">
            <a:solidFill>
              <a:srgbClr val="005EB9"/>
            </a:solidFill>
            <a:prstDash val="solid"/>
          </a:ln>
        </p:spPr>
      </p:sp>
      <p:sp>
        <p:nvSpPr>
          <p:cNvPr id="14" name="Text 11"/>
          <p:cNvSpPr txBox="1"/>
          <p:nvPr/>
        </p:nvSpPr>
        <p:spPr>
          <a:xfrm>
            <a:off x="7863840" y="3657600"/>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A full-width button under the portals opens the list of all schemes</a:t>
            </a:r>
            <a:endParaRPr lang="en-US" sz="1200" dirty="0"/>
          </a:p>
        </p:txBody>
      </p:sp>
      <p:sp>
        <p:nvSpPr>
          <p:cNvPr id="15" name="Shape 12"/>
          <p:cNvSpPr/>
          <p:nvPr/>
        </p:nvSpPr>
        <p:spPr>
          <a:xfrm>
            <a:off x="7680960" y="4206240"/>
            <a:ext cx="54864" cy="54864"/>
          </a:xfrm>
          <a:prstGeom prst="rect">
            <a:avLst/>
          </a:prstGeom>
          <a:solidFill>
            <a:srgbClr val="005EB9"/>
          </a:solidFill>
          <a:ln w="12700">
            <a:solidFill>
              <a:srgbClr val="005EB9"/>
            </a:solidFill>
            <a:prstDash val="solid"/>
          </a:ln>
        </p:spPr>
      </p:sp>
      <p:sp>
        <p:nvSpPr>
          <p:cNvPr id="16" name="Text 13"/>
          <p:cNvSpPr txBox="1"/>
          <p:nvPr/>
        </p:nvSpPr>
        <p:spPr>
          <a:xfrm>
            <a:off x="7863840" y="4151376"/>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Associated Organisations keeps only the organisations</a:t>
            </a:r>
            <a:endParaRPr lang="en-US" sz="1200" dirty="0"/>
          </a:p>
        </p:txBody>
      </p:sp>
      <p:sp>
        <p:nvSpPr>
          <p:cNvPr id="17" name="Text 14"/>
          <p:cNvSpPr txBox="1"/>
          <p:nvPr/>
        </p:nvSpPr>
        <p:spPr>
          <a:xfrm>
            <a:off x="7680960" y="4846320"/>
            <a:ext cx="3779215" cy="201168"/>
          </a:xfrm>
          <a:prstGeom prst="rect">
            <a:avLst/>
          </a:prstGeom>
          <a:noFill/>
          <a:ln/>
        </p:spPr>
        <p:txBody>
          <a:bodyPr wrap="square" lIns="0" tIns="0" rIns="0" bIns="0" rtlCol="0" anchor="ctr"/>
          <a:lstStyle/>
          <a:p>
            <a:pPr indent="0" marL="0">
              <a:buNone/>
            </a:pPr>
            <a:r>
              <a:rPr lang="en-US" sz="950" b="1" spc="100" kern="0" dirty="0">
                <a:solidFill>
                  <a:srgbClr val="005EB9"/>
                </a:solidFill>
                <a:latin typeface="Noto Sans" pitchFamily="34" charset="0"/>
                <a:ea typeface="Noto Sans" pitchFamily="34" charset="-122"/>
                <a:cs typeface="Noto Sans" pitchFamily="34" charset="-120"/>
              </a:rPr>
              <a:t>WHY IT HELPS</a:t>
            </a:r>
            <a:endParaRPr lang="en-US" sz="950" dirty="0"/>
          </a:p>
        </p:txBody>
      </p:sp>
      <p:sp>
        <p:nvSpPr>
          <p:cNvPr id="18" name="Shape 15"/>
          <p:cNvSpPr/>
          <p:nvPr/>
        </p:nvSpPr>
        <p:spPr>
          <a:xfrm>
            <a:off x="7680960" y="5175504"/>
            <a:ext cx="54864" cy="54864"/>
          </a:xfrm>
          <a:prstGeom prst="rect">
            <a:avLst/>
          </a:prstGeom>
          <a:solidFill>
            <a:srgbClr val="005EB9"/>
          </a:solidFill>
          <a:ln w="12700">
            <a:solidFill>
              <a:srgbClr val="005EB9"/>
            </a:solidFill>
            <a:prstDash val="solid"/>
          </a:ln>
        </p:spPr>
      </p:sp>
      <p:sp>
        <p:nvSpPr>
          <p:cNvPr id="19" name="Text 16"/>
          <p:cNvSpPr txBox="1"/>
          <p:nvPr/>
        </p:nvSpPr>
        <p:spPr>
          <a:xfrm>
            <a:off x="7863840" y="5120640"/>
            <a:ext cx="3596335" cy="228600"/>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The top row of the menu does not change</a:t>
            </a:r>
            <a:endParaRPr lang="en-US" sz="1200" dirty="0"/>
          </a:p>
        </p:txBody>
      </p:sp>
      <p:sp>
        <p:nvSpPr>
          <p:cNvPr id="20" name="Shape 17"/>
          <p:cNvSpPr/>
          <p:nvPr/>
        </p:nvSpPr>
        <p:spPr>
          <a:xfrm>
            <a:off x="7680960" y="5477256"/>
            <a:ext cx="54864" cy="54864"/>
          </a:xfrm>
          <a:prstGeom prst="rect">
            <a:avLst/>
          </a:prstGeom>
          <a:solidFill>
            <a:srgbClr val="005EB9"/>
          </a:solidFill>
          <a:ln w="12700">
            <a:solidFill>
              <a:srgbClr val="005EB9"/>
            </a:solidFill>
            <a:prstDash val="solid"/>
          </a:ln>
        </p:spPr>
      </p:sp>
      <p:sp>
        <p:nvSpPr>
          <p:cNvPr id="21" name="Text 18"/>
          <p:cNvSpPr txBox="1"/>
          <p:nvPr/>
        </p:nvSpPr>
        <p:spPr>
          <a:xfrm>
            <a:off x="7863840" y="5422392"/>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Organisations and portals are no longer mixed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38912"/>
            <a:ext cx="10728655" cy="219456"/>
          </a:xfrm>
          <a:prstGeom prst="rect">
            <a:avLst/>
          </a:prstGeom>
          <a:noFill/>
          <a:ln/>
        </p:spPr>
        <p:txBody>
          <a:bodyPr wrap="square" lIns="0" tIns="0" rIns="0" bIns="0" rtlCol="0" anchor="ctr"/>
          <a:lstStyle/>
          <a:p>
            <a:pPr indent="0" marL="0">
              <a:buNone/>
            </a:pPr>
            <a:r>
              <a:rPr lang="en-US" sz="950" b="1" spc="100" kern="0" dirty="0">
                <a:solidFill>
                  <a:srgbClr val="54585E"/>
                </a:solidFill>
                <a:latin typeface="Noto Sans" pitchFamily="34" charset="0"/>
                <a:ea typeface="Noto Sans" pitchFamily="34" charset="-122"/>
                <a:cs typeface="Noto Sans" pitchFamily="34" charset="-120"/>
              </a:rPr>
              <a:t>SCHEMES AS ITS OWN MENU</a:t>
            </a:r>
            <a:endParaRPr lang="en-US" sz="950" dirty="0"/>
          </a:p>
        </p:txBody>
      </p:sp>
      <p:sp>
        <p:nvSpPr>
          <p:cNvPr id="3" name="Text 1"/>
          <p:cNvSpPr txBox="1"/>
          <p:nvPr/>
        </p:nvSpPr>
        <p:spPr>
          <a:xfrm>
            <a:off x="731520" y="694944"/>
            <a:ext cx="8351215" cy="512064"/>
          </a:xfrm>
          <a:prstGeom prst="rect">
            <a:avLst/>
          </a:prstGeom>
          <a:noFill/>
          <a:ln/>
        </p:spPr>
        <p:txBody>
          <a:bodyPr wrap="square" lIns="0" tIns="0" rIns="0" bIns="0" rtlCol="0" anchor="ctr"/>
          <a:lstStyle/>
          <a:p>
            <a:pPr indent="0" marL="0">
              <a:buNone/>
            </a:pPr>
            <a:r>
              <a:rPr lang="en-US" sz="3000" b="1" dirty="0">
                <a:solidFill>
                  <a:srgbClr val="003975"/>
                </a:solidFill>
                <a:latin typeface="Noto Sans" pitchFamily="34" charset="0"/>
                <a:ea typeface="Noto Sans" pitchFamily="34" charset="-122"/>
                <a:cs typeface="Noto Sans" pitchFamily="34" charset="-120"/>
              </a:rPr>
              <a:t>The Menu · Option C of 3</a:t>
            </a:r>
            <a:endParaRPr lang="en-US" sz="3000" dirty="0"/>
          </a:p>
        </p:txBody>
      </p:sp>
      <p:sp>
        <p:nvSpPr>
          <p:cNvPr id="4" name="Shape 2"/>
          <p:cNvSpPr/>
          <p:nvPr/>
        </p:nvSpPr>
        <p:spPr>
          <a:xfrm>
            <a:off x="731520" y="1298448"/>
            <a:ext cx="1065276" cy="246888"/>
          </a:xfrm>
          <a:prstGeom prst="roundRect">
            <a:avLst>
              <a:gd name="adj" fmla="val 50000"/>
            </a:avLst>
          </a:prstGeom>
          <a:solidFill>
            <a:srgbClr val="ECF4FF"/>
          </a:solidFill>
          <a:ln w="12700">
            <a:solidFill>
              <a:srgbClr val="ECF4FF"/>
            </a:solidFill>
            <a:prstDash val="solid"/>
          </a:ln>
        </p:spPr>
      </p:sp>
      <p:sp>
        <p:nvSpPr>
          <p:cNvPr id="5" name="Text 3"/>
          <p:cNvSpPr txBox="1"/>
          <p:nvPr/>
        </p:nvSpPr>
        <p:spPr>
          <a:xfrm>
            <a:off x="731520" y="1298448"/>
            <a:ext cx="1065276" cy="246888"/>
          </a:xfrm>
          <a:prstGeom prst="rect">
            <a:avLst/>
          </a:prstGeom>
          <a:noFill/>
          <a:ln/>
        </p:spPr>
        <p:txBody>
          <a:bodyPr wrap="square" lIns="0" tIns="0" rIns="0" bIns="0" rtlCol="0" anchor="ctr"/>
          <a:lstStyle/>
          <a:p>
            <a:pPr algn="ctr" indent="0" marL="0">
              <a:buNone/>
            </a:pPr>
            <a:r>
              <a:rPr lang="en-US" sz="850" b="1" spc="50" kern="0" dirty="0">
                <a:solidFill>
                  <a:srgbClr val="005EB9"/>
                </a:solidFill>
                <a:latin typeface="Noto Sans" pitchFamily="34" charset="0"/>
                <a:ea typeface="Noto Sans" pitchFamily="34" charset="-122"/>
                <a:cs typeface="Noto Sans" pitchFamily="34" charset="-120"/>
              </a:rPr>
              <a:t>TO BE BUILT</a:t>
            </a:r>
            <a:endParaRPr lang="en-US" sz="850" dirty="0"/>
          </a:p>
        </p:txBody>
      </p:sp>
      <p:sp>
        <p:nvSpPr>
          <p:cNvPr id="6" name="Shape 4"/>
          <p:cNvSpPr/>
          <p:nvPr/>
        </p:nvSpPr>
        <p:spPr>
          <a:xfrm>
            <a:off x="704088" y="1755648"/>
            <a:ext cx="6547104" cy="3490341"/>
          </a:xfrm>
          <a:prstGeom prst="rect">
            <a:avLst/>
          </a:prstGeom>
          <a:solidFill>
            <a:srgbClr val="FFFFFF"/>
          </a:solidFill>
          <a:ln w="9525">
            <a:solidFill>
              <a:srgbClr val="DCDEE1"/>
            </a:solidFill>
            <a:prstDash val="solid"/>
          </a:ln>
        </p:spPr>
      </p:sp>
      <p:pic>
        <p:nvPicPr>
          <p:cNvPr id="7" name="Image 0" descr="assets/still/nav-c.png">    </p:cNvPr>
          <p:cNvPicPr>
            <a:picLocks noChangeAspect="1"/>
          </p:cNvPicPr>
          <p:nvPr/>
        </p:nvPicPr>
        <p:blipFill>
          <a:blip r:embed="rId1"/>
          <a:stretch>
            <a:fillRect/>
          </a:stretch>
        </p:blipFill>
        <p:spPr>
          <a:xfrm>
            <a:off x="731520" y="1783080"/>
            <a:ext cx="6492240" cy="3435477"/>
          </a:xfrm>
          <a:prstGeom prst="rect">
            <a:avLst/>
          </a:prstGeom>
        </p:spPr>
      </p:pic>
      <p:sp>
        <p:nvSpPr>
          <p:cNvPr id="8" name="Text 5"/>
          <p:cNvSpPr txBox="1"/>
          <p:nvPr/>
        </p:nvSpPr>
        <p:spPr>
          <a:xfrm>
            <a:off x="7680960" y="1783080"/>
            <a:ext cx="3779215" cy="201168"/>
          </a:xfrm>
          <a:prstGeom prst="rect">
            <a:avLst/>
          </a:prstGeom>
          <a:noFill/>
          <a:ln/>
        </p:spPr>
        <p:txBody>
          <a:bodyPr wrap="square" lIns="0" tIns="0" rIns="0" bIns="0" rtlCol="0" anchor="ctr"/>
          <a:lstStyle/>
          <a:p>
            <a:pPr indent="0" marL="0">
              <a:buNone/>
            </a:pPr>
            <a:r>
              <a:rPr lang="en-US" sz="950" b="1" spc="100" kern="0" dirty="0">
                <a:solidFill>
                  <a:srgbClr val="003975"/>
                </a:solidFill>
                <a:latin typeface="Noto Sans" pitchFamily="34" charset="0"/>
                <a:ea typeface="Noto Sans" pitchFamily="34" charset="-122"/>
                <a:cs typeface="Noto Sans" pitchFamily="34" charset="-120"/>
              </a:rPr>
              <a:t>WHAT IT IS</a:t>
            </a:r>
            <a:endParaRPr lang="en-US" sz="950" dirty="0"/>
          </a:p>
        </p:txBody>
      </p:sp>
      <p:sp>
        <p:nvSpPr>
          <p:cNvPr id="9" name="Text 6"/>
          <p:cNvSpPr txBox="1"/>
          <p:nvPr/>
        </p:nvSpPr>
        <p:spPr>
          <a:xfrm>
            <a:off x="7680960" y="2057400"/>
            <a:ext cx="3779215" cy="630936"/>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A new Schemes entry in the top row holds the seven portals and the Department's helplines.</a:t>
            </a:r>
            <a:endParaRPr lang="en-US" sz="1200" dirty="0"/>
          </a:p>
        </p:txBody>
      </p:sp>
      <p:sp>
        <p:nvSpPr>
          <p:cNvPr id="10" name="Text 7"/>
          <p:cNvSpPr txBox="1"/>
          <p:nvPr/>
        </p:nvSpPr>
        <p:spPr>
          <a:xfrm>
            <a:off x="7680960" y="2889504"/>
            <a:ext cx="3779215" cy="201168"/>
          </a:xfrm>
          <a:prstGeom prst="rect">
            <a:avLst/>
          </a:prstGeom>
          <a:noFill/>
          <a:ln/>
        </p:spPr>
        <p:txBody>
          <a:bodyPr wrap="square" lIns="0" tIns="0" rIns="0" bIns="0" rtlCol="0" anchor="ctr"/>
          <a:lstStyle/>
          <a:p>
            <a:pPr indent="0" marL="0">
              <a:buNone/>
            </a:pPr>
            <a:r>
              <a:rPr lang="en-US" sz="950" b="1" spc="100" kern="0" dirty="0">
                <a:solidFill>
                  <a:srgbClr val="005EB9"/>
                </a:solidFill>
                <a:latin typeface="Noto Sans" pitchFamily="34" charset="0"/>
                <a:ea typeface="Noto Sans" pitchFamily="34" charset="-122"/>
                <a:cs typeface="Noto Sans" pitchFamily="34" charset="-120"/>
              </a:rPr>
              <a:t>HOW IT WORKS</a:t>
            </a:r>
            <a:endParaRPr lang="en-US" sz="950" dirty="0"/>
          </a:p>
        </p:txBody>
      </p:sp>
      <p:sp>
        <p:nvSpPr>
          <p:cNvPr id="11" name="Shape 8"/>
          <p:cNvSpPr/>
          <p:nvPr/>
        </p:nvSpPr>
        <p:spPr>
          <a:xfrm>
            <a:off x="7680960" y="3218688"/>
            <a:ext cx="54864" cy="54864"/>
          </a:xfrm>
          <a:prstGeom prst="rect">
            <a:avLst/>
          </a:prstGeom>
          <a:solidFill>
            <a:srgbClr val="005EB9"/>
          </a:solidFill>
          <a:ln w="12700">
            <a:solidFill>
              <a:srgbClr val="005EB9"/>
            </a:solidFill>
            <a:prstDash val="solid"/>
          </a:ln>
        </p:spPr>
      </p:sp>
      <p:sp>
        <p:nvSpPr>
          <p:cNvPr id="12" name="Text 9"/>
          <p:cNvSpPr txBox="1"/>
          <p:nvPr/>
        </p:nvSpPr>
        <p:spPr>
          <a:xfrm>
            <a:off x="7863840" y="3163824"/>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Schemes sits between Organisations and Offerings</a:t>
            </a:r>
            <a:endParaRPr lang="en-US" sz="1200" dirty="0"/>
          </a:p>
        </p:txBody>
      </p:sp>
      <p:sp>
        <p:nvSpPr>
          <p:cNvPr id="13" name="Shape 10"/>
          <p:cNvSpPr/>
          <p:nvPr/>
        </p:nvSpPr>
        <p:spPr>
          <a:xfrm>
            <a:off x="7680960" y="3712464"/>
            <a:ext cx="54864" cy="54864"/>
          </a:xfrm>
          <a:prstGeom prst="rect">
            <a:avLst/>
          </a:prstGeom>
          <a:solidFill>
            <a:srgbClr val="005EB9"/>
          </a:solidFill>
          <a:ln w="12700">
            <a:solidFill>
              <a:srgbClr val="005EB9"/>
            </a:solidFill>
            <a:prstDash val="solid"/>
          </a:ln>
        </p:spPr>
      </p:sp>
      <p:sp>
        <p:nvSpPr>
          <p:cNvPr id="14" name="Text 11"/>
          <p:cNvSpPr txBox="1"/>
          <p:nvPr/>
        </p:nvSpPr>
        <p:spPr>
          <a:xfrm>
            <a:off x="7863840" y="3657600"/>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Associated Organisations is shortened to Organisations to make room</a:t>
            </a:r>
            <a:endParaRPr lang="en-US" sz="1200" dirty="0"/>
          </a:p>
        </p:txBody>
      </p:sp>
      <p:sp>
        <p:nvSpPr>
          <p:cNvPr id="15" name="Shape 12"/>
          <p:cNvSpPr/>
          <p:nvPr/>
        </p:nvSpPr>
        <p:spPr>
          <a:xfrm>
            <a:off x="7680960" y="4206240"/>
            <a:ext cx="54864" cy="54864"/>
          </a:xfrm>
          <a:prstGeom prst="rect">
            <a:avLst/>
          </a:prstGeom>
          <a:solidFill>
            <a:srgbClr val="005EB9"/>
          </a:solidFill>
          <a:ln w="12700">
            <a:solidFill>
              <a:srgbClr val="005EB9"/>
            </a:solidFill>
            <a:prstDash val="solid"/>
          </a:ln>
        </p:spPr>
      </p:sp>
      <p:sp>
        <p:nvSpPr>
          <p:cNvPr id="16" name="Text 13"/>
          <p:cNvSpPr txBox="1"/>
          <p:nvPr/>
        </p:nvSpPr>
        <p:spPr>
          <a:xfrm>
            <a:off x="7863840" y="4151376"/>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A button under the portals opens the list of all schemes</a:t>
            </a:r>
            <a:endParaRPr lang="en-US" sz="1200" dirty="0"/>
          </a:p>
        </p:txBody>
      </p:sp>
      <p:sp>
        <p:nvSpPr>
          <p:cNvPr id="17" name="Text 14"/>
          <p:cNvSpPr txBox="1"/>
          <p:nvPr/>
        </p:nvSpPr>
        <p:spPr>
          <a:xfrm>
            <a:off x="7680960" y="4846320"/>
            <a:ext cx="3779215" cy="201168"/>
          </a:xfrm>
          <a:prstGeom prst="rect">
            <a:avLst/>
          </a:prstGeom>
          <a:noFill/>
          <a:ln/>
        </p:spPr>
        <p:txBody>
          <a:bodyPr wrap="square" lIns="0" tIns="0" rIns="0" bIns="0" rtlCol="0" anchor="ctr"/>
          <a:lstStyle/>
          <a:p>
            <a:pPr indent="0" marL="0">
              <a:buNone/>
            </a:pPr>
            <a:r>
              <a:rPr lang="en-US" sz="950" b="1" spc="100" kern="0" dirty="0">
                <a:solidFill>
                  <a:srgbClr val="005EB9"/>
                </a:solidFill>
                <a:latin typeface="Noto Sans" pitchFamily="34" charset="0"/>
                <a:ea typeface="Noto Sans" pitchFamily="34" charset="-122"/>
                <a:cs typeface="Noto Sans" pitchFamily="34" charset="-120"/>
              </a:rPr>
              <a:t>WHY IT HELPS</a:t>
            </a:r>
            <a:endParaRPr lang="en-US" sz="950" dirty="0"/>
          </a:p>
        </p:txBody>
      </p:sp>
      <p:sp>
        <p:nvSpPr>
          <p:cNvPr id="18" name="Shape 15"/>
          <p:cNvSpPr/>
          <p:nvPr/>
        </p:nvSpPr>
        <p:spPr>
          <a:xfrm>
            <a:off x="7680960" y="5175504"/>
            <a:ext cx="54864" cy="54864"/>
          </a:xfrm>
          <a:prstGeom prst="rect">
            <a:avLst/>
          </a:prstGeom>
          <a:solidFill>
            <a:srgbClr val="005EB9"/>
          </a:solidFill>
          <a:ln w="12700">
            <a:solidFill>
              <a:srgbClr val="005EB9"/>
            </a:solidFill>
            <a:prstDash val="solid"/>
          </a:ln>
        </p:spPr>
      </p:sp>
      <p:sp>
        <p:nvSpPr>
          <p:cNvPr id="19" name="Text 16"/>
          <p:cNvSpPr txBox="1"/>
          <p:nvPr/>
        </p:nvSpPr>
        <p:spPr>
          <a:xfrm>
            <a:off x="7863840" y="5120640"/>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The word Schemes can be seen without opening anything</a:t>
            </a:r>
            <a:endParaRPr lang="en-US" sz="1200" dirty="0"/>
          </a:p>
        </p:txBody>
      </p:sp>
      <p:sp>
        <p:nvSpPr>
          <p:cNvPr id="20" name="Shape 17"/>
          <p:cNvSpPr/>
          <p:nvPr/>
        </p:nvSpPr>
        <p:spPr>
          <a:xfrm>
            <a:off x="7680960" y="5669280"/>
            <a:ext cx="54864" cy="54864"/>
          </a:xfrm>
          <a:prstGeom prst="rect">
            <a:avLst/>
          </a:prstGeom>
          <a:solidFill>
            <a:srgbClr val="005EB9"/>
          </a:solidFill>
          <a:ln w="12700">
            <a:solidFill>
              <a:srgbClr val="005EB9"/>
            </a:solidFill>
            <a:prstDash val="solid"/>
          </a:ln>
        </p:spPr>
      </p:sp>
      <p:sp>
        <p:nvSpPr>
          <p:cNvPr id="21" name="Text 18"/>
          <p:cNvSpPr txBox="1"/>
          <p:nvPr/>
        </p:nvSpPr>
        <p:spPr>
          <a:xfrm>
            <a:off x="7863840" y="5614416"/>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Helplines are listed beside the portals they support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38912"/>
            <a:ext cx="10728655" cy="219456"/>
          </a:xfrm>
          <a:prstGeom prst="rect">
            <a:avLst/>
          </a:prstGeom>
          <a:noFill/>
          <a:ln/>
        </p:spPr>
        <p:txBody>
          <a:bodyPr wrap="square" lIns="0" tIns="0" rIns="0" bIns="0" rtlCol="0" anchor="ctr"/>
          <a:lstStyle/>
          <a:p>
            <a:pPr indent="0" marL="0">
              <a:buNone/>
            </a:pPr>
            <a:r>
              <a:rPr lang="en-US" sz="950" b="1" spc="100" kern="0" dirty="0">
                <a:solidFill>
                  <a:srgbClr val="54585E"/>
                </a:solidFill>
                <a:latin typeface="Noto Sans" pitchFamily="34" charset="0"/>
                <a:ea typeface="Noto Sans" pitchFamily="34" charset="-122"/>
                <a:cs typeface="Noto Sans" pitchFamily="34" charset="-120"/>
              </a:rPr>
              <a:t>THE SCHEMES PAGE</a:t>
            </a:r>
            <a:endParaRPr lang="en-US" sz="950" dirty="0"/>
          </a:p>
        </p:txBody>
      </p:sp>
      <p:sp>
        <p:nvSpPr>
          <p:cNvPr id="3" name="Text 1"/>
          <p:cNvSpPr txBox="1"/>
          <p:nvPr/>
        </p:nvSpPr>
        <p:spPr>
          <a:xfrm>
            <a:off x="731520" y="694944"/>
            <a:ext cx="10728655" cy="512064"/>
          </a:xfrm>
          <a:prstGeom prst="rect">
            <a:avLst/>
          </a:prstGeom>
          <a:noFill/>
          <a:ln/>
        </p:spPr>
        <p:txBody>
          <a:bodyPr wrap="square" lIns="0" tIns="0" rIns="0" bIns="0" rtlCol="0" anchor="ctr"/>
          <a:lstStyle/>
          <a:p>
            <a:pPr indent="0" marL="0">
              <a:buNone/>
            </a:pPr>
            <a:r>
              <a:rPr lang="en-US" sz="3000" b="1" dirty="0">
                <a:solidFill>
                  <a:srgbClr val="003975"/>
                </a:solidFill>
                <a:latin typeface="Noto Sans" pitchFamily="34" charset="0"/>
                <a:ea typeface="Noto Sans" pitchFamily="34" charset="-122"/>
                <a:cs typeface="Noto Sans" pitchFamily="34" charset="-120"/>
              </a:rPr>
              <a:t>Three Options</a:t>
            </a:r>
            <a:endParaRPr lang="en-US" sz="3000" dirty="0"/>
          </a:p>
        </p:txBody>
      </p:sp>
      <p:sp>
        <p:nvSpPr>
          <p:cNvPr id="4" name="Text 2"/>
          <p:cNvSpPr txBox="1"/>
          <p:nvPr/>
        </p:nvSpPr>
        <p:spPr>
          <a:xfrm>
            <a:off x="731520" y="1243584"/>
            <a:ext cx="9655790" cy="310896"/>
          </a:xfrm>
          <a:prstGeom prst="rect">
            <a:avLst/>
          </a:prstGeom>
          <a:noFill/>
          <a:ln/>
        </p:spPr>
        <p:txBody>
          <a:bodyPr wrap="square" lIns="0" tIns="0" rIns="0" bIns="0" rtlCol="0" anchor="ctr"/>
          <a:lstStyle/>
          <a:p>
            <a:pPr indent="0" marL="0">
              <a:buNone/>
            </a:pPr>
            <a:r>
              <a:rPr lang="en-US" sz="1400" dirty="0">
                <a:solidFill>
                  <a:srgbClr val="3A3D41"/>
                </a:solidFill>
                <a:latin typeface="Noto Sans" pitchFamily="34" charset="0"/>
                <a:ea typeface="Noto Sans" pitchFamily="34" charset="-122"/>
                <a:cs typeface="Noto Sans" pitchFamily="34" charset="-120"/>
              </a:rPr>
              <a:t>Where a person lands from the home page, and where officers and voluntary organisations work.</a:t>
            </a:r>
            <a:endParaRPr lang="en-US" sz="1400" dirty="0"/>
          </a:p>
        </p:txBody>
      </p:sp>
      <p:sp>
        <p:nvSpPr>
          <p:cNvPr id="5" name="Text 3"/>
          <p:cNvSpPr txBox="1"/>
          <p:nvPr/>
        </p:nvSpPr>
        <p:spPr>
          <a:xfrm>
            <a:off x="731520" y="1737360"/>
            <a:ext cx="502920" cy="457200"/>
          </a:xfrm>
          <a:prstGeom prst="rect">
            <a:avLst/>
          </a:prstGeom>
          <a:noFill/>
          <a:ln/>
        </p:spPr>
        <p:txBody>
          <a:bodyPr wrap="square" lIns="0" tIns="0" rIns="0" bIns="0" rtlCol="0" anchor="ctr"/>
          <a:lstStyle/>
          <a:p>
            <a:pPr indent="0" marL="0">
              <a:buNone/>
            </a:pPr>
            <a:r>
              <a:rPr lang="en-US" sz="2800" b="1" dirty="0">
                <a:solidFill>
                  <a:srgbClr val="005EB9"/>
                </a:solidFill>
                <a:latin typeface="Noto Sans" pitchFamily="34" charset="0"/>
                <a:ea typeface="Noto Sans" pitchFamily="34" charset="-122"/>
                <a:cs typeface="Noto Sans" pitchFamily="34" charset="-120"/>
              </a:rPr>
              <a:t>A</a:t>
            </a:r>
            <a:endParaRPr lang="en-US" sz="2800" dirty="0"/>
          </a:p>
        </p:txBody>
      </p:sp>
      <p:sp>
        <p:nvSpPr>
          <p:cNvPr id="6" name="Text 4"/>
          <p:cNvSpPr txBox="1"/>
          <p:nvPr/>
        </p:nvSpPr>
        <p:spPr>
          <a:xfrm>
            <a:off x="1234440" y="1810512"/>
            <a:ext cx="2890418" cy="365760"/>
          </a:xfrm>
          <a:prstGeom prst="rect">
            <a:avLst/>
          </a:prstGeom>
          <a:noFill/>
          <a:ln/>
        </p:spPr>
        <p:txBody>
          <a:bodyPr wrap="square" lIns="0" tIns="0" rIns="0" bIns="0" rtlCol="0" anchor="ctr"/>
          <a:lstStyle/>
          <a:p>
            <a:pPr indent="0" marL="0">
              <a:buNone/>
            </a:pPr>
            <a:r>
              <a:rPr lang="en-US" sz="1400" b="1" dirty="0">
                <a:solidFill>
                  <a:srgbClr val="003975"/>
                </a:solidFill>
                <a:latin typeface="Noto Sans" pitchFamily="34" charset="0"/>
                <a:ea typeface="Noto Sans" pitchFamily="34" charset="-122"/>
                <a:cs typeface="Noto Sans" pitchFamily="34" charset="-120"/>
              </a:rPr>
              <a:t>Pictures of the Groups, with Cards</a:t>
            </a:r>
            <a:endParaRPr lang="en-US" sz="1400" dirty="0"/>
          </a:p>
        </p:txBody>
      </p:sp>
      <p:sp>
        <p:nvSpPr>
          <p:cNvPr id="7" name="Shape 5"/>
          <p:cNvSpPr/>
          <p:nvPr/>
        </p:nvSpPr>
        <p:spPr>
          <a:xfrm>
            <a:off x="704088" y="2276856"/>
            <a:ext cx="3448202" cy="2175701"/>
          </a:xfrm>
          <a:prstGeom prst="rect">
            <a:avLst/>
          </a:prstGeom>
          <a:solidFill>
            <a:srgbClr val="FFFFFF"/>
          </a:solidFill>
          <a:ln w="9525">
            <a:solidFill>
              <a:srgbClr val="DCDEE1"/>
            </a:solidFill>
            <a:prstDash val="solid"/>
          </a:ln>
        </p:spPr>
      </p:sp>
      <p:pic>
        <p:nvPicPr>
          <p:cNvPr id="8" name="Image 0" descr="assets/still/scheme-a.png">    </p:cNvPr>
          <p:cNvPicPr>
            <a:picLocks noChangeAspect="1"/>
          </p:cNvPicPr>
          <p:nvPr/>
        </p:nvPicPr>
        <p:blipFill>
          <a:blip r:embed="rId1"/>
          <a:stretch>
            <a:fillRect/>
          </a:stretch>
        </p:blipFill>
        <p:spPr>
          <a:xfrm>
            <a:off x="731520" y="2304288"/>
            <a:ext cx="3393338" cy="2120837"/>
          </a:xfrm>
          <a:prstGeom prst="rect">
            <a:avLst/>
          </a:prstGeom>
        </p:spPr>
      </p:pic>
      <p:sp>
        <p:nvSpPr>
          <p:cNvPr id="9" name="Shape 6"/>
          <p:cNvSpPr/>
          <p:nvPr/>
        </p:nvSpPr>
        <p:spPr>
          <a:xfrm>
            <a:off x="731520" y="4571429"/>
            <a:ext cx="859536" cy="246888"/>
          </a:xfrm>
          <a:prstGeom prst="roundRect">
            <a:avLst>
              <a:gd name="adj" fmla="val 50000"/>
            </a:avLst>
          </a:prstGeom>
          <a:solidFill>
            <a:srgbClr val="EEF0F3"/>
          </a:solidFill>
          <a:ln w="12700">
            <a:solidFill>
              <a:srgbClr val="EEF0F3"/>
            </a:solidFill>
            <a:prstDash val="solid"/>
          </a:ln>
        </p:spPr>
      </p:sp>
      <p:sp>
        <p:nvSpPr>
          <p:cNvPr id="10" name="Text 7"/>
          <p:cNvSpPr txBox="1"/>
          <p:nvPr/>
        </p:nvSpPr>
        <p:spPr>
          <a:xfrm>
            <a:off x="731520" y="4571429"/>
            <a:ext cx="859536" cy="246888"/>
          </a:xfrm>
          <a:prstGeom prst="rect">
            <a:avLst/>
          </a:prstGeom>
          <a:noFill/>
          <a:ln/>
        </p:spPr>
        <p:txBody>
          <a:bodyPr wrap="square" lIns="0" tIns="0" rIns="0" bIns="0" rtlCol="0" anchor="ctr"/>
          <a:lstStyle/>
          <a:p>
            <a:pPr algn="ctr" indent="0" marL="0">
              <a:buNone/>
            </a:pPr>
            <a:r>
              <a:rPr lang="en-US" sz="850" b="1" spc="50" kern="0" dirty="0">
                <a:solidFill>
                  <a:srgbClr val="54585E"/>
                </a:solidFill>
                <a:latin typeface="Noto Sans" pitchFamily="34" charset="0"/>
                <a:ea typeface="Noto Sans" pitchFamily="34" charset="-122"/>
                <a:cs typeface="Noto Sans" pitchFamily="34" charset="-120"/>
              </a:rPr>
              <a:t>OPTION A</a:t>
            </a:r>
            <a:endParaRPr lang="en-US" sz="850" dirty="0"/>
          </a:p>
        </p:txBody>
      </p:sp>
      <p:sp>
        <p:nvSpPr>
          <p:cNvPr id="11" name="Text 8"/>
          <p:cNvSpPr txBox="1"/>
          <p:nvPr/>
        </p:nvSpPr>
        <p:spPr>
          <a:xfrm>
            <a:off x="731520" y="4918901"/>
            <a:ext cx="3393338" cy="640080"/>
          </a:xfrm>
          <a:prstGeom prst="rect">
            <a:avLst/>
          </a:prstGeom>
          <a:noFill/>
          <a:ln/>
        </p:spPr>
        <p:txBody>
          <a:bodyPr wrap="square" lIns="0" tIns="0" rIns="0" bIns="0" rtlCol="0" anchor="ctr"/>
          <a:lstStyle/>
          <a:p>
            <a:pPr indent="0" marL="0">
              <a:lnSpc>
                <a:spcPct val="120000"/>
              </a:lnSpc>
              <a:buNone/>
            </a:pPr>
            <a:r>
              <a:rPr lang="en-US" sz="1200" dirty="0">
                <a:solidFill>
                  <a:srgbClr val="1E2124"/>
                </a:solidFill>
                <a:latin typeface="Noto Sans" pitchFamily="34" charset="0"/>
                <a:ea typeface="Noto Sans" pitchFamily="34" charset="-122"/>
                <a:cs typeface="Noto Sans" pitchFamily="34" charset="-120"/>
              </a:rPr>
              <a:t>A picture for every group in one row, then cards. For browsing.</a:t>
            </a:r>
            <a:endParaRPr lang="en-US" sz="1200" dirty="0"/>
          </a:p>
        </p:txBody>
      </p:sp>
      <p:sp>
        <p:nvSpPr>
          <p:cNvPr id="12" name="Text 9"/>
          <p:cNvSpPr txBox="1"/>
          <p:nvPr/>
        </p:nvSpPr>
        <p:spPr>
          <a:xfrm>
            <a:off x="4399178" y="1737360"/>
            <a:ext cx="502920" cy="457200"/>
          </a:xfrm>
          <a:prstGeom prst="rect">
            <a:avLst/>
          </a:prstGeom>
          <a:noFill/>
          <a:ln/>
        </p:spPr>
        <p:txBody>
          <a:bodyPr wrap="square" lIns="0" tIns="0" rIns="0" bIns="0" rtlCol="0" anchor="ctr"/>
          <a:lstStyle/>
          <a:p>
            <a:pPr indent="0" marL="0">
              <a:buNone/>
            </a:pPr>
            <a:r>
              <a:rPr lang="en-US" sz="2800" b="1" dirty="0">
                <a:solidFill>
                  <a:srgbClr val="005EB9"/>
                </a:solidFill>
                <a:latin typeface="Noto Sans" pitchFamily="34" charset="0"/>
                <a:ea typeface="Noto Sans" pitchFamily="34" charset="-122"/>
                <a:cs typeface="Noto Sans" pitchFamily="34" charset="-120"/>
              </a:rPr>
              <a:t>B</a:t>
            </a:r>
            <a:endParaRPr lang="en-US" sz="2800" dirty="0"/>
          </a:p>
        </p:txBody>
      </p:sp>
      <p:sp>
        <p:nvSpPr>
          <p:cNvPr id="13" name="Text 10"/>
          <p:cNvSpPr txBox="1"/>
          <p:nvPr/>
        </p:nvSpPr>
        <p:spPr>
          <a:xfrm>
            <a:off x="4902098" y="1810512"/>
            <a:ext cx="2890418" cy="365760"/>
          </a:xfrm>
          <a:prstGeom prst="rect">
            <a:avLst/>
          </a:prstGeom>
          <a:noFill/>
          <a:ln/>
        </p:spPr>
        <p:txBody>
          <a:bodyPr wrap="square" lIns="0" tIns="0" rIns="0" bIns="0" rtlCol="0" anchor="ctr"/>
          <a:lstStyle/>
          <a:p>
            <a:pPr indent="0" marL="0">
              <a:buNone/>
            </a:pPr>
            <a:r>
              <a:rPr lang="en-US" sz="1400" b="1" dirty="0">
                <a:solidFill>
                  <a:srgbClr val="003975"/>
                </a:solidFill>
                <a:latin typeface="Noto Sans" pitchFamily="34" charset="0"/>
                <a:ea typeface="Noto Sans" pitchFamily="34" charset="-122"/>
                <a:cs typeface="Noto Sans" pitchFamily="34" charset="-120"/>
              </a:rPr>
              <a:t>Filter Panel with a Table</a:t>
            </a:r>
            <a:endParaRPr lang="en-US" sz="1400" dirty="0"/>
          </a:p>
        </p:txBody>
      </p:sp>
      <p:sp>
        <p:nvSpPr>
          <p:cNvPr id="14" name="Shape 11"/>
          <p:cNvSpPr/>
          <p:nvPr/>
        </p:nvSpPr>
        <p:spPr>
          <a:xfrm>
            <a:off x="4371746" y="2276856"/>
            <a:ext cx="3448202" cy="2175701"/>
          </a:xfrm>
          <a:prstGeom prst="rect">
            <a:avLst/>
          </a:prstGeom>
          <a:solidFill>
            <a:srgbClr val="FFFFFF"/>
          </a:solidFill>
          <a:ln w="9525">
            <a:solidFill>
              <a:srgbClr val="DCDEE1"/>
            </a:solidFill>
            <a:prstDash val="solid"/>
          </a:ln>
        </p:spPr>
      </p:sp>
      <p:pic>
        <p:nvPicPr>
          <p:cNvPr id="15" name="Image 1" descr="assets/still/scheme-b.png">    </p:cNvPr>
          <p:cNvPicPr>
            <a:picLocks noChangeAspect="1"/>
          </p:cNvPicPr>
          <p:nvPr/>
        </p:nvPicPr>
        <p:blipFill>
          <a:blip r:embed="rId2"/>
          <a:stretch>
            <a:fillRect/>
          </a:stretch>
        </p:blipFill>
        <p:spPr>
          <a:xfrm>
            <a:off x="4399178" y="2304288"/>
            <a:ext cx="3393338" cy="2120837"/>
          </a:xfrm>
          <a:prstGeom prst="rect">
            <a:avLst/>
          </a:prstGeom>
        </p:spPr>
      </p:pic>
      <p:sp>
        <p:nvSpPr>
          <p:cNvPr id="16" name="Shape 12"/>
          <p:cNvSpPr/>
          <p:nvPr/>
        </p:nvSpPr>
        <p:spPr>
          <a:xfrm>
            <a:off x="4399178" y="4571429"/>
            <a:ext cx="859536" cy="246888"/>
          </a:xfrm>
          <a:prstGeom prst="roundRect">
            <a:avLst>
              <a:gd name="adj" fmla="val 50000"/>
            </a:avLst>
          </a:prstGeom>
          <a:solidFill>
            <a:srgbClr val="EEF0F3"/>
          </a:solidFill>
          <a:ln w="12700">
            <a:solidFill>
              <a:srgbClr val="EEF0F3"/>
            </a:solidFill>
            <a:prstDash val="solid"/>
          </a:ln>
        </p:spPr>
      </p:sp>
      <p:sp>
        <p:nvSpPr>
          <p:cNvPr id="17" name="Text 13"/>
          <p:cNvSpPr txBox="1"/>
          <p:nvPr/>
        </p:nvSpPr>
        <p:spPr>
          <a:xfrm>
            <a:off x="4399178" y="4571429"/>
            <a:ext cx="859536" cy="246888"/>
          </a:xfrm>
          <a:prstGeom prst="rect">
            <a:avLst/>
          </a:prstGeom>
          <a:noFill/>
          <a:ln/>
        </p:spPr>
        <p:txBody>
          <a:bodyPr wrap="square" lIns="0" tIns="0" rIns="0" bIns="0" rtlCol="0" anchor="ctr"/>
          <a:lstStyle/>
          <a:p>
            <a:pPr algn="ctr" indent="0" marL="0">
              <a:buNone/>
            </a:pPr>
            <a:r>
              <a:rPr lang="en-US" sz="850" b="1" spc="50" kern="0" dirty="0">
                <a:solidFill>
                  <a:srgbClr val="54585E"/>
                </a:solidFill>
                <a:latin typeface="Noto Sans" pitchFamily="34" charset="0"/>
                <a:ea typeface="Noto Sans" pitchFamily="34" charset="-122"/>
                <a:cs typeface="Noto Sans" pitchFamily="34" charset="-120"/>
              </a:rPr>
              <a:t>OPTION B</a:t>
            </a:r>
            <a:endParaRPr lang="en-US" sz="850" dirty="0"/>
          </a:p>
        </p:txBody>
      </p:sp>
      <p:sp>
        <p:nvSpPr>
          <p:cNvPr id="18" name="Text 14"/>
          <p:cNvSpPr txBox="1"/>
          <p:nvPr/>
        </p:nvSpPr>
        <p:spPr>
          <a:xfrm>
            <a:off x="4399178" y="4918901"/>
            <a:ext cx="3393338" cy="640080"/>
          </a:xfrm>
          <a:prstGeom prst="rect">
            <a:avLst/>
          </a:prstGeom>
          <a:noFill/>
          <a:ln/>
        </p:spPr>
        <p:txBody>
          <a:bodyPr wrap="square" lIns="0" tIns="0" rIns="0" bIns="0" rtlCol="0" anchor="ctr"/>
          <a:lstStyle/>
          <a:p>
            <a:pPr indent="0" marL="0">
              <a:lnSpc>
                <a:spcPct val="120000"/>
              </a:lnSpc>
              <a:buNone/>
            </a:pPr>
            <a:r>
              <a:rPr lang="en-US" sz="1200" dirty="0">
                <a:solidFill>
                  <a:srgbClr val="1E2124"/>
                </a:solidFill>
                <a:latin typeface="Noto Sans" pitchFamily="34" charset="0"/>
                <a:ea typeface="Noto Sans" pitchFamily="34" charset="-122"/>
                <a:cs typeface="Noto Sans" pitchFamily="34" charset="-120"/>
              </a:rPr>
              <a:t>Tick one or more groups on the left; the table says who each scheme is for. For comparing.</a:t>
            </a:r>
            <a:endParaRPr lang="en-US" sz="1200" dirty="0"/>
          </a:p>
        </p:txBody>
      </p:sp>
      <p:sp>
        <p:nvSpPr>
          <p:cNvPr id="19" name="Text 15"/>
          <p:cNvSpPr txBox="1"/>
          <p:nvPr/>
        </p:nvSpPr>
        <p:spPr>
          <a:xfrm>
            <a:off x="8066837" y="1737360"/>
            <a:ext cx="502920" cy="457200"/>
          </a:xfrm>
          <a:prstGeom prst="rect">
            <a:avLst/>
          </a:prstGeom>
          <a:noFill/>
          <a:ln/>
        </p:spPr>
        <p:txBody>
          <a:bodyPr wrap="square" lIns="0" tIns="0" rIns="0" bIns="0" rtlCol="0" anchor="ctr"/>
          <a:lstStyle/>
          <a:p>
            <a:pPr indent="0" marL="0">
              <a:buNone/>
            </a:pPr>
            <a:r>
              <a:rPr lang="en-US" sz="2800" b="1" dirty="0">
                <a:solidFill>
                  <a:srgbClr val="005EB9"/>
                </a:solidFill>
                <a:latin typeface="Noto Sans" pitchFamily="34" charset="0"/>
                <a:ea typeface="Noto Sans" pitchFamily="34" charset="-122"/>
                <a:cs typeface="Noto Sans" pitchFamily="34" charset="-120"/>
              </a:rPr>
              <a:t>C</a:t>
            </a:r>
            <a:endParaRPr lang="en-US" sz="2800" dirty="0"/>
          </a:p>
        </p:txBody>
      </p:sp>
      <p:sp>
        <p:nvSpPr>
          <p:cNvPr id="20" name="Text 16"/>
          <p:cNvSpPr txBox="1"/>
          <p:nvPr/>
        </p:nvSpPr>
        <p:spPr>
          <a:xfrm>
            <a:off x="8569757" y="1810512"/>
            <a:ext cx="2890418" cy="365760"/>
          </a:xfrm>
          <a:prstGeom prst="rect">
            <a:avLst/>
          </a:prstGeom>
          <a:noFill/>
          <a:ln/>
        </p:spPr>
        <p:txBody>
          <a:bodyPr wrap="square" lIns="0" tIns="0" rIns="0" bIns="0" rtlCol="0" anchor="ctr"/>
          <a:lstStyle/>
          <a:p>
            <a:pPr indent="0" marL="0">
              <a:buNone/>
            </a:pPr>
            <a:r>
              <a:rPr lang="en-US" sz="1400" b="1" dirty="0">
                <a:solidFill>
                  <a:srgbClr val="003975"/>
                </a:solidFill>
                <a:latin typeface="Noto Sans" pitchFamily="34" charset="0"/>
                <a:ea typeface="Noto Sans" pitchFamily="34" charset="-122"/>
                <a:cs typeface="Noto Sans" pitchFamily="34" charset="-120"/>
              </a:rPr>
              <a:t>Filter Panel with Headings</a:t>
            </a:r>
            <a:endParaRPr lang="en-US" sz="1400" dirty="0"/>
          </a:p>
        </p:txBody>
      </p:sp>
      <p:sp>
        <p:nvSpPr>
          <p:cNvPr id="21" name="Shape 17"/>
          <p:cNvSpPr/>
          <p:nvPr/>
        </p:nvSpPr>
        <p:spPr>
          <a:xfrm>
            <a:off x="8039405" y="2276856"/>
            <a:ext cx="3448202" cy="2175701"/>
          </a:xfrm>
          <a:prstGeom prst="rect">
            <a:avLst/>
          </a:prstGeom>
          <a:solidFill>
            <a:srgbClr val="FFFFFF"/>
          </a:solidFill>
          <a:ln w="9525">
            <a:solidFill>
              <a:srgbClr val="DCDEE1"/>
            </a:solidFill>
            <a:prstDash val="solid"/>
          </a:ln>
        </p:spPr>
      </p:sp>
      <p:pic>
        <p:nvPicPr>
          <p:cNvPr id="22" name="Image 2" descr="assets/still/scheme-c.png">    </p:cNvPr>
          <p:cNvPicPr>
            <a:picLocks noChangeAspect="1"/>
          </p:cNvPicPr>
          <p:nvPr/>
        </p:nvPicPr>
        <p:blipFill>
          <a:blip r:embed="rId3"/>
          <a:stretch>
            <a:fillRect/>
          </a:stretch>
        </p:blipFill>
        <p:spPr>
          <a:xfrm>
            <a:off x="8066837" y="2304288"/>
            <a:ext cx="3393338" cy="2120837"/>
          </a:xfrm>
          <a:prstGeom prst="rect">
            <a:avLst/>
          </a:prstGeom>
        </p:spPr>
      </p:pic>
      <p:sp>
        <p:nvSpPr>
          <p:cNvPr id="23" name="Shape 18"/>
          <p:cNvSpPr/>
          <p:nvPr/>
        </p:nvSpPr>
        <p:spPr>
          <a:xfrm>
            <a:off x="8066837" y="4571429"/>
            <a:ext cx="859536" cy="246888"/>
          </a:xfrm>
          <a:prstGeom prst="roundRect">
            <a:avLst>
              <a:gd name="adj" fmla="val 50000"/>
            </a:avLst>
          </a:prstGeom>
          <a:solidFill>
            <a:srgbClr val="EEF0F3"/>
          </a:solidFill>
          <a:ln w="12700">
            <a:solidFill>
              <a:srgbClr val="EEF0F3"/>
            </a:solidFill>
            <a:prstDash val="solid"/>
          </a:ln>
        </p:spPr>
      </p:sp>
      <p:sp>
        <p:nvSpPr>
          <p:cNvPr id="24" name="Text 19"/>
          <p:cNvSpPr txBox="1"/>
          <p:nvPr/>
        </p:nvSpPr>
        <p:spPr>
          <a:xfrm>
            <a:off x="8066837" y="4571429"/>
            <a:ext cx="859536" cy="246888"/>
          </a:xfrm>
          <a:prstGeom prst="rect">
            <a:avLst/>
          </a:prstGeom>
          <a:noFill/>
          <a:ln/>
        </p:spPr>
        <p:txBody>
          <a:bodyPr wrap="square" lIns="0" tIns="0" rIns="0" bIns="0" rtlCol="0" anchor="ctr"/>
          <a:lstStyle/>
          <a:p>
            <a:pPr algn="ctr" indent="0" marL="0">
              <a:buNone/>
            </a:pPr>
            <a:r>
              <a:rPr lang="en-US" sz="850" b="1" spc="50" kern="0" dirty="0">
                <a:solidFill>
                  <a:srgbClr val="54585E"/>
                </a:solidFill>
                <a:latin typeface="Noto Sans" pitchFamily="34" charset="0"/>
                <a:ea typeface="Noto Sans" pitchFamily="34" charset="-122"/>
                <a:cs typeface="Noto Sans" pitchFamily="34" charset="-120"/>
              </a:rPr>
              <a:t>OPTION C</a:t>
            </a:r>
            <a:endParaRPr lang="en-US" sz="850" dirty="0"/>
          </a:p>
        </p:txBody>
      </p:sp>
      <p:sp>
        <p:nvSpPr>
          <p:cNvPr id="25" name="Text 20"/>
          <p:cNvSpPr txBox="1"/>
          <p:nvPr/>
        </p:nvSpPr>
        <p:spPr>
          <a:xfrm>
            <a:off x="8066837" y="4918901"/>
            <a:ext cx="3393338" cy="640080"/>
          </a:xfrm>
          <a:prstGeom prst="rect">
            <a:avLst/>
          </a:prstGeom>
          <a:noFill/>
          <a:ln/>
        </p:spPr>
        <p:txBody>
          <a:bodyPr wrap="square" lIns="0" tIns="0" rIns="0" bIns="0" rtlCol="0" anchor="ctr"/>
          <a:lstStyle/>
          <a:p>
            <a:pPr indent="0" marL="0">
              <a:lnSpc>
                <a:spcPct val="120000"/>
              </a:lnSpc>
              <a:buNone/>
            </a:pPr>
            <a:r>
              <a:rPr lang="en-US" sz="1200" dirty="0">
                <a:solidFill>
                  <a:srgbClr val="1E2124"/>
                </a:solidFill>
                <a:latin typeface="Noto Sans" pitchFamily="34" charset="0"/>
                <a:ea typeface="Noto Sans" pitchFamily="34" charset="-122"/>
                <a:cs typeface="Noto Sans" pitchFamily="34" charset="-120"/>
              </a:rPr>
              <a:t>Filters on the left; schemes grouped under the kind of support they give.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38912"/>
            <a:ext cx="10728655" cy="219456"/>
          </a:xfrm>
          <a:prstGeom prst="rect">
            <a:avLst/>
          </a:prstGeom>
          <a:noFill/>
          <a:ln/>
        </p:spPr>
        <p:txBody>
          <a:bodyPr wrap="square" lIns="0" tIns="0" rIns="0" bIns="0" rtlCol="0" anchor="ctr"/>
          <a:lstStyle/>
          <a:p>
            <a:pPr indent="0" marL="0">
              <a:buNone/>
            </a:pPr>
            <a:r>
              <a:rPr lang="en-US" sz="950" b="1" spc="100" kern="0" dirty="0">
                <a:solidFill>
                  <a:srgbClr val="54585E"/>
                </a:solidFill>
                <a:latin typeface="Noto Sans" pitchFamily="34" charset="0"/>
                <a:ea typeface="Noto Sans" pitchFamily="34" charset="-122"/>
                <a:cs typeface="Noto Sans" pitchFamily="34" charset="-120"/>
              </a:rPr>
              <a:t>PICTURES OF THE GROUPS, WITH CARDS</a:t>
            </a:r>
            <a:endParaRPr lang="en-US" sz="950" dirty="0"/>
          </a:p>
        </p:txBody>
      </p:sp>
      <p:sp>
        <p:nvSpPr>
          <p:cNvPr id="3" name="Text 1"/>
          <p:cNvSpPr txBox="1"/>
          <p:nvPr/>
        </p:nvSpPr>
        <p:spPr>
          <a:xfrm>
            <a:off x="731520" y="694944"/>
            <a:ext cx="8351215" cy="512064"/>
          </a:xfrm>
          <a:prstGeom prst="rect">
            <a:avLst/>
          </a:prstGeom>
          <a:noFill/>
          <a:ln/>
        </p:spPr>
        <p:txBody>
          <a:bodyPr wrap="square" lIns="0" tIns="0" rIns="0" bIns="0" rtlCol="0" anchor="ctr"/>
          <a:lstStyle/>
          <a:p>
            <a:pPr indent="0" marL="0">
              <a:buNone/>
            </a:pPr>
            <a:r>
              <a:rPr lang="en-US" sz="3000" b="1" dirty="0">
                <a:solidFill>
                  <a:srgbClr val="003975"/>
                </a:solidFill>
                <a:latin typeface="Noto Sans" pitchFamily="34" charset="0"/>
                <a:ea typeface="Noto Sans" pitchFamily="34" charset="-122"/>
                <a:cs typeface="Noto Sans" pitchFamily="34" charset="-120"/>
              </a:rPr>
              <a:t>The Schemes Page · Option A of 3</a:t>
            </a:r>
            <a:endParaRPr lang="en-US" sz="3000" dirty="0"/>
          </a:p>
        </p:txBody>
      </p:sp>
      <p:sp>
        <p:nvSpPr>
          <p:cNvPr id="4" name="Shape 2"/>
          <p:cNvSpPr/>
          <p:nvPr/>
        </p:nvSpPr>
        <p:spPr>
          <a:xfrm>
            <a:off x="731520" y="1298448"/>
            <a:ext cx="1065276" cy="246888"/>
          </a:xfrm>
          <a:prstGeom prst="roundRect">
            <a:avLst>
              <a:gd name="adj" fmla="val 50000"/>
            </a:avLst>
          </a:prstGeom>
          <a:solidFill>
            <a:srgbClr val="ECF4FF"/>
          </a:solidFill>
          <a:ln w="12700">
            <a:solidFill>
              <a:srgbClr val="ECF4FF"/>
            </a:solidFill>
            <a:prstDash val="solid"/>
          </a:ln>
        </p:spPr>
      </p:sp>
      <p:sp>
        <p:nvSpPr>
          <p:cNvPr id="5" name="Text 3"/>
          <p:cNvSpPr txBox="1"/>
          <p:nvPr/>
        </p:nvSpPr>
        <p:spPr>
          <a:xfrm>
            <a:off x="731520" y="1298448"/>
            <a:ext cx="1065276" cy="246888"/>
          </a:xfrm>
          <a:prstGeom prst="rect">
            <a:avLst/>
          </a:prstGeom>
          <a:noFill/>
          <a:ln/>
        </p:spPr>
        <p:txBody>
          <a:bodyPr wrap="square" lIns="0" tIns="0" rIns="0" bIns="0" rtlCol="0" anchor="ctr"/>
          <a:lstStyle/>
          <a:p>
            <a:pPr algn="ctr" indent="0" marL="0">
              <a:buNone/>
            </a:pPr>
            <a:r>
              <a:rPr lang="en-US" sz="850" b="1" spc="50" kern="0" dirty="0">
                <a:solidFill>
                  <a:srgbClr val="005EB9"/>
                </a:solidFill>
                <a:latin typeface="Noto Sans" pitchFamily="34" charset="0"/>
                <a:ea typeface="Noto Sans" pitchFamily="34" charset="-122"/>
                <a:cs typeface="Noto Sans" pitchFamily="34" charset="-120"/>
              </a:rPr>
              <a:t>TO BE BUILT</a:t>
            </a:r>
            <a:endParaRPr lang="en-US" sz="850" dirty="0"/>
          </a:p>
        </p:txBody>
      </p:sp>
      <p:sp>
        <p:nvSpPr>
          <p:cNvPr id="6" name="Shape 4"/>
          <p:cNvSpPr/>
          <p:nvPr/>
        </p:nvSpPr>
        <p:spPr>
          <a:xfrm>
            <a:off x="704088" y="1755648"/>
            <a:ext cx="6547104" cy="4112514"/>
          </a:xfrm>
          <a:prstGeom prst="rect">
            <a:avLst/>
          </a:prstGeom>
          <a:solidFill>
            <a:srgbClr val="FFFFFF"/>
          </a:solidFill>
          <a:ln w="9525">
            <a:solidFill>
              <a:srgbClr val="DCDEE1"/>
            </a:solidFill>
            <a:prstDash val="solid"/>
          </a:ln>
        </p:spPr>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31520" y="1783080"/>
            <a:ext cx="6492240" cy="4057650"/>
          </a:xfrm>
          <a:prstGeom prst="rect">
            <a:avLst/>
          </a:prstGeom>
        </p:spPr>
      </p:pic>
      <p:sp>
        <p:nvSpPr>
          <p:cNvPr id="8" name="Text 5"/>
          <p:cNvSpPr txBox="1"/>
          <p:nvPr/>
        </p:nvSpPr>
        <p:spPr>
          <a:xfrm>
            <a:off x="731520" y="5968746"/>
            <a:ext cx="6492240" cy="384048"/>
          </a:xfrm>
          <a:prstGeom prst="rect">
            <a:avLst/>
          </a:prstGeom>
          <a:noFill/>
          <a:ln/>
        </p:spPr>
        <p:txBody>
          <a:bodyPr wrap="square" lIns="0" tIns="0" rIns="0" bIns="0" rtlCol="0" anchor="ctr"/>
          <a:lstStyle/>
          <a:p>
            <a:pPr indent="0" marL="0">
              <a:lnSpc>
                <a:spcPct val="115000"/>
              </a:lnSpc>
              <a:buNone/>
            </a:pPr>
            <a:r>
              <a:rPr lang="en-US" sz="850" dirty="0">
                <a:solidFill>
                  <a:srgbClr val="54585E"/>
                </a:solidFill>
                <a:latin typeface="Noto Sans" pitchFamily="34" charset="0"/>
                <a:ea typeface="Noto Sans" pitchFamily="34" charset="-122"/>
                <a:cs typeface="Noto Sans" pitchFamily="34" charset="-120"/>
              </a:rPr>
              <a:t>▶  Recorded: Safai Karamcharis, Transgender Persons, then Senior Citizens.</a:t>
            </a:r>
            <a:endParaRPr lang="en-US" sz="850" dirty="0"/>
          </a:p>
        </p:txBody>
      </p:sp>
      <p:sp>
        <p:nvSpPr>
          <p:cNvPr id="9" name="Text 6"/>
          <p:cNvSpPr txBox="1"/>
          <p:nvPr/>
        </p:nvSpPr>
        <p:spPr>
          <a:xfrm>
            <a:off x="7680960" y="1783080"/>
            <a:ext cx="3779215" cy="201168"/>
          </a:xfrm>
          <a:prstGeom prst="rect">
            <a:avLst/>
          </a:prstGeom>
          <a:noFill/>
          <a:ln/>
        </p:spPr>
        <p:txBody>
          <a:bodyPr wrap="square" lIns="0" tIns="0" rIns="0" bIns="0" rtlCol="0" anchor="ctr"/>
          <a:lstStyle/>
          <a:p>
            <a:pPr indent="0" marL="0">
              <a:buNone/>
            </a:pPr>
            <a:r>
              <a:rPr lang="en-US" sz="950" b="1" spc="100" kern="0" dirty="0">
                <a:solidFill>
                  <a:srgbClr val="003975"/>
                </a:solidFill>
                <a:latin typeface="Noto Sans" pitchFamily="34" charset="0"/>
                <a:ea typeface="Noto Sans" pitchFamily="34" charset="-122"/>
                <a:cs typeface="Noto Sans" pitchFamily="34" charset="-120"/>
              </a:rPr>
              <a:t>WHAT IT IS</a:t>
            </a:r>
            <a:endParaRPr lang="en-US" sz="950" dirty="0"/>
          </a:p>
        </p:txBody>
      </p:sp>
      <p:sp>
        <p:nvSpPr>
          <p:cNvPr id="10" name="Text 7"/>
          <p:cNvSpPr txBox="1"/>
          <p:nvPr/>
        </p:nvSpPr>
        <p:spPr>
          <a:xfrm>
            <a:off x="7680960" y="2057400"/>
            <a:ext cx="3779215" cy="438912"/>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Every group as a picture in one row. Pick one and its schemes appear as cards.</a:t>
            </a:r>
            <a:endParaRPr lang="en-US" sz="1200" dirty="0"/>
          </a:p>
        </p:txBody>
      </p:sp>
      <p:sp>
        <p:nvSpPr>
          <p:cNvPr id="11" name="Text 8"/>
          <p:cNvSpPr txBox="1"/>
          <p:nvPr/>
        </p:nvSpPr>
        <p:spPr>
          <a:xfrm>
            <a:off x="7680960" y="2697480"/>
            <a:ext cx="3779215" cy="201168"/>
          </a:xfrm>
          <a:prstGeom prst="rect">
            <a:avLst/>
          </a:prstGeom>
          <a:noFill/>
          <a:ln/>
        </p:spPr>
        <p:txBody>
          <a:bodyPr wrap="square" lIns="0" tIns="0" rIns="0" bIns="0" rtlCol="0" anchor="ctr"/>
          <a:lstStyle/>
          <a:p>
            <a:pPr indent="0" marL="0">
              <a:buNone/>
            </a:pPr>
            <a:r>
              <a:rPr lang="en-US" sz="950" b="1" spc="100" kern="0" dirty="0">
                <a:solidFill>
                  <a:srgbClr val="005EB9"/>
                </a:solidFill>
                <a:latin typeface="Noto Sans" pitchFamily="34" charset="0"/>
                <a:ea typeface="Noto Sans" pitchFamily="34" charset="-122"/>
                <a:cs typeface="Noto Sans" pitchFamily="34" charset="-120"/>
              </a:rPr>
              <a:t>HOW IT WORKS</a:t>
            </a:r>
            <a:endParaRPr lang="en-US" sz="950" dirty="0"/>
          </a:p>
        </p:txBody>
      </p:sp>
      <p:sp>
        <p:nvSpPr>
          <p:cNvPr id="12" name="Shape 9"/>
          <p:cNvSpPr/>
          <p:nvPr/>
        </p:nvSpPr>
        <p:spPr>
          <a:xfrm>
            <a:off x="7680960" y="3026664"/>
            <a:ext cx="54864" cy="54864"/>
          </a:xfrm>
          <a:prstGeom prst="rect">
            <a:avLst/>
          </a:prstGeom>
          <a:solidFill>
            <a:srgbClr val="005EB9"/>
          </a:solidFill>
          <a:ln w="12700">
            <a:solidFill>
              <a:srgbClr val="005EB9"/>
            </a:solidFill>
            <a:prstDash val="solid"/>
          </a:ln>
        </p:spPr>
      </p:sp>
      <p:sp>
        <p:nvSpPr>
          <p:cNvPr id="13" name="Text 10"/>
          <p:cNvSpPr txBox="1"/>
          <p:nvPr/>
        </p:nvSpPr>
        <p:spPr>
          <a:xfrm>
            <a:off x="7863840" y="2971800"/>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Pick a group from the row; it scrolls sideways</a:t>
            </a:r>
            <a:endParaRPr lang="en-US" sz="1200" dirty="0"/>
          </a:p>
        </p:txBody>
      </p:sp>
      <p:sp>
        <p:nvSpPr>
          <p:cNvPr id="14" name="Shape 11"/>
          <p:cNvSpPr/>
          <p:nvPr/>
        </p:nvSpPr>
        <p:spPr>
          <a:xfrm>
            <a:off x="7680960" y="3520440"/>
            <a:ext cx="54864" cy="54864"/>
          </a:xfrm>
          <a:prstGeom prst="rect">
            <a:avLst/>
          </a:prstGeom>
          <a:solidFill>
            <a:srgbClr val="005EB9"/>
          </a:solidFill>
          <a:ln w="12700">
            <a:solidFill>
              <a:srgbClr val="005EB9"/>
            </a:solidFill>
            <a:prstDash val="solid"/>
          </a:ln>
        </p:spPr>
      </p:sp>
      <p:sp>
        <p:nvSpPr>
          <p:cNvPr id="15" name="Text 12"/>
          <p:cNvSpPr txBox="1"/>
          <p:nvPr/>
        </p:nvSpPr>
        <p:spPr>
          <a:xfrm>
            <a:off x="7863840" y="3465576"/>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Category and Organisation narrow the list further</a:t>
            </a:r>
            <a:endParaRPr lang="en-US" sz="1200" dirty="0"/>
          </a:p>
        </p:txBody>
      </p:sp>
      <p:sp>
        <p:nvSpPr>
          <p:cNvPr id="16" name="Shape 13"/>
          <p:cNvSpPr/>
          <p:nvPr/>
        </p:nvSpPr>
        <p:spPr>
          <a:xfrm>
            <a:off x="7680960" y="4014216"/>
            <a:ext cx="54864" cy="54864"/>
          </a:xfrm>
          <a:prstGeom prst="rect">
            <a:avLst/>
          </a:prstGeom>
          <a:solidFill>
            <a:srgbClr val="005EB9"/>
          </a:solidFill>
          <a:ln w="12700">
            <a:solidFill>
              <a:srgbClr val="005EB9"/>
            </a:solidFill>
            <a:prstDash val="solid"/>
          </a:ln>
        </p:spPr>
      </p:sp>
      <p:sp>
        <p:nvSpPr>
          <p:cNvPr id="17" name="Text 14"/>
          <p:cNvSpPr txBox="1"/>
          <p:nvPr/>
        </p:nvSpPr>
        <p:spPr>
          <a:xfrm>
            <a:off x="7863840" y="3959352"/>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Cards show what a scheme gives; nine to a page</a:t>
            </a:r>
            <a:endParaRPr lang="en-US" sz="1200" dirty="0"/>
          </a:p>
        </p:txBody>
      </p:sp>
      <p:sp>
        <p:nvSpPr>
          <p:cNvPr id="18" name="Text 15"/>
          <p:cNvSpPr txBox="1"/>
          <p:nvPr/>
        </p:nvSpPr>
        <p:spPr>
          <a:xfrm>
            <a:off x="7680960" y="4654296"/>
            <a:ext cx="3779215" cy="201168"/>
          </a:xfrm>
          <a:prstGeom prst="rect">
            <a:avLst/>
          </a:prstGeom>
          <a:noFill/>
          <a:ln/>
        </p:spPr>
        <p:txBody>
          <a:bodyPr wrap="square" lIns="0" tIns="0" rIns="0" bIns="0" rtlCol="0" anchor="ctr"/>
          <a:lstStyle/>
          <a:p>
            <a:pPr indent="0" marL="0">
              <a:buNone/>
            </a:pPr>
            <a:r>
              <a:rPr lang="en-US" sz="950" b="1" spc="100" kern="0" dirty="0">
                <a:solidFill>
                  <a:srgbClr val="005EB9"/>
                </a:solidFill>
                <a:latin typeface="Noto Sans" pitchFamily="34" charset="0"/>
                <a:ea typeface="Noto Sans" pitchFamily="34" charset="-122"/>
                <a:cs typeface="Noto Sans" pitchFamily="34" charset="-120"/>
              </a:rPr>
              <a:t>WHY IT HELPS</a:t>
            </a:r>
            <a:endParaRPr lang="en-US" sz="950" dirty="0"/>
          </a:p>
        </p:txBody>
      </p:sp>
      <p:sp>
        <p:nvSpPr>
          <p:cNvPr id="19" name="Shape 16"/>
          <p:cNvSpPr/>
          <p:nvPr/>
        </p:nvSpPr>
        <p:spPr>
          <a:xfrm>
            <a:off x="7680960" y="4983480"/>
            <a:ext cx="54864" cy="54864"/>
          </a:xfrm>
          <a:prstGeom prst="rect">
            <a:avLst/>
          </a:prstGeom>
          <a:solidFill>
            <a:srgbClr val="005EB9"/>
          </a:solidFill>
          <a:ln w="12700">
            <a:solidFill>
              <a:srgbClr val="005EB9"/>
            </a:solidFill>
            <a:prstDash val="solid"/>
          </a:ln>
        </p:spPr>
      </p:sp>
      <p:sp>
        <p:nvSpPr>
          <p:cNvPr id="20" name="Text 17"/>
          <p:cNvSpPr txBox="1"/>
          <p:nvPr/>
        </p:nvSpPr>
        <p:spPr>
          <a:xfrm>
            <a:off x="7863840" y="4928616"/>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A picture for every group, so you spot yours at a glance</a:t>
            </a:r>
            <a:endParaRPr lang="en-US" sz="1200" dirty="0"/>
          </a:p>
        </p:txBody>
      </p:sp>
      <p:sp>
        <p:nvSpPr>
          <p:cNvPr id="21" name="Shape 18"/>
          <p:cNvSpPr/>
          <p:nvPr/>
        </p:nvSpPr>
        <p:spPr>
          <a:xfrm>
            <a:off x="7680960" y="5477256"/>
            <a:ext cx="54864" cy="54864"/>
          </a:xfrm>
          <a:prstGeom prst="rect">
            <a:avLst/>
          </a:prstGeom>
          <a:solidFill>
            <a:srgbClr val="005EB9"/>
          </a:solidFill>
          <a:ln w="12700">
            <a:solidFill>
              <a:srgbClr val="005EB9"/>
            </a:solidFill>
            <a:prstDash val="solid"/>
          </a:ln>
        </p:spPr>
      </p:sp>
      <p:sp>
        <p:nvSpPr>
          <p:cNvPr id="22" name="Text 19"/>
          <p:cNvSpPr txBox="1"/>
          <p:nvPr/>
        </p:nvSpPr>
        <p:spPr>
          <a:xfrm>
            <a:off x="7863840" y="5422392"/>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The same groups as the home page, so the same idea is met twice</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38912"/>
            <a:ext cx="10728655" cy="219456"/>
          </a:xfrm>
          <a:prstGeom prst="rect">
            <a:avLst/>
          </a:prstGeom>
          <a:noFill/>
          <a:ln/>
        </p:spPr>
        <p:txBody>
          <a:bodyPr wrap="square" lIns="0" tIns="0" rIns="0" bIns="0" rtlCol="0" anchor="ctr"/>
          <a:lstStyle/>
          <a:p>
            <a:pPr indent="0" marL="0">
              <a:buNone/>
            </a:pPr>
            <a:r>
              <a:rPr lang="en-US" sz="950" b="1" spc="100" kern="0" dirty="0">
                <a:solidFill>
                  <a:srgbClr val="54585E"/>
                </a:solidFill>
                <a:latin typeface="Noto Sans" pitchFamily="34" charset="0"/>
                <a:ea typeface="Noto Sans" pitchFamily="34" charset="-122"/>
                <a:cs typeface="Noto Sans" pitchFamily="34" charset="-120"/>
              </a:rPr>
              <a:t>FILTER PANEL WITH A TABLE</a:t>
            </a:r>
            <a:endParaRPr lang="en-US" sz="950" dirty="0"/>
          </a:p>
        </p:txBody>
      </p:sp>
      <p:sp>
        <p:nvSpPr>
          <p:cNvPr id="3" name="Text 1"/>
          <p:cNvSpPr txBox="1"/>
          <p:nvPr/>
        </p:nvSpPr>
        <p:spPr>
          <a:xfrm>
            <a:off x="731520" y="694944"/>
            <a:ext cx="8351215" cy="512064"/>
          </a:xfrm>
          <a:prstGeom prst="rect">
            <a:avLst/>
          </a:prstGeom>
          <a:noFill/>
          <a:ln/>
        </p:spPr>
        <p:txBody>
          <a:bodyPr wrap="square" lIns="0" tIns="0" rIns="0" bIns="0" rtlCol="0" anchor="ctr"/>
          <a:lstStyle/>
          <a:p>
            <a:pPr indent="0" marL="0">
              <a:buNone/>
            </a:pPr>
            <a:r>
              <a:rPr lang="en-US" sz="3000" b="1" dirty="0">
                <a:solidFill>
                  <a:srgbClr val="003975"/>
                </a:solidFill>
                <a:latin typeface="Noto Sans" pitchFamily="34" charset="0"/>
                <a:ea typeface="Noto Sans" pitchFamily="34" charset="-122"/>
                <a:cs typeface="Noto Sans" pitchFamily="34" charset="-120"/>
              </a:rPr>
              <a:t>The Schemes Page · Option B of 3</a:t>
            </a:r>
            <a:endParaRPr lang="en-US" sz="3000" dirty="0"/>
          </a:p>
        </p:txBody>
      </p:sp>
      <p:sp>
        <p:nvSpPr>
          <p:cNvPr id="4" name="Shape 2"/>
          <p:cNvSpPr/>
          <p:nvPr/>
        </p:nvSpPr>
        <p:spPr>
          <a:xfrm>
            <a:off x="731520" y="1298448"/>
            <a:ext cx="1065276" cy="246888"/>
          </a:xfrm>
          <a:prstGeom prst="roundRect">
            <a:avLst>
              <a:gd name="adj" fmla="val 50000"/>
            </a:avLst>
          </a:prstGeom>
          <a:solidFill>
            <a:srgbClr val="ECF4FF"/>
          </a:solidFill>
          <a:ln w="12700">
            <a:solidFill>
              <a:srgbClr val="ECF4FF"/>
            </a:solidFill>
            <a:prstDash val="solid"/>
          </a:ln>
        </p:spPr>
      </p:sp>
      <p:sp>
        <p:nvSpPr>
          <p:cNvPr id="5" name="Text 3"/>
          <p:cNvSpPr txBox="1"/>
          <p:nvPr/>
        </p:nvSpPr>
        <p:spPr>
          <a:xfrm>
            <a:off x="731520" y="1298448"/>
            <a:ext cx="1065276" cy="246888"/>
          </a:xfrm>
          <a:prstGeom prst="rect">
            <a:avLst/>
          </a:prstGeom>
          <a:noFill/>
          <a:ln/>
        </p:spPr>
        <p:txBody>
          <a:bodyPr wrap="square" lIns="0" tIns="0" rIns="0" bIns="0" rtlCol="0" anchor="ctr"/>
          <a:lstStyle/>
          <a:p>
            <a:pPr algn="ctr" indent="0" marL="0">
              <a:buNone/>
            </a:pPr>
            <a:r>
              <a:rPr lang="en-US" sz="850" b="1" spc="50" kern="0" dirty="0">
                <a:solidFill>
                  <a:srgbClr val="005EB9"/>
                </a:solidFill>
                <a:latin typeface="Noto Sans" pitchFamily="34" charset="0"/>
                <a:ea typeface="Noto Sans" pitchFamily="34" charset="-122"/>
                <a:cs typeface="Noto Sans" pitchFamily="34" charset="-120"/>
              </a:rPr>
              <a:t>TO BE BUILT</a:t>
            </a:r>
            <a:endParaRPr lang="en-US" sz="850" dirty="0"/>
          </a:p>
        </p:txBody>
      </p:sp>
      <p:sp>
        <p:nvSpPr>
          <p:cNvPr id="6" name="Shape 4"/>
          <p:cNvSpPr/>
          <p:nvPr/>
        </p:nvSpPr>
        <p:spPr>
          <a:xfrm>
            <a:off x="704088" y="1755648"/>
            <a:ext cx="6547104" cy="4112514"/>
          </a:xfrm>
          <a:prstGeom prst="rect">
            <a:avLst/>
          </a:prstGeom>
          <a:solidFill>
            <a:srgbClr val="FFFFFF"/>
          </a:solidFill>
          <a:ln w="9525">
            <a:solidFill>
              <a:srgbClr val="DCDEE1"/>
            </a:solidFill>
            <a:prstDash val="solid"/>
          </a:ln>
        </p:spPr>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31520" y="1783080"/>
            <a:ext cx="6492240" cy="4057650"/>
          </a:xfrm>
          <a:prstGeom prst="rect">
            <a:avLst/>
          </a:prstGeom>
        </p:spPr>
      </p:pic>
      <p:sp>
        <p:nvSpPr>
          <p:cNvPr id="8" name="Text 5"/>
          <p:cNvSpPr txBox="1"/>
          <p:nvPr/>
        </p:nvSpPr>
        <p:spPr>
          <a:xfrm>
            <a:off x="731520" y="5968746"/>
            <a:ext cx="6492240" cy="384048"/>
          </a:xfrm>
          <a:prstGeom prst="rect">
            <a:avLst/>
          </a:prstGeom>
          <a:noFill/>
          <a:ln/>
        </p:spPr>
        <p:txBody>
          <a:bodyPr wrap="square" lIns="0" tIns="0" rIns="0" bIns="0" rtlCol="0" anchor="ctr"/>
          <a:lstStyle/>
          <a:p>
            <a:pPr indent="0" marL="0">
              <a:lnSpc>
                <a:spcPct val="115000"/>
              </a:lnSpc>
              <a:buNone/>
            </a:pPr>
            <a:r>
              <a:rPr lang="en-US" sz="850" dirty="0">
                <a:solidFill>
                  <a:srgbClr val="54585E"/>
                </a:solidFill>
                <a:latin typeface="Noto Sans" pitchFamily="34" charset="0"/>
                <a:ea typeface="Noto Sans" pitchFamily="34" charset="-122"/>
                <a:cs typeface="Noto Sans" pitchFamily="34" charset="-120"/>
              </a:rPr>
              <a:t>▶  Recorded: Other Backward Classes ticked, then Students added, then one removed, then Reset.</a:t>
            </a:r>
            <a:endParaRPr lang="en-US" sz="850" dirty="0"/>
          </a:p>
        </p:txBody>
      </p:sp>
      <p:sp>
        <p:nvSpPr>
          <p:cNvPr id="9" name="Text 6"/>
          <p:cNvSpPr txBox="1"/>
          <p:nvPr/>
        </p:nvSpPr>
        <p:spPr>
          <a:xfrm>
            <a:off x="7680960" y="1783080"/>
            <a:ext cx="3779215" cy="201168"/>
          </a:xfrm>
          <a:prstGeom prst="rect">
            <a:avLst/>
          </a:prstGeom>
          <a:noFill/>
          <a:ln/>
        </p:spPr>
        <p:txBody>
          <a:bodyPr wrap="square" lIns="0" tIns="0" rIns="0" bIns="0" rtlCol="0" anchor="ctr"/>
          <a:lstStyle/>
          <a:p>
            <a:pPr indent="0" marL="0">
              <a:buNone/>
            </a:pPr>
            <a:r>
              <a:rPr lang="en-US" sz="950" b="1" spc="100" kern="0" dirty="0">
                <a:solidFill>
                  <a:srgbClr val="003975"/>
                </a:solidFill>
                <a:latin typeface="Noto Sans" pitchFamily="34" charset="0"/>
                <a:ea typeface="Noto Sans" pitchFamily="34" charset="-122"/>
                <a:cs typeface="Noto Sans" pitchFamily="34" charset="-120"/>
              </a:rPr>
              <a:t>WHAT IT IS</a:t>
            </a:r>
            <a:endParaRPr lang="en-US" sz="950" dirty="0"/>
          </a:p>
        </p:txBody>
      </p:sp>
      <p:sp>
        <p:nvSpPr>
          <p:cNvPr id="10" name="Text 7"/>
          <p:cNvSpPr txBox="1"/>
          <p:nvPr/>
        </p:nvSpPr>
        <p:spPr>
          <a:xfrm>
            <a:off x="7680960" y="2057400"/>
            <a:ext cx="3779215" cy="630936"/>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A panel of the groups on the left, where more than one can be ticked, and a table on the right.</a:t>
            </a:r>
            <a:endParaRPr lang="en-US" sz="1200" dirty="0"/>
          </a:p>
        </p:txBody>
      </p:sp>
      <p:sp>
        <p:nvSpPr>
          <p:cNvPr id="11" name="Text 8"/>
          <p:cNvSpPr txBox="1"/>
          <p:nvPr/>
        </p:nvSpPr>
        <p:spPr>
          <a:xfrm>
            <a:off x="7680960" y="2889504"/>
            <a:ext cx="3779215" cy="201168"/>
          </a:xfrm>
          <a:prstGeom prst="rect">
            <a:avLst/>
          </a:prstGeom>
          <a:noFill/>
          <a:ln/>
        </p:spPr>
        <p:txBody>
          <a:bodyPr wrap="square" lIns="0" tIns="0" rIns="0" bIns="0" rtlCol="0" anchor="ctr"/>
          <a:lstStyle/>
          <a:p>
            <a:pPr indent="0" marL="0">
              <a:buNone/>
            </a:pPr>
            <a:r>
              <a:rPr lang="en-US" sz="950" b="1" spc="100" kern="0" dirty="0">
                <a:solidFill>
                  <a:srgbClr val="005EB9"/>
                </a:solidFill>
                <a:latin typeface="Noto Sans" pitchFamily="34" charset="0"/>
                <a:ea typeface="Noto Sans" pitchFamily="34" charset="-122"/>
                <a:cs typeface="Noto Sans" pitchFamily="34" charset="-120"/>
              </a:rPr>
              <a:t>HOW IT WORKS</a:t>
            </a:r>
            <a:endParaRPr lang="en-US" sz="950" dirty="0"/>
          </a:p>
        </p:txBody>
      </p:sp>
      <p:sp>
        <p:nvSpPr>
          <p:cNvPr id="12" name="Shape 9"/>
          <p:cNvSpPr/>
          <p:nvPr/>
        </p:nvSpPr>
        <p:spPr>
          <a:xfrm>
            <a:off x="7680960" y="3218688"/>
            <a:ext cx="54864" cy="54864"/>
          </a:xfrm>
          <a:prstGeom prst="rect">
            <a:avLst/>
          </a:prstGeom>
          <a:solidFill>
            <a:srgbClr val="005EB9"/>
          </a:solidFill>
          <a:ln w="12700">
            <a:solidFill>
              <a:srgbClr val="005EB9"/>
            </a:solidFill>
            <a:prstDash val="solid"/>
          </a:ln>
        </p:spPr>
      </p:sp>
      <p:sp>
        <p:nvSpPr>
          <p:cNvPr id="13" name="Text 10"/>
          <p:cNvSpPr txBox="1"/>
          <p:nvPr/>
        </p:nvSpPr>
        <p:spPr>
          <a:xfrm>
            <a:off x="7863840" y="3163824"/>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Tick one or more groups; the chosen ones show above the table</a:t>
            </a:r>
            <a:endParaRPr lang="en-US" sz="1200" dirty="0"/>
          </a:p>
        </p:txBody>
      </p:sp>
      <p:sp>
        <p:nvSpPr>
          <p:cNvPr id="14" name="Shape 11"/>
          <p:cNvSpPr/>
          <p:nvPr/>
        </p:nvSpPr>
        <p:spPr>
          <a:xfrm>
            <a:off x="7680960" y="3712464"/>
            <a:ext cx="54864" cy="54864"/>
          </a:xfrm>
          <a:prstGeom prst="rect">
            <a:avLst/>
          </a:prstGeom>
          <a:solidFill>
            <a:srgbClr val="005EB9"/>
          </a:solidFill>
          <a:ln w="12700">
            <a:solidFill>
              <a:srgbClr val="005EB9"/>
            </a:solidFill>
            <a:prstDash val="solid"/>
          </a:ln>
        </p:spPr>
      </p:sp>
      <p:sp>
        <p:nvSpPr>
          <p:cNvPr id="15" name="Text 12"/>
          <p:cNvSpPr txBox="1"/>
          <p:nvPr/>
        </p:nvSpPr>
        <p:spPr>
          <a:xfrm>
            <a:off x="7863840" y="3657600"/>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Category and Organisation narrow the list further</a:t>
            </a:r>
            <a:endParaRPr lang="en-US" sz="1200" dirty="0"/>
          </a:p>
        </p:txBody>
      </p:sp>
      <p:sp>
        <p:nvSpPr>
          <p:cNvPr id="16" name="Shape 13"/>
          <p:cNvSpPr/>
          <p:nvPr/>
        </p:nvSpPr>
        <p:spPr>
          <a:xfrm>
            <a:off x="7680960" y="4206240"/>
            <a:ext cx="54864" cy="54864"/>
          </a:xfrm>
          <a:prstGeom prst="rect">
            <a:avLst/>
          </a:prstGeom>
          <a:solidFill>
            <a:srgbClr val="005EB9"/>
          </a:solidFill>
          <a:ln w="12700">
            <a:solidFill>
              <a:srgbClr val="005EB9"/>
            </a:solidFill>
            <a:prstDash val="solid"/>
          </a:ln>
        </p:spPr>
      </p:sp>
      <p:sp>
        <p:nvSpPr>
          <p:cNvPr id="17" name="Text 14"/>
          <p:cNvSpPr txBox="1"/>
          <p:nvPr/>
        </p:nvSpPr>
        <p:spPr>
          <a:xfrm>
            <a:off x="7863840" y="4151376"/>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The table says what each scheme gives and who it is for</a:t>
            </a:r>
            <a:endParaRPr lang="en-US" sz="1200" dirty="0"/>
          </a:p>
        </p:txBody>
      </p:sp>
      <p:sp>
        <p:nvSpPr>
          <p:cNvPr id="18" name="Text 15"/>
          <p:cNvSpPr txBox="1"/>
          <p:nvPr/>
        </p:nvSpPr>
        <p:spPr>
          <a:xfrm>
            <a:off x="7680960" y="4846320"/>
            <a:ext cx="3779215" cy="201168"/>
          </a:xfrm>
          <a:prstGeom prst="rect">
            <a:avLst/>
          </a:prstGeom>
          <a:noFill/>
          <a:ln/>
        </p:spPr>
        <p:txBody>
          <a:bodyPr wrap="square" lIns="0" tIns="0" rIns="0" bIns="0" rtlCol="0" anchor="ctr"/>
          <a:lstStyle/>
          <a:p>
            <a:pPr indent="0" marL="0">
              <a:buNone/>
            </a:pPr>
            <a:r>
              <a:rPr lang="en-US" sz="950" b="1" spc="100" kern="0" dirty="0">
                <a:solidFill>
                  <a:srgbClr val="005EB9"/>
                </a:solidFill>
                <a:latin typeface="Noto Sans" pitchFamily="34" charset="0"/>
                <a:ea typeface="Noto Sans" pitchFamily="34" charset="-122"/>
                <a:cs typeface="Noto Sans" pitchFamily="34" charset="-120"/>
              </a:rPr>
              <a:t>WHY IT HELPS</a:t>
            </a:r>
            <a:endParaRPr lang="en-US" sz="950" dirty="0"/>
          </a:p>
        </p:txBody>
      </p:sp>
      <p:sp>
        <p:nvSpPr>
          <p:cNvPr id="19" name="Shape 16"/>
          <p:cNvSpPr/>
          <p:nvPr/>
        </p:nvSpPr>
        <p:spPr>
          <a:xfrm>
            <a:off x="7680960" y="5175504"/>
            <a:ext cx="54864" cy="54864"/>
          </a:xfrm>
          <a:prstGeom prst="rect">
            <a:avLst/>
          </a:prstGeom>
          <a:solidFill>
            <a:srgbClr val="005EB9"/>
          </a:solidFill>
          <a:ln w="12700">
            <a:solidFill>
              <a:srgbClr val="005EB9"/>
            </a:solidFill>
            <a:prstDash val="solid"/>
          </a:ln>
        </p:spPr>
      </p:sp>
      <p:sp>
        <p:nvSpPr>
          <p:cNvPr id="20" name="Text 17"/>
          <p:cNvSpPr txBox="1"/>
          <p:nvPr/>
        </p:nvSpPr>
        <p:spPr>
          <a:xfrm>
            <a:off x="7863840" y="5120640"/>
            <a:ext cx="3596335" cy="228600"/>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Two groups can be compared in one list</a:t>
            </a:r>
            <a:endParaRPr lang="en-US" sz="1200" dirty="0"/>
          </a:p>
        </p:txBody>
      </p:sp>
      <p:sp>
        <p:nvSpPr>
          <p:cNvPr id="21" name="Shape 18"/>
          <p:cNvSpPr/>
          <p:nvPr/>
        </p:nvSpPr>
        <p:spPr>
          <a:xfrm>
            <a:off x="7680960" y="5477256"/>
            <a:ext cx="54864" cy="54864"/>
          </a:xfrm>
          <a:prstGeom prst="rect">
            <a:avLst/>
          </a:prstGeom>
          <a:solidFill>
            <a:srgbClr val="005EB9"/>
          </a:solidFill>
          <a:ln w="12700">
            <a:solidFill>
              <a:srgbClr val="005EB9"/>
            </a:solidFill>
            <a:prstDash val="solid"/>
          </a:ln>
        </p:spPr>
      </p:sp>
      <p:sp>
        <p:nvSpPr>
          <p:cNvPr id="22" name="Text 19"/>
          <p:cNvSpPr txBox="1"/>
          <p:nvPr/>
        </p:nvSpPr>
        <p:spPr>
          <a:xfrm>
            <a:off x="7863840" y="5422392"/>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A group that would leave nothing is greyed, never counted</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38912"/>
            <a:ext cx="10728655" cy="219456"/>
          </a:xfrm>
          <a:prstGeom prst="rect">
            <a:avLst/>
          </a:prstGeom>
          <a:noFill/>
          <a:ln/>
        </p:spPr>
        <p:txBody>
          <a:bodyPr wrap="square" lIns="0" tIns="0" rIns="0" bIns="0" rtlCol="0" anchor="ctr"/>
          <a:lstStyle/>
          <a:p>
            <a:pPr indent="0" marL="0">
              <a:buNone/>
            </a:pPr>
            <a:r>
              <a:rPr lang="en-US" sz="950" b="1" spc="100" kern="0" dirty="0">
                <a:solidFill>
                  <a:srgbClr val="54585E"/>
                </a:solidFill>
                <a:latin typeface="Noto Sans" pitchFamily="34" charset="0"/>
                <a:ea typeface="Noto Sans" pitchFamily="34" charset="-122"/>
                <a:cs typeface="Noto Sans" pitchFamily="34" charset="-120"/>
              </a:rPr>
              <a:t>FILTER PANEL WITH HEADINGS</a:t>
            </a:r>
            <a:endParaRPr lang="en-US" sz="950" dirty="0"/>
          </a:p>
        </p:txBody>
      </p:sp>
      <p:sp>
        <p:nvSpPr>
          <p:cNvPr id="3" name="Text 1"/>
          <p:cNvSpPr txBox="1"/>
          <p:nvPr/>
        </p:nvSpPr>
        <p:spPr>
          <a:xfrm>
            <a:off x="731520" y="694944"/>
            <a:ext cx="8351215" cy="512064"/>
          </a:xfrm>
          <a:prstGeom prst="rect">
            <a:avLst/>
          </a:prstGeom>
          <a:noFill/>
          <a:ln/>
        </p:spPr>
        <p:txBody>
          <a:bodyPr wrap="square" lIns="0" tIns="0" rIns="0" bIns="0" rtlCol="0" anchor="ctr"/>
          <a:lstStyle/>
          <a:p>
            <a:pPr indent="0" marL="0">
              <a:buNone/>
            </a:pPr>
            <a:r>
              <a:rPr lang="en-US" sz="3000" b="1" dirty="0">
                <a:solidFill>
                  <a:srgbClr val="003975"/>
                </a:solidFill>
                <a:latin typeface="Noto Sans" pitchFamily="34" charset="0"/>
                <a:ea typeface="Noto Sans" pitchFamily="34" charset="-122"/>
                <a:cs typeface="Noto Sans" pitchFamily="34" charset="-120"/>
              </a:rPr>
              <a:t>The Schemes Page · Option C of 3</a:t>
            </a:r>
            <a:endParaRPr lang="en-US" sz="3000" dirty="0"/>
          </a:p>
        </p:txBody>
      </p:sp>
      <p:sp>
        <p:nvSpPr>
          <p:cNvPr id="4" name="Shape 2"/>
          <p:cNvSpPr/>
          <p:nvPr/>
        </p:nvSpPr>
        <p:spPr>
          <a:xfrm>
            <a:off x="731520" y="1298448"/>
            <a:ext cx="1065276" cy="246888"/>
          </a:xfrm>
          <a:prstGeom prst="roundRect">
            <a:avLst>
              <a:gd name="adj" fmla="val 50000"/>
            </a:avLst>
          </a:prstGeom>
          <a:solidFill>
            <a:srgbClr val="ECF4FF"/>
          </a:solidFill>
          <a:ln w="12700">
            <a:solidFill>
              <a:srgbClr val="ECF4FF"/>
            </a:solidFill>
            <a:prstDash val="solid"/>
          </a:ln>
        </p:spPr>
      </p:sp>
      <p:sp>
        <p:nvSpPr>
          <p:cNvPr id="5" name="Text 3"/>
          <p:cNvSpPr txBox="1"/>
          <p:nvPr/>
        </p:nvSpPr>
        <p:spPr>
          <a:xfrm>
            <a:off x="731520" y="1298448"/>
            <a:ext cx="1065276" cy="246888"/>
          </a:xfrm>
          <a:prstGeom prst="rect">
            <a:avLst/>
          </a:prstGeom>
          <a:noFill/>
          <a:ln/>
        </p:spPr>
        <p:txBody>
          <a:bodyPr wrap="square" lIns="0" tIns="0" rIns="0" bIns="0" rtlCol="0" anchor="ctr"/>
          <a:lstStyle/>
          <a:p>
            <a:pPr algn="ctr" indent="0" marL="0">
              <a:buNone/>
            </a:pPr>
            <a:r>
              <a:rPr lang="en-US" sz="850" b="1" spc="50" kern="0" dirty="0">
                <a:solidFill>
                  <a:srgbClr val="005EB9"/>
                </a:solidFill>
                <a:latin typeface="Noto Sans" pitchFamily="34" charset="0"/>
                <a:ea typeface="Noto Sans" pitchFamily="34" charset="-122"/>
                <a:cs typeface="Noto Sans" pitchFamily="34" charset="-120"/>
              </a:rPr>
              <a:t>TO BE BUILT</a:t>
            </a:r>
            <a:endParaRPr lang="en-US" sz="850" dirty="0"/>
          </a:p>
        </p:txBody>
      </p:sp>
      <p:sp>
        <p:nvSpPr>
          <p:cNvPr id="6" name="Shape 4"/>
          <p:cNvSpPr/>
          <p:nvPr/>
        </p:nvSpPr>
        <p:spPr>
          <a:xfrm>
            <a:off x="704088" y="1755648"/>
            <a:ext cx="6547104" cy="4112514"/>
          </a:xfrm>
          <a:prstGeom prst="rect">
            <a:avLst/>
          </a:prstGeom>
          <a:solidFill>
            <a:srgbClr val="FFFFFF"/>
          </a:solidFill>
          <a:ln w="9525">
            <a:solidFill>
              <a:srgbClr val="DCDEE1"/>
            </a:solidFill>
            <a:prstDash val="solid"/>
          </a:ln>
        </p:spPr>
      </p:sp>
      <p:pic>
        <p:nvPicPr>
          <p:cNvPr id="7" name="Image 0" descr="assets/still/scheme-c.png">    </p:cNvPr>
          <p:cNvPicPr>
            <a:picLocks noChangeAspect="1"/>
          </p:cNvPicPr>
          <p:nvPr/>
        </p:nvPicPr>
        <p:blipFill>
          <a:blip r:embed="rId1"/>
          <a:stretch>
            <a:fillRect/>
          </a:stretch>
        </p:blipFill>
        <p:spPr>
          <a:xfrm>
            <a:off x="731520" y="1783080"/>
            <a:ext cx="6492240" cy="4057650"/>
          </a:xfrm>
          <a:prstGeom prst="rect">
            <a:avLst/>
          </a:prstGeom>
        </p:spPr>
      </p:pic>
      <p:sp>
        <p:nvSpPr>
          <p:cNvPr id="8" name="Text 5"/>
          <p:cNvSpPr txBox="1"/>
          <p:nvPr/>
        </p:nvSpPr>
        <p:spPr>
          <a:xfrm>
            <a:off x="7680960" y="1783080"/>
            <a:ext cx="3779215" cy="201168"/>
          </a:xfrm>
          <a:prstGeom prst="rect">
            <a:avLst/>
          </a:prstGeom>
          <a:noFill/>
          <a:ln/>
        </p:spPr>
        <p:txBody>
          <a:bodyPr wrap="square" lIns="0" tIns="0" rIns="0" bIns="0" rtlCol="0" anchor="ctr"/>
          <a:lstStyle/>
          <a:p>
            <a:pPr indent="0" marL="0">
              <a:buNone/>
            </a:pPr>
            <a:r>
              <a:rPr lang="en-US" sz="950" b="1" spc="100" kern="0" dirty="0">
                <a:solidFill>
                  <a:srgbClr val="003975"/>
                </a:solidFill>
                <a:latin typeface="Noto Sans" pitchFamily="34" charset="0"/>
                <a:ea typeface="Noto Sans" pitchFamily="34" charset="-122"/>
                <a:cs typeface="Noto Sans" pitchFamily="34" charset="-120"/>
              </a:rPr>
              <a:t>WHAT IT IS</a:t>
            </a:r>
            <a:endParaRPr lang="en-US" sz="950" dirty="0"/>
          </a:p>
        </p:txBody>
      </p:sp>
      <p:sp>
        <p:nvSpPr>
          <p:cNvPr id="9" name="Text 6"/>
          <p:cNvSpPr txBox="1"/>
          <p:nvPr/>
        </p:nvSpPr>
        <p:spPr>
          <a:xfrm>
            <a:off x="7680960" y="2057400"/>
            <a:ext cx="3779215" cy="630936"/>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The filters sit in a panel on the left. Schemes are grouped under headings for the kind of support they give.</a:t>
            </a:r>
            <a:endParaRPr lang="en-US" sz="1200" dirty="0"/>
          </a:p>
        </p:txBody>
      </p:sp>
      <p:sp>
        <p:nvSpPr>
          <p:cNvPr id="10" name="Text 7"/>
          <p:cNvSpPr txBox="1"/>
          <p:nvPr/>
        </p:nvSpPr>
        <p:spPr>
          <a:xfrm>
            <a:off x="7680960" y="2889504"/>
            <a:ext cx="3779215" cy="201168"/>
          </a:xfrm>
          <a:prstGeom prst="rect">
            <a:avLst/>
          </a:prstGeom>
          <a:noFill/>
          <a:ln/>
        </p:spPr>
        <p:txBody>
          <a:bodyPr wrap="square" lIns="0" tIns="0" rIns="0" bIns="0" rtlCol="0" anchor="ctr"/>
          <a:lstStyle/>
          <a:p>
            <a:pPr indent="0" marL="0">
              <a:buNone/>
            </a:pPr>
            <a:r>
              <a:rPr lang="en-US" sz="950" b="1" spc="100" kern="0" dirty="0">
                <a:solidFill>
                  <a:srgbClr val="005EB9"/>
                </a:solidFill>
                <a:latin typeface="Noto Sans" pitchFamily="34" charset="0"/>
                <a:ea typeface="Noto Sans" pitchFamily="34" charset="-122"/>
                <a:cs typeface="Noto Sans" pitchFamily="34" charset="-120"/>
              </a:rPr>
              <a:t>HOW IT WORKS</a:t>
            </a:r>
            <a:endParaRPr lang="en-US" sz="950" dirty="0"/>
          </a:p>
        </p:txBody>
      </p:sp>
      <p:sp>
        <p:nvSpPr>
          <p:cNvPr id="11" name="Shape 8"/>
          <p:cNvSpPr/>
          <p:nvPr/>
        </p:nvSpPr>
        <p:spPr>
          <a:xfrm>
            <a:off x="7680960" y="3218688"/>
            <a:ext cx="54864" cy="54864"/>
          </a:xfrm>
          <a:prstGeom prst="rect">
            <a:avLst/>
          </a:prstGeom>
          <a:solidFill>
            <a:srgbClr val="005EB9"/>
          </a:solidFill>
          <a:ln w="12700">
            <a:solidFill>
              <a:srgbClr val="005EB9"/>
            </a:solidFill>
            <a:prstDash val="solid"/>
          </a:ln>
        </p:spPr>
      </p:sp>
      <p:sp>
        <p:nvSpPr>
          <p:cNvPr id="12" name="Text 9"/>
          <p:cNvSpPr txBox="1"/>
          <p:nvPr/>
        </p:nvSpPr>
        <p:spPr>
          <a:xfrm>
            <a:off x="7863840" y="3163824"/>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Choose Schemes or Services first, then a group, then a category</a:t>
            </a:r>
            <a:endParaRPr lang="en-US" sz="1200" dirty="0"/>
          </a:p>
        </p:txBody>
      </p:sp>
      <p:sp>
        <p:nvSpPr>
          <p:cNvPr id="13" name="Shape 10"/>
          <p:cNvSpPr/>
          <p:nvPr/>
        </p:nvSpPr>
        <p:spPr>
          <a:xfrm>
            <a:off x="7680960" y="3712464"/>
            <a:ext cx="54864" cy="54864"/>
          </a:xfrm>
          <a:prstGeom prst="rect">
            <a:avLst/>
          </a:prstGeom>
          <a:solidFill>
            <a:srgbClr val="005EB9"/>
          </a:solidFill>
          <a:ln w="12700">
            <a:solidFill>
              <a:srgbClr val="005EB9"/>
            </a:solidFill>
            <a:prstDash val="solid"/>
          </a:ln>
        </p:spPr>
      </p:sp>
      <p:sp>
        <p:nvSpPr>
          <p:cNvPr id="14" name="Text 11"/>
          <p:cNvSpPr txBox="1"/>
          <p:nvPr/>
        </p:nvSpPr>
        <p:spPr>
          <a:xfrm>
            <a:off x="7863840" y="3657600"/>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Each heading opens to show its schemes, with a link to the rest</a:t>
            </a:r>
            <a:endParaRPr lang="en-US" sz="1200" dirty="0"/>
          </a:p>
        </p:txBody>
      </p:sp>
      <p:sp>
        <p:nvSpPr>
          <p:cNvPr id="15" name="Shape 12"/>
          <p:cNvSpPr/>
          <p:nvPr/>
        </p:nvSpPr>
        <p:spPr>
          <a:xfrm>
            <a:off x="7680960" y="4206240"/>
            <a:ext cx="54864" cy="54864"/>
          </a:xfrm>
          <a:prstGeom prst="rect">
            <a:avLst/>
          </a:prstGeom>
          <a:solidFill>
            <a:srgbClr val="005EB9"/>
          </a:solidFill>
          <a:ln w="12700">
            <a:solidFill>
              <a:srgbClr val="005EB9"/>
            </a:solidFill>
            <a:prstDash val="solid"/>
          </a:ln>
        </p:spPr>
      </p:sp>
      <p:sp>
        <p:nvSpPr>
          <p:cNvPr id="16" name="Text 13"/>
          <p:cNvSpPr txBox="1"/>
          <p:nvPr/>
        </p:nvSpPr>
        <p:spPr>
          <a:xfrm>
            <a:off x="7863840" y="4151376"/>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Each card names the organisation or portal that runs the scheme</a:t>
            </a:r>
            <a:endParaRPr lang="en-US" sz="1200" dirty="0"/>
          </a:p>
        </p:txBody>
      </p:sp>
      <p:sp>
        <p:nvSpPr>
          <p:cNvPr id="17" name="Text 14"/>
          <p:cNvSpPr txBox="1"/>
          <p:nvPr/>
        </p:nvSpPr>
        <p:spPr>
          <a:xfrm>
            <a:off x="7680960" y="4846320"/>
            <a:ext cx="3779215" cy="201168"/>
          </a:xfrm>
          <a:prstGeom prst="rect">
            <a:avLst/>
          </a:prstGeom>
          <a:noFill/>
          <a:ln/>
        </p:spPr>
        <p:txBody>
          <a:bodyPr wrap="square" lIns="0" tIns="0" rIns="0" bIns="0" rtlCol="0" anchor="ctr"/>
          <a:lstStyle/>
          <a:p>
            <a:pPr indent="0" marL="0">
              <a:buNone/>
            </a:pPr>
            <a:r>
              <a:rPr lang="en-US" sz="950" b="1" spc="100" kern="0" dirty="0">
                <a:solidFill>
                  <a:srgbClr val="005EB9"/>
                </a:solidFill>
                <a:latin typeface="Noto Sans" pitchFamily="34" charset="0"/>
                <a:ea typeface="Noto Sans" pitchFamily="34" charset="-122"/>
                <a:cs typeface="Noto Sans" pitchFamily="34" charset="-120"/>
              </a:rPr>
              <a:t>WHY IT HELPS</a:t>
            </a:r>
            <a:endParaRPr lang="en-US" sz="950" dirty="0"/>
          </a:p>
        </p:txBody>
      </p:sp>
      <p:sp>
        <p:nvSpPr>
          <p:cNvPr id="18" name="Shape 15"/>
          <p:cNvSpPr/>
          <p:nvPr/>
        </p:nvSpPr>
        <p:spPr>
          <a:xfrm>
            <a:off x="7680960" y="5175504"/>
            <a:ext cx="54864" cy="54864"/>
          </a:xfrm>
          <a:prstGeom prst="rect">
            <a:avLst/>
          </a:prstGeom>
          <a:solidFill>
            <a:srgbClr val="005EB9"/>
          </a:solidFill>
          <a:ln w="12700">
            <a:solidFill>
              <a:srgbClr val="005EB9"/>
            </a:solidFill>
            <a:prstDash val="solid"/>
          </a:ln>
        </p:spPr>
      </p:sp>
      <p:sp>
        <p:nvSpPr>
          <p:cNvPr id="19" name="Text 16"/>
          <p:cNvSpPr txBox="1"/>
          <p:nvPr/>
        </p:nvSpPr>
        <p:spPr>
          <a:xfrm>
            <a:off x="7863840" y="5120640"/>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A visitor sees every kind of support before reading a single scheme</a:t>
            </a:r>
            <a:endParaRPr lang="en-US" sz="1200" dirty="0"/>
          </a:p>
        </p:txBody>
      </p:sp>
      <p:sp>
        <p:nvSpPr>
          <p:cNvPr id="20" name="Shape 17"/>
          <p:cNvSpPr/>
          <p:nvPr/>
        </p:nvSpPr>
        <p:spPr>
          <a:xfrm>
            <a:off x="7680960" y="5669280"/>
            <a:ext cx="54864" cy="54864"/>
          </a:xfrm>
          <a:prstGeom prst="rect">
            <a:avLst/>
          </a:prstGeom>
          <a:solidFill>
            <a:srgbClr val="005EB9"/>
          </a:solidFill>
          <a:ln w="12700">
            <a:solidFill>
              <a:srgbClr val="005EB9"/>
            </a:solidFill>
            <a:prstDash val="solid"/>
          </a:ln>
        </p:spPr>
      </p:sp>
      <p:sp>
        <p:nvSpPr>
          <p:cNvPr id="21" name="Text 18"/>
          <p:cNvSpPr txBox="1"/>
          <p:nvPr/>
        </p:nvSpPr>
        <p:spPr>
          <a:xfrm>
            <a:off x="7863840" y="5614416"/>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The organisation filter uses the same name as the menu</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38912"/>
            <a:ext cx="10728655" cy="219456"/>
          </a:xfrm>
          <a:prstGeom prst="rect">
            <a:avLst/>
          </a:prstGeom>
          <a:noFill/>
          <a:ln/>
        </p:spPr>
        <p:txBody>
          <a:bodyPr wrap="square" lIns="0" tIns="0" rIns="0" bIns="0" rtlCol="0" anchor="ctr"/>
          <a:lstStyle/>
          <a:p>
            <a:pPr indent="0" marL="0">
              <a:buNone/>
            </a:pPr>
            <a:r>
              <a:rPr lang="en-US" sz="950" b="1" spc="100" kern="0" dirty="0">
                <a:solidFill>
                  <a:srgbClr val="54585E"/>
                </a:solidFill>
                <a:latin typeface="Noto Sans" pitchFamily="34" charset="0"/>
                <a:ea typeface="Noto Sans" pitchFamily="34" charset="-122"/>
                <a:cs typeface="Noto Sans" pitchFamily="34" charset="-120"/>
              </a:rPr>
              <a:t>THE SAME TWO QUESTIONS, IN CHAT</a:t>
            </a:r>
            <a:endParaRPr lang="en-US" sz="950" dirty="0"/>
          </a:p>
        </p:txBody>
      </p:sp>
      <p:sp>
        <p:nvSpPr>
          <p:cNvPr id="3" name="Text 1"/>
          <p:cNvSpPr txBox="1"/>
          <p:nvPr/>
        </p:nvSpPr>
        <p:spPr>
          <a:xfrm>
            <a:off x="731520" y="694944"/>
            <a:ext cx="8351215" cy="512064"/>
          </a:xfrm>
          <a:prstGeom prst="rect">
            <a:avLst/>
          </a:prstGeom>
          <a:noFill/>
          <a:ln/>
        </p:spPr>
        <p:txBody>
          <a:bodyPr wrap="square" lIns="0" tIns="0" rIns="0" bIns="0" rtlCol="0" anchor="ctr"/>
          <a:lstStyle/>
          <a:p>
            <a:pPr indent="0" marL="0">
              <a:buNone/>
            </a:pPr>
            <a:r>
              <a:rPr lang="en-US" sz="3000" b="1" dirty="0">
                <a:solidFill>
                  <a:srgbClr val="003975"/>
                </a:solidFill>
                <a:latin typeface="Noto Sans" pitchFamily="34" charset="0"/>
                <a:ea typeface="Noto Sans" pitchFamily="34" charset="-122"/>
                <a:cs typeface="Noto Sans" pitchFamily="34" charset="-120"/>
              </a:rPr>
              <a:t>The Assistant · Samajik Sahayak</a:t>
            </a:r>
            <a:endParaRPr lang="en-US" sz="3000" dirty="0"/>
          </a:p>
        </p:txBody>
      </p:sp>
      <p:sp>
        <p:nvSpPr>
          <p:cNvPr id="4" name="Shape 2"/>
          <p:cNvSpPr/>
          <p:nvPr/>
        </p:nvSpPr>
        <p:spPr>
          <a:xfrm>
            <a:off x="731520" y="1298448"/>
            <a:ext cx="3808476" cy="246888"/>
          </a:xfrm>
          <a:prstGeom prst="roundRect">
            <a:avLst>
              <a:gd name="adj" fmla="val 50000"/>
            </a:avLst>
          </a:prstGeom>
          <a:solidFill>
            <a:srgbClr val="EEF0F3"/>
          </a:solidFill>
          <a:ln w="12700">
            <a:solidFill>
              <a:srgbClr val="EEF0F3"/>
            </a:solidFill>
            <a:prstDash val="solid"/>
          </a:ln>
        </p:spPr>
      </p:sp>
      <p:sp>
        <p:nvSpPr>
          <p:cNvPr id="5" name="Text 3"/>
          <p:cNvSpPr txBox="1"/>
          <p:nvPr/>
        </p:nvSpPr>
        <p:spPr>
          <a:xfrm>
            <a:off x="731520" y="1298448"/>
            <a:ext cx="3808476" cy="246888"/>
          </a:xfrm>
          <a:prstGeom prst="rect">
            <a:avLst/>
          </a:prstGeom>
          <a:noFill/>
          <a:ln/>
        </p:spPr>
        <p:txBody>
          <a:bodyPr wrap="square" lIns="0" tIns="0" rIns="0" bIns="0" rtlCol="0" anchor="ctr"/>
          <a:lstStyle/>
          <a:p>
            <a:pPr algn="ctr" indent="0" marL="0">
              <a:buNone/>
            </a:pPr>
            <a:r>
              <a:rPr lang="en-US" sz="850" b="1" spc="50" kern="0" dirty="0">
                <a:solidFill>
                  <a:srgbClr val="54585E"/>
                </a:solidFill>
                <a:latin typeface="Noto Sans" pitchFamily="34" charset="0"/>
                <a:ea typeface="Noto Sans" pitchFamily="34" charset="-122"/>
                <a:cs typeface="Noto Sans" pitchFamily="34" charset="-120"/>
              </a:rPr>
              <a:t>THE CHAT IS ON THE SITE · THE TWO QUESTIONS ARE NEW</a:t>
            </a:r>
            <a:endParaRPr lang="en-US" sz="850" dirty="0"/>
          </a:p>
        </p:txBody>
      </p:sp>
      <p:sp>
        <p:nvSpPr>
          <p:cNvPr id="6" name="Shape 4"/>
          <p:cNvSpPr/>
          <p:nvPr/>
        </p:nvSpPr>
        <p:spPr>
          <a:xfrm>
            <a:off x="704088" y="1755648"/>
            <a:ext cx="6547104" cy="4112514"/>
          </a:xfrm>
          <a:prstGeom prst="rect">
            <a:avLst/>
          </a:prstGeom>
          <a:solidFill>
            <a:srgbClr val="FFFFFF"/>
          </a:solidFill>
          <a:ln w="9525">
            <a:solidFill>
              <a:srgbClr val="DCDEE1"/>
            </a:solidFill>
            <a:prstDash val="solid"/>
          </a:ln>
        </p:spPr>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31520" y="1783080"/>
            <a:ext cx="6492240" cy="4057650"/>
          </a:xfrm>
          <a:prstGeom prst="rect">
            <a:avLst/>
          </a:prstGeom>
        </p:spPr>
      </p:pic>
      <p:sp>
        <p:nvSpPr>
          <p:cNvPr id="8" name="Text 5"/>
          <p:cNvSpPr txBox="1"/>
          <p:nvPr/>
        </p:nvSpPr>
        <p:spPr>
          <a:xfrm>
            <a:off x="731520" y="5968746"/>
            <a:ext cx="6492240" cy="384048"/>
          </a:xfrm>
          <a:prstGeom prst="rect">
            <a:avLst/>
          </a:prstGeom>
          <a:noFill/>
          <a:ln/>
        </p:spPr>
        <p:txBody>
          <a:bodyPr wrap="square" lIns="0" tIns="0" rIns="0" bIns="0" rtlCol="0" anchor="ctr"/>
          <a:lstStyle/>
          <a:p>
            <a:pPr indent="0" marL="0">
              <a:lnSpc>
                <a:spcPct val="115000"/>
              </a:lnSpc>
              <a:buNone/>
            </a:pPr>
            <a:r>
              <a:rPr lang="en-US" sz="850" dirty="0">
                <a:solidFill>
                  <a:srgbClr val="54585E"/>
                </a:solidFill>
                <a:latin typeface="Noto Sans" pitchFamily="34" charset="0"/>
                <a:ea typeface="Noto Sans" pitchFamily="34" charset="-122"/>
                <a:cs typeface="Noto Sans" pitchFamily="34" charset="-120"/>
              </a:rPr>
              <a:t>▶  Recorded: the assistant opened from an ordinary page. Scheduled Castes, then Loans and Credit.</a:t>
            </a:r>
            <a:endParaRPr lang="en-US" sz="850" dirty="0"/>
          </a:p>
        </p:txBody>
      </p:sp>
      <p:sp>
        <p:nvSpPr>
          <p:cNvPr id="9" name="Text 6"/>
          <p:cNvSpPr txBox="1"/>
          <p:nvPr/>
        </p:nvSpPr>
        <p:spPr>
          <a:xfrm>
            <a:off x="7680960" y="1783080"/>
            <a:ext cx="3779215" cy="201168"/>
          </a:xfrm>
          <a:prstGeom prst="rect">
            <a:avLst/>
          </a:prstGeom>
          <a:noFill/>
          <a:ln/>
        </p:spPr>
        <p:txBody>
          <a:bodyPr wrap="square" lIns="0" tIns="0" rIns="0" bIns="0" rtlCol="0" anchor="ctr"/>
          <a:lstStyle/>
          <a:p>
            <a:pPr indent="0" marL="0">
              <a:buNone/>
            </a:pPr>
            <a:r>
              <a:rPr lang="en-US" sz="950" b="1" spc="100" kern="0" dirty="0">
                <a:solidFill>
                  <a:srgbClr val="003975"/>
                </a:solidFill>
                <a:latin typeface="Noto Sans" pitchFamily="34" charset="0"/>
                <a:ea typeface="Noto Sans" pitchFamily="34" charset="-122"/>
                <a:cs typeface="Noto Sans" pitchFamily="34" charset="-120"/>
              </a:rPr>
              <a:t>WHAT IT IS</a:t>
            </a:r>
            <a:endParaRPr lang="en-US" sz="950" dirty="0"/>
          </a:p>
        </p:txBody>
      </p:sp>
      <p:sp>
        <p:nvSpPr>
          <p:cNvPr id="10" name="Text 7"/>
          <p:cNvSpPr txBox="1"/>
          <p:nvPr/>
        </p:nvSpPr>
        <p:spPr>
          <a:xfrm>
            <a:off x="7680960" y="2057400"/>
            <a:ext cx="3779215" cy="630936"/>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The chat button in the corner of every page asks the same two questions, one at a time.</a:t>
            </a:r>
            <a:endParaRPr lang="en-US" sz="1200" dirty="0"/>
          </a:p>
        </p:txBody>
      </p:sp>
      <p:sp>
        <p:nvSpPr>
          <p:cNvPr id="11" name="Text 8"/>
          <p:cNvSpPr txBox="1"/>
          <p:nvPr/>
        </p:nvSpPr>
        <p:spPr>
          <a:xfrm>
            <a:off x="7680960" y="2889504"/>
            <a:ext cx="3779215" cy="201168"/>
          </a:xfrm>
          <a:prstGeom prst="rect">
            <a:avLst/>
          </a:prstGeom>
          <a:noFill/>
          <a:ln/>
        </p:spPr>
        <p:txBody>
          <a:bodyPr wrap="square" lIns="0" tIns="0" rIns="0" bIns="0" rtlCol="0" anchor="ctr"/>
          <a:lstStyle/>
          <a:p>
            <a:pPr indent="0" marL="0">
              <a:buNone/>
            </a:pPr>
            <a:r>
              <a:rPr lang="en-US" sz="950" b="1" spc="100" kern="0" dirty="0">
                <a:solidFill>
                  <a:srgbClr val="005EB9"/>
                </a:solidFill>
                <a:latin typeface="Noto Sans" pitchFamily="34" charset="0"/>
                <a:ea typeface="Noto Sans" pitchFamily="34" charset="-122"/>
                <a:cs typeface="Noto Sans" pitchFamily="34" charset="-120"/>
              </a:rPr>
              <a:t>HOW IT WORKS</a:t>
            </a:r>
            <a:endParaRPr lang="en-US" sz="950" dirty="0"/>
          </a:p>
        </p:txBody>
      </p:sp>
      <p:sp>
        <p:nvSpPr>
          <p:cNvPr id="12" name="Shape 9"/>
          <p:cNvSpPr/>
          <p:nvPr/>
        </p:nvSpPr>
        <p:spPr>
          <a:xfrm>
            <a:off x="7680960" y="3218688"/>
            <a:ext cx="54864" cy="54864"/>
          </a:xfrm>
          <a:prstGeom prst="rect">
            <a:avLst/>
          </a:prstGeom>
          <a:solidFill>
            <a:srgbClr val="005EB9"/>
          </a:solidFill>
          <a:ln w="12700">
            <a:solidFill>
              <a:srgbClr val="005EB9"/>
            </a:solidFill>
            <a:prstDash val="solid"/>
          </a:ln>
        </p:spPr>
      </p:sp>
      <p:sp>
        <p:nvSpPr>
          <p:cNvPr id="13" name="Text 10"/>
          <p:cNvSpPr txBox="1"/>
          <p:nvPr/>
        </p:nvSpPr>
        <p:spPr>
          <a:xfrm>
            <a:off x="7863840" y="3163824"/>
            <a:ext cx="3596335" cy="228600"/>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Pick your group, then the kind of support</a:t>
            </a:r>
            <a:endParaRPr lang="en-US" sz="1200" dirty="0"/>
          </a:p>
        </p:txBody>
      </p:sp>
      <p:sp>
        <p:nvSpPr>
          <p:cNvPr id="14" name="Shape 11"/>
          <p:cNvSpPr/>
          <p:nvPr/>
        </p:nvSpPr>
        <p:spPr>
          <a:xfrm>
            <a:off x="7680960" y="3520440"/>
            <a:ext cx="54864" cy="54864"/>
          </a:xfrm>
          <a:prstGeom prst="rect">
            <a:avLst/>
          </a:prstGeom>
          <a:solidFill>
            <a:srgbClr val="005EB9"/>
          </a:solidFill>
          <a:ln w="12700">
            <a:solidFill>
              <a:srgbClr val="005EB9"/>
            </a:solidFill>
            <a:prstDash val="solid"/>
          </a:ln>
        </p:spPr>
      </p:sp>
      <p:sp>
        <p:nvSpPr>
          <p:cNvPr id="15" name="Text 12"/>
          <p:cNvSpPr txBox="1"/>
          <p:nvPr/>
        </p:nvSpPr>
        <p:spPr>
          <a:xfrm>
            <a:off x="7863840" y="3465576"/>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The reply names the schemes and offers to open each one</a:t>
            </a:r>
            <a:endParaRPr lang="en-US" sz="1200" dirty="0"/>
          </a:p>
        </p:txBody>
      </p:sp>
      <p:sp>
        <p:nvSpPr>
          <p:cNvPr id="16" name="Shape 13"/>
          <p:cNvSpPr/>
          <p:nvPr/>
        </p:nvSpPr>
        <p:spPr>
          <a:xfrm>
            <a:off x="7680960" y="4014216"/>
            <a:ext cx="54864" cy="54864"/>
          </a:xfrm>
          <a:prstGeom prst="rect">
            <a:avLst/>
          </a:prstGeom>
          <a:solidFill>
            <a:srgbClr val="005EB9"/>
          </a:solidFill>
          <a:ln w="12700">
            <a:solidFill>
              <a:srgbClr val="005EB9"/>
            </a:solidFill>
            <a:prstDash val="solid"/>
          </a:ln>
        </p:spPr>
      </p:sp>
      <p:sp>
        <p:nvSpPr>
          <p:cNvPr id="17" name="Text 14"/>
          <p:cNvSpPr txBox="1"/>
          <p:nvPr/>
        </p:nvSpPr>
        <p:spPr>
          <a:xfrm>
            <a:off x="7863840" y="3959352"/>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It reads the same list as the home page, so the answers always match</a:t>
            </a:r>
            <a:endParaRPr lang="en-US" sz="1200" dirty="0"/>
          </a:p>
        </p:txBody>
      </p:sp>
      <p:sp>
        <p:nvSpPr>
          <p:cNvPr id="18" name="Text 15"/>
          <p:cNvSpPr txBox="1"/>
          <p:nvPr/>
        </p:nvSpPr>
        <p:spPr>
          <a:xfrm>
            <a:off x="7680960" y="4654296"/>
            <a:ext cx="3779215" cy="201168"/>
          </a:xfrm>
          <a:prstGeom prst="rect">
            <a:avLst/>
          </a:prstGeom>
          <a:noFill/>
          <a:ln/>
        </p:spPr>
        <p:txBody>
          <a:bodyPr wrap="square" lIns="0" tIns="0" rIns="0" bIns="0" rtlCol="0" anchor="ctr"/>
          <a:lstStyle/>
          <a:p>
            <a:pPr indent="0" marL="0">
              <a:buNone/>
            </a:pPr>
            <a:r>
              <a:rPr lang="en-US" sz="950" b="1" spc="100" kern="0" dirty="0">
                <a:solidFill>
                  <a:srgbClr val="005EB9"/>
                </a:solidFill>
                <a:latin typeface="Noto Sans" pitchFamily="34" charset="0"/>
                <a:ea typeface="Noto Sans" pitchFamily="34" charset="-122"/>
                <a:cs typeface="Noto Sans" pitchFamily="34" charset="-120"/>
              </a:rPr>
              <a:t>WHY IT HELPS</a:t>
            </a:r>
            <a:endParaRPr lang="en-US" sz="950" dirty="0"/>
          </a:p>
        </p:txBody>
      </p:sp>
      <p:sp>
        <p:nvSpPr>
          <p:cNvPr id="19" name="Shape 16"/>
          <p:cNvSpPr/>
          <p:nvPr/>
        </p:nvSpPr>
        <p:spPr>
          <a:xfrm>
            <a:off x="7680960" y="4983480"/>
            <a:ext cx="54864" cy="54864"/>
          </a:xfrm>
          <a:prstGeom prst="rect">
            <a:avLst/>
          </a:prstGeom>
          <a:solidFill>
            <a:srgbClr val="005EB9"/>
          </a:solidFill>
          <a:ln w="12700">
            <a:solidFill>
              <a:srgbClr val="005EB9"/>
            </a:solidFill>
            <a:prstDash val="solid"/>
          </a:ln>
        </p:spPr>
      </p:sp>
      <p:sp>
        <p:nvSpPr>
          <p:cNvPr id="20" name="Text 17"/>
          <p:cNvSpPr txBox="1"/>
          <p:nvPr/>
        </p:nvSpPr>
        <p:spPr>
          <a:xfrm>
            <a:off x="7863840" y="4928616"/>
            <a:ext cx="3596335" cy="420624"/>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Reachable from every page, even one that leads nowhere else</a:t>
            </a:r>
            <a:endParaRPr lang="en-US" sz="1200" dirty="0"/>
          </a:p>
        </p:txBody>
      </p:sp>
      <p:sp>
        <p:nvSpPr>
          <p:cNvPr id="21" name="Shape 18"/>
          <p:cNvSpPr/>
          <p:nvPr/>
        </p:nvSpPr>
        <p:spPr>
          <a:xfrm>
            <a:off x="7680960" y="5477256"/>
            <a:ext cx="54864" cy="54864"/>
          </a:xfrm>
          <a:prstGeom prst="rect">
            <a:avLst/>
          </a:prstGeom>
          <a:solidFill>
            <a:srgbClr val="005EB9"/>
          </a:solidFill>
          <a:ln w="12700">
            <a:solidFill>
              <a:srgbClr val="005EB9"/>
            </a:solidFill>
            <a:prstDash val="solid"/>
          </a:ln>
        </p:spPr>
      </p:sp>
      <p:sp>
        <p:nvSpPr>
          <p:cNvPr id="22" name="Text 19"/>
          <p:cNvSpPr txBox="1"/>
          <p:nvPr/>
        </p:nvSpPr>
        <p:spPr>
          <a:xfrm>
            <a:off x="7863840" y="5422392"/>
            <a:ext cx="3596335" cy="228600"/>
          </a:xfrm>
          <a:prstGeom prst="rect">
            <a:avLst/>
          </a:prstGeom>
          <a:noFill/>
          <a:ln/>
        </p:spPr>
        <p:txBody>
          <a:bodyPr wrap="square" lIns="0" tIns="0" rIns="0" bIns="0" rtlCol="0" anchor="t"/>
          <a:lstStyle/>
          <a:p>
            <a:pPr indent="0" marL="0">
              <a:lnSpc>
                <a:spcPct val="115000"/>
              </a:lnSpc>
              <a:buNone/>
            </a:pPr>
            <a:r>
              <a:rPr lang="en-US" sz="1200" dirty="0">
                <a:solidFill>
                  <a:srgbClr val="1E2124"/>
                </a:solidFill>
                <a:latin typeface="Noto Sans" pitchFamily="34" charset="0"/>
                <a:ea typeface="Noto Sans" pitchFamily="34" charset="-122"/>
                <a:cs typeface="Noto Sans" pitchFamily="34" charset="-120"/>
              </a:rPr>
              <a:t>One question per screen suits a phone</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3975"/>
        </a:solidFill>
      </p:bgPr>
    </p:bg>
    <p:spTree>
      <p:nvGrpSpPr>
        <p:cNvPr id="1" name=""/>
        <p:cNvGrpSpPr/>
        <p:nvPr/>
      </p:nvGrpSpPr>
      <p:grpSpPr>
        <a:xfrm>
          <a:off x="0" y="0"/>
          <a:ext cx="0" cy="0"/>
          <a:chOff x="0" y="0"/>
          <a:chExt cx="0" cy="0"/>
        </a:xfrm>
      </p:grpSpPr>
      <p:sp>
        <p:nvSpPr>
          <p:cNvPr id="2" name="Text 0"/>
          <p:cNvSpPr txBox="1"/>
          <p:nvPr/>
        </p:nvSpPr>
        <p:spPr>
          <a:xfrm>
            <a:off x="731520" y="640080"/>
            <a:ext cx="10728655" cy="219456"/>
          </a:xfrm>
          <a:prstGeom prst="rect">
            <a:avLst/>
          </a:prstGeom>
          <a:noFill/>
          <a:ln/>
        </p:spPr>
        <p:txBody>
          <a:bodyPr wrap="square" lIns="0" tIns="0" rIns="0" bIns="0" rtlCol="0" anchor="ctr"/>
          <a:lstStyle/>
          <a:p>
            <a:pPr indent="0" marL="0">
              <a:buNone/>
            </a:pPr>
            <a:r>
              <a:rPr lang="en-US" sz="950" b="1" spc="100" kern="0" dirty="0">
                <a:solidFill>
                  <a:srgbClr val="C0DBFF"/>
                </a:solidFill>
                <a:latin typeface="Noto Sans" pitchFamily="34" charset="0"/>
                <a:ea typeface="Noto Sans" pitchFamily="34" charset="-122"/>
                <a:cs typeface="Noto Sans" pitchFamily="34" charset="-120"/>
              </a:rPr>
              <a:t>IN SUMMARY</a:t>
            </a:r>
            <a:endParaRPr lang="en-US" sz="950" dirty="0"/>
          </a:p>
        </p:txBody>
      </p:sp>
      <p:sp>
        <p:nvSpPr>
          <p:cNvPr id="3" name="Text 1"/>
          <p:cNvSpPr txBox="1"/>
          <p:nvPr/>
        </p:nvSpPr>
        <p:spPr>
          <a:xfrm>
            <a:off x="731520" y="914400"/>
            <a:ext cx="10728655" cy="640080"/>
          </a:xfrm>
          <a:prstGeom prst="rect">
            <a:avLst/>
          </a:prstGeom>
          <a:noFill/>
          <a:ln/>
        </p:spPr>
        <p:txBody>
          <a:bodyPr wrap="square" lIns="0" tIns="0" rIns="0" bIns="0" rtlCol="0" anchor="ctr"/>
          <a:lstStyle/>
          <a:p>
            <a:pPr indent="0" marL="0">
              <a:buNone/>
            </a:pPr>
            <a:r>
              <a:rPr lang="en-US" sz="3400" b="1" dirty="0">
                <a:solidFill>
                  <a:srgbClr val="FFFFFF"/>
                </a:solidFill>
                <a:latin typeface="Noto Sans" pitchFamily="34" charset="0"/>
                <a:ea typeface="Noto Sans" pitchFamily="34" charset="-122"/>
                <a:cs typeface="Noto Sans" pitchFamily="34" charset="-120"/>
              </a:rPr>
              <a:t>Ten Options, Four Parts of the Site</a:t>
            </a:r>
            <a:endParaRPr lang="en-US" sz="3400" dirty="0"/>
          </a:p>
        </p:txBody>
      </p:sp>
      <p:sp>
        <p:nvSpPr>
          <p:cNvPr id="4" name="Text 2"/>
          <p:cNvSpPr txBox="1"/>
          <p:nvPr/>
        </p:nvSpPr>
        <p:spPr>
          <a:xfrm>
            <a:off x="731520" y="1600200"/>
            <a:ext cx="10728655" cy="457200"/>
          </a:xfrm>
          <a:prstGeom prst="rect">
            <a:avLst/>
          </a:prstGeom>
          <a:noFill/>
          <a:ln/>
        </p:spPr>
        <p:txBody>
          <a:bodyPr wrap="square" lIns="0" tIns="0" rIns="0" bIns="0" rtlCol="0" anchor="ctr"/>
          <a:lstStyle/>
          <a:p>
            <a:pPr indent="0" marL="0">
              <a:lnSpc>
                <a:spcPct val="120000"/>
              </a:lnSpc>
              <a:buNone/>
            </a:pPr>
            <a:r>
              <a:rPr lang="en-US" sz="1400" dirty="0">
                <a:solidFill>
                  <a:srgbClr val="C0DBFF"/>
                </a:solidFill>
                <a:latin typeface="Noto Sans" pitchFamily="34" charset="0"/>
                <a:ea typeface="Noto Sans" pitchFamily="34" charset="-122"/>
                <a:cs typeface="Noto Sans" pitchFamily="34" charset="-120"/>
              </a:rPr>
              <a:t>Each part is decided on its own. Every way of finding a scheme starts from who you are.</a:t>
            </a:r>
            <a:endParaRPr lang="en-US" sz="1400" dirty="0"/>
          </a:p>
        </p:txBody>
      </p:sp>
      <p:sp>
        <p:nvSpPr>
          <p:cNvPr id="5" name="Shape 3"/>
          <p:cNvSpPr/>
          <p:nvPr/>
        </p:nvSpPr>
        <p:spPr>
          <a:xfrm>
            <a:off x="731520" y="2121408"/>
            <a:ext cx="10728655" cy="0"/>
          </a:xfrm>
          <a:prstGeom prst="line">
            <a:avLst/>
          </a:prstGeom>
          <a:noFill/>
          <a:ln w="12700">
            <a:solidFill>
              <a:srgbClr val="004B96"/>
            </a:solidFill>
            <a:prstDash val="solid"/>
          </a:ln>
        </p:spPr>
      </p:sp>
      <p:sp>
        <p:nvSpPr>
          <p:cNvPr id="6" name="Text 4"/>
          <p:cNvSpPr txBox="1"/>
          <p:nvPr/>
        </p:nvSpPr>
        <p:spPr>
          <a:xfrm>
            <a:off x="731520" y="2194560"/>
            <a:ext cx="2377440" cy="310896"/>
          </a:xfrm>
          <a:prstGeom prst="rect">
            <a:avLst/>
          </a:prstGeom>
          <a:noFill/>
          <a:ln/>
        </p:spPr>
        <p:txBody>
          <a:bodyPr wrap="square" lIns="0" tIns="0" rIns="0" bIns="0" rtlCol="0" anchor="ctr"/>
          <a:lstStyle/>
          <a:p>
            <a:pPr indent="0" marL="0">
              <a:buNone/>
            </a:pPr>
            <a:r>
              <a:rPr lang="en-US" sz="1300" dirty="0">
                <a:solidFill>
                  <a:srgbClr val="C0DBFF"/>
                </a:solidFill>
                <a:latin typeface="Noto Sans" pitchFamily="34" charset="0"/>
                <a:ea typeface="Noto Sans" pitchFamily="34" charset="-122"/>
                <a:cs typeface="Noto Sans" pitchFamily="34" charset="-120"/>
              </a:rPr>
              <a:t>The home page</a:t>
            </a:r>
            <a:endParaRPr lang="en-US" sz="1300" dirty="0"/>
          </a:p>
        </p:txBody>
      </p:sp>
      <p:sp>
        <p:nvSpPr>
          <p:cNvPr id="7" name="Text 5"/>
          <p:cNvSpPr txBox="1"/>
          <p:nvPr/>
        </p:nvSpPr>
        <p:spPr>
          <a:xfrm>
            <a:off x="3200400" y="2194560"/>
            <a:ext cx="3566160" cy="310896"/>
          </a:xfrm>
          <a:prstGeom prst="rect">
            <a:avLst/>
          </a:prstGeom>
          <a:noFill/>
          <a:ln/>
        </p:spPr>
        <p:txBody>
          <a:bodyPr wrap="square" lIns="0" tIns="0" rIns="0" bIns="0" rtlCol="0" anchor="ctr"/>
          <a:lstStyle/>
          <a:p>
            <a:pPr indent="0" marL="0">
              <a:buNone/>
            </a:pPr>
            <a:r>
              <a:rPr lang="en-US" sz="1300" b="1" dirty="0">
                <a:solidFill>
                  <a:srgbClr val="FFFFFF"/>
                </a:solidFill>
                <a:latin typeface="Noto Sans" pitchFamily="34" charset="0"/>
                <a:ea typeface="Noto Sans" pitchFamily="34" charset="-122"/>
                <a:cs typeface="Noto Sans" pitchFamily="34" charset="-120"/>
              </a:rPr>
              <a:t>A · Explore User Personas</a:t>
            </a:r>
            <a:endParaRPr lang="en-US" sz="1300" dirty="0"/>
          </a:p>
        </p:txBody>
      </p:sp>
      <p:sp>
        <p:nvSpPr>
          <p:cNvPr id="8" name="Text 6"/>
          <p:cNvSpPr txBox="1"/>
          <p:nvPr/>
        </p:nvSpPr>
        <p:spPr>
          <a:xfrm>
            <a:off x="6858000" y="2194560"/>
            <a:ext cx="4602175" cy="310896"/>
          </a:xfrm>
          <a:prstGeom prst="rect">
            <a:avLst/>
          </a:prstGeom>
          <a:noFill/>
          <a:ln/>
        </p:spPr>
        <p:txBody>
          <a:bodyPr wrap="square" lIns="0" tIns="0" rIns="0" bIns="0" rtlCol="0" anchor="ctr"/>
          <a:lstStyle/>
          <a:p>
            <a:pPr indent="0" marL="0">
              <a:buNone/>
            </a:pPr>
            <a:r>
              <a:rPr lang="en-US" sz="1200" dirty="0">
                <a:solidFill>
                  <a:srgbClr val="FFFFFF">
                    <a:alpha val="85000"/>
                  </a:srgbClr>
                </a:solidFill>
                <a:latin typeface="Noto Sans" pitchFamily="34" charset="0"/>
                <a:ea typeface="Noto Sans" pitchFamily="34" charset="-122"/>
                <a:cs typeface="Noto Sans" pitchFamily="34" charset="-120"/>
              </a:rPr>
              <a:t>On the site today. One group at a time.</a:t>
            </a:r>
            <a:endParaRPr lang="en-US" sz="1200" dirty="0"/>
          </a:p>
        </p:txBody>
      </p:sp>
      <p:sp>
        <p:nvSpPr>
          <p:cNvPr id="9" name="Text 7"/>
          <p:cNvSpPr txBox="1"/>
          <p:nvPr/>
        </p:nvSpPr>
        <p:spPr>
          <a:xfrm>
            <a:off x="731520" y="2578608"/>
            <a:ext cx="2377440" cy="310896"/>
          </a:xfrm>
          <a:prstGeom prst="rect">
            <a:avLst/>
          </a:prstGeom>
          <a:noFill/>
          <a:ln/>
        </p:spPr>
        <p:txBody>
          <a:bodyPr wrap="square" lIns="0" tIns="0" rIns="0" bIns="0" rtlCol="0" anchor="ctr"/>
          <a:lstStyle/>
          <a:p>
            <a:pPr indent="0" marL="0">
              <a:buNone/>
            </a:pPr>
            <a:endParaRPr lang="en-US" sz="1300" dirty="0"/>
          </a:p>
        </p:txBody>
      </p:sp>
      <p:sp>
        <p:nvSpPr>
          <p:cNvPr id="10" name="Text 8"/>
          <p:cNvSpPr txBox="1"/>
          <p:nvPr/>
        </p:nvSpPr>
        <p:spPr>
          <a:xfrm>
            <a:off x="3200400" y="2578608"/>
            <a:ext cx="3566160" cy="310896"/>
          </a:xfrm>
          <a:prstGeom prst="rect">
            <a:avLst/>
          </a:prstGeom>
          <a:noFill/>
          <a:ln/>
        </p:spPr>
        <p:txBody>
          <a:bodyPr wrap="square" lIns="0" tIns="0" rIns="0" bIns="0" rtlCol="0" anchor="ctr"/>
          <a:lstStyle/>
          <a:p>
            <a:pPr indent="0" marL="0">
              <a:buNone/>
            </a:pPr>
            <a:r>
              <a:rPr lang="en-US" sz="1300" b="1" dirty="0">
                <a:solidFill>
                  <a:srgbClr val="FFFFFF"/>
                </a:solidFill>
                <a:latin typeface="Noto Sans" pitchFamily="34" charset="0"/>
                <a:ea typeface="Noto Sans" pitchFamily="34" charset="-122"/>
                <a:cs typeface="Noto Sans" pitchFamily="34" charset="-120"/>
              </a:rPr>
              <a:t>B · Two Questions</a:t>
            </a:r>
            <a:endParaRPr lang="en-US" sz="1300" dirty="0"/>
          </a:p>
        </p:txBody>
      </p:sp>
      <p:sp>
        <p:nvSpPr>
          <p:cNvPr id="11" name="Text 9"/>
          <p:cNvSpPr txBox="1"/>
          <p:nvPr/>
        </p:nvSpPr>
        <p:spPr>
          <a:xfrm>
            <a:off x="6858000" y="2578608"/>
            <a:ext cx="4602175" cy="310896"/>
          </a:xfrm>
          <a:prstGeom prst="rect">
            <a:avLst/>
          </a:prstGeom>
          <a:noFill/>
          <a:ln/>
        </p:spPr>
        <p:txBody>
          <a:bodyPr wrap="square" lIns="0" tIns="0" rIns="0" bIns="0" rtlCol="0" anchor="ctr"/>
          <a:lstStyle/>
          <a:p>
            <a:pPr indent="0" marL="0">
              <a:buNone/>
            </a:pPr>
            <a:r>
              <a:rPr lang="en-US" sz="1200" dirty="0">
                <a:solidFill>
                  <a:srgbClr val="FFFFFF">
                    <a:alpha val="85000"/>
                  </a:srgbClr>
                </a:solidFill>
                <a:latin typeface="Noto Sans" pitchFamily="34" charset="0"/>
                <a:ea typeface="Noto Sans" pitchFamily="34" charset="-122"/>
                <a:cs typeface="Noto Sans" pitchFamily="34" charset="-120"/>
              </a:rPr>
              <a:t>Two questions, then three schemes and a link to all.</a:t>
            </a:r>
            <a:endParaRPr lang="en-US" sz="1200" dirty="0"/>
          </a:p>
        </p:txBody>
      </p:sp>
      <p:sp>
        <p:nvSpPr>
          <p:cNvPr id="12" name="Text 10"/>
          <p:cNvSpPr txBox="1"/>
          <p:nvPr/>
        </p:nvSpPr>
        <p:spPr>
          <a:xfrm>
            <a:off x="731520" y="2962656"/>
            <a:ext cx="2377440" cy="310896"/>
          </a:xfrm>
          <a:prstGeom prst="rect">
            <a:avLst/>
          </a:prstGeom>
          <a:noFill/>
          <a:ln/>
        </p:spPr>
        <p:txBody>
          <a:bodyPr wrap="square" lIns="0" tIns="0" rIns="0" bIns="0" rtlCol="0" anchor="ctr"/>
          <a:lstStyle/>
          <a:p>
            <a:pPr indent="0" marL="0">
              <a:buNone/>
            </a:pPr>
            <a:endParaRPr lang="en-US" sz="1300" dirty="0"/>
          </a:p>
        </p:txBody>
      </p:sp>
      <p:sp>
        <p:nvSpPr>
          <p:cNvPr id="13" name="Text 11"/>
          <p:cNvSpPr txBox="1"/>
          <p:nvPr/>
        </p:nvSpPr>
        <p:spPr>
          <a:xfrm>
            <a:off x="3200400" y="2962656"/>
            <a:ext cx="3566160" cy="310896"/>
          </a:xfrm>
          <a:prstGeom prst="rect">
            <a:avLst/>
          </a:prstGeom>
          <a:noFill/>
          <a:ln/>
        </p:spPr>
        <p:txBody>
          <a:bodyPr wrap="square" lIns="0" tIns="0" rIns="0" bIns="0" rtlCol="0" anchor="ctr"/>
          <a:lstStyle/>
          <a:p>
            <a:pPr indent="0" marL="0">
              <a:buNone/>
            </a:pPr>
            <a:r>
              <a:rPr lang="en-US" sz="1300" b="1" dirty="0">
                <a:solidFill>
                  <a:srgbClr val="FFFFFF"/>
                </a:solidFill>
                <a:latin typeface="Noto Sans" pitchFamily="34" charset="0"/>
                <a:ea typeface="Noto Sans" pitchFamily="34" charset="-122"/>
                <a:cs typeface="Noto Sans" pitchFamily="34" charset="-120"/>
              </a:rPr>
              <a:t>C · One Tap</a:t>
            </a:r>
            <a:endParaRPr lang="en-US" sz="1300" dirty="0"/>
          </a:p>
        </p:txBody>
      </p:sp>
      <p:sp>
        <p:nvSpPr>
          <p:cNvPr id="14" name="Text 12"/>
          <p:cNvSpPr txBox="1"/>
          <p:nvPr/>
        </p:nvSpPr>
        <p:spPr>
          <a:xfrm>
            <a:off x="6858000" y="2962656"/>
            <a:ext cx="4602175" cy="310896"/>
          </a:xfrm>
          <a:prstGeom prst="rect">
            <a:avLst/>
          </a:prstGeom>
          <a:noFill/>
          <a:ln/>
        </p:spPr>
        <p:txBody>
          <a:bodyPr wrap="square" lIns="0" tIns="0" rIns="0" bIns="0" rtlCol="0" anchor="ctr"/>
          <a:lstStyle/>
          <a:p>
            <a:pPr indent="0" marL="0">
              <a:buNone/>
            </a:pPr>
            <a:r>
              <a:rPr lang="en-US" sz="1200" dirty="0">
                <a:solidFill>
                  <a:srgbClr val="FFFFFF">
                    <a:alpha val="85000"/>
                  </a:srgbClr>
                </a:solidFill>
                <a:latin typeface="Noto Sans" pitchFamily="34" charset="0"/>
                <a:ea typeface="Noto Sans" pitchFamily="34" charset="-122"/>
                <a:cs typeface="Noto Sans" pitchFamily="34" charset="-120"/>
              </a:rPr>
              <a:t>Pick your group. Its portal first, then its schemes.</a:t>
            </a:r>
            <a:endParaRPr lang="en-US" sz="1200" dirty="0"/>
          </a:p>
        </p:txBody>
      </p:sp>
      <p:sp>
        <p:nvSpPr>
          <p:cNvPr id="15" name="Shape 13"/>
          <p:cNvSpPr/>
          <p:nvPr/>
        </p:nvSpPr>
        <p:spPr>
          <a:xfrm>
            <a:off x="731520" y="3273552"/>
            <a:ext cx="10728655" cy="0"/>
          </a:xfrm>
          <a:prstGeom prst="line">
            <a:avLst/>
          </a:prstGeom>
          <a:noFill/>
          <a:ln w="12700">
            <a:solidFill>
              <a:srgbClr val="004B96"/>
            </a:solidFill>
            <a:prstDash val="solid"/>
          </a:ln>
        </p:spPr>
      </p:sp>
      <p:sp>
        <p:nvSpPr>
          <p:cNvPr id="16" name="Text 14"/>
          <p:cNvSpPr txBox="1"/>
          <p:nvPr/>
        </p:nvSpPr>
        <p:spPr>
          <a:xfrm>
            <a:off x="731520" y="3346704"/>
            <a:ext cx="2377440" cy="310896"/>
          </a:xfrm>
          <a:prstGeom prst="rect">
            <a:avLst/>
          </a:prstGeom>
          <a:noFill/>
          <a:ln/>
        </p:spPr>
        <p:txBody>
          <a:bodyPr wrap="square" lIns="0" tIns="0" rIns="0" bIns="0" rtlCol="0" anchor="ctr"/>
          <a:lstStyle/>
          <a:p>
            <a:pPr indent="0" marL="0">
              <a:buNone/>
            </a:pPr>
            <a:r>
              <a:rPr lang="en-US" sz="1300" dirty="0">
                <a:solidFill>
                  <a:srgbClr val="C0DBFF"/>
                </a:solidFill>
                <a:latin typeface="Noto Sans" pitchFamily="34" charset="0"/>
                <a:ea typeface="Noto Sans" pitchFamily="34" charset="-122"/>
                <a:cs typeface="Noto Sans" pitchFamily="34" charset="-120"/>
              </a:rPr>
              <a:t>The menu</a:t>
            </a:r>
            <a:endParaRPr lang="en-US" sz="1300" dirty="0"/>
          </a:p>
        </p:txBody>
      </p:sp>
      <p:sp>
        <p:nvSpPr>
          <p:cNvPr id="17" name="Text 15"/>
          <p:cNvSpPr txBox="1"/>
          <p:nvPr/>
        </p:nvSpPr>
        <p:spPr>
          <a:xfrm>
            <a:off x="3200400" y="3346704"/>
            <a:ext cx="3566160" cy="310896"/>
          </a:xfrm>
          <a:prstGeom prst="rect">
            <a:avLst/>
          </a:prstGeom>
          <a:noFill/>
          <a:ln/>
        </p:spPr>
        <p:txBody>
          <a:bodyPr wrap="square" lIns="0" tIns="0" rIns="0" bIns="0" rtlCol="0" anchor="ctr"/>
          <a:lstStyle/>
          <a:p>
            <a:pPr indent="0" marL="0">
              <a:buNone/>
            </a:pPr>
            <a:r>
              <a:rPr lang="en-US" sz="1300" b="1" dirty="0">
                <a:solidFill>
                  <a:srgbClr val="FFFFFF"/>
                </a:solidFill>
                <a:latin typeface="Noto Sans" pitchFamily="34" charset="0"/>
                <a:ea typeface="Noto Sans" pitchFamily="34" charset="-122"/>
                <a:cs typeface="Noto Sans" pitchFamily="34" charset="-120"/>
              </a:rPr>
              <a:t>A · Rename Only</a:t>
            </a:r>
            <a:endParaRPr lang="en-US" sz="1300" dirty="0"/>
          </a:p>
        </p:txBody>
      </p:sp>
      <p:sp>
        <p:nvSpPr>
          <p:cNvPr id="18" name="Text 16"/>
          <p:cNvSpPr txBox="1"/>
          <p:nvPr/>
        </p:nvSpPr>
        <p:spPr>
          <a:xfrm>
            <a:off x="6858000" y="3346704"/>
            <a:ext cx="4602175" cy="310896"/>
          </a:xfrm>
          <a:prstGeom prst="rect">
            <a:avLst/>
          </a:prstGeom>
          <a:noFill/>
          <a:ln/>
        </p:spPr>
        <p:txBody>
          <a:bodyPr wrap="square" lIns="0" tIns="0" rIns="0" bIns="0" rtlCol="0" anchor="ctr"/>
          <a:lstStyle/>
          <a:p>
            <a:pPr indent="0" marL="0">
              <a:buNone/>
            </a:pPr>
            <a:r>
              <a:rPr lang="en-US" sz="1200" dirty="0">
                <a:solidFill>
                  <a:srgbClr val="FFFFFF">
                    <a:alpha val="85000"/>
                  </a:srgbClr>
                </a:solidFill>
                <a:latin typeface="Noto Sans" pitchFamily="34" charset="0"/>
                <a:ea typeface="Noto Sans" pitchFamily="34" charset="-122"/>
                <a:cs typeface="Noto Sans" pitchFamily="34" charset="-120"/>
              </a:rPr>
              <a:t>Organisations &amp; Scheme Portals. Nothing moves.</a:t>
            </a:r>
            <a:endParaRPr lang="en-US" sz="1200" dirty="0"/>
          </a:p>
        </p:txBody>
      </p:sp>
      <p:sp>
        <p:nvSpPr>
          <p:cNvPr id="19" name="Text 17"/>
          <p:cNvSpPr txBox="1"/>
          <p:nvPr/>
        </p:nvSpPr>
        <p:spPr>
          <a:xfrm>
            <a:off x="731520" y="3730752"/>
            <a:ext cx="2377440" cy="310896"/>
          </a:xfrm>
          <a:prstGeom prst="rect">
            <a:avLst/>
          </a:prstGeom>
          <a:noFill/>
          <a:ln/>
        </p:spPr>
        <p:txBody>
          <a:bodyPr wrap="square" lIns="0" tIns="0" rIns="0" bIns="0" rtlCol="0" anchor="ctr"/>
          <a:lstStyle/>
          <a:p>
            <a:pPr indent="0" marL="0">
              <a:buNone/>
            </a:pPr>
            <a:endParaRPr lang="en-US" sz="1300" dirty="0"/>
          </a:p>
        </p:txBody>
      </p:sp>
      <p:sp>
        <p:nvSpPr>
          <p:cNvPr id="20" name="Text 18"/>
          <p:cNvSpPr txBox="1"/>
          <p:nvPr/>
        </p:nvSpPr>
        <p:spPr>
          <a:xfrm>
            <a:off x="3200400" y="3730752"/>
            <a:ext cx="3566160" cy="310896"/>
          </a:xfrm>
          <a:prstGeom prst="rect">
            <a:avLst/>
          </a:prstGeom>
          <a:noFill/>
          <a:ln/>
        </p:spPr>
        <p:txBody>
          <a:bodyPr wrap="square" lIns="0" tIns="0" rIns="0" bIns="0" rtlCol="0" anchor="ctr"/>
          <a:lstStyle/>
          <a:p>
            <a:pPr indent="0" marL="0">
              <a:buNone/>
            </a:pPr>
            <a:r>
              <a:rPr lang="en-US" sz="1300" b="1" dirty="0">
                <a:solidFill>
                  <a:srgbClr val="FFFFFF"/>
                </a:solidFill>
                <a:latin typeface="Noto Sans" pitchFamily="34" charset="0"/>
                <a:ea typeface="Noto Sans" pitchFamily="34" charset="-122"/>
                <a:cs typeface="Noto Sans" pitchFamily="34" charset="-120"/>
              </a:rPr>
              <a:t>B · Portals under Offerings</a:t>
            </a:r>
            <a:endParaRPr lang="en-US" sz="1300" dirty="0"/>
          </a:p>
        </p:txBody>
      </p:sp>
      <p:sp>
        <p:nvSpPr>
          <p:cNvPr id="21" name="Text 19"/>
          <p:cNvSpPr txBox="1"/>
          <p:nvPr/>
        </p:nvSpPr>
        <p:spPr>
          <a:xfrm>
            <a:off x="6858000" y="3730752"/>
            <a:ext cx="4602175" cy="310896"/>
          </a:xfrm>
          <a:prstGeom prst="rect">
            <a:avLst/>
          </a:prstGeom>
          <a:noFill/>
          <a:ln/>
        </p:spPr>
        <p:txBody>
          <a:bodyPr wrap="square" lIns="0" tIns="0" rIns="0" bIns="0" rtlCol="0" anchor="ctr"/>
          <a:lstStyle/>
          <a:p>
            <a:pPr indent="0" marL="0">
              <a:buNone/>
            </a:pPr>
            <a:r>
              <a:rPr lang="en-US" sz="1200" dirty="0">
                <a:solidFill>
                  <a:srgbClr val="FFFFFF">
                    <a:alpha val="85000"/>
                  </a:srgbClr>
                </a:solidFill>
                <a:latin typeface="Noto Sans" pitchFamily="34" charset="0"/>
                <a:ea typeface="Noto Sans" pitchFamily="34" charset="-122"/>
                <a:cs typeface="Noto Sans" pitchFamily="34" charset="-120"/>
              </a:rPr>
              <a:t>Portals join Offerings; a button opens all schemes.</a:t>
            </a:r>
            <a:endParaRPr lang="en-US" sz="1200" dirty="0"/>
          </a:p>
        </p:txBody>
      </p:sp>
      <p:sp>
        <p:nvSpPr>
          <p:cNvPr id="22" name="Text 20"/>
          <p:cNvSpPr txBox="1"/>
          <p:nvPr/>
        </p:nvSpPr>
        <p:spPr>
          <a:xfrm>
            <a:off x="731520" y="4114800"/>
            <a:ext cx="2377440" cy="310896"/>
          </a:xfrm>
          <a:prstGeom prst="rect">
            <a:avLst/>
          </a:prstGeom>
          <a:noFill/>
          <a:ln/>
        </p:spPr>
        <p:txBody>
          <a:bodyPr wrap="square" lIns="0" tIns="0" rIns="0" bIns="0" rtlCol="0" anchor="ctr"/>
          <a:lstStyle/>
          <a:p>
            <a:pPr indent="0" marL="0">
              <a:buNone/>
            </a:pPr>
            <a:endParaRPr lang="en-US" sz="1300" dirty="0"/>
          </a:p>
        </p:txBody>
      </p:sp>
      <p:sp>
        <p:nvSpPr>
          <p:cNvPr id="23" name="Text 21"/>
          <p:cNvSpPr txBox="1"/>
          <p:nvPr/>
        </p:nvSpPr>
        <p:spPr>
          <a:xfrm>
            <a:off x="3200400" y="4114800"/>
            <a:ext cx="3566160" cy="310896"/>
          </a:xfrm>
          <a:prstGeom prst="rect">
            <a:avLst/>
          </a:prstGeom>
          <a:noFill/>
          <a:ln/>
        </p:spPr>
        <p:txBody>
          <a:bodyPr wrap="square" lIns="0" tIns="0" rIns="0" bIns="0" rtlCol="0" anchor="ctr"/>
          <a:lstStyle/>
          <a:p>
            <a:pPr indent="0" marL="0">
              <a:buNone/>
            </a:pPr>
            <a:r>
              <a:rPr lang="en-US" sz="1300" b="1" dirty="0">
                <a:solidFill>
                  <a:srgbClr val="FFFFFF"/>
                </a:solidFill>
                <a:latin typeface="Noto Sans" pitchFamily="34" charset="0"/>
                <a:ea typeface="Noto Sans" pitchFamily="34" charset="-122"/>
                <a:cs typeface="Noto Sans" pitchFamily="34" charset="-120"/>
              </a:rPr>
              <a:t>C · Schemes as Its Own Menu</a:t>
            </a:r>
            <a:endParaRPr lang="en-US" sz="1300" dirty="0"/>
          </a:p>
        </p:txBody>
      </p:sp>
      <p:sp>
        <p:nvSpPr>
          <p:cNvPr id="24" name="Text 22"/>
          <p:cNvSpPr txBox="1"/>
          <p:nvPr/>
        </p:nvSpPr>
        <p:spPr>
          <a:xfrm>
            <a:off x="6858000" y="4114800"/>
            <a:ext cx="4602175" cy="310896"/>
          </a:xfrm>
          <a:prstGeom prst="rect">
            <a:avLst/>
          </a:prstGeom>
          <a:noFill/>
          <a:ln/>
        </p:spPr>
        <p:txBody>
          <a:bodyPr wrap="square" lIns="0" tIns="0" rIns="0" bIns="0" rtlCol="0" anchor="ctr"/>
          <a:lstStyle/>
          <a:p>
            <a:pPr indent="0" marL="0">
              <a:buNone/>
            </a:pPr>
            <a:r>
              <a:rPr lang="en-US" sz="1200" dirty="0">
                <a:solidFill>
                  <a:srgbClr val="FFFFFF">
                    <a:alpha val="85000"/>
                  </a:srgbClr>
                </a:solidFill>
                <a:latin typeface="Noto Sans" pitchFamily="34" charset="0"/>
                <a:ea typeface="Noto Sans" pitchFamily="34" charset="-122"/>
                <a:cs typeface="Noto Sans" pitchFamily="34" charset="-120"/>
              </a:rPr>
              <a:t>A new top-row entry for the portals and helplines.</a:t>
            </a:r>
            <a:endParaRPr lang="en-US" sz="1200" dirty="0"/>
          </a:p>
        </p:txBody>
      </p:sp>
      <p:sp>
        <p:nvSpPr>
          <p:cNvPr id="25" name="Shape 23"/>
          <p:cNvSpPr/>
          <p:nvPr/>
        </p:nvSpPr>
        <p:spPr>
          <a:xfrm>
            <a:off x="731520" y="4425696"/>
            <a:ext cx="10728655" cy="0"/>
          </a:xfrm>
          <a:prstGeom prst="line">
            <a:avLst/>
          </a:prstGeom>
          <a:noFill/>
          <a:ln w="12700">
            <a:solidFill>
              <a:srgbClr val="004B96"/>
            </a:solidFill>
            <a:prstDash val="solid"/>
          </a:ln>
        </p:spPr>
      </p:sp>
      <p:sp>
        <p:nvSpPr>
          <p:cNvPr id="26" name="Text 24"/>
          <p:cNvSpPr txBox="1"/>
          <p:nvPr/>
        </p:nvSpPr>
        <p:spPr>
          <a:xfrm>
            <a:off x="731520" y="4498848"/>
            <a:ext cx="2377440" cy="310896"/>
          </a:xfrm>
          <a:prstGeom prst="rect">
            <a:avLst/>
          </a:prstGeom>
          <a:noFill/>
          <a:ln/>
        </p:spPr>
        <p:txBody>
          <a:bodyPr wrap="square" lIns="0" tIns="0" rIns="0" bIns="0" rtlCol="0" anchor="ctr"/>
          <a:lstStyle/>
          <a:p>
            <a:pPr indent="0" marL="0">
              <a:buNone/>
            </a:pPr>
            <a:r>
              <a:rPr lang="en-US" sz="1300" dirty="0">
                <a:solidFill>
                  <a:srgbClr val="C0DBFF"/>
                </a:solidFill>
                <a:latin typeface="Noto Sans" pitchFamily="34" charset="0"/>
                <a:ea typeface="Noto Sans" pitchFamily="34" charset="-122"/>
                <a:cs typeface="Noto Sans" pitchFamily="34" charset="-120"/>
              </a:rPr>
              <a:t>The Schemes page</a:t>
            </a:r>
            <a:endParaRPr lang="en-US" sz="1300" dirty="0"/>
          </a:p>
        </p:txBody>
      </p:sp>
      <p:sp>
        <p:nvSpPr>
          <p:cNvPr id="27" name="Text 25"/>
          <p:cNvSpPr txBox="1"/>
          <p:nvPr/>
        </p:nvSpPr>
        <p:spPr>
          <a:xfrm>
            <a:off x="3200400" y="4498848"/>
            <a:ext cx="3566160" cy="310896"/>
          </a:xfrm>
          <a:prstGeom prst="rect">
            <a:avLst/>
          </a:prstGeom>
          <a:noFill/>
          <a:ln/>
        </p:spPr>
        <p:txBody>
          <a:bodyPr wrap="square" lIns="0" tIns="0" rIns="0" bIns="0" rtlCol="0" anchor="ctr"/>
          <a:lstStyle/>
          <a:p>
            <a:pPr indent="0" marL="0">
              <a:buNone/>
            </a:pPr>
            <a:r>
              <a:rPr lang="en-US" sz="1300" b="1" dirty="0">
                <a:solidFill>
                  <a:srgbClr val="FFFFFF"/>
                </a:solidFill>
                <a:latin typeface="Noto Sans" pitchFamily="34" charset="0"/>
                <a:ea typeface="Noto Sans" pitchFamily="34" charset="-122"/>
                <a:cs typeface="Noto Sans" pitchFamily="34" charset="-120"/>
              </a:rPr>
              <a:t>A · Pictures of the Groups, with Cards</a:t>
            </a:r>
            <a:endParaRPr lang="en-US" sz="1300" dirty="0"/>
          </a:p>
        </p:txBody>
      </p:sp>
      <p:sp>
        <p:nvSpPr>
          <p:cNvPr id="28" name="Text 26"/>
          <p:cNvSpPr txBox="1"/>
          <p:nvPr/>
        </p:nvSpPr>
        <p:spPr>
          <a:xfrm>
            <a:off x="6858000" y="4498848"/>
            <a:ext cx="4602175" cy="310896"/>
          </a:xfrm>
          <a:prstGeom prst="rect">
            <a:avLst/>
          </a:prstGeom>
          <a:noFill/>
          <a:ln/>
        </p:spPr>
        <p:txBody>
          <a:bodyPr wrap="square" lIns="0" tIns="0" rIns="0" bIns="0" rtlCol="0" anchor="ctr"/>
          <a:lstStyle/>
          <a:p>
            <a:pPr indent="0" marL="0">
              <a:buNone/>
            </a:pPr>
            <a:r>
              <a:rPr lang="en-US" sz="1200" dirty="0">
                <a:solidFill>
                  <a:srgbClr val="FFFFFF">
                    <a:alpha val="85000"/>
                  </a:srgbClr>
                </a:solidFill>
                <a:latin typeface="Noto Sans" pitchFamily="34" charset="0"/>
                <a:ea typeface="Noto Sans" pitchFamily="34" charset="-122"/>
                <a:cs typeface="Noto Sans" pitchFamily="34" charset="-120"/>
              </a:rPr>
              <a:t>Every group in one row, then cards. For browsing.</a:t>
            </a:r>
            <a:endParaRPr lang="en-US" sz="1200" dirty="0"/>
          </a:p>
        </p:txBody>
      </p:sp>
      <p:sp>
        <p:nvSpPr>
          <p:cNvPr id="29" name="Text 27"/>
          <p:cNvSpPr txBox="1"/>
          <p:nvPr/>
        </p:nvSpPr>
        <p:spPr>
          <a:xfrm>
            <a:off x="731520" y="4882896"/>
            <a:ext cx="2377440" cy="310896"/>
          </a:xfrm>
          <a:prstGeom prst="rect">
            <a:avLst/>
          </a:prstGeom>
          <a:noFill/>
          <a:ln/>
        </p:spPr>
        <p:txBody>
          <a:bodyPr wrap="square" lIns="0" tIns="0" rIns="0" bIns="0" rtlCol="0" anchor="ctr"/>
          <a:lstStyle/>
          <a:p>
            <a:pPr indent="0" marL="0">
              <a:buNone/>
            </a:pPr>
            <a:endParaRPr lang="en-US" sz="1300" dirty="0"/>
          </a:p>
        </p:txBody>
      </p:sp>
      <p:sp>
        <p:nvSpPr>
          <p:cNvPr id="30" name="Text 28"/>
          <p:cNvSpPr txBox="1"/>
          <p:nvPr/>
        </p:nvSpPr>
        <p:spPr>
          <a:xfrm>
            <a:off x="3200400" y="4882896"/>
            <a:ext cx="3566160" cy="310896"/>
          </a:xfrm>
          <a:prstGeom prst="rect">
            <a:avLst/>
          </a:prstGeom>
          <a:noFill/>
          <a:ln/>
        </p:spPr>
        <p:txBody>
          <a:bodyPr wrap="square" lIns="0" tIns="0" rIns="0" bIns="0" rtlCol="0" anchor="ctr"/>
          <a:lstStyle/>
          <a:p>
            <a:pPr indent="0" marL="0">
              <a:buNone/>
            </a:pPr>
            <a:r>
              <a:rPr lang="en-US" sz="1300" b="1" dirty="0">
                <a:solidFill>
                  <a:srgbClr val="FFFFFF"/>
                </a:solidFill>
                <a:latin typeface="Noto Sans" pitchFamily="34" charset="0"/>
                <a:ea typeface="Noto Sans" pitchFamily="34" charset="-122"/>
                <a:cs typeface="Noto Sans" pitchFamily="34" charset="-120"/>
              </a:rPr>
              <a:t>B · Filter Panel with a Table</a:t>
            </a:r>
            <a:endParaRPr lang="en-US" sz="1300" dirty="0"/>
          </a:p>
        </p:txBody>
      </p:sp>
      <p:sp>
        <p:nvSpPr>
          <p:cNvPr id="31" name="Text 29"/>
          <p:cNvSpPr txBox="1"/>
          <p:nvPr/>
        </p:nvSpPr>
        <p:spPr>
          <a:xfrm>
            <a:off x="6858000" y="4882896"/>
            <a:ext cx="4602175" cy="310896"/>
          </a:xfrm>
          <a:prstGeom prst="rect">
            <a:avLst/>
          </a:prstGeom>
          <a:noFill/>
          <a:ln/>
        </p:spPr>
        <p:txBody>
          <a:bodyPr wrap="square" lIns="0" tIns="0" rIns="0" bIns="0" rtlCol="0" anchor="ctr"/>
          <a:lstStyle/>
          <a:p>
            <a:pPr indent="0" marL="0">
              <a:buNone/>
            </a:pPr>
            <a:r>
              <a:rPr lang="en-US" sz="1200" dirty="0">
                <a:solidFill>
                  <a:srgbClr val="FFFFFF">
                    <a:alpha val="85000"/>
                  </a:srgbClr>
                </a:solidFill>
                <a:latin typeface="Noto Sans" pitchFamily="34" charset="0"/>
                <a:ea typeface="Noto Sans" pitchFamily="34" charset="-122"/>
                <a:cs typeface="Noto Sans" pitchFamily="34" charset="-120"/>
              </a:rPr>
              <a:t>Tick groups on the left; a table on the right.</a:t>
            </a:r>
            <a:endParaRPr lang="en-US" sz="1200" dirty="0"/>
          </a:p>
        </p:txBody>
      </p:sp>
      <p:sp>
        <p:nvSpPr>
          <p:cNvPr id="32" name="Text 30"/>
          <p:cNvSpPr txBox="1"/>
          <p:nvPr/>
        </p:nvSpPr>
        <p:spPr>
          <a:xfrm>
            <a:off x="731520" y="5266944"/>
            <a:ext cx="2377440" cy="310896"/>
          </a:xfrm>
          <a:prstGeom prst="rect">
            <a:avLst/>
          </a:prstGeom>
          <a:noFill/>
          <a:ln/>
        </p:spPr>
        <p:txBody>
          <a:bodyPr wrap="square" lIns="0" tIns="0" rIns="0" bIns="0" rtlCol="0" anchor="ctr"/>
          <a:lstStyle/>
          <a:p>
            <a:pPr indent="0" marL="0">
              <a:buNone/>
            </a:pPr>
            <a:endParaRPr lang="en-US" sz="1300" dirty="0"/>
          </a:p>
        </p:txBody>
      </p:sp>
      <p:sp>
        <p:nvSpPr>
          <p:cNvPr id="33" name="Text 31"/>
          <p:cNvSpPr txBox="1"/>
          <p:nvPr/>
        </p:nvSpPr>
        <p:spPr>
          <a:xfrm>
            <a:off x="3200400" y="5266944"/>
            <a:ext cx="3566160" cy="310896"/>
          </a:xfrm>
          <a:prstGeom prst="rect">
            <a:avLst/>
          </a:prstGeom>
          <a:noFill/>
          <a:ln/>
        </p:spPr>
        <p:txBody>
          <a:bodyPr wrap="square" lIns="0" tIns="0" rIns="0" bIns="0" rtlCol="0" anchor="ctr"/>
          <a:lstStyle/>
          <a:p>
            <a:pPr indent="0" marL="0">
              <a:buNone/>
            </a:pPr>
            <a:r>
              <a:rPr lang="en-US" sz="1300" b="1" dirty="0">
                <a:solidFill>
                  <a:srgbClr val="FFFFFF"/>
                </a:solidFill>
                <a:latin typeface="Noto Sans" pitchFamily="34" charset="0"/>
                <a:ea typeface="Noto Sans" pitchFamily="34" charset="-122"/>
                <a:cs typeface="Noto Sans" pitchFamily="34" charset="-120"/>
              </a:rPr>
              <a:t>C · Filter Panel with Headings</a:t>
            </a:r>
            <a:endParaRPr lang="en-US" sz="1300" dirty="0"/>
          </a:p>
        </p:txBody>
      </p:sp>
      <p:sp>
        <p:nvSpPr>
          <p:cNvPr id="34" name="Text 32"/>
          <p:cNvSpPr txBox="1"/>
          <p:nvPr/>
        </p:nvSpPr>
        <p:spPr>
          <a:xfrm>
            <a:off x="6858000" y="5266944"/>
            <a:ext cx="4602175" cy="310896"/>
          </a:xfrm>
          <a:prstGeom prst="rect">
            <a:avLst/>
          </a:prstGeom>
          <a:noFill/>
          <a:ln/>
        </p:spPr>
        <p:txBody>
          <a:bodyPr wrap="square" lIns="0" tIns="0" rIns="0" bIns="0" rtlCol="0" anchor="ctr"/>
          <a:lstStyle/>
          <a:p>
            <a:pPr indent="0" marL="0">
              <a:buNone/>
            </a:pPr>
            <a:r>
              <a:rPr lang="en-US" sz="1200" dirty="0">
                <a:solidFill>
                  <a:srgbClr val="FFFFFF">
                    <a:alpha val="85000"/>
                  </a:srgbClr>
                </a:solidFill>
                <a:latin typeface="Noto Sans" pitchFamily="34" charset="0"/>
                <a:ea typeface="Noto Sans" pitchFamily="34" charset="-122"/>
                <a:cs typeface="Noto Sans" pitchFamily="34" charset="-120"/>
              </a:rPr>
              <a:t>Filters on the left, schemes under headings.</a:t>
            </a:r>
            <a:endParaRPr lang="en-US" sz="1200" dirty="0"/>
          </a:p>
        </p:txBody>
      </p:sp>
      <p:sp>
        <p:nvSpPr>
          <p:cNvPr id="35" name="Shape 33"/>
          <p:cNvSpPr/>
          <p:nvPr/>
        </p:nvSpPr>
        <p:spPr>
          <a:xfrm>
            <a:off x="731520" y="5577840"/>
            <a:ext cx="10728655" cy="0"/>
          </a:xfrm>
          <a:prstGeom prst="line">
            <a:avLst/>
          </a:prstGeom>
          <a:noFill/>
          <a:ln w="12700">
            <a:solidFill>
              <a:srgbClr val="004B96"/>
            </a:solidFill>
            <a:prstDash val="solid"/>
          </a:ln>
        </p:spPr>
      </p:sp>
      <p:sp>
        <p:nvSpPr>
          <p:cNvPr id="36" name="Text 34"/>
          <p:cNvSpPr txBox="1"/>
          <p:nvPr/>
        </p:nvSpPr>
        <p:spPr>
          <a:xfrm>
            <a:off x="731520" y="5650992"/>
            <a:ext cx="2377440" cy="310896"/>
          </a:xfrm>
          <a:prstGeom prst="rect">
            <a:avLst/>
          </a:prstGeom>
          <a:noFill/>
          <a:ln/>
        </p:spPr>
        <p:txBody>
          <a:bodyPr wrap="square" lIns="0" tIns="0" rIns="0" bIns="0" rtlCol="0" anchor="ctr"/>
          <a:lstStyle/>
          <a:p>
            <a:pPr indent="0" marL="0">
              <a:buNone/>
            </a:pPr>
            <a:r>
              <a:rPr lang="en-US" sz="1300" dirty="0">
                <a:solidFill>
                  <a:srgbClr val="C0DBFF"/>
                </a:solidFill>
                <a:latin typeface="Noto Sans" pitchFamily="34" charset="0"/>
                <a:ea typeface="Noto Sans" pitchFamily="34" charset="-122"/>
                <a:cs typeface="Noto Sans" pitchFamily="34" charset="-120"/>
              </a:rPr>
              <a:t>The assistant</a:t>
            </a:r>
            <a:endParaRPr lang="en-US" sz="1300" dirty="0"/>
          </a:p>
        </p:txBody>
      </p:sp>
      <p:sp>
        <p:nvSpPr>
          <p:cNvPr id="37" name="Text 35"/>
          <p:cNvSpPr txBox="1"/>
          <p:nvPr/>
        </p:nvSpPr>
        <p:spPr>
          <a:xfrm>
            <a:off x="3200400" y="5650992"/>
            <a:ext cx="3566160" cy="310896"/>
          </a:xfrm>
          <a:prstGeom prst="rect">
            <a:avLst/>
          </a:prstGeom>
          <a:noFill/>
          <a:ln/>
        </p:spPr>
        <p:txBody>
          <a:bodyPr wrap="square" lIns="0" tIns="0" rIns="0" bIns="0" rtlCol="0" anchor="ctr"/>
          <a:lstStyle/>
          <a:p>
            <a:pPr indent="0" marL="0">
              <a:buNone/>
            </a:pPr>
            <a:r>
              <a:rPr lang="en-US" sz="1300" b="1" dirty="0">
                <a:solidFill>
                  <a:srgbClr val="FFFFFF"/>
                </a:solidFill>
                <a:latin typeface="Noto Sans" pitchFamily="34" charset="0"/>
                <a:ea typeface="Noto Sans" pitchFamily="34" charset="-122"/>
                <a:cs typeface="Noto Sans" pitchFamily="34" charset="-120"/>
              </a:rPr>
              <a:t>Samajik Sahayak</a:t>
            </a:r>
            <a:endParaRPr lang="en-US" sz="1300" dirty="0"/>
          </a:p>
        </p:txBody>
      </p:sp>
      <p:sp>
        <p:nvSpPr>
          <p:cNvPr id="38" name="Text 36"/>
          <p:cNvSpPr txBox="1"/>
          <p:nvPr/>
        </p:nvSpPr>
        <p:spPr>
          <a:xfrm>
            <a:off x="6858000" y="5650992"/>
            <a:ext cx="4602175" cy="310896"/>
          </a:xfrm>
          <a:prstGeom prst="rect">
            <a:avLst/>
          </a:prstGeom>
          <a:noFill/>
          <a:ln/>
        </p:spPr>
        <p:txBody>
          <a:bodyPr wrap="square" lIns="0" tIns="0" rIns="0" bIns="0" rtlCol="0" anchor="ctr"/>
          <a:lstStyle/>
          <a:p>
            <a:pPr indent="0" marL="0">
              <a:buNone/>
            </a:pPr>
            <a:r>
              <a:rPr lang="en-US" sz="1200" dirty="0">
                <a:solidFill>
                  <a:srgbClr val="FFFFFF">
                    <a:alpha val="85000"/>
                  </a:srgbClr>
                </a:solidFill>
                <a:latin typeface="Noto Sans" pitchFamily="34" charset="0"/>
                <a:ea typeface="Noto Sans" pitchFamily="34" charset="-122"/>
                <a:cs typeface="Noto Sans" pitchFamily="34" charset="-120"/>
              </a:rPr>
              <a:t>The same two questions, in the chat on every page.</a:t>
            </a:r>
            <a:endParaRPr lang="en-US" sz="1200" dirty="0"/>
          </a:p>
        </p:txBody>
      </p:sp>
      <p:sp>
        <p:nvSpPr>
          <p:cNvPr id="39" name="Shape 37"/>
          <p:cNvSpPr/>
          <p:nvPr/>
        </p:nvSpPr>
        <p:spPr>
          <a:xfrm>
            <a:off x="731520" y="5961888"/>
            <a:ext cx="10728655" cy="0"/>
          </a:xfrm>
          <a:prstGeom prst="line">
            <a:avLst/>
          </a:prstGeom>
          <a:noFill/>
          <a:ln w="12700">
            <a:solidFill>
              <a:srgbClr val="004B96"/>
            </a:solidFill>
            <a:prstDash val="solid"/>
          </a:ln>
        </p:spPr>
      </p:sp>
      <p:sp>
        <p:nvSpPr>
          <p:cNvPr id="40" name="Text 38"/>
          <p:cNvSpPr txBox="1"/>
          <p:nvPr/>
        </p:nvSpPr>
        <p:spPr>
          <a:xfrm>
            <a:off x="731520" y="6163056"/>
            <a:ext cx="10728655" cy="457200"/>
          </a:xfrm>
          <a:prstGeom prst="rect">
            <a:avLst/>
          </a:prstGeom>
          <a:noFill/>
          <a:ln/>
        </p:spPr>
        <p:txBody>
          <a:bodyPr wrap="square" lIns="0" tIns="0" rIns="0" bIns="0" rtlCol="0" anchor="ctr"/>
          <a:lstStyle/>
          <a:p>
            <a:pPr indent="0" marL="0">
              <a:lnSpc>
                <a:spcPct val="120000"/>
              </a:lnSpc>
              <a:buNone/>
            </a:pPr>
            <a:r>
              <a:rPr lang="en-US" sz="1250" dirty="0">
                <a:solidFill>
                  <a:srgbClr val="C0DBFF"/>
                </a:solidFill>
                <a:latin typeface="Noto Sans" pitchFamily="34" charset="0"/>
                <a:ea typeface="Noto Sans" pitchFamily="34" charset="-122"/>
                <a:cs typeface="Noto Sans" pitchFamily="34" charset="-120"/>
              </a:rPr>
              <a:t>Before any of them is built: the two lists are confirmed by the divisions, every scheme is tagged on both, and the development team estimates the re-tagging.</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Citizens Find Schemes</dc:title>
  <dc:subject>PptxGenJS Presentation</dc:subject>
  <dc:creator>MoSJE Design Research</dc:creator>
  <cp:lastModifiedBy>MoSJE Design Research</cp:lastModifiedBy>
  <cp:revision>1</cp:revision>
  <dcterms:created xsi:type="dcterms:W3CDTF">2026-09-14T10:29:17Z</dcterms:created>
  <dcterms:modified xsi:type="dcterms:W3CDTF">2026-09-14T10:29:17Z</dcterms:modified>
</cp:coreProperties>
</file>