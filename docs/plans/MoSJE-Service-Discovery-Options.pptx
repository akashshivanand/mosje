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live. The order is the one asked for on 8 September: the idea behind every option first, then the home page, then the Schemes page, then the assistant, then what has to come first. No scheme count appears anywhere in the deck — a number nobody can defend invites a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idea. On the left, the person: the groups the Department's own mandate names, plus the three its schemes name — students, victims of atrocities, and the voluntary organisations it funds. On the right, what the Department gives, in its own words. A scheme is findable under every group it names and every kind of support it provides, at once. Everything that follows is a view over these two lists. Not stage of life, not State: the review cut those, and a scheme record is tagged on these two axes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for the home page. A stays where it is. B or C takes the section below the banner. C is for the visitor who will not answer questions. The next three pages show each one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already on the home page: one group at a time, moved with arrows. The list of groups is the same eleven the other options use, in the same order. Today, choosing a group filters nothing on the Schemes page; every option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questions over the Department's own list of schemes. The second may be skipped, which widens the list. The answer shows both choices, the first three schemes, and a link to the Schemes page filtered to the same choices. There is no apply button here: the scheme's own page says where to apply. Before this can be built, every scheme has to be tagged on both lists; that is on the page near the end.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row of the groups. Tapping one shows the portal or helpline for that group first, where the Department has one, then the schemes that name the group, sorted by what they give. Each links to its own page. The larger groups get long lists, which is why the list is cut at three per kind of support with a link to the rest.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page. Two arrangements of the same two filters. The next two pages show each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from before the review, with the review's changes: two filters, no counts, and paged cards so the page keeps its height. This is for browsing.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from before the review, with the review's changes: two filters, no counts, greyed filters instead of numbers, ten rows a page. This is for comparing and deciding, which is what most people come to this page to do.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questions, asked one at a time in the chat window that is already built and reachable from every page. It reads the same list as the home page, so it can never name different schemes for the same person. It says plainly that it cannot decide or change an application.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page the review asked for. The two lists and the tagged records exist and are with the divisions to confirm. The estimate for re-tagging the catalogue is asked of the development team before any option is scheduled. Two questions are open and recorded: whether Victims of Atrocities and Persons Engaged in Begging are acceptable public wording, and NSFDC's income ceiling, which two of the Department's own pages state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commitments that hold whatever is chosen. A citizen who acts on a wrong assurance from a government website bears a real cost, and the Department bears the complaint — so nothing here decides a case, nothing is collected, and no number leaves a design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parts are decided separately. If only one is settled today, the Schemes page is the one that changes most for the most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731520" y="731520"/>
            <a:ext cx="548640" cy="768096"/>
          </a:xfrm>
          <a:prstGeom prst="rect">
            <a:avLst/>
          </a:prstGeom>
        </p:spPr>
      </p:pic>
      <p:sp>
        <p:nvSpPr>
          <p:cNvPr id="3" name="Text 0"/>
          <p:cNvSpPr txBox="1"/>
          <p:nvPr/>
        </p:nvSpPr>
        <p:spPr>
          <a:xfrm>
            <a:off x="1463040" y="786384"/>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731520" y="2468880"/>
            <a:ext cx="9144000" cy="1005840"/>
          </a:xfrm>
          <a:prstGeom prst="rect">
            <a:avLst/>
          </a:prstGeom>
          <a:noFill/>
          <a:ln/>
        </p:spPr>
        <p:txBody>
          <a:bodyPr wrap="square" lIns="0" tIns="0" rIns="0" bIns="0" rtlCol="0" anchor="ctr"/>
          <a:lstStyle/>
          <a:p>
            <a:pPr indent="0" marL="0">
              <a:buNone/>
            </a:pPr>
            <a:r>
              <a:rPr lang="en-US" sz="4400" b="1" dirty="0">
                <a:solidFill>
                  <a:srgbClr val="FFFFFF"/>
                </a:solidFill>
                <a:latin typeface="Noto Sans" pitchFamily="34" charset="0"/>
                <a:ea typeface="Noto Sans" pitchFamily="34" charset="-122"/>
                <a:cs typeface="Noto Sans" pitchFamily="34" charset="-120"/>
              </a:rPr>
              <a:t>How Citizens Find Schemes</a:t>
            </a:r>
            <a:endParaRPr lang="en-US" sz="4400" dirty="0"/>
          </a:p>
        </p:txBody>
      </p:sp>
      <p:sp>
        <p:nvSpPr>
          <p:cNvPr id="5" name="Text 2"/>
          <p:cNvSpPr txBox="1"/>
          <p:nvPr/>
        </p:nvSpPr>
        <p:spPr>
          <a:xfrm>
            <a:off x="731520" y="3566160"/>
            <a:ext cx="9509760" cy="457200"/>
          </a:xfrm>
          <a:prstGeom prst="rect">
            <a:avLst/>
          </a:prstGeom>
          <a:noFill/>
          <a:ln/>
        </p:spPr>
        <p:txBody>
          <a:bodyPr wrap="square" lIns="0" tIns="0" rIns="0" bIns="0" rtlCol="0" anchor="ctr"/>
          <a:lstStyle/>
          <a:p>
            <a:pPr indent="0" marL="0">
              <a:buNone/>
            </a:pPr>
            <a:r>
              <a:rPr lang="en-US" sz="1800" dirty="0">
                <a:solidFill>
                  <a:srgbClr val="C0DBFF"/>
                </a:solidFill>
                <a:latin typeface="Noto Sans" pitchFamily="34" charset="0"/>
                <a:ea typeface="Noto Sans" pitchFamily="34" charset="-122"/>
                <a:cs typeface="Noto Sans" pitchFamily="34" charset="-120"/>
              </a:rPr>
              <a:t>Six options for the website. One idea behind all of them.</a:t>
            </a:r>
            <a:endParaRPr lang="en-US" sz="1800" dirty="0"/>
          </a:p>
        </p:txBody>
      </p:sp>
      <p:sp>
        <p:nvSpPr>
          <p:cNvPr id="6" name="Text 3"/>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92C2FF"/>
                </a:solidFill>
                <a:latin typeface="Noto Sans" pitchFamily="34" charset="0"/>
                <a:ea typeface="Noto Sans" pitchFamily="34" charset="-122"/>
                <a:cs typeface="Noto Sans" pitchFamily="34" charset="-120"/>
              </a:rPr>
              <a:t>MoSJE Design Research · September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IDEA BEHIND EVERY OPTION</a:t>
            </a:r>
            <a:endParaRPr lang="en-US" sz="950" dirty="0"/>
          </a:p>
        </p:txBody>
      </p:sp>
      <p:sp>
        <p:nvSpPr>
          <p:cNvPr id="3" name="Text 1"/>
          <p:cNvSpPr txBox="1"/>
          <p:nvPr/>
        </p:nvSpPr>
        <p:spPr>
          <a:xfrm>
            <a:off x="731520" y="694944"/>
            <a:ext cx="10728655" cy="640080"/>
          </a:xfrm>
          <a:prstGeom prst="rect">
            <a:avLst/>
          </a:prstGeom>
          <a:noFill/>
          <a:ln/>
        </p:spPr>
        <p:txBody>
          <a:bodyPr wrap="square" lIns="0" tIns="0" rIns="0" bIns="0" rtlCol="0" anchor="ctr"/>
          <a:lstStyle/>
          <a:p>
            <a:pPr indent="0" marL="0">
              <a:buNone/>
            </a:pPr>
            <a:r>
              <a:rPr lang="en-US" sz="3600" b="1" dirty="0">
                <a:solidFill>
                  <a:srgbClr val="003975"/>
                </a:solidFill>
                <a:latin typeface="Noto Sans" pitchFamily="34" charset="0"/>
                <a:ea typeface="Noto Sans" pitchFamily="34" charset="-122"/>
                <a:cs typeface="Noto Sans" pitchFamily="34" charset="-120"/>
              </a:rPr>
              <a:t>Who You Are. What You Need.</a:t>
            </a:r>
            <a:endParaRPr lang="en-US" sz="3600" dirty="0"/>
          </a:p>
        </p:txBody>
      </p:sp>
      <p:sp>
        <p:nvSpPr>
          <p:cNvPr id="4" name="Text 2"/>
          <p:cNvSpPr txBox="1"/>
          <p:nvPr/>
        </p:nvSpPr>
        <p:spPr>
          <a:xfrm>
            <a:off x="731520" y="1371600"/>
            <a:ext cx="10728655"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Every option asks these two things, and nothing else.</a:t>
            </a:r>
            <a:endParaRPr lang="en-US" sz="1400" dirty="0"/>
          </a:p>
        </p:txBody>
      </p:sp>
      <p:sp>
        <p:nvSpPr>
          <p:cNvPr id="5" name="Text 3"/>
          <p:cNvSpPr txBox="1"/>
          <p:nvPr/>
        </p:nvSpPr>
        <p:spPr>
          <a:xfrm>
            <a:off x="731520"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Who Is Looking for Support</a:t>
            </a:r>
            <a:endParaRPr lang="en-US" sz="1900" dirty="0"/>
          </a:p>
        </p:txBody>
      </p:sp>
      <p:sp>
        <p:nvSpPr>
          <p:cNvPr id="6" name="Shape 4"/>
          <p:cNvSpPr/>
          <p:nvPr/>
        </p:nvSpPr>
        <p:spPr>
          <a:xfrm>
            <a:off x="731520" y="2395728"/>
            <a:ext cx="5029200" cy="0"/>
          </a:xfrm>
          <a:prstGeom prst="line">
            <a:avLst/>
          </a:prstGeom>
          <a:noFill/>
          <a:ln w="9525">
            <a:solidFill>
              <a:srgbClr val="DCDEE1"/>
            </a:solidFill>
            <a:prstDash val="solid"/>
          </a:ln>
        </p:spPr>
      </p:sp>
      <p:sp>
        <p:nvSpPr>
          <p:cNvPr id="7" name="Text 5"/>
          <p:cNvSpPr txBox="1"/>
          <p:nvPr/>
        </p:nvSpPr>
        <p:spPr>
          <a:xfrm>
            <a:off x="731520"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Scheduled Castes</a:t>
            </a:r>
            <a:endParaRPr lang="en-US" sz="1300" dirty="0"/>
          </a:p>
        </p:txBody>
      </p:sp>
      <p:sp>
        <p:nvSpPr>
          <p:cNvPr id="8" name="Text 6"/>
          <p:cNvSpPr txBox="1"/>
          <p:nvPr/>
        </p:nvSpPr>
        <p:spPr>
          <a:xfrm>
            <a:off x="731520"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Other Backward Classes</a:t>
            </a:r>
            <a:endParaRPr lang="en-US" sz="1300" dirty="0"/>
          </a:p>
        </p:txBody>
      </p:sp>
      <p:sp>
        <p:nvSpPr>
          <p:cNvPr id="9" name="Text 7"/>
          <p:cNvSpPr txBox="1"/>
          <p:nvPr/>
        </p:nvSpPr>
        <p:spPr>
          <a:xfrm>
            <a:off x="731520"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Senior Citizens</a:t>
            </a:r>
            <a:endParaRPr lang="en-US" sz="1300" dirty="0"/>
          </a:p>
        </p:txBody>
      </p:sp>
      <p:sp>
        <p:nvSpPr>
          <p:cNvPr id="10" name="Text 8"/>
          <p:cNvSpPr txBox="1"/>
          <p:nvPr/>
        </p:nvSpPr>
        <p:spPr>
          <a:xfrm>
            <a:off x="731520"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Affected by Substance Use</a:t>
            </a:r>
            <a:endParaRPr lang="en-US" sz="1300" dirty="0"/>
          </a:p>
        </p:txBody>
      </p:sp>
      <p:sp>
        <p:nvSpPr>
          <p:cNvPr id="11" name="Text 9"/>
          <p:cNvSpPr txBox="1"/>
          <p:nvPr/>
        </p:nvSpPr>
        <p:spPr>
          <a:xfrm>
            <a:off x="731520"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Transgender Persons</a:t>
            </a:r>
            <a:endParaRPr lang="en-US" sz="1300" dirty="0"/>
          </a:p>
        </p:txBody>
      </p:sp>
      <p:sp>
        <p:nvSpPr>
          <p:cNvPr id="12" name="Text 10"/>
          <p:cNvSpPr txBox="1"/>
          <p:nvPr/>
        </p:nvSpPr>
        <p:spPr>
          <a:xfrm>
            <a:off x="731520"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Engaged in Begging</a:t>
            </a:r>
            <a:endParaRPr lang="en-US" sz="1300" dirty="0"/>
          </a:p>
        </p:txBody>
      </p:sp>
      <p:sp>
        <p:nvSpPr>
          <p:cNvPr id="13" name="Text 11"/>
          <p:cNvSpPr txBox="1"/>
          <p:nvPr/>
        </p:nvSpPr>
        <p:spPr>
          <a:xfrm>
            <a:off x="731520"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De-notified, Nomadic and Semi-Nomadic Tribes</a:t>
            </a:r>
            <a:endParaRPr lang="en-US" sz="1300" dirty="0"/>
          </a:p>
        </p:txBody>
      </p:sp>
      <p:sp>
        <p:nvSpPr>
          <p:cNvPr id="14" name="Text 12"/>
          <p:cNvSpPr txBox="1"/>
          <p:nvPr/>
        </p:nvSpPr>
        <p:spPr>
          <a:xfrm>
            <a:off x="731520"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Safai Karamcharis</a:t>
            </a:r>
            <a:endParaRPr lang="en-US" sz="1300" dirty="0"/>
          </a:p>
        </p:txBody>
      </p:sp>
      <p:sp>
        <p:nvSpPr>
          <p:cNvPr id="15" name="Text 13"/>
          <p:cNvSpPr txBox="1"/>
          <p:nvPr/>
        </p:nvSpPr>
        <p:spPr>
          <a:xfrm>
            <a:off x="731520"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Students</a:t>
            </a:r>
            <a:endParaRPr lang="en-US" sz="1300" dirty="0"/>
          </a:p>
        </p:txBody>
      </p:sp>
      <p:sp>
        <p:nvSpPr>
          <p:cNvPr id="16" name="Text 14"/>
          <p:cNvSpPr txBox="1"/>
          <p:nvPr/>
        </p:nvSpPr>
        <p:spPr>
          <a:xfrm>
            <a:off x="731520"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Victims of Atrocities</a:t>
            </a:r>
            <a:endParaRPr lang="en-US" sz="1300" dirty="0"/>
          </a:p>
        </p:txBody>
      </p:sp>
      <p:sp>
        <p:nvSpPr>
          <p:cNvPr id="17" name="Text 15"/>
          <p:cNvSpPr txBox="1"/>
          <p:nvPr/>
        </p:nvSpPr>
        <p:spPr>
          <a:xfrm>
            <a:off x="731520" y="567842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Voluntary Organisations</a:t>
            </a:r>
            <a:endParaRPr lang="en-US" sz="1300" dirty="0"/>
          </a:p>
        </p:txBody>
      </p:sp>
      <p:sp>
        <p:nvSpPr>
          <p:cNvPr id="18" name="Shape 16"/>
          <p:cNvSpPr/>
          <p:nvPr/>
        </p:nvSpPr>
        <p:spPr>
          <a:xfrm>
            <a:off x="6095848" y="2011680"/>
            <a:ext cx="0" cy="3982212"/>
          </a:xfrm>
          <a:prstGeom prst="line">
            <a:avLst/>
          </a:prstGeom>
          <a:noFill/>
          <a:ln w="9525">
            <a:solidFill>
              <a:srgbClr val="DCDEE1"/>
            </a:solidFill>
            <a:prstDash val="solid"/>
          </a:ln>
        </p:spPr>
      </p:sp>
      <p:sp>
        <p:nvSpPr>
          <p:cNvPr id="19" name="Text 17"/>
          <p:cNvSpPr txBox="1"/>
          <p:nvPr/>
        </p:nvSpPr>
        <p:spPr>
          <a:xfrm>
            <a:off x="6430975"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What the Department Provides</a:t>
            </a:r>
            <a:endParaRPr lang="en-US" sz="1900" dirty="0"/>
          </a:p>
        </p:txBody>
      </p:sp>
      <p:sp>
        <p:nvSpPr>
          <p:cNvPr id="20" name="Shape 18"/>
          <p:cNvSpPr/>
          <p:nvPr/>
        </p:nvSpPr>
        <p:spPr>
          <a:xfrm>
            <a:off x="6430975" y="2395728"/>
            <a:ext cx="5029200" cy="0"/>
          </a:xfrm>
          <a:prstGeom prst="line">
            <a:avLst/>
          </a:prstGeom>
          <a:noFill/>
          <a:ln w="9525">
            <a:solidFill>
              <a:srgbClr val="DCDEE1"/>
            </a:solidFill>
            <a:prstDash val="solid"/>
          </a:ln>
        </p:spPr>
      </p:sp>
      <p:sp>
        <p:nvSpPr>
          <p:cNvPr id="21" name="Text 19"/>
          <p:cNvSpPr txBox="1"/>
          <p:nvPr/>
        </p:nvSpPr>
        <p:spPr>
          <a:xfrm>
            <a:off x="6430975"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Scholarships and Fellowships</a:t>
            </a:r>
            <a:endParaRPr lang="en-US" sz="1300" dirty="0"/>
          </a:p>
        </p:txBody>
      </p:sp>
      <p:sp>
        <p:nvSpPr>
          <p:cNvPr id="22" name="Text 20"/>
          <p:cNvSpPr txBox="1"/>
          <p:nvPr/>
        </p:nvSpPr>
        <p:spPr>
          <a:xfrm>
            <a:off x="6430975"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Residential Schools, Hostels and Coaching</a:t>
            </a:r>
            <a:endParaRPr lang="en-US" sz="1300" dirty="0"/>
          </a:p>
        </p:txBody>
      </p:sp>
      <p:sp>
        <p:nvSpPr>
          <p:cNvPr id="23" name="Text 21"/>
          <p:cNvSpPr txBox="1"/>
          <p:nvPr/>
        </p:nvSpPr>
        <p:spPr>
          <a:xfrm>
            <a:off x="6430975"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Loans and Credit</a:t>
            </a:r>
            <a:endParaRPr lang="en-US" sz="1300" dirty="0"/>
          </a:p>
        </p:txBody>
      </p:sp>
      <p:sp>
        <p:nvSpPr>
          <p:cNvPr id="24" name="Text 22"/>
          <p:cNvSpPr txBox="1"/>
          <p:nvPr/>
        </p:nvSpPr>
        <p:spPr>
          <a:xfrm>
            <a:off x="6430975"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Skill Training and Livelihood</a:t>
            </a:r>
            <a:endParaRPr lang="en-US" sz="1300" dirty="0"/>
          </a:p>
        </p:txBody>
      </p:sp>
      <p:sp>
        <p:nvSpPr>
          <p:cNvPr id="25" name="Text 23"/>
          <p:cNvSpPr txBox="1"/>
          <p:nvPr/>
        </p:nvSpPr>
        <p:spPr>
          <a:xfrm>
            <a:off x="6430975"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Care, Shelter and Health</a:t>
            </a:r>
            <a:endParaRPr lang="en-US" sz="1300" dirty="0"/>
          </a:p>
        </p:txBody>
      </p:sp>
      <p:sp>
        <p:nvSpPr>
          <p:cNvPr id="26" name="Text 24"/>
          <p:cNvSpPr txBox="1"/>
          <p:nvPr/>
        </p:nvSpPr>
        <p:spPr>
          <a:xfrm>
            <a:off x="6430975"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De-addiction and Counselling</a:t>
            </a:r>
            <a:endParaRPr lang="en-US" sz="1300" dirty="0"/>
          </a:p>
        </p:txBody>
      </p:sp>
      <p:sp>
        <p:nvSpPr>
          <p:cNvPr id="27" name="Text 25"/>
          <p:cNvSpPr txBox="1"/>
          <p:nvPr/>
        </p:nvSpPr>
        <p:spPr>
          <a:xfrm>
            <a:off x="6430975"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Protection, Relief and Grievance</a:t>
            </a:r>
            <a:endParaRPr lang="en-US" sz="1300" dirty="0"/>
          </a:p>
        </p:txBody>
      </p:sp>
      <p:sp>
        <p:nvSpPr>
          <p:cNvPr id="28" name="Text 26"/>
          <p:cNvSpPr txBox="1"/>
          <p:nvPr/>
        </p:nvSpPr>
        <p:spPr>
          <a:xfrm>
            <a:off x="6430975"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Grants to Voluntary Organisations</a:t>
            </a:r>
            <a:endParaRPr lang="en-US" sz="1300" dirty="0"/>
          </a:p>
        </p:txBody>
      </p:sp>
      <p:sp>
        <p:nvSpPr>
          <p:cNvPr id="29" name="Text 27"/>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The first eight are the groups the Department's mandate names (Annual Report 2025-26, §1.2). The last three are groups its schemes name. Every scheme is a record in the Annual Report 2025-26 or the Demand for Grants 2026-27, tagged on both. Every source is listed in the data-sources report.</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A is on the site today. B or C would take the section below the banner, where Our Offerings sits now.</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Explore User Personas</a:t>
            </a:r>
            <a:endParaRPr lang="en-US" sz="1400" dirty="0"/>
          </a:p>
        </p:txBody>
      </p:sp>
      <p:sp>
        <p:nvSpPr>
          <p:cNvPr id="7" name="Shape 5"/>
          <p:cNvSpPr/>
          <p:nvPr/>
        </p:nvSpPr>
        <p:spPr>
          <a:xfrm>
            <a:off x="704088" y="2276856"/>
            <a:ext cx="3448202" cy="1751533"/>
          </a:xfrm>
          <a:prstGeom prst="rect">
            <a:avLst/>
          </a:prstGeom>
          <a:solidFill>
            <a:srgbClr val="FFFFFF"/>
          </a:solidFill>
          <a:ln w="9525">
            <a:solidFill>
              <a:srgbClr val="DCDEE1"/>
            </a:solidFill>
            <a:prstDash val="solid"/>
          </a:ln>
        </p:spPr>
      </p:sp>
      <p:pic>
        <p:nvPicPr>
          <p:cNvPr id="8" name="Image 0" descr="assets/still/home-a.png">    </p:cNvPr>
          <p:cNvPicPr>
            <a:picLocks noChangeAspect="1"/>
          </p:cNvPicPr>
          <p:nvPr/>
        </p:nvPicPr>
        <p:blipFill>
          <a:blip r:embed="rId1"/>
          <a:stretch>
            <a:fillRect/>
          </a:stretch>
        </p:blipFill>
        <p:spPr>
          <a:xfrm>
            <a:off x="731520" y="2304288"/>
            <a:ext cx="3393338" cy="1696669"/>
          </a:xfrm>
          <a:prstGeom prst="rect">
            <a:avLst/>
          </a:prstGeom>
        </p:spPr>
      </p:pic>
      <p:sp>
        <p:nvSpPr>
          <p:cNvPr id="9" name="Shape 6"/>
          <p:cNvSpPr/>
          <p:nvPr/>
        </p:nvSpPr>
        <p:spPr>
          <a:xfrm>
            <a:off x="731520" y="4147261"/>
            <a:ext cx="147675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147261"/>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11" name="Text 8"/>
          <p:cNvSpPr txBox="1"/>
          <p:nvPr/>
        </p:nvSpPr>
        <p:spPr>
          <a:xfrm>
            <a:off x="731520" y="4494733"/>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One group at a time. Kept as it is.</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Two Questions</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ho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1065276" cy="246888"/>
          </a:xfrm>
          <a:prstGeom prst="roundRect">
            <a:avLst>
              <a:gd name="adj" fmla="val 50000"/>
            </a:avLst>
          </a:prstGeom>
          <a:solidFill>
            <a:srgbClr val="005EB9"/>
          </a:solidFill>
          <a:ln w="12700">
            <a:solidFill>
              <a:srgbClr val="005EB9"/>
            </a:solidFill>
            <a:prstDash val="solid"/>
          </a:ln>
        </p:spPr>
      </p:sp>
      <p:sp>
        <p:nvSpPr>
          <p:cNvPr id="17" name="Text 13"/>
          <p:cNvSpPr txBox="1"/>
          <p:nvPr/>
        </p:nvSpPr>
        <p:spPr>
          <a:xfrm>
            <a:off x="4399178" y="4571429"/>
            <a:ext cx="1065276" cy="246888"/>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Who you are, then what you need. Ends with the schemes and a link to see them all.</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One Tap</a:t>
            </a:r>
            <a:endParaRPr lang="en-US" sz="1400" dirty="0"/>
          </a:p>
        </p:txBody>
      </p:sp>
      <p:sp>
        <p:nvSpPr>
          <p:cNvPr id="21" name="Shape 17"/>
          <p:cNvSpPr/>
          <p:nvPr/>
        </p:nvSpPr>
        <p:spPr>
          <a:xfrm>
            <a:off x="8039405" y="2276856"/>
            <a:ext cx="3448202" cy="2175701"/>
          </a:xfrm>
          <a:prstGeom prst="rect">
            <a:avLst/>
          </a:prstGeom>
          <a:solidFill>
            <a:srgbClr val="FFFFFF"/>
          </a:solidFill>
          <a:ln w="9525">
            <a:solidFill>
              <a:srgbClr val="DCDEE1"/>
            </a:solidFill>
            <a:prstDash val="solid"/>
          </a:ln>
        </p:spPr>
      </p:sp>
      <p:pic>
        <p:nvPicPr>
          <p:cNvPr id="22" name="Image 2" descr="assets/still/home-c.png">    </p:cNvPr>
          <p:cNvPicPr>
            <a:picLocks noChangeAspect="1"/>
          </p:cNvPicPr>
          <p:nvPr/>
        </p:nvPicPr>
        <p:blipFill>
          <a:blip r:embed="rId3"/>
          <a:stretch>
            <a:fillRect/>
          </a:stretch>
        </p:blipFill>
        <p:spPr>
          <a:xfrm>
            <a:off x="8066837" y="2304288"/>
            <a:ext cx="3393338" cy="2120837"/>
          </a:xfrm>
          <a:prstGeom prst="rect">
            <a:avLst/>
          </a:prstGeom>
        </p:spPr>
      </p:pic>
      <p:sp>
        <p:nvSpPr>
          <p:cNvPr id="23" name="Shape 18"/>
          <p:cNvSpPr/>
          <p:nvPr/>
        </p:nvSpPr>
        <p:spPr>
          <a:xfrm>
            <a:off x="8066837" y="4571429"/>
            <a:ext cx="127101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127101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COMPANION TO B</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Pick your group. First the portal for that group, then its schemes.</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B and C take the place of Our Offerings, so the page does not get longer. Either one can be approved.</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 · OPTION A OF 3</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Explore User Personas</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3300984"/>
          </a:xfrm>
          <a:prstGeom prst="rect">
            <a:avLst/>
          </a:prstGeom>
          <a:solidFill>
            <a:srgbClr val="FFFFFF"/>
          </a:solidFill>
          <a:ln w="9525">
            <a:solidFill>
              <a:srgbClr val="DCDEE1"/>
            </a:solidFill>
            <a:prstDash val="solid"/>
          </a:ln>
        </p:spPr>
      </p:sp>
      <p:pic>
        <p:nvPicPr>
          <p:cNvPr id="7" name="Image 0" descr="assets/still/home-a.png">    </p:cNvPr>
          <p:cNvPicPr>
            <a:picLocks noChangeAspect="1"/>
          </p:cNvPicPr>
          <p:nvPr/>
        </p:nvPicPr>
        <p:blipFill>
          <a:blip r:embed="rId1"/>
          <a:stretch>
            <a:fillRect/>
          </a:stretch>
        </p:blipFill>
        <p:spPr>
          <a:xfrm>
            <a:off x="731520" y="1783080"/>
            <a:ext cx="6492240" cy="3246120"/>
          </a:xfrm>
          <a:prstGeom prst="rect">
            <a:avLst/>
          </a:prstGeom>
        </p:spPr>
      </p:pic>
      <p:sp>
        <p:nvSpPr>
          <p:cNvPr id="8" name="Text 5"/>
          <p:cNvSpPr txBox="1"/>
          <p:nvPr/>
        </p:nvSpPr>
        <p:spPr>
          <a:xfrm>
            <a:off x="731520" y="515721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The panel as it is on the site today.</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panel already on the home page. It shows one group at a time, and you move between them with the arrows.</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27832"/>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the arrows to move between the groups</a:t>
            </a:r>
            <a:endParaRPr lang="en-US" sz="1200" dirty="0"/>
          </a:p>
        </p:txBody>
      </p:sp>
      <p:sp>
        <p:nvSpPr>
          <p:cNvPr id="14" name="Shape 11"/>
          <p:cNvSpPr/>
          <p:nvPr/>
        </p:nvSpPr>
        <p:spPr>
          <a:xfrm>
            <a:off x="7680960" y="352958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a group to open the Schemes page for that group</a:t>
            </a:r>
            <a:endParaRPr lang="en-US" sz="1200" dirty="0"/>
          </a:p>
        </p:txBody>
      </p:sp>
      <p:sp>
        <p:nvSpPr>
          <p:cNvPr id="16" name="Text 13"/>
          <p:cNvSpPr txBox="1"/>
          <p:nvPr/>
        </p:nvSpPr>
        <p:spPr>
          <a:xfrm>
            <a:off x="7680960" y="41605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7" name="Shape 14"/>
          <p:cNvSpPr/>
          <p:nvPr/>
        </p:nvSpPr>
        <p:spPr>
          <a:xfrm>
            <a:off x="7680960" y="4498848"/>
            <a:ext cx="54864" cy="54864"/>
          </a:xfrm>
          <a:prstGeom prst="rect">
            <a:avLst/>
          </a:prstGeom>
          <a:solidFill>
            <a:srgbClr val="005EB9"/>
          </a:solidFill>
          <a:ln w="12700">
            <a:solidFill>
              <a:srgbClr val="005EB9"/>
            </a:solidFill>
            <a:prstDash val="solid"/>
          </a:ln>
        </p:spPr>
      </p:sp>
      <p:sp>
        <p:nvSpPr>
          <p:cNvPr id="18" name="Text 15"/>
          <p:cNvSpPr txBox="1"/>
          <p:nvPr/>
        </p:nvSpPr>
        <p:spPr>
          <a:xfrm>
            <a:off x="7863840" y="443484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Already on the site, so nothing new to build</a:t>
            </a:r>
            <a:endParaRPr lang="en-US" sz="1200" dirty="0"/>
          </a:p>
        </p:txBody>
      </p:sp>
      <p:sp>
        <p:nvSpPr>
          <p:cNvPr id="19" name="Shape 16"/>
          <p:cNvSpPr/>
          <p:nvPr/>
        </p:nvSpPr>
        <p:spPr>
          <a:xfrm>
            <a:off x="7680960" y="499262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pictures work in any language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 · OPTION B OF 3</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Two Questions</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1924812" y="1298448"/>
            <a:ext cx="1065276" cy="246888"/>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1924812"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8" name="Shape 6"/>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10" name="Text 7"/>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then Scholarships. Then Senior Citizens with the second question skipped.</a:t>
            </a:r>
            <a:endParaRPr lang="en-US" sz="850" dirty="0"/>
          </a:p>
        </p:txBody>
      </p:sp>
      <p:sp>
        <p:nvSpPr>
          <p:cNvPr id="11" name="Text 8"/>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2" name="Text 9"/>
          <p:cNvSpPr txBox="1"/>
          <p:nvPr/>
        </p:nvSpPr>
        <p:spPr>
          <a:xfrm>
            <a:off x="7680960" y="2057400"/>
            <a:ext cx="3779215" cy="630936"/>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short questions on the home page: who you are, and what kind of support you need.</a:t>
            </a:r>
            <a:endParaRPr lang="en-US" sz="1200" dirty="0"/>
          </a:p>
        </p:txBody>
      </p:sp>
      <p:sp>
        <p:nvSpPr>
          <p:cNvPr id="13" name="Text 10"/>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4" name="Shape 11"/>
          <p:cNvSpPr/>
          <p:nvPr/>
        </p:nvSpPr>
        <p:spPr>
          <a:xfrm>
            <a:off x="7680960" y="3227832"/>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163824"/>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Question 2 can be skipped, which shows everything for the group</a:t>
            </a:r>
            <a:endParaRPr lang="en-US" sz="1200" dirty="0"/>
          </a:p>
        </p:txBody>
      </p:sp>
      <p:sp>
        <p:nvSpPr>
          <p:cNvPr id="16" name="Shape 13"/>
          <p:cNvSpPr/>
          <p:nvPr/>
        </p:nvSpPr>
        <p:spPr>
          <a:xfrm>
            <a:off x="7680960" y="3721608"/>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65760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answer shows the first three schemes, each with a link to its own page</a:t>
            </a:r>
            <a:endParaRPr lang="en-US" sz="1200" dirty="0"/>
          </a:p>
        </p:txBody>
      </p:sp>
      <p:sp>
        <p:nvSpPr>
          <p:cNvPr id="18" name="Shape 15"/>
          <p:cNvSpPr/>
          <p:nvPr/>
        </p:nvSpPr>
        <p:spPr>
          <a:xfrm>
            <a:off x="7680960" y="4215384"/>
            <a:ext cx="54864" cy="54864"/>
          </a:xfrm>
          <a:prstGeom prst="rect">
            <a:avLst/>
          </a:prstGeom>
          <a:solidFill>
            <a:srgbClr val="005EB9"/>
          </a:solidFill>
          <a:ln w="12700">
            <a:solidFill>
              <a:srgbClr val="005EB9"/>
            </a:solidFill>
            <a:prstDash val="solid"/>
          </a:ln>
        </p:spPr>
      </p:sp>
      <p:sp>
        <p:nvSpPr>
          <p:cNvPr id="19" name="Text 16"/>
          <p:cNvSpPr txBox="1"/>
          <p:nvPr/>
        </p:nvSpPr>
        <p:spPr>
          <a:xfrm>
            <a:off x="7863840" y="41513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more link opens the Schemes page, already filtered to the same two answers</a:t>
            </a:r>
            <a:endParaRPr lang="en-US" sz="1200" dirty="0"/>
          </a:p>
        </p:txBody>
      </p:sp>
      <p:sp>
        <p:nvSpPr>
          <p:cNvPr id="20" name="Text 17"/>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21" name="Shape 18"/>
          <p:cNvSpPr/>
          <p:nvPr/>
        </p:nvSpPr>
        <p:spPr>
          <a:xfrm>
            <a:off x="7680960" y="5184648"/>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12064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Both questions change what you see; nothing is asked for its own sake</a:t>
            </a:r>
            <a:endParaRPr lang="en-US" sz="1200" dirty="0"/>
          </a:p>
        </p:txBody>
      </p:sp>
      <p:sp>
        <p:nvSpPr>
          <p:cNvPr id="23" name="Shape 20"/>
          <p:cNvSpPr/>
          <p:nvPr/>
        </p:nvSpPr>
        <p:spPr>
          <a:xfrm>
            <a:off x="7680960" y="5678424"/>
            <a:ext cx="54864" cy="54864"/>
          </a:xfrm>
          <a:prstGeom prst="rect">
            <a:avLst/>
          </a:prstGeom>
          <a:solidFill>
            <a:srgbClr val="005EB9"/>
          </a:solidFill>
          <a:ln w="12700">
            <a:solidFill>
              <a:srgbClr val="005EB9"/>
            </a:solidFill>
            <a:prstDash val="solid"/>
          </a:ln>
        </p:spPr>
      </p:sp>
      <p:sp>
        <p:nvSpPr>
          <p:cNvPr id="24" name="Text 21"/>
          <p:cNvSpPr txBox="1"/>
          <p:nvPr/>
        </p:nvSpPr>
        <p:spPr>
          <a:xfrm>
            <a:off x="7863840" y="561441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visitor gets an answer without leaving the home page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 · OPTION C OF 3</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One Tap</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Senior Citizens, Transgender Persons, Voluntary Organisations. One tap each.</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row of the groups. Pick yours and the schemes appear. No questions asked.</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3580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first band is the portal or helpline the Department runs for that group</a:t>
            </a:r>
            <a:endParaRPr lang="en-US" sz="1200" dirty="0"/>
          </a:p>
        </p:txBody>
      </p:sp>
      <p:sp>
        <p:nvSpPr>
          <p:cNvPr id="14" name="Shape 11"/>
          <p:cNvSpPr/>
          <p:nvPr/>
        </p:nvSpPr>
        <p:spPr>
          <a:xfrm>
            <a:off x="7680960" y="352958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Below it, the schemes for the group, sorted by what they give</a:t>
            </a:r>
            <a:endParaRPr lang="en-US" sz="1200" dirty="0"/>
          </a:p>
        </p:txBody>
      </p:sp>
      <p:sp>
        <p:nvSpPr>
          <p:cNvPr id="16" name="Shape 13"/>
          <p:cNvSpPr/>
          <p:nvPr/>
        </p:nvSpPr>
        <p:spPr>
          <a:xfrm>
            <a:off x="7680960" y="402336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scheme links to its page, and one link opens the full list</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9262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tap and nothing to answer</a:t>
            </a:r>
            <a:endParaRPr lang="en-US" sz="1200" dirty="0"/>
          </a:p>
        </p:txBody>
      </p:sp>
      <p:sp>
        <p:nvSpPr>
          <p:cNvPr id="21" name="Shape 18"/>
          <p:cNvSpPr/>
          <p:nvPr/>
        </p:nvSpPr>
        <p:spPr>
          <a:xfrm>
            <a:off x="7680960" y="529437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portal a group already uses comes first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Two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a person lands from the home page, and where officers and voluntary organisations work. Both use the same two filters.</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Pictures of the Groups, with Cards</a:t>
            </a:r>
            <a:endParaRPr lang="en-US" sz="1400" dirty="0"/>
          </a:p>
        </p:txBody>
      </p:sp>
      <p:sp>
        <p:nvSpPr>
          <p:cNvPr id="7" name="Shape 5"/>
          <p:cNvSpPr/>
          <p:nvPr/>
        </p:nvSpPr>
        <p:spPr>
          <a:xfrm>
            <a:off x="704088" y="2276856"/>
            <a:ext cx="5144872" cy="3236119"/>
          </a:xfrm>
          <a:prstGeom prst="rect">
            <a:avLst/>
          </a:prstGeom>
          <a:solidFill>
            <a:srgbClr val="FFFFFF"/>
          </a:solidFill>
          <a:ln w="9525">
            <a:solidFill>
              <a:srgbClr val="DCDEE1"/>
            </a:solidFill>
            <a:prstDash val="solid"/>
          </a:ln>
        </p:spPr>
      </p:sp>
      <p:pic>
        <p:nvPicPr>
          <p:cNvPr id="8" name="Image 0" descr="assets/still/scheme-a.png">    </p:cNvPr>
          <p:cNvPicPr>
            <a:picLocks noChangeAspect="1"/>
          </p:cNvPicPr>
          <p:nvPr/>
        </p:nvPicPr>
        <p:blipFill>
          <a:blip r:embed="rId1"/>
          <a:stretch>
            <a:fillRect/>
          </a:stretch>
        </p:blipFill>
        <p:spPr>
          <a:xfrm>
            <a:off x="731520" y="2304288"/>
            <a:ext cx="5090008" cy="3181255"/>
          </a:xfrm>
          <a:prstGeom prst="rect">
            <a:avLst/>
          </a:prstGeom>
        </p:spPr>
      </p:pic>
      <p:sp>
        <p:nvSpPr>
          <p:cNvPr id="9" name="Shape 6"/>
          <p:cNvSpPr/>
          <p:nvPr/>
        </p:nvSpPr>
        <p:spPr>
          <a:xfrm>
            <a:off x="731520" y="5631847"/>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Every group on screen at once, then cards. For browsing.</a:t>
            </a:r>
            <a:endParaRPr lang="en-US" sz="1200" dirty="0"/>
          </a:p>
        </p:txBody>
      </p:sp>
      <p:sp>
        <p:nvSpPr>
          <p:cNvPr id="12" name="Text 9"/>
          <p:cNvSpPr txBox="1"/>
          <p:nvPr/>
        </p:nvSpPr>
        <p:spPr>
          <a:xfrm>
            <a:off x="637016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6873088"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Filter Panel with a Table</a:t>
            </a:r>
            <a:endParaRPr lang="en-US" sz="1400" dirty="0"/>
          </a:p>
        </p:txBody>
      </p:sp>
      <p:sp>
        <p:nvSpPr>
          <p:cNvPr id="14" name="Shape 11"/>
          <p:cNvSpPr/>
          <p:nvPr/>
        </p:nvSpPr>
        <p:spPr>
          <a:xfrm>
            <a:off x="6342736" y="2276856"/>
            <a:ext cx="5144872" cy="3236119"/>
          </a:xfrm>
          <a:prstGeom prst="rect">
            <a:avLst/>
          </a:prstGeom>
          <a:solidFill>
            <a:srgbClr val="FFFFFF"/>
          </a:solidFill>
          <a:ln w="9525">
            <a:solidFill>
              <a:srgbClr val="DCDEE1"/>
            </a:solidFill>
            <a:prstDash val="solid"/>
          </a:ln>
        </p:spPr>
      </p:sp>
      <p:pic>
        <p:nvPicPr>
          <p:cNvPr id="15" name="Image 1" descr="assets/still/scheme-b.png">    </p:cNvPr>
          <p:cNvPicPr>
            <a:picLocks noChangeAspect="1"/>
          </p:cNvPicPr>
          <p:nvPr/>
        </p:nvPicPr>
        <p:blipFill>
          <a:blip r:embed="rId2"/>
          <a:stretch>
            <a:fillRect/>
          </a:stretch>
        </p:blipFill>
        <p:spPr>
          <a:xfrm>
            <a:off x="6370168" y="2304288"/>
            <a:ext cx="5090008" cy="3181255"/>
          </a:xfrm>
          <a:prstGeom prst="rect">
            <a:avLst/>
          </a:prstGeom>
        </p:spPr>
      </p:pic>
      <p:sp>
        <p:nvSpPr>
          <p:cNvPr id="16" name="Shape 12"/>
          <p:cNvSpPr/>
          <p:nvPr/>
        </p:nvSpPr>
        <p:spPr>
          <a:xfrm>
            <a:off x="6370168" y="5631847"/>
            <a:ext cx="1065276" cy="246888"/>
          </a:xfrm>
          <a:prstGeom prst="roundRect">
            <a:avLst>
              <a:gd name="adj" fmla="val 50000"/>
            </a:avLst>
          </a:prstGeom>
          <a:solidFill>
            <a:srgbClr val="005EB9"/>
          </a:solidFill>
          <a:ln w="12700">
            <a:solidFill>
              <a:srgbClr val="005EB9"/>
            </a:solidFill>
            <a:prstDash val="solid"/>
          </a:ln>
        </p:spPr>
      </p:sp>
      <p:sp>
        <p:nvSpPr>
          <p:cNvPr id="17" name="Text 13"/>
          <p:cNvSpPr txBox="1"/>
          <p:nvPr/>
        </p:nvSpPr>
        <p:spPr>
          <a:xfrm>
            <a:off x="6370168" y="5631847"/>
            <a:ext cx="1065276" cy="246888"/>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18" name="Text 14"/>
          <p:cNvSpPr txBox="1"/>
          <p:nvPr/>
        </p:nvSpPr>
        <p:spPr>
          <a:xfrm>
            <a:off x="6370168"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Filters that work together, and a table that says who each scheme is for. For deciding.</a:t>
            </a:r>
            <a:endParaRPr lang="en-US" sz="1200" dirty="0"/>
          </a:p>
        </p:txBody>
      </p:sp>
      <p:sp>
        <p:nvSpPr>
          <p:cNvPr id="19" name="Text 15"/>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No count is shown on either. A filter that would leave nothing is greyed out.</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 · OPTION A OF 2</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Pictures of the Groups, with Cards</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Safai Karamcharis, then Loans and Credit, then Senior Citizens.</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as a picture in one row. Pick one, then, if you like, the kind of support.</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27832"/>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filters and no third</a:t>
            </a:r>
            <a:endParaRPr lang="en-US" sz="1200" dirty="0"/>
          </a:p>
        </p:txBody>
      </p:sp>
      <p:sp>
        <p:nvSpPr>
          <p:cNvPr id="14" name="Shape 11"/>
          <p:cNvSpPr/>
          <p:nvPr/>
        </p:nvSpPr>
        <p:spPr>
          <a:xfrm>
            <a:off x="7680960" y="352958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Cards show what a scheme gives; nine to a page</a:t>
            </a:r>
            <a:endParaRPr lang="en-US" sz="1200" dirty="0"/>
          </a:p>
        </p:txBody>
      </p:sp>
      <p:sp>
        <p:nvSpPr>
          <p:cNvPr id="16" name="Shape 13"/>
          <p:cNvSpPr/>
          <p:nvPr/>
        </p:nvSpPr>
        <p:spPr>
          <a:xfrm>
            <a:off x="7680960" y="402336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card opens the scheme's page</a:t>
            </a:r>
            <a:endParaRPr lang="en-US" sz="1200" dirty="0"/>
          </a:p>
        </p:txBody>
      </p:sp>
      <p:sp>
        <p:nvSpPr>
          <p:cNvPr id="18" name="Text 15"/>
          <p:cNvSpPr txBox="1"/>
          <p:nvPr/>
        </p:nvSpPr>
        <p:spPr>
          <a:xfrm>
            <a:off x="7680960" y="4462272"/>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80060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73659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is visible at once, with no scrolling to find yourself</a:t>
            </a:r>
            <a:endParaRPr lang="en-US" sz="1200" dirty="0"/>
          </a:p>
        </p:txBody>
      </p:sp>
      <p:sp>
        <p:nvSpPr>
          <p:cNvPr id="21" name="Shape 18"/>
          <p:cNvSpPr/>
          <p:nvPr/>
        </p:nvSpPr>
        <p:spPr>
          <a:xfrm>
            <a:off x="7680960" y="529437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two filters as the home page, so the same idea is met twice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 · OPTION B OF 2</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Filter Panel with a Table</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1924812" y="1298448"/>
            <a:ext cx="1065276" cy="246888"/>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1924812"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8" name="Shape 6"/>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10" name="Text 7"/>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Other Backward Classes with Scholarships, then Loans added, then one filter removed.</a:t>
            </a:r>
            <a:endParaRPr lang="en-US" sz="850" dirty="0"/>
          </a:p>
        </p:txBody>
      </p:sp>
      <p:sp>
        <p:nvSpPr>
          <p:cNvPr id="11" name="Text 8"/>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2" name="Text 9"/>
          <p:cNvSpPr txBox="1"/>
          <p:nvPr/>
        </p:nvSpPr>
        <p:spPr>
          <a:xfrm>
            <a:off x="7680960" y="2057400"/>
            <a:ext cx="3779215" cy="630936"/>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Filters down the left, a table on the right. Tick who it is for and what kind of support you need.</a:t>
            </a:r>
            <a:endParaRPr lang="en-US" sz="1200" dirty="0"/>
          </a:p>
        </p:txBody>
      </p:sp>
      <p:sp>
        <p:nvSpPr>
          <p:cNvPr id="13" name="Text 10"/>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4" name="Shape 11"/>
          <p:cNvSpPr/>
          <p:nvPr/>
        </p:nvSpPr>
        <p:spPr>
          <a:xfrm>
            <a:off x="7680960" y="3227832"/>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163824"/>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two filters work together</a:t>
            </a:r>
            <a:endParaRPr lang="en-US" sz="1200" dirty="0"/>
          </a:p>
        </p:txBody>
      </p:sp>
      <p:sp>
        <p:nvSpPr>
          <p:cNvPr id="16" name="Shape 13"/>
          <p:cNvSpPr/>
          <p:nvPr/>
        </p:nvSpPr>
        <p:spPr>
          <a:xfrm>
            <a:off x="7680960" y="3529584"/>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4655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filter that would leave nothing is greyed out, with no number beside it</a:t>
            </a:r>
            <a:endParaRPr lang="en-US" sz="1200" dirty="0"/>
          </a:p>
        </p:txBody>
      </p:sp>
      <p:sp>
        <p:nvSpPr>
          <p:cNvPr id="18" name="Shape 15"/>
          <p:cNvSpPr/>
          <p:nvPr/>
        </p:nvSpPr>
        <p:spPr>
          <a:xfrm>
            <a:off x="7680960" y="4023360"/>
            <a:ext cx="54864" cy="54864"/>
          </a:xfrm>
          <a:prstGeom prst="rect">
            <a:avLst/>
          </a:prstGeom>
          <a:solidFill>
            <a:srgbClr val="005EB9"/>
          </a:solidFill>
          <a:ln w="12700">
            <a:solidFill>
              <a:srgbClr val="005EB9"/>
            </a:solidFill>
            <a:prstDash val="solid"/>
          </a:ln>
        </p:spPr>
      </p:sp>
      <p:sp>
        <p:nvSpPr>
          <p:cNvPr id="19" name="Text 16"/>
          <p:cNvSpPr txBox="1"/>
          <p:nvPr/>
        </p:nvSpPr>
        <p:spPr>
          <a:xfrm>
            <a:off x="7863840" y="395935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Ten rows a page; each scheme links to its page</a:t>
            </a:r>
            <a:endParaRPr lang="en-US" sz="1200" dirty="0"/>
          </a:p>
        </p:txBody>
      </p:sp>
      <p:sp>
        <p:nvSpPr>
          <p:cNvPr id="20" name="Text 17"/>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21" name="Shape 18"/>
          <p:cNvSpPr/>
          <p:nvPr/>
        </p:nvSpPr>
        <p:spPr>
          <a:xfrm>
            <a:off x="7680960" y="4992624"/>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4928616"/>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schemes can be read side by side</a:t>
            </a:r>
            <a:endParaRPr lang="en-US" sz="1200" dirty="0"/>
          </a:p>
        </p:txBody>
      </p:sp>
      <p:sp>
        <p:nvSpPr>
          <p:cNvPr id="23" name="Shape 20"/>
          <p:cNvSpPr/>
          <p:nvPr/>
        </p:nvSpPr>
        <p:spPr>
          <a:xfrm>
            <a:off x="7680960" y="5294376"/>
            <a:ext cx="54864" cy="54864"/>
          </a:xfrm>
          <a:prstGeom prst="rect">
            <a:avLst/>
          </a:prstGeom>
          <a:solidFill>
            <a:srgbClr val="005EB9"/>
          </a:solidFill>
          <a:ln w="12700">
            <a:solidFill>
              <a:srgbClr val="005EB9"/>
            </a:solidFill>
            <a:prstDash val="solid"/>
          </a:ln>
        </p:spPr>
      </p:sp>
      <p:sp>
        <p:nvSpPr>
          <p:cNvPr id="24" name="Text 21"/>
          <p:cNvSpPr txBox="1"/>
          <p:nvPr/>
        </p:nvSpPr>
        <p:spPr>
          <a:xfrm>
            <a:off x="7863840" y="5230368"/>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table has room to say who each scheme is for</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ASSISTANT · THE SAME TWO QUESTIONS, IN CHAT</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Samajik Sahayak</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2336292" y="1298448"/>
            <a:ext cx="1065276" cy="246888"/>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2336292"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8" name="Shape 6"/>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10" name="Text 7"/>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the assistant opened from an ordinary page. Scheduled Castes, then Loans and Credit.</a:t>
            </a:r>
            <a:endParaRPr lang="en-US" sz="850" dirty="0"/>
          </a:p>
        </p:txBody>
      </p:sp>
      <p:sp>
        <p:nvSpPr>
          <p:cNvPr id="11" name="Text 8"/>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2" name="Text 9"/>
          <p:cNvSpPr txBox="1"/>
          <p:nvPr/>
        </p:nvSpPr>
        <p:spPr>
          <a:xfrm>
            <a:off x="7680960" y="2057400"/>
            <a:ext cx="3779215" cy="630936"/>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chat button in the corner of every page asks the same two questions, one at a time.</a:t>
            </a:r>
            <a:endParaRPr lang="en-US" sz="1200" dirty="0"/>
          </a:p>
        </p:txBody>
      </p:sp>
      <p:sp>
        <p:nvSpPr>
          <p:cNvPr id="13" name="Text 10"/>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4" name="Shape 11"/>
          <p:cNvSpPr/>
          <p:nvPr/>
        </p:nvSpPr>
        <p:spPr>
          <a:xfrm>
            <a:off x="7680960" y="3227832"/>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163824"/>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your group, then the kind of support</a:t>
            </a:r>
            <a:endParaRPr lang="en-US" sz="1200" dirty="0"/>
          </a:p>
        </p:txBody>
      </p:sp>
      <p:sp>
        <p:nvSpPr>
          <p:cNvPr id="16" name="Shape 13"/>
          <p:cNvSpPr/>
          <p:nvPr/>
        </p:nvSpPr>
        <p:spPr>
          <a:xfrm>
            <a:off x="7680960" y="3529584"/>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4655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reply names the schemes and offers to open each one</a:t>
            </a:r>
            <a:endParaRPr lang="en-US" sz="1200" dirty="0"/>
          </a:p>
        </p:txBody>
      </p:sp>
      <p:sp>
        <p:nvSpPr>
          <p:cNvPr id="18" name="Shape 15"/>
          <p:cNvSpPr/>
          <p:nvPr/>
        </p:nvSpPr>
        <p:spPr>
          <a:xfrm>
            <a:off x="7680960" y="4023360"/>
            <a:ext cx="54864" cy="54864"/>
          </a:xfrm>
          <a:prstGeom prst="rect">
            <a:avLst/>
          </a:prstGeom>
          <a:solidFill>
            <a:srgbClr val="005EB9"/>
          </a:solidFill>
          <a:ln w="12700">
            <a:solidFill>
              <a:srgbClr val="005EB9"/>
            </a:solidFill>
            <a:prstDash val="solid"/>
          </a:ln>
        </p:spPr>
      </p:sp>
      <p:sp>
        <p:nvSpPr>
          <p:cNvPr id="19" name="Text 16"/>
          <p:cNvSpPr txBox="1"/>
          <p:nvPr/>
        </p:nvSpPr>
        <p:spPr>
          <a:xfrm>
            <a:off x="7863840" y="395935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It reads the same list as the home page, so the answers always match</a:t>
            </a:r>
            <a:endParaRPr lang="en-US" sz="1200" dirty="0"/>
          </a:p>
        </p:txBody>
      </p:sp>
      <p:sp>
        <p:nvSpPr>
          <p:cNvPr id="20" name="Text 17"/>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21" name="Shape 18"/>
          <p:cNvSpPr/>
          <p:nvPr/>
        </p:nvSpPr>
        <p:spPr>
          <a:xfrm>
            <a:off x="7680960" y="4992624"/>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492861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Reachable from every page, even one that leads nowhere else</a:t>
            </a:r>
            <a:endParaRPr lang="en-US" sz="1200" dirty="0"/>
          </a:p>
        </p:txBody>
      </p:sp>
      <p:sp>
        <p:nvSpPr>
          <p:cNvPr id="23" name="Shape 20"/>
          <p:cNvSpPr/>
          <p:nvPr/>
        </p:nvSpPr>
        <p:spPr>
          <a:xfrm>
            <a:off x="7680960" y="5486400"/>
            <a:ext cx="54864" cy="54864"/>
          </a:xfrm>
          <a:prstGeom prst="rect">
            <a:avLst/>
          </a:prstGeom>
          <a:solidFill>
            <a:srgbClr val="005EB9"/>
          </a:solidFill>
          <a:ln w="12700">
            <a:solidFill>
              <a:srgbClr val="005EB9"/>
            </a:solidFill>
            <a:prstDash val="solid"/>
          </a:ln>
        </p:spPr>
      </p:sp>
      <p:sp>
        <p:nvSpPr>
          <p:cNvPr id="24" name="Text 21"/>
          <p:cNvSpPr txBox="1"/>
          <p:nvPr/>
        </p:nvSpPr>
        <p:spPr>
          <a:xfrm>
            <a:off x="7863840" y="5422392"/>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question per screen suits a phone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FIRST</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Before Anything Is Built</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Whichever options are chosen, three things come first.</a:t>
            </a:r>
            <a:endParaRPr lang="en-US" sz="1400" dirty="0"/>
          </a:p>
        </p:txBody>
      </p:sp>
      <p:sp>
        <p:nvSpPr>
          <p:cNvPr id="5" name="Text 3"/>
          <p:cNvSpPr txBox="1"/>
          <p:nvPr/>
        </p:nvSpPr>
        <p:spPr>
          <a:xfrm>
            <a:off x="731520" y="1920240"/>
            <a:ext cx="548640" cy="457200"/>
          </a:xfrm>
          <a:prstGeom prst="rect">
            <a:avLst/>
          </a:prstGeom>
          <a:noFill/>
          <a:ln/>
        </p:spPr>
        <p:txBody>
          <a:bodyPr wrap="square" lIns="0" tIns="0" rIns="0" bIns="0" rtlCol="0" anchor="ctr"/>
          <a:lstStyle/>
          <a:p>
            <a:pPr indent="0" marL="0">
              <a:buNone/>
            </a:pPr>
            <a:r>
              <a:rPr lang="en-US" sz="2600" b="1" dirty="0">
                <a:solidFill>
                  <a:srgbClr val="005EB9"/>
                </a:solidFill>
                <a:latin typeface="Noto Sans" pitchFamily="34" charset="0"/>
                <a:ea typeface="Noto Sans" pitchFamily="34" charset="-122"/>
                <a:cs typeface="Noto Sans" pitchFamily="34" charset="-120"/>
              </a:rPr>
              <a:t>1</a:t>
            </a:r>
            <a:endParaRPr lang="en-US" sz="2600" dirty="0"/>
          </a:p>
        </p:txBody>
      </p:sp>
      <p:sp>
        <p:nvSpPr>
          <p:cNvPr id="6" name="Text 4"/>
          <p:cNvSpPr txBox="1"/>
          <p:nvPr/>
        </p:nvSpPr>
        <p:spPr>
          <a:xfrm>
            <a:off x="1371600" y="1938528"/>
            <a:ext cx="10088575" cy="329184"/>
          </a:xfrm>
          <a:prstGeom prst="rect">
            <a:avLst/>
          </a:prstGeom>
          <a:noFill/>
          <a:ln/>
        </p:spPr>
        <p:txBody>
          <a:bodyPr wrap="square" lIns="0" tIns="0" rIns="0" bIns="0" rtlCol="0" anchor="ctr"/>
          <a:lstStyle/>
          <a:p>
            <a:pPr indent="0" marL="0">
              <a:buNone/>
            </a:pPr>
            <a:r>
              <a:rPr lang="en-US" sz="1900" b="1" dirty="0">
                <a:solidFill>
                  <a:srgbClr val="003975"/>
                </a:solidFill>
                <a:latin typeface="Noto Sans" pitchFamily="34" charset="0"/>
                <a:ea typeface="Noto Sans" pitchFamily="34" charset="-122"/>
                <a:cs typeface="Noto Sans" pitchFamily="34" charset="-120"/>
              </a:rPr>
              <a:t>Confirm the two lists</a:t>
            </a:r>
            <a:endParaRPr lang="en-US" sz="1900" dirty="0"/>
          </a:p>
        </p:txBody>
      </p:sp>
      <p:sp>
        <p:nvSpPr>
          <p:cNvPr id="7" name="Text 5"/>
          <p:cNvSpPr txBox="1"/>
          <p:nvPr/>
        </p:nvSpPr>
        <p:spPr>
          <a:xfrm>
            <a:off x="1371600" y="2304288"/>
            <a:ext cx="10088575"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The eleven groups and the eight kinds of support, checked by the divisions that own them, including whether every group should be named on a public page.</a:t>
            </a:r>
            <a:endParaRPr lang="en-US" sz="1200" dirty="0"/>
          </a:p>
        </p:txBody>
      </p:sp>
      <p:sp>
        <p:nvSpPr>
          <p:cNvPr id="8" name="Shape 6"/>
          <p:cNvSpPr/>
          <p:nvPr/>
        </p:nvSpPr>
        <p:spPr>
          <a:xfrm>
            <a:off x="731520" y="2944368"/>
            <a:ext cx="10728655" cy="0"/>
          </a:xfrm>
          <a:prstGeom prst="line">
            <a:avLst/>
          </a:prstGeom>
          <a:noFill/>
          <a:ln w="9525">
            <a:solidFill>
              <a:srgbClr val="DCDEE1"/>
            </a:solidFill>
            <a:prstDash val="solid"/>
          </a:ln>
        </p:spPr>
      </p:sp>
      <p:sp>
        <p:nvSpPr>
          <p:cNvPr id="9" name="Text 7"/>
          <p:cNvSpPr txBox="1"/>
          <p:nvPr/>
        </p:nvSpPr>
        <p:spPr>
          <a:xfrm>
            <a:off x="731520" y="3145536"/>
            <a:ext cx="548640" cy="457200"/>
          </a:xfrm>
          <a:prstGeom prst="rect">
            <a:avLst/>
          </a:prstGeom>
          <a:noFill/>
          <a:ln/>
        </p:spPr>
        <p:txBody>
          <a:bodyPr wrap="square" lIns="0" tIns="0" rIns="0" bIns="0" rtlCol="0" anchor="ctr"/>
          <a:lstStyle/>
          <a:p>
            <a:pPr indent="0" marL="0">
              <a:buNone/>
            </a:pPr>
            <a:r>
              <a:rPr lang="en-US" sz="2600" b="1" dirty="0">
                <a:solidFill>
                  <a:srgbClr val="005EB9"/>
                </a:solidFill>
                <a:latin typeface="Noto Sans" pitchFamily="34" charset="0"/>
                <a:ea typeface="Noto Sans" pitchFamily="34" charset="-122"/>
                <a:cs typeface="Noto Sans" pitchFamily="34" charset="-120"/>
              </a:rPr>
              <a:t>2</a:t>
            </a:r>
            <a:endParaRPr lang="en-US" sz="2600" dirty="0"/>
          </a:p>
        </p:txBody>
      </p:sp>
      <p:sp>
        <p:nvSpPr>
          <p:cNvPr id="10" name="Text 8"/>
          <p:cNvSpPr txBox="1"/>
          <p:nvPr/>
        </p:nvSpPr>
        <p:spPr>
          <a:xfrm>
            <a:off x="1371600" y="3163824"/>
            <a:ext cx="10088575" cy="329184"/>
          </a:xfrm>
          <a:prstGeom prst="rect">
            <a:avLst/>
          </a:prstGeom>
          <a:noFill/>
          <a:ln/>
        </p:spPr>
        <p:txBody>
          <a:bodyPr wrap="square" lIns="0" tIns="0" rIns="0" bIns="0" rtlCol="0" anchor="ctr"/>
          <a:lstStyle/>
          <a:p>
            <a:pPr indent="0" marL="0">
              <a:buNone/>
            </a:pPr>
            <a:r>
              <a:rPr lang="en-US" sz="1900" b="1" dirty="0">
                <a:solidFill>
                  <a:srgbClr val="003975"/>
                </a:solidFill>
                <a:latin typeface="Noto Sans" pitchFamily="34" charset="0"/>
                <a:ea typeface="Noto Sans" pitchFamily="34" charset="-122"/>
                <a:cs typeface="Noto Sans" pitchFamily="34" charset="-120"/>
              </a:rPr>
              <a:t>Tag every scheme on both lists</a:t>
            </a:r>
            <a:endParaRPr lang="en-US" sz="1900" dirty="0"/>
          </a:p>
        </p:txBody>
      </p:sp>
      <p:sp>
        <p:nvSpPr>
          <p:cNvPr id="11" name="Text 9"/>
          <p:cNvSpPr txBox="1"/>
          <p:nvPr/>
        </p:nvSpPr>
        <p:spPr>
          <a:xfrm>
            <a:off x="1371600" y="3529584"/>
            <a:ext cx="10088575"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Each scheme record says who it is for, what it gives and where to apply, with a source on every row. The divisions check their rows.</a:t>
            </a:r>
            <a:endParaRPr lang="en-US" sz="1200" dirty="0"/>
          </a:p>
        </p:txBody>
      </p:sp>
      <p:sp>
        <p:nvSpPr>
          <p:cNvPr id="12" name="Shape 10"/>
          <p:cNvSpPr/>
          <p:nvPr/>
        </p:nvSpPr>
        <p:spPr>
          <a:xfrm>
            <a:off x="731520" y="4169664"/>
            <a:ext cx="10728655" cy="0"/>
          </a:xfrm>
          <a:prstGeom prst="line">
            <a:avLst/>
          </a:prstGeom>
          <a:noFill/>
          <a:ln w="9525">
            <a:solidFill>
              <a:srgbClr val="DCDEE1"/>
            </a:solidFill>
            <a:prstDash val="solid"/>
          </a:ln>
        </p:spPr>
      </p:sp>
      <p:sp>
        <p:nvSpPr>
          <p:cNvPr id="13" name="Text 11"/>
          <p:cNvSpPr txBox="1"/>
          <p:nvPr/>
        </p:nvSpPr>
        <p:spPr>
          <a:xfrm>
            <a:off x="731520" y="4370832"/>
            <a:ext cx="548640" cy="457200"/>
          </a:xfrm>
          <a:prstGeom prst="rect">
            <a:avLst/>
          </a:prstGeom>
          <a:noFill/>
          <a:ln/>
        </p:spPr>
        <p:txBody>
          <a:bodyPr wrap="square" lIns="0" tIns="0" rIns="0" bIns="0" rtlCol="0" anchor="ctr"/>
          <a:lstStyle/>
          <a:p>
            <a:pPr indent="0" marL="0">
              <a:buNone/>
            </a:pPr>
            <a:r>
              <a:rPr lang="en-US" sz="2600" b="1" dirty="0">
                <a:solidFill>
                  <a:srgbClr val="005EB9"/>
                </a:solidFill>
                <a:latin typeface="Noto Sans" pitchFamily="34" charset="0"/>
                <a:ea typeface="Noto Sans" pitchFamily="34" charset="-122"/>
                <a:cs typeface="Noto Sans" pitchFamily="34" charset="-120"/>
              </a:rPr>
              <a:t>3</a:t>
            </a:r>
            <a:endParaRPr lang="en-US" sz="2600" dirty="0"/>
          </a:p>
        </p:txBody>
      </p:sp>
      <p:sp>
        <p:nvSpPr>
          <p:cNvPr id="14" name="Text 12"/>
          <p:cNvSpPr txBox="1"/>
          <p:nvPr/>
        </p:nvSpPr>
        <p:spPr>
          <a:xfrm>
            <a:off x="1371600" y="4389120"/>
            <a:ext cx="10088575" cy="329184"/>
          </a:xfrm>
          <a:prstGeom prst="rect">
            <a:avLst/>
          </a:prstGeom>
          <a:noFill/>
          <a:ln/>
        </p:spPr>
        <p:txBody>
          <a:bodyPr wrap="square" lIns="0" tIns="0" rIns="0" bIns="0" rtlCol="0" anchor="ctr"/>
          <a:lstStyle/>
          <a:p>
            <a:pPr indent="0" marL="0">
              <a:buNone/>
            </a:pPr>
            <a:r>
              <a:rPr lang="en-US" sz="1900" b="1" dirty="0">
                <a:solidFill>
                  <a:srgbClr val="003975"/>
                </a:solidFill>
                <a:latin typeface="Noto Sans" pitchFamily="34" charset="0"/>
                <a:ea typeface="Noto Sans" pitchFamily="34" charset="-122"/>
                <a:cs typeface="Noto Sans" pitchFamily="34" charset="-120"/>
              </a:rPr>
              <a:t>Estimate the re-tagging</a:t>
            </a:r>
            <a:endParaRPr lang="en-US" sz="1900" dirty="0"/>
          </a:p>
        </p:txBody>
      </p:sp>
      <p:sp>
        <p:nvSpPr>
          <p:cNvPr id="15" name="Text 13"/>
          <p:cNvSpPr txBox="1"/>
          <p:nvPr/>
        </p:nvSpPr>
        <p:spPr>
          <a:xfrm>
            <a:off x="1371600" y="4754880"/>
            <a:ext cx="10088575"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The website's catalogue tags each scheme once, on one list. Tagging every scheme on two lists is the development work every option needs.</a:t>
            </a:r>
            <a:endParaRPr lang="en-US" sz="1200" dirty="0"/>
          </a:p>
        </p:txBody>
      </p:sp>
      <p:sp>
        <p:nvSpPr>
          <p:cNvPr id="16" name="Text 14"/>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The design team supplies the lists and the tagged records. The divisions check them. The development team estimates the re-tagging.</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WHICHEVER OPTIONS ARE APPROVED</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Rules</a:t>
            </a:r>
            <a:endParaRPr lang="en-US" sz="3000" dirty="0"/>
          </a:p>
        </p:txBody>
      </p:sp>
      <p:sp>
        <p:nvSpPr>
          <p:cNvPr id="4" name="Text 2"/>
          <p:cNvSpPr txBox="1"/>
          <p:nvPr/>
        </p:nvSpPr>
        <p:spPr>
          <a:xfrm>
            <a:off x="731520" y="1645920"/>
            <a:ext cx="10728655" cy="420624"/>
          </a:xfrm>
          <a:prstGeom prst="rect">
            <a:avLst/>
          </a:prstGeom>
          <a:noFill/>
          <a:ln/>
        </p:spPr>
        <p:txBody>
          <a:bodyPr wrap="square" lIns="0" tIns="0" rIns="0" bIns="0" rtlCol="0" anchor="ctr"/>
          <a:lstStyle/>
          <a:p>
            <a:pPr indent="0" marL="0">
              <a:buNone/>
            </a:pPr>
            <a:r>
              <a:rPr lang="en-US" sz="2200" b="1" dirty="0">
                <a:solidFill>
                  <a:srgbClr val="003975"/>
                </a:solidFill>
                <a:latin typeface="Noto Sans" pitchFamily="34" charset="0"/>
                <a:ea typeface="Noto Sans" pitchFamily="34" charset="-122"/>
                <a:cs typeface="Noto Sans" pitchFamily="34" charset="-120"/>
              </a:rPr>
              <a:t>It names the group. It never decides the case.</a:t>
            </a:r>
            <a:endParaRPr lang="en-US" sz="2200" dirty="0"/>
          </a:p>
        </p:txBody>
      </p:sp>
      <p:sp>
        <p:nvSpPr>
          <p:cNvPr id="5" name="Text 3"/>
          <p:cNvSpPr txBox="1"/>
          <p:nvPr/>
        </p:nvSpPr>
        <p:spPr>
          <a:xfrm>
            <a:off x="731520" y="2103120"/>
            <a:ext cx="10728655" cy="329184"/>
          </a:xfrm>
          <a:prstGeom prst="rect">
            <a:avLst/>
          </a:prstGeom>
          <a:noFill/>
          <a:ln/>
        </p:spPr>
        <p:txBody>
          <a:bodyPr wrap="square" lIns="0" tIns="0" rIns="0" bIns="0" rtlCol="0" anchor="ctr"/>
          <a:lstStyle/>
          <a:p>
            <a:pPr indent="0" marL="0">
              <a:lnSpc>
                <a:spcPct val="120000"/>
              </a:lnSpc>
              <a:buNone/>
            </a:pPr>
            <a:r>
              <a:rPr lang="en-US" sz="1200" dirty="0">
                <a:solidFill>
                  <a:srgbClr val="3A3D41"/>
                </a:solidFill>
                <a:latin typeface="Noto Sans" pitchFamily="34" charset="0"/>
                <a:ea typeface="Noto Sans" pitchFamily="34" charset="-122"/>
                <a:cs typeface="Noto Sans" pitchFamily="34" charset="-120"/>
              </a:rPr>
              <a:t>No screen and no message says a person is eligible. The office that sanctions the scheme decides every application.</a:t>
            </a:r>
            <a:endParaRPr lang="en-US" sz="1200" dirty="0"/>
          </a:p>
        </p:txBody>
      </p:sp>
      <p:sp>
        <p:nvSpPr>
          <p:cNvPr id="6" name="Shape 4"/>
          <p:cNvSpPr/>
          <p:nvPr/>
        </p:nvSpPr>
        <p:spPr>
          <a:xfrm>
            <a:off x="731520" y="2743200"/>
            <a:ext cx="10728655" cy="0"/>
          </a:xfrm>
          <a:prstGeom prst="line">
            <a:avLst/>
          </a:prstGeom>
          <a:noFill/>
          <a:ln w="9525">
            <a:solidFill>
              <a:srgbClr val="DCDEE1"/>
            </a:solidFill>
            <a:prstDash val="solid"/>
          </a:ln>
        </p:spPr>
      </p:sp>
      <p:sp>
        <p:nvSpPr>
          <p:cNvPr id="7" name="Text 5"/>
          <p:cNvSpPr txBox="1"/>
          <p:nvPr/>
        </p:nvSpPr>
        <p:spPr>
          <a:xfrm>
            <a:off x="731520" y="3017520"/>
            <a:ext cx="10728655" cy="420624"/>
          </a:xfrm>
          <a:prstGeom prst="rect">
            <a:avLst/>
          </a:prstGeom>
          <a:noFill/>
          <a:ln/>
        </p:spPr>
        <p:txBody>
          <a:bodyPr wrap="square" lIns="0" tIns="0" rIns="0" bIns="0" rtlCol="0" anchor="ctr"/>
          <a:lstStyle/>
          <a:p>
            <a:pPr indent="0" marL="0">
              <a:buNone/>
            </a:pPr>
            <a:r>
              <a:rPr lang="en-US" sz="2200" b="1" dirty="0">
                <a:solidFill>
                  <a:srgbClr val="003975"/>
                </a:solidFill>
                <a:latin typeface="Noto Sans" pitchFamily="34" charset="0"/>
                <a:ea typeface="Noto Sans" pitchFamily="34" charset="-122"/>
                <a:cs typeface="Noto Sans" pitchFamily="34" charset="-120"/>
              </a:rPr>
              <a:t>It asks two things. It stores nothing.</a:t>
            </a:r>
            <a:endParaRPr lang="en-US" sz="2200" dirty="0"/>
          </a:p>
        </p:txBody>
      </p:sp>
      <p:sp>
        <p:nvSpPr>
          <p:cNvPr id="8" name="Text 6"/>
          <p:cNvSpPr txBox="1"/>
          <p:nvPr/>
        </p:nvSpPr>
        <p:spPr>
          <a:xfrm>
            <a:off x="731520" y="3474720"/>
            <a:ext cx="10728655" cy="329184"/>
          </a:xfrm>
          <a:prstGeom prst="rect">
            <a:avLst/>
          </a:prstGeom>
          <a:noFill/>
          <a:ln/>
        </p:spPr>
        <p:txBody>
          <a:bodyPr wrap="square" lIns="0" tIns="0" rIns="0" bIns="0" rtlCol="0" anchor="ctr"/>
          <a:lstStyle/>
          <a:p>
            <a:pPr indent="0" marL="0">
              <a:lnSpc>
                <a:spcPct val="120000"/>
              </a:lnSpc>
              <a:buNone/>
            </a:pPr>
            <a:r>
              <a:rPr lang="en-US" sz="1200" dirty="0">
                <a:solidFill>
                  <a:srgbClr val="3A3D41"/>
                </a:solidFill>
                <a:latin typeface="Noto Sans" pitchFamily="34" charset="0"/>
                <a:ea typeface="Noto Sans" pitchFamily="34" charset="-122"/>
                <a:cs typeface="Noto Sans" pitchFamily="34" charset="-120"/>
              </a:rPr>
              <a:t>No sign-in, no Aadhaar, no phone number, no income. The answers are picked from a fixed list, never typed.</a:t>
            </a:r>
            <a:endParaRPr lang="en-US" sz="1200" dirty="0"/>
          </a:p>
        </p:txBody>
      </p:sp>
      <p:sp>
        <p:nvSpPr>
          <p:cNvPr id="9" name="Shape 7"/>
          <p:cNvSpPr/>
          <p:nvPr/>
        </p:nvSpPr>
        <p:spPr>
          <a:xfrm>
            <a:off x="731520" y="4114800"/>
            <a:ext cx="10728655" cy="0"/>
          </a:xfrm>
          <a:prstGeom prst="line">
            <a:avLst/>
          </a:prstGeom>
          <a:noFill/>
          <a:ln w="9525">
            <a:solidFill>
              <a:srgbClr val="DCDEE1"/>
            </a:solidFill>
            <a:prstDash val="solid"/>
          </a:ln>
        </p:spPr>
      </p:sp>
      <p:sp>
        <p:nvSpPr>
          <p:cNvPr id="10" name="Text 8"/>
          <p:cNvSpPr txBox="1"/>
          <p:nvPr/>
        </p:nvSpPr>
        <p:spPr>
          <a:xfrm>
            <a:off x="731520" y="4389120"/>
            <a:ext cx="10728655" cy="420624"/>
          </a:xfrm>
          <a:prstGeom prst="rect">
            <a:avLst/>
          </a:prstGeom>
          <a:noFill/>
          <a:ln/>
        </p:spPr>
        <p:txBody>
          <a:bodyPr wrap="square" lIns="0" tIns="0" rIns="0" bIns="0" rtlCol="0" anchor="ctr"/>
          <a:lstStyle/>
          <a:p>
            <a:pPr indent="0" marL="0">
              <a:buNone/>
            </a:pPr>
            <a:r>
              <a:rPr lang="en-US" sz="2200" b="1" dirty="0">
                <a:solidFill>
                  <a:srgbClr val="003975"/>
                </a:solidFill>
                <a:latin typeface="Noto Sans" pitchFamily="34" charset="0"/>
                <a:ea typeface="Noto Sans" pitchFamily="34" charset="-122"/>
                <a:cs typeface="Noto Sans" pitchFamily="34" charset="-120"/>
              </a:rPr>
              <a:t>It shows no numbers.</a:t>
            </a:r>
            <a:endParaRPr lang="en-US" sz="2200" dirty="0"/>
          </a:p>
        </p:txBody>
      </p:sp>
      <p:sp>
        <p:nvSpPr>
          <p:cNvPr id="11" name="Text 9"/>
          <p:cNvSpPr txBox="1"/>
          <p:nvPr/>
        </p:nvSpPr>
        <p:spPr>
          <a:xfrm>
            <a:off x="731520" y="4846320"/>
            <a:ext cx="10728655" cy="329184"/>
          </a:xfrm>
          <a:prstGeom prst="rect">
            <a:avLst/>
          </a:prstGeom>
          <a:noFill/>
          <a:ln/>
        </p:spPr>
        <p:txBody>
          <a:bodyPr wrap="square" lIns="0" tIns="0" rIns="0" bIns="0" rtlCol="0" anchor="ctr"/>
          <a:lstStyle/>
          <a:p>
            <a:pPr indent="0" marL="0">
              <a:lnSpc>
                <a:spcPct val="120000"/>
              </a:lnSpc>
              <a:buNone/>
            </a:pPr>
            <a:r>
              <a:rPr lang="en-US" sz="1200" dirty="0">
                <a:solidFill>
                  <a:srgbClr val="3A3D41"/>
                </a:solidFill>
                <a:latin typeface="Noto Sans" pitchFamily="34" charset="0"/>
                <a:ea typeface="Noto Sans" pitchFamily="34" charset="-122"/>
                <a:cs typeface="Noto Sans" pitchFamily="34" charset="-120"/>
              </a:rPr>
              <a:t>No count of schemes on any screen. The only figures are the helpline numbers the Department publishes and the amounts its Annual Report states.</a:t>
            </a:r>
            <a:endParaRPr lang="en-US" sz="1200" dirty="0"/>
          </a:p>
        </p:txBody>
      </p:sp>
      <p:sp>
        <p:nvSpPr>
          <p:cNvPr id="12" name="Text 10"/>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These hold for all six options and are not traded away for speed.</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731520" y="640080"/>
            <a:ext cx="10728655" cy="219456"/>
          </a:xfrm>
          <a:prstGeom prst="rect">
            <a:avLst/>
          </a:prstGeom>
          <a:noFill/>
          <a:ln/>
        </p:spPr>
        <p:txBody>
          <a:bodyPr wrap="square" lIns="0" tIns="0" rIns="0" bIns="0" rtlCol="0" anchor="ctr"/>
          <a:lstStyle/>
          <a:p>
            <a:pPr indent="0" marL="0">
              <a:buNone/>
            </a:pPr>
            <a:r>
              <a:rPr lang="en-US" sz="950" b="1" spc="100" kern="0" dirty="0">
                <a:solidFill>
                  <a:srgbClr val="C0DBFF"/>
                </a:solidFill>
                <a:latin typeface="Noto Sans" pitchFamily="34" charset="0"/>
                <a:ea typeface="Noto Sans" pitchFamily="34" charset="-122"/>
                <a:cs typeface="Noto Sans" pitchFamily="34" charset="-120"/>
              </a:rPr>
              <a:t>IN SUMMARY</a:t>
            </a:r>
            <a:endParaRPr lang="en-US" sz="950" dirty="0"/>
          </a:p>
        </p:txBody>
      </p:sp>
      <p:sp>
        <p:nvSpPr>
          <p:cNvPr id="3" name="Text 1"/>
          <p:cNvSpPr txBox="1"/>
          <p:nvPr/>
        </p:nvSpPr>
        <p:spPr>
          <a:xfrm>
            <a:off x="731520" y="914400"/>
            <a:ext cx="10728655" cy="640080"/>
          </a:xfrm>
          <a:prstGeom prst="rect">
            <a:avLst/>
          </a:prstGeom>
          <a:noFill/>
          <a:ln/>
        </p:spPr>
        <p:txBody>
          <a:bodyPr wrap="square" lIns="0" tIns="0" rIns="0" bIns="0" rtlCol="0" anchor="ctr"/>
          <a:lstStyle/>
          <a:p>
            <a:pPr indent="0" marL="0">
              <a:buNone/>
            </a:pPr>
            <a:r>
              <a:rPr lang="en-US" sz="3400" b="1" dirty="0">
                <a:solidFill>
                  <a:srgbClr val="FFFFFF"/>
                </a:solidFill>
                <a:latin typeface="Noto Sans" pitchFamily="34" charset="0"/>
                <a:ea typeface="Noto Sans" pitchFamily="34" charset="-122"/>
                <a:cs typeface="Noto Sans" pitchFamily="34" charset="-120"/>
              </a:rPr>
              <a:t>What the Design Team Recommends</a:t>
            </a:r>
            <a:endParaRPr lang="en-US" sz="3400" dirty="0"/>
          </a:p>
        </p:txBody>
      </p:sp>
      <p:sp>
        <p:nvSpPr>
          <p:cNvPr id="4" name="Shape 2"/>
          <p:cNvSpPr/>
          <p:nvPr/>
        </p:nvSpPr>
        <p:spPr>
          <a:xfrm>
            <a:off x="731520" y="2011680"/>
            <a:ext cx="10728655" cy="0"/>
          </a:xfrm>
          <a:prstGeom prst="line">
            <a:avLst/>
          </a:prstGeom>
          <a:noFill/>
          <a:ln w="12700">
            <a:solidFill>
              <a:srgbClr val="004B96"/>
            </a:solidFill>
            <a:prstDash val="solid"/>
          </a:ln>
        </p:spPr>
      </p:sp>
      <p:sp>
        <p:nvSpPr>
          <p:cNvPr id="5" name="Text 3"/>
          <p:cNvSpPr txBox="1"/>
          <p:nvPr/>
        </p:nvSpPr>
        <p:spPr>
          <a:xfrm>
            <a:off x="731520" y="2212848"/>
            <a:ext cx="3291840" cy="457200"/>
          </a:xfrm>
          <a:prstGeom prst="rect">
            <a:avLst/>
          </a:prstGeom>
          <a:noFill/>
          <a:ln/>
        </p:spPr>
        <p:txBody>
          <a:bodyPr wrap="square" lIns="0" tIns="0" rIns="0" bIns="0" rtlCol="0" anchor="ctr"/>
          <a:lstStyle/>
          <a:p>
            <a:pPr indent="0" marL="0">
              <a:buNone/>
            </a:pPr>
            <a:r>
              <a:rPr lang="en-US" sz="1500" dirty="0">
                <a:solidFill>
                  <a:srgbClr val="C0DBFF"/>
                </a:solidFill>
                <a:latin typeface="Noto Sans" pitchFamily="34" charset="0"/>
                <a:ea typeface="Noto Sans" pitchFamily="34" charset="-122"/>
                <a:cs typeface="Noto Sans" pitchFamily="34" charset="-120"/>
              </a:rPr>
              <a:t>The home page</a:t>
            </a:r>
            <a:endParaRPr lang="en-US" sz="1500" dirty="0"/>
          </a:p>
        </p:txBody>
      </p:sp>
      <p:sp>
        <p:nvSpPr>
          <p:cNvPr id="6" name="Text 4"/>
          <p:cNvSpPr txBox="1"/>
          <p:nvPr/>
        </p:nvSpPr>
        <p:spPr>
          <a:xfrm>
            <a:off x="4114800" y="2212848"/>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Noto Sans" pitchFamily="34" charset="0"/>
                <a:ea typeface="Noto Sans" pitchFamily="34" charset="-122"/>
                <a:cs typeface="Noto Sans" pitchFamily="34" charset="-120"/>
              </a:rPr>
              <a:t>Option B, with A kept</a:t>
            </a:r>
            <a:endParaRPr lang="en-US" sz="1700" dirty="0"/>
          </a:p>
        </p:txBody>
      </p:sp>
      <p:sp>
        <p:nvSpPr>
          <p:cNvPr id="7" name="Text 5"/>
          <p:cNvSpPr txBox="1"/>
          <p:nvPr/>
        </p:nvSpPr>
        <p:spPr>
          <a:xfrm>
            <a:off x="8412480" y="2231136"/>
            <a:ext cx="3047695" cy="457200"/>
          </a:xfrm>
          <a:prstGeom prst="rect">
            <a:avLst/>
          </a:prstGeom>
          <a:noFill/>
          <a:ln/>
        </p:spPr>
        <p:txBody>
          <a:bodyPr wrap="square" lIns="0" tIns="0" rIns="0" bIns="0" rtlCol="0" anchor="ctr"/>
          <a:lstStyle/>
          <a:p>
            <a:pPr indent="0" marL="0">
              <a:lnSpc>
                <a:spcPct val="115000"/>
              </a:lnSpc>
              <a:buNone/>
            </a:pPr>
            <a:r>
              <a:rPr lang="en-US" sz="1200" dirty="0">
                <a:solidFill>
                  <a:srgbClr val="C0DBFF"/>
                </a:solidFill>
                <a:latin typeface="Noto Sans" pitchFamily="34" charset="0"/>
                <a:ea typeface="Noto Sans" pitchFamily="34" charset="-122"/>
                <a:cs typeface="Noto Sans" pitchFamily="34" charset="-120"/>
              </a:rPr>
              <a:t>It answers the question a visitor arrives with</a:t>
            </a:r>
            <a:endParaRPr lang="en-US" sz="1200" dirty="0"/>
          </a:p>
        </p:txBody>
      </p:sp>
      <p:sp>
        <p:nvSpPr>
          <p:cNvPr id="8" name="Shape 6"/>
          <p:cNvSpPr/>
          <p:nvPr/>
        </p:nvSpPr>
        <p:spPr>
          <a:xfrm>
            <a:off x="731520" y="2834640"/>
            <a:ext cx="10728655" cy="0"/>
          </a:xfrm>
          <a:prstGeom prst="line">
            <a:avLst/>
          </a:prstGeom>
          <a:noFill/>
          <a:ln w="12700">
            <a:solidFill>
              <a:srgbClr val="004B96"/>
            </a:solidFill>
            <a:prstDash val="solid"/>
          </a:ln>
        </p:spPr>
      </p:sp>
      <p:sp>
        <p:nvSpPr>
          <p:cNvPr id="9" name="Text 7"/>
          <p:cNvSpPr txBox="1"/>
          <p:nvPr/>
        </p:nvSpPr>
        <p:spPr>
          <a:xfrm>
            <a:off x="731520" y="3035808"/>
            <a:ext cx="3291840" cy="457200"/>
          </a:xfrm>
          <a:prstGeom prst="rect">
            <a:avLst/>
          </a:prstGeom>
          <a:noFill/>
          <a:ln/>
        </p:spPr>
        <p:txBody>
          <a:bodyPr wrap="square" lIns="0" tIns="0" rIns="0" bIns="0" rtlCol="0" anchor="ctr"/>
          <a:lstStyle/>
          <a:p>
            <a:pPr indent="0" marL="0">
              <a:buNone/>
            </a:pPr>
            <a:r>
              <a:rPr lang="en-US" sz="1500" dirty="0">
                <a:solidFill>
                  <a:srgbClr val="C0DBFF"/>
                </a:solidFill>
                <a:latin typeface="Noto Sans" pitchFamily="34" charset="0"/>
                <a:ea typeface="Noto Sans" pitchFamily="34" charset="-122"/>
                <a:cs typeface="Noto Sans" pitchFamily="34" charset="-120"/>
              </a:rPr>
              <a:t>The Schemes page</a:t>
            </a:r>
            <a:endParaRPr lang="en-US" sz="1500" dirty="0"/>
          </a:p>
        </p:txBody>
      </p:sp>
      <p:sp>
        <p:nvSpPr>
          <p:cNvPr id="10" name="Text 8"/>
          <p:cNvSpPr txBox="1"/>
          <p:nvPr/>
        </p:nvSpPr>
        <p:spPr>
          <a:xfrm>
            <a:off x="4114800" y="3035808"/>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Noto Sans" pitchFamily="34" charset="0"/>
                <a:ea typeface="Noto Sans" pitchFamily="34" charset="-122"/>
                <a:cs typeface="Noto Sans" pitchFamily="34" charset="-120"/>
              </a:rPr>
              <a:t>Option B — filters with a table</a:t>
            </a:r>
            <a:endParaRPr lang="en-US" sz="1700" dirty="0"/>
          </a:p>
        </p:txBody>
      </p:sp>
      <p:sp>
        <p:nvSpPr>
          <p:cNvPr id="11" name="Text 9"/>
          <p:cNvSpPr txBox="1"/>
          <p:nvPr/>
        </p:nvSpPr>
        <p:spPr>
          <a:xfrm>
            <a:off x="8412480" y="3054096"/>
            <a:ext cx="3047695" cy="457200"/>
          </a:xfrm>
          <a:prstGeom prst="rect">
            <a:avLst/>
          </a:prstGeom>
          <a:noFill/>
          <a:ln/>
        </p:spPr>
        <p:txBody>
          <a:bodyPr wrap="square" lIns="0" tIns="0" rIns="0" bIns="0" rtlCol="0" anchor="ctr"/>
          <a:lstStyle/>
          <a:p>
            <a:pPr indent="0" marL="0">
              <a:lnSpc>
                <a:spcPct val="115000"/>
              </a:lnSpc>
              <a:buNone/>
            </a:pPr>
            <a:r>
              <a:rPr lang="en-US" sz="1200" dirty="0">
                <a:solidFill>
                  <a:srgbClr val="C0DBFF"/>
                </a:solidFill>
                <a:latin typeface="Noto Sans" pitchFamily="34" charset="0"/>
                <a:ea typeface="Noto Sans" pitchFamily="34" charset="-122"/>
                <a:cs typeface="Noto Sans" pitchFamily="34" charset="-120"/>
              </a:rPr>
              <a:t>It is where people compare</a:t>
            </a:r>
            <a:endParaRPr lang="en-US" sz="1200" dirty="0"/>
          </a:p>
        </p:txBody>
      </p:sp>
      <p:sp>
        <p:nvSpPr>
          <p:cNvPr id="12" name="Shape 10"/>
          <p:cNvSpPr/>
          <p:nvPr/>
        </p:nvSpPr>
        <p:spPr>
          <a:xfrm>
            <a:off x="731520" y="3657600"/>
            <a:ext cx="10728655" cy="0"/>
          </a:xfrm>
          <a:prstGeom prst="line">
            <a:avLst/>
          </a:prstGeom>
          <a:noFill/>
          <a:ln w="12700">
            <a:solidFill>
              <a:srgbClr val="004B96"/>
            </a:solidFill>
            <a:prstDash val="solid"/>
          </a:ln>
        </p:spPr>
      </p:sp>
      <p:sp>
        <p:nvSpPr>
          <p:cNvPr id="13" name="Text 11"/>
          <p:cNvSpPr txBox="1"/>
          <p:nvPr/>
        </p:nvSpPr>
        <p:spPr>
          <a:xfrm>
            <a:off x="731520" y="3858768"/>
            <a:ext cx="3291840" cy="457200"/>
          </a:xfrm>
          <a:prstGeom prst="rect">
            <a:avLst/>
          </a:prstGeom>
          <a:noFill/>
          <a:ln/>
        </p:spPr>
        <p:txBody>
          <a:bodyPr wrap="square" lIns="0" tIns="0" rIns="0" bIns="0" rtlCol="0" anchor="ctr"/>
          <a:lstStyle/>
          <a:p>
            <a:pPr indent="0" marL="0">
              <a:buNone/>
            </a:pPr>
            <a:r>
              <a:rPr lang="en-US" sz="1500" dirty="0">
                <a:solidFill>
                  <a:srgbClr val="C0DBFF"/>
                </a:solidFill>
                <a:latin typeface="Noto Sans" pitchFamily="34" charset="0"/>
                <a:ea typeface="Noto Sans" pitchFamily="34" charset="-122"/>
                <a:cs typeface="Noto Sans" pitchFamily="34" charset="-120"/>
              </a:rPr>
              <a:t>The assistant</a:t>
            </a:r>
            <a:endParaRPr lang="en-US" sz="1500" dirty="0"/>
          </a:p>
        </p:txBody>
      </p:sp>
      <p:sp>
        <p:nvSpPr>
          <p:cNvPr id="14" name="Text 12"/>
          <p:cNvSpPr txBox="1"/>
          <p:nvPr/>
        </p:nvSpPr>
        <p:spPr>
          <a:xfrm>
            <a:off x="4114800" y="3858768"/>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Noto Sans" pitchFamily="34" charset="0"/>
                <a:ea typeface="Noto Sans" pitchFamily="34" charset="-122"/>
                <a:cs typeface="Noto Sans" pitchFamily="34" charset="-120"/>
              </a:rPr>
              <a:t>Yes — the same two questions</a:t>
            </a:r>
            <a:endParaRPr lang="en-US" sz="1700" dirty="0"/>
          </a:p>
        </p:txBody>
      </p:sp>
      <p:sp>
        <p:nvSpPr>
          <p:cNvPr id="15" name="Text 13"/>
          <p:cNvSpPr txBox="1"/>
          <p:nvPr/>
        </p:nvSpPr>
        <p:spPr>
          <a:xfrm>
            <a:off x="8412480" y="3877056"/>
            <a:ext cx="3047695" cy="457200"/>
          </a:xfrm>
          <a:prstGeom prst="rect">
            <a:avLst/>
          </a:prstGeom>
          <a:noFill/>
          <a:ln/>
        </p:spPr>
        <p:txBody>
          <a:bodyPr wrap="square" lIns="0" tIns="0" rIns="0" bIns="0" rtlCol="0" anchor="ctr"/>
          <a:lstStyle/>
          <a:p>
            <a:pPr indent="0" marL="0">
              <a:lnSpc>
                <a:spcPct val="115000"/>
              </a:lnSpc>
              <a:buNone/>
            </a:pPr>
            <a:r>
              <a:rPr lang="en-US" sz="1200" dirty="0">
                <a:solidFill>
                  <a:srgbClr val="C0DBFF"/>
                </a:solidFill>
                <a:latin typeface="Noto Sans" pitchFamily="34" charset="0"/>
                <a:ea typeface="Noto Sans" pitchFamily="34" charset="-122"/>
                <a:cs typeface="Noto Sans" pitchFamily="34" charset="-120"/>
              </a:rPr>
              <a:t>It reaches the person who is already lost on a page</a:t>
            </a:r>
            <a:endParaRPr lang="en-US" sz="1200" dirty="0"/>
          </a:p>
        </p:txBody>
      </p:sp>
      <p:sp>
        <p:nvSpPr>
          <p:cNvPr id="16" name="Shape 14"/>
          <p:cNvSpPr/>
          <p:nvPr/>
        </p:nvSpPr>
        <p:spPr>
          <a:xfrm>
            <a:off x="731520" y="4480560"/>
            <a:ext cx="10728655" cy="0"/>
          </a:xfrm>
          <a:prstGeom prst="line">
            <a:avLst/>
          </a:prstGeom>
          <a:noFill/>
          <a:ln w="12700">
            <a:solidFill>
              <a:srgbClr val="004B96"/>
            </a:solidFill>
            <a:prstDash val="solid"/>
          </a:ln>
        </p:spPr>
      </p:sp>
      <p:sp>
        <p:nvSpPr>
          <p:cNvPr id="17" name="Text 15"/>
          <p:cNvSpPr txBox="1"/>
          <p:nvPr/>
        </p:nvSpPr>
        <p:spPr>
          <a:xfrm>
            <a:off x="731520" y="5029200"/>
            <a:ext cx="10728655" cy="457200"/>
          </a:xfrm>
          <a:prstGeom prst="rect">
            <a:avLst/>
          </a:prstGeom>
          <a:noFill/>
          <a:ln/>
        </p:spPr>
        <p:txBody>
          <a:bodyPr wrap="square" lIns="0" tIns="0" rIns="0" bIns="0" rtlCol="0" anchor="ctr"/>
          <a:lstStyle/>
          <a:p>
            <a:pPr indent="0" marL="0">
              <a:buNone/>
            </a:pPr>
            <a:r>
              <a:rPr lang="en-US" sz="1600" b="1" dirty="0">
                <a:solidFill>
                  <a:srgbClr val="FFFFFF"/>
                </a:solidFill>
                <a:latin typeface="Noto Sans" pitchFamily="34" charset="0"/>
                <a:ea typeface="Noto Sans" pitchFamily="34" charset="-122"/>
                <a:cs typeface="Noto Sans" pitchFamily="34" charset="-120"/>
              </a:rPr>
              <a:t>The three parts are decided separately. Whichever is chosen, the two lists and the tagging come first.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2026-09-09T04:58:14Z</dcterms:created>
  <dcterms:modified xsi:type="dcterms:W3CDTF">2026-09-09T04:58:14Z</dcterms:modified>
</cp:coreProperties>
</file>