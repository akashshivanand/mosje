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menu, then the Schemes page, then the assistant, then what has to come first. The menu was added on 14 September. Only Schemes page Option C shows scheme counts, one on each heading; that was decided on 14 September. Every other option shows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after the internal review of 14 September. The feedback was that a scheme portal is not an organisation, so it should not sit under Associated Organisations. A answers that with the name alone. B moves the portals into Offerings. C gives schemes a place of their own in the top row. The next three pages show each one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lightest of the three, added on 14 September. Nothing moves; the name of the menu now covers what is in it. Wherever the site says All Organisations today, including the Schemes page filter, it would say Organisations &amp; Scheme Portals. The longer name fits on a desktop screen and still has to be checked on a smaller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portals leave Associated Organisations and join Offerings. View All Schemes is a full-width button under the portals, as asked on 14 September, so the list of all schemes is not reduced to a small link. The top row stays as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gains an eighth entry. It only fits because Associated Organisations becomes Organisations, and that name changes on every page. A new entry was felt to crowd the row on smaller screens, so this is the option to take only if schemes should not sit near the organisations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Three arrangements of the same filters. A and B were shown on 9 September; C was drawn after the review of 14 September. The next three pages show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Drawn after the review of 14 September. Services are a choice of their own because some portals, Senior Citizens Welfare among them, offer services as well as schemes. The first visit still opens on the Department's own schemes; choosing any filter widens it to all organisations and portals. Each heading shows how many schemes sit under it, as socialjustice.gov.in does, so a visitor knows how much is there before opening it. The counts are read from the list when the page loads, never typed in, so they change as schemes are added or cleaned up. This is the only option in the deck that shows a count. The headings are the ten kinds of support on the second slide. The counts come from the classification of every listing on the Schemes page, completed on 12 September: duplicate listings, documents and organisation pages are left out, and a scheme that gives more than one kind of support is counted under each. A second version, grouped by organisation, is drawn beside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3-1.mp4"/><Relationship Id="rId2" Type="http://schemas.microsoft.com/office/2007/relationships/media" Target="../media/media-13-1.mp4"/><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Ten options for four parts of the website.</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for finding a scheme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
        <p:nvSpPr>
          <p:cNvPr id="29" name="Text 27"/>
          <p:cNvSpPr txBox="1"/>
          <p:nvPr/>
        </p:nvSpPr>
        <p:spPr>
          <a:xfrm>
            <a:off x="6430975"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Housing and Settlement</a:t>
            </a:r>
            <a:endParaRPr lang="en-US" sz="1300" dirty="0"/>
          </a:p>
        </p:txBody>
      </p:sp>
      <p:sp>
        <p:nvSpPr>
          <p:cNvPr id="30" name="Text 28"/>
          <p:cNvSpPr txBox="1"/>
          <p:nvPr/>
        </p:nvSpPr>
        <p:spPr>
          <a:xfrm>
            <a:off x="6430975"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Awards and Recognition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9" name="Text 6"/>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0" name="Text 7"/>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1" name="Shape 8"/>
          <p:cNvSpPr/>
          <p:nvPr/>
        </p:nvSpPr>
        <p:spPr>
          <a:xfrm>
            <a:off x="7680960" y="3218688"/>
            <a:ext cx="54864" cy="54864"/>
          </a:xfrm>
          <a:prstGeom prst="rect">
            <a:avLst/>
          </a:prstGeom>
          <a:solidFill>
            <a:srgbClr val="005EB9"/>
          </a:solidFill>
          <a:ln w="12700">
            <a:solidFill>
              <a:srgbClr val="005EB9"/>
            </a:solidFill>
            <a:prstDash val="solid"/>
          </a:ln>
        </p:spPr>
      </p:sp>
      <p:sp>
        <p:nvSpPr>
          <p:cNvPr id="12" name="Text 9"/>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3" name="Shape 10"/>
          <p:cNvSpPr/>
          <p:nvPr/>
        </p:nvSpPr>
        <p:spPr>
          <a:xfrm>
            <a:off x="7680960" y="3520440"/>
            <a:ext cx="54864" cy="54864"/>
          </a:xfrm>
          <a:prstGeom prst="rect">
            <a:avLst/>
          </a:prstGeom>
          <a:solidFill>
            <a:srgbClr val="005EB9"/>
          </a:solidFill>
          <a:ln w="12700">
            <a:solidFill>
              <a:srgbClr val="005EB9"/>
            </a:solidFill>
            <a:prstDash val="solid"/>
          </a:ln>
        </p:spPr>
      </p:sp>
      <p:sp>
        <p:nvSpPr>
          <p:cNvPr id="14" name="Text 11"/>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5" name="Text 12"/>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6" name="Shape 13"/>
          <p:cNvSpPr/>
          <p:nvPr/>
        </p:nvSpPr>
        <p:spPr>
          <a:xfrm>
            <a:off x="7680960" y="4489704"/>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8" name="Shape 15"/>
          <p:cNvSpPr/>
          <p:nvPr/>
        </p:nvSpPr>
        <p:spPr>
          <a:xfrm>
            <a:off x="7680960" y="4983480"/>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MENU</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the Department's scheme portals sit. Today they are listed under Associated Organisations.</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Rename Only</a:t>
            </a:r>
            <a:endParaRPr lang="en-US" sz="1400" dirty="0"/>
          </a:p>
        </p:txBody>
      </p:sp>
      <p:sp>
        <p:nvSpPr>
          <p:cNvPr id="7" name="Shape 5"/>
          <p:cNvSpPr/>
          <p:nvPr/>
        </p:nvSpPr>
        <p:spPr>
          <a:xfrm>
            <a:off x="1054194" y="2276856"/>
            <a:ext cx="2747990" cy="2175701"/>
          </a:xfrm>
          <a:prstGeom prst="rect">
            <a:avLst/>
          </a:prstGeom>
          <a:solidFill>
            <a:srgbClr val="FFFFFF"/>
          </a:solidFill>
          <a:ln w="9525">
            <a:solidFill>
              <a:srgbClr val="DCDEE1"/>
            </a:solidFill>
            <a:prstDash val="solid"/>
          </a:ln>
        </p:spPr>
      </p:sp>
      <p:pic>
        <p:nvPicPr>
          <p:cNvPr id="8" name="Image 0" descr="assets/still/nav-a.png">    </p:cNvPr>
          <p:cNvPicPr>
            <a:picLocks noChangeAspect="1"/>
          </p:cNvPicPr>
          <p:nvPr/>
        </p:nvPicPr>
        <p:blipFill>
          <a:blip r:embed="rId1"/>
          <a:stretch>
            <a:fillRect/>
          </a:stretch>
        </p:blipFill>
        <p:spPr>
          <a:xfrm>
            <a:off x="1081626" y="2304288"/>
            <a:ext cx="2693126" cy="2120837"/>
          </a:xfrm>
          <a:prstGeom prst="rect">
            <a:avLst/>
          </a:prstGeom>
        </p:spPr>
      </p:pic>
      <p:sp>
        <p:nvSpPr>
          <p:cNvPr id="9" name="Shape 6"/>
          <p:cNvSpPr/>
          <p:nvPr/>
        </p:nvSpPr>
        <p:spPr>
          <a:xfrm>
            <a:off x="731520" y="4571429"/>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Associated Organisations becomes Organisations &amp; Scheme Portals. Everything listed today stays.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Portals under Offerings</a:t>
            </a:r>
            <a:endParaRPr lang="en-US" sz="1400" dirty="0"/>
          </a:p>
        </p:txBody>
      </p:sp>
      <p:sp>
        <p:nvSpPr>
          <p:cNvPr id="14" name="Shape 11"/>
          <p:cNvSpPr/>
          <p:nvPr/>
        </p:nvSpPr>
        <p:spPr>
          <a:xfrm>
            <a:off x="4371746" y="2276856"/>
            <a:ext cx="3448202" cy="1765672"/>
          </a:xfrm>
          <a:prstGeom prst="rect">
            <a:avLst/>
          </a:prstGeom>
          <a:solidFill>
            <a:srgbClr val="FFFFFF"/>
          </a:solidFill>
          <a:ln w="9525">
            <a:solidFill>
              <a:srgbClr val="DCDEE1"/>
            </a:solidFill>
            <a:prstDash val="solid"/>
          </a:ln>
        </p:spPr>
      </p:sp>
      <p:pic>
        <p:nvPicPr>
          <p:cNvPr id="15" name="Image 1" descr="assets/still/nav-b.png">    </p:cNvPr>
          <p:cNvPicPr>
            <a:picLocks noChangeAspect="1"/>
          </p:cNvPicPr>
          <p:nvPr/>
        </p:nvPicPr>
        <p:blipFill>
          <a:blip r:embed="rId2"/>
          <a:stretch>
            <a:fillRect/>
          </a:stretch>
        </p:blipFill>
        <p:spPr>
          <a:xfrm>
            <a:off x="4399178" y="2304288"/>
            <a:ext cx="3393338" cy="1710808"/>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The portals move to Offerings, with a button to all schemes.</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Schemes as Its Own Menu</a:t>
            </a:r>
            <a:endParaRPr lang="en-US" sz="1400" dirty="0"/>
          </a:p>
        </p:txBody>
      </p:sp>
      <p:sp>
        <p:nvSpPr>
          <p:cNvPr id="21" name="Shape 17"/>
          <p:cNvSpPr/>
          <p:nvPr/>
        </p:nvSpPr>
        <p:spPr>
          <a:xfrm>
            <a:off x="8039405" y="2276856"/>
            <a:ext cx="3448202" cy="1850506"/>
          </a:xfrm>
          <a:prstGeom prst="rect">
            <a:avLst/>
          </a:prstGeom>
          <a:solidFill>
            <a:srgbClr val="FFFFFF"/>
          </a:solidFill>
          <a:ln w="9525">
            <a:solidFill>
              <a:srgbClr val="DCDEE1"/>
            </a:solidFill>
            <a:prstDash val="solid"/>
          </a:ln>
        </p:spPr>
      </p:sp>
      <p:pic>
        <p:nvPicPr>
          <p:cNvPr id="22" name="Image 2" descr="assets/still/nav-c.png">    </p:cNvPr>
          <p:cNvPicPr>
            <a:picLocks noChangeAspect="1"/>
          </p:cNvPicPr>
          <p:nvPr/>
        </p:nvPicPr>
        <p:blipFill>
          <a:blip r:embed="rId3"/>
          <a:stretch>
            <a:fillRect/>
          </a:stretch>
        </p:blipFill>
        <p:spPr>
          <a:xfrm>
            <a:off x="8066837" y="2304288"/>
            <a:ext cx="3393338" cy="1795642"/>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new Schemes entry holds the portals and the helplines.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All three list the same seven portals and open the same pages.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RENAME ONLY</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Menu · Option A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366665" y="1755648"/>
            <a:ext cx="5221950" cy="4123944"/>
          </a:xfrm>
          <a:prstGeom prst="rect">
            <a:avLst/>
          </a:prstGeom>
          <a:solidFill>
            <a:srgbClr val="FFFFFF"/>
          </a:solidFill>
          <a:ln w="9525">
            <a:solidFill>
              <a:srgbClr val="DCDEE1"/>
            </a:solidFill>
            <a:prstDash val="solid"/>
          </a:ln>
        </p:spPr>
      </p:sp>
      <p:pic>
        <p:nvPicPr>
          <p:cNvPr id="7" name="Image 0" descr="assets/still/nav-a.png">    </p:cNvPr>
          <p:cNvPicPr>
            <a:picLocks noChangeAspect="1"/>
          </p:cNvPicPr>
          <p:nvPr/>
        </p:nvPicPr>
        <p:blipFill>
          <a:blip r:embed="rId1"/>
          <a:stretch>
            <a:fillRect/>
          </a:stretch>
        </p:blipFill>
        <p:spPr>
          <a:xfrm>
            <a:off x="1394097" y="1783080"/>
            <a:ext cx="5167086" cy="4069080"/>
          </a:xfrm>
          <a:prstGeom prst="rect">
            <a:avLst/>
          </a:prstGeom>
        </p:spPr>
      </p:pic>
      <p:sp>
        <p:nvSpPr>
          <p:cNvPr id="8" name="Text 5"/>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9" name="Text 6"/>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menu keeps everything it lists today. Only its name changes, so it says that scheme portals are inside.</a:t>
            </a:r>
            <a:endParaRPr lang="en-US" sz="1200" dirty="0"/>
          </a:p>
        </p:txBody>
      </p:sp>
      <p:sp>
        <p:nvSpPr>
          <p:cNvPr id="10" name="Text 7"/>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1" name="Shape 8"/>
          <p:cNvSpPr/>
          <p:nvPr/>
        </p:nvSpPr>
        <p:spPr>
          <a:xfrm>
            <a:off x="7680960" y="3218688"/>
            <a:ext cx="54864" cy="54864"/>
          </a:xfrm>
          <a:prstGeom prst="rect">
            <a:avLst/>
          </a:prstGeom>
          <a:solidFill>
            <a:srgbClr val="005EB9"/>
          </a:solidFill>
          <a:ln w="12700">
            <a:solidFill>
              <a:srgbClr val="005EB9"/>
            </a:solidFill>
            <a:prstDash val="solid"/>
          </a:ln>
        </p:spPr>
      </p:sp>
      <p:sp>
        <p:nvSpPr>
          <p:cNvPr id="12" name="Text 9"/>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Associated Organisations becomes Organisations &amp; Scheme Portals</a:t>
            </a:r>
            <a:endParaRPr lang="en-US" sz="1200" dirty="0"/>
          </a:p>
        </p:txBody>
      </p:sp>
      <p:sp>
        <p:nvSpPr>
          <p:cNvPr id="13" name="Shape 10"/>
          <p:cNvSpPr/>
          <p:nvPr/>
        </p:nvSpPr>
        <p:spPr>
          <a:xfrm>
            <a:off x="7680960" y="3712464"/>
            <a:ext cx="54864" cy="54864"/>
          </a:xfrm>
          <a:prstGeom prst="rect">
            <a:avLst/>
          </a:prstGeom>
          <a:solidFill>
            <a:srgbClr val="005EB9"/>
          </a:solidFill>
          <a:ln w="12700">
            <a:solidFill>
              <a:srgbClr val="005EB9"/>
            </a:solidFill>
            <a:prstDash val="solid"/>
          </a:ln>
        </p:spPr>
      </p:sp>
      <p:sp>
        <p:nvSpPr>
          <p:cNvPr id="14" name="Text 11"/>
          <p:cNvSpPr txBox="1"/>
          <p:nvPr/>
        </p:nvSpPr>
        <p:spPr>
          <a:xfrm>
            <a:off x="7863840" y="3657600"/>
            <a:ext cx="3596335" cy="612648"/>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Commissions, Corporations and Foundations stay; the portals get a column of their own</a:t>
            </a:r>
            <a:endParaRPr lang="en-US" sz="1200" dirty="0"/>
          </a:p>
        </p:txBody>
      </p:sp>
      <p:sp>
        <p:nvSpPr>
          <p:cNvPr id="15" name="Shape 12"/>
          <p:cNvSpPr/>
          <p:nvPr/>
        </p:nvSpPr>
        <p:spPr>
          <a:xfrm>
            <a:off x="7680960" y="4398264"/>
            <a:ext cx="54864" cy="54864"/>
          </a:xfrm>
          <a:prstGeom prst="rect">
            <a:avLst/>
          </a:prstGeom>
          <a:solidFill>
            <a:srgbClr val="005EB9"/>
          </a:solidFill>
          <a:ln w="12700">
            <a:solidFill>
              <a:srgbClr val="005EB9"/>
            </a:solidFill>
            <a:prstDash val="solid"/>
          </a:ln>
        </p:spPr>
      </p:sp>
      <p:sp>
        <p:nvSpPr>
          <p:cNvPr id="16" name="Text 13"/>
          <p:cNvSpPr txBox="1"/>
          <p:nvPr/>
        </p:nvSpPr>
        <p:spPr>
          <a:xfrm>
            <a:off x="7863840" y="43434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Schemes page filter uses the same name</a:t>
            </a:r>
            <a:endParaRPr lang="en-US" sz="1200" dirty="0"/>
          </a:p>
        </p:txBody>
      </p:sp>
      <p:sp>
        <p:nvSpPr>
          <p:cNvPr id="17" name="Text 14"/>
          <p:cNvSpPr txBox="1"/>
          <p:nvPr/>
        </p:nvSpPr>
        <p:spPr>
          <a:xfrm>
            <a:off x="7680960" y="503834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8" name="Shape 15"/>
          <p:cNvSpPr/>
          <p:nvPr/>
        </p:nvSpPr>
        <p:spPr>
          <a:xfrm>
            <a:off x="7680960" y="5367528"/>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531266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to the menu</a:t>
            </a:r>
            <a:endParaRPr lang="en-US" sz="1200" dirty="0"/>
          </a:p>
        </p:txBody>
      </p:sp>
      <p:sp>
        <p:nvSpPr>
          <p:cNvPr id="20" name="Shape 17"/>
          <p:cNvSpPr/>
          <p:nvPr/>
        </p:nvSpPr>
        <p:spPr>
          <a:xfrm>
            <a:off x="7680960" y="5669280"/>
            <a:ext cx="54864" cy="54864"/>
          </a:xfrm>
          <a:prstGeom prst="rect">
            <a:avLst/>
          </a:prstGeom>
          <a:solidFill>
            <a:srgbClr val="005EB9"/>
          </a:solidFill>
          <a:ln w="12700">
            <a:solidFill>
              <a:srgbClr val="005EB9"/>
            </a:solidFill>
            <a:prstDash val="solid"/>
          </a:ln>
        </p:spPr>
      </p:sp>
      <p:sp>
        <p:nvSpPr>
          <p:cNvPr id="21" name="Text 18"/>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returning visitor finds everything where it was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PORTALS UNDER OFFERINGS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Menu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3328035"/>
          </a:xfrm>
          <a:prstGeom prst="rect">
            <a:avLst/>
          </a:prstGeom>
          <a:solidFill>
            <a:srgbClr val="FFFFFF"/>
          </a:solidFill>
          <a:ln w="9525">
            <a:solidFill>
              <a:srgbClr val="DCDEE1"/>
            </a:solidFill>
            <a:prstDash val="solid"/>
          </a:ln>
        </p:spPr>
      </p:sp>
      <p:pic>
        <p:nvPicPr>
          <p:cNvPr id="7" name="Image 0" descr="assets/still/nav-b.png">    </p:cNvPr>
          <p:cNvPicPr>
            <a:picLocks noChangeAspect="1"/>
          </p:cNvPicPr>
          <p:nvPr/>
        </p:nvPicPr>
        <p:blipFill>
          <a:blip r:embed="rId1"/>
          <a:stretch>
            <a:fillRect/>
          </a:stretch>
        </p:blipFill>
        <p:spPr>
          <a:xfrm>
            <a:off x="731520" y="1783080"/>
            <a:ext cx="6492240" cy="3273171"/>
          </a:xfrm>
          <a:prstGeom prst="rect">
            <a:avLst/>
          </a:prstGeom>
        </p:spPr>
      </p:pic>
      <p:sp>
        <p:nvSpPr>
          <p:cNvPr id="8" name="Text 5"/>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9" name="Text 6"/>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seven portals move out of Associated Organisations and into Offerings, beside Vacancies and Tenders.</a:t>
            </a:r>
            <a:endParaRPr lang="en-US" sz="1200" dirty="0"/>
          </a:p>
        </p:txBody>
      </p:sp>
      <p:sp>
        <p:nvSpPr>
          <p:cNvPr id="10" name="Text 7"/>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1" name="Shape 8"/>
          <p:cNvSpPr/>
          <p:nvPr/>
        </p:nvSpPr>
        <p:spPr>
          <a:xfrm>
            <a:off x="7680960" y="3218688"/>
            <a:ext cx="54864" cy="54864"/>
          </a:xfrm>
          <a:prstGeom prst="rect">
            <a:avLst/>
          </a:prstGeom>
          <a:solidFill>
            <a:srgbClr val="005EB9"/>
          </a:solidFill>
          <a:ln w="12700">
            <a:solidFill>
              <a:srgbClr val="005EB9"/>
            </a:solidFill>
            <a:prstDash val="solid"/>
          </a:ln>
        </p:spPr>
      </p:sp>
      <p:sp>
        <p:nvSpPr>
          <p:cNvPr id="12" name="Text 9"/>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portal is listed with the scheme it serves</a:t>
            </a:r>
            <a:endParaRPr lang="en-US" sz="1200" dirty="0"/>
          </a:p>
        </p:txBody>
      </p:sp>
      <p:sp>
        <p:nvSpPr>
          <p:cNvPr id="13" name="Shape 10"/>
          <p:cNvSpPr/>
          <p:nvPr/>
        </p:nvSpPr>
        <p:spPr>
          <a:xfrm>
            <a:off x="7680960" y="3712464"/>
            <a:ext cx="54864" cy="54864"/>
          </a:xfrm>
          <a:prstGeom prst="rect">
            <a:avLst/>
          </a:prstGeom>
          <a:solidFill>
            <a:srgbClr val="005EB9"/>
          </a:solidFill>
          <a:ln w="12700">
            <a:solidFill>
              <a:srgbClr val="005EB9"/>
            </a:solidFill>
            <a:prstDash val="solid"/>
          </a:ln>
        </p:spPr>
      </p:sp>
      <p:sp>
        <p:nvSpPr>
          <p:cNvPr id="14" name="Text 11"/>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full-width button under the portals opens the list of all schemes</a:t>
            </a:r>
            <a:endParaRPr lang="en-US" sz="1200" dirty="0"/>
          </a:p>
        </p:txBody>
      </p:sp>
      <p:sp>
        <p:nvSpPr>
          <p:cNvPr id="15" name="Shape 12"/>
          <p:cNvSpPr/>
          <p:nvPr/>
        </p:nvSpPr>
        <p:spPr>
          <a:xfrm>
            <a:off x="7680960" y="4206240"/>
            <a:ext cx="54864" cy="54864"/>
          </a:xfrm>
          <a:prstGeom prst="rect">
            <a:avLst/>
          </a:prstGeom>
          <a:solidFill>
            <a:srgbClr val="005EB9"/>
          </a:solidFill>
          <a:ln w="12700">
            <a:solidFill>
              <a:srgbClr val="005EB9"/>
            </a:solidFill>
            <a:prstDash val="solid"/>
          </a:ln>
        </p:spPr>
      </p:sp>
      <p:sp>
        <p:nvSpPr>
          <p:cNvPr id="16" name="Text 13"/>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Associated Organisations keeps only the organisations</a:t>
            </a:r>
            <a:endParaRPr lang="en-US" sz="1200" dirty="0"/>
          </a:p>
        </p:txBody>
      </p:sp>
      <p:sp>
        <p:nvSpPr>
          <p:cNvPr id="17" name="Text 14"/>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8" name="Shape 15"/>
          <p:cNvSpPr/>
          <p:nvPr/>
        </p:nvSpPr>
        <p:spPr>
          <a:xfrm>
            <a:off x="7680960" y="5175504"/>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top row of the menu does not change</a:t>
            </a:r>
            <a:endParaRPr lang="en-US" sz="1200" dirty="0"/>
          </a:p>
        </p:txBody>
      </p:sp>
      <p:sp>
        <p:nvSpPr>
          <p:cNvPr id="20" name="Shape 17"/>
          <p:cNvSpPr/>
          <p:nvPr/>
        </p:nvSpPr>
        <p:spPr>
          <a:xfrm>
            <a:off x="7680960" y="5477256"/>
            <a:ext cx="54864" cy="54864"/>
          </a:xfrm>
          <a:prstGeom prst="rect">
            <a:avLst/>
          </a:prstGeom>
          <a:solidFill>
            <a:srgbClr val="005EB9"/>
          </a:solidFill>
          <a:ln w="12700">
            <a:solidFill>
              <a:srgbClr val="005EB9"/>
            </a:solidFill>
            <a:prstDash val="solid"/>
          </a:ln>
        </p:spPr>
      </p:sp>
      <p:sp>
        <p:nvSpPr>
          <p:cNvPr id="21" name="Text 18"/>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Organisations and portals are no longer mixed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SCHEMES AS ITS OWN MENU</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Menu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3490341"/>
          </a:xfrm>
          <a:prstGeom prst="rect">
            <a:avLst/>
          </a:prstGeom>
          <a:solidFill>
            <a:srgbClr val="FFFFFF"/>
          </a:solidFill>
          <a:ln w="9525">
            <a:solidFill>
              <a:srgbClr val="DCDEE1"/>
            </a:solidFill>
            <a:prstDash val="solid"/>
          </a:ln>
        </p:spPr>
      </p:sp>
      <p:pic>
        <p:nvPicPr>
          <p:cNvPr id="7" name="Image 0" descr="assets/still/nav-c.png">    </p:cNvPr>
          <p:cNvPicPr>
            <a:picLocks noChangeAspect="1"/>
          </p:cNvPicPr>
          <p:nvPr/>
        </p:nvPicPr>
        <p:blipFill>
          <a:blip r:embed="rId1"/>
          <a:stretch>
            <a:fillRect/>
          </a:stretch>
        </p:blipFill>
        <p:spPr>
          <a:xfrm>
            <a:off x="731520" y="1783080"/>
            <a:ext cx="6492240" cy="3435477"/>
          </a:xfrm>
          <a:prstGeom prst="rect">
            <a:avLst/>
          </a:prstGeom>
        </p:spPr>
      </p:pic>
      <p:sp>
        <p:nvSpPr>
          <p:cNvPr id="8" name="Text 5"/>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9" name="Text 6"/>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new Schemes entry in the top row holds the seven portals and the Department's helplines.</a:t>
            </a:r>
            <a:endParaRPr lang="en-US" sz="1200" dirty="0"/>
          </a:p>
        </p:txBody>
      </p:sp>
      <p:sp>
        <p:nvSpPr>
          <p:cNvPr id="10" name="Text 7"/>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1" name="Shape 8"/>
          <p:cNvSpPr/>
          <p:nvPr/>
        </p:nvSpPr>
        <p:spPr>
          <a:xfrm>
            <a:off x="7680960" y="3218688"/>
            <a:ext cx="54864" cy="54864"/>
          </a:xfrm>
          <a:prstGeom prst="rect">
            <a:avLst/>
          </a:prstGeom>
          <a:solidFill>
            <a:srgbClr val="005EB9"/>
          </a:solidFill>
          <a:ln w="12700">
            <a:solidFill>
              <a:srgbClr val="005EB9"/>
            </a:solidFill>
            <a:prstDash val="solid"/>
          </a:ln>
        </p:spPr>
      </p:sp>
      <p:sp>
        <p:nvSpPr>
          <p:cNvPr id="12" name="Text 9"/>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Schemes sits between Organisations and Offerings</a:t>
            </a:r>
            <a:endParaRPr lang="en-US" sz="1200" dirty="0"/>
          </a:p>
        </p:txBody>
      </p:sp>
      <p:sp>
        <p:nvSpPr>
          <p:cNvPr id="13" name="Shape 10"/>
          <p:cNvSpPr/>
          <p:nvPr/>
        </p:nvSpPr>
        <p:spPr>
          <a:xfrm>
            <a:off x="7680960" y="3712464"/>
            <a:ext cx="54864" cy="54864"/>
          </a:xfrm>
          <a:prstGeom prst="rect">
            <a:avLst/>
          </a:prstGeom>
          <a:solidFill>
            <a:srgbClr val="005EB9"/>
          </a:solidFill>
          <a:ln w="12700">
            <a:solidFill>
              <a:srgbClr val="005EB9"/>
            </a:solidFill>
            <a:prstDash val="solid"/>
          </a:ln>
        </p:spPr>
      </p:sp>
      <p:sp>
        <p:nvSpPr>
          <p:cNvPr id="14" name="Text 11"/>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Associated Organisations is shortened to Organisations to make room</a:t>
            </a:r>
            <a:endParaRPr lang="en-US" sz="1200" dirty="0"/>
          </a:p>
        </p:txBody>
      </p:sp>
      <p:sp>
        <p:nvSpPr>
          <p:cNvPr id="15" name="Shape 12"/>
          <p:cNvSpPr/>
          <p:nvPr/>
        </p:nvSpPr>
        <p:spPr>
          <a:xfrm>
            <a:off x="7680960" y="4206240"/>
            <a:ext cx="54864" cy="54864"/>
          </a:xfrm>
          <a:prstGeom prst="rect">
            <a:avLst/>
          </a:prstGeom>
          <a:solidFill>
            <a:srgbClr val="005EB9"/>
          </a:solidFill>
          <a:ln w="12700">
            <a:solidFill>
              <a:srgbClr val="005EB9"/>
            </a:solidFill>
            <a:prstDash val="solid"/>
          </a:ln>
        </p:spPr>
      </p:sp>
      <p:sp>
        <p:nvSpPr>
          <p:cNvPr id="16" name="Text 13"/>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button under the portals opens the list of all schemes</a:t>
            </a:r>
            <a:endParaRPr lang="en-US" sz="1200" dirty="0"/>
          </a:p>
        </p:txBody>
      </p:sp>
      <p:sp>
        <p:nvSpPr>
          <p:cNvPr id="17" name="Text 14"/>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8" name="Shape 15"/>
          <p:cNvSpPr/>
          <p:nvPr/>
        </p:nvSpPr>
        <p:spPr>
          <a:xfrm>
            <a:off x="7680960" y="5175504"/>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word Schemes can be seen without opening anything</a:t>
            </a:r>
            <a:endParaRPr lang="en-US" sz="1200" dirty="0"/>
          </a:p>
        </p:txBody>
      </p:sp>
      <p:sp>
        <p:nvSpPr>
          <p:cNvPr id="20" name="Shape 17"/>
          <p:cNvSpPr/>
          <p:nvPr/>
        </p:nvSpPr>
        <p:spPr>
          <a:xfrm>
            <a:off x="7680960" y="5669280"/>
            <a:ext cx="54864" cy="54864"/>
          </a:xfrm>
          <a:prstGeom prst="rect">
            <a:avLst/>
          </a:prstGeom>
          <a:solidFill>
            <a:srgbClr val="005EB9"/>
          </a:solidFill>
          <a:ln w="12700">
            <a:solidFill>
              <a:srgbClr val="005EB9"/>
            </a:solidFill>
            <a:prstDash val="solid"/>
          </a:ln>
        </p:spPr>
      </p:sp>
      <p:sp>
        <p:nvSpPr>
          <p:cNvPr id="21" name="Text 18"/>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Helplines are listed beside the portals they support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Headings</a:t>
            </a:r>
            <a:endParaRPr lang="en-US" sz="1400" dirty="0"/>
          </a:p>
        </p:txBody>
      </p:sp>
      <p:sp>
        <p:nvSpPr>
          <p:cNvPr id="21" name="Shape 17"/>
          <p:cNvSpPr/>
          <p:nvPr/>
        </p:nvSpPr>
        <p:spPr>
          <a:xfrm>
            <a:off x="8039405" y="2276856"/>
            <a:ext cx="3448202" cy="1987182"/>
          </a:xfrm>
          <a:prstGeom prst="rect">
            <a:avLst/>
          </a:prstGeom>
          <a:solidFill>
            <a:srgbClr val="FFFFFF"/>
          </a:solidFill>
          <a:ln w="9525">
            <a:solidFill>
              <a:srgbClr val="DCDEE1"/>
            </a:solidFill>
            <a:prstDash val="solid"/>
          </a:ln>
        </p:spPr>
      </p:sp>
      <p:pic>
        <p:nvPicPr>
          <p:cNvPr id="22" name="Image 2" descr="assets/still/scheme-c.png">    </p:cNvPr>
          <p:cNvPicPr>
            <a:picLocks noChangeAspect="1"/>
          </p:cNvPicPr>
          <p:nvPr/>
        </p:nvPicPr>
        <p:blipFill>
          <a:blip r:embed="rId3"/>
          <a:stretch>
            <a:fillRect/>
          </a:stretch>
        </p:blipFill>
        <p:spPr>
          <a:xfrm>
            <a:off x="8066837" y="2304288"/>
            <a:ext cx="3393338" cy="1932318"/>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Filters on the left; schemes grouped under the kind of support they give.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HEADINGS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3751834"/>
          </a:xfrm>
          <a:prstGeom prst="rect">
            <a:avLst/>
          </a:prstGeom>
          <a:solidFill>
            <a:srgbClr val="FFFFFF"/>
          </a:solidFill>
          <a:ln w="9525">
            <a:solidFill>
              <a:srgbClr val="DCDEE1"/>
            </a:solidFill>
            <a:prstDash val="solid"/>
          </a:ln>
        </p:spPr>
      </p:sp>
      <p:pic>
        <p:nvPicPr>
          <p:cNvPr id="7" name="Image 0" descr="assets/still/scheme-c.png">    </p:cNvPr>
          <p:cNvPicPr>
            <a:picLocks noChangeAspect="1"/>
          </p:cNvPicPr>
          <p:nvPr/>
        </p:nvPicPr>
        <p:blipFill>
          <a:blip r:embed="rId1"/>
          <a:stretch>
            <a:fillRect/>
          </a:stretch>
        </p:blipFill>
        <p:spPr>
          <a:xfrm>
            <a:off x="731520" y="1783080"/>
            <a:ext cx="6492240" cy="3696970"/>
          </a:xfrm>
          <a:prstGeom prst="rect">
            <a:avLst/>
          </a:prstGeom>
        </p:spPr>
      </p:pic>
      <p:sp>
        <p:nvSpPr>
          <p:cNvPr id="8" name="Text 5"/>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9" name="Text 6"/>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filters sit in a panel on the left. Schemes are grouped under headings for the kind of support they give.</a:t>
            </a:r>
            <a:endParaRPr lang="en-US" sz="1200" dirty="0"/>
          </a:p>
        </p:txBody>
      </p:sp>
      <p:sp>
        <p:nvSpPr>
          <p:cNvPr id="10" name="Text 7"/>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1" name="Shape 8"/>
          <p:cNvSpPr/>
          <p:nvPr/>
        </p:nvSpPr>
        <p:spPr>
          <a:xfrm>
            <a:off x="7680960" y="3218688"/>
            <a:ext cx="54864" cy="54864"/>
          </a:xfrm>
          <a:prstGeom prst="rect">
            <a:avLst/>
          </a:prstGeom>
          <a:solidFill>
            <a:srgbClr val="005EB9"/>
          </a:solidFill>
          <a:ln w="12700">
            <a:solidFill>
              <a:srgbClr val="005EB9"/>
            </a:solidFill>
            <a:prstDash val="solid"/>
          </a:ln>
        </p:spPr>
      </p:sp>
      <p:sp>
        <p:nvSpPr>
          <p:cNvPr id="12" name="Text 9"/>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Choose Schemes or Services first, then a group, then a category</a:t>
            </a:r>
            <a:endParaRPr lang="en-US" sz="1200" dirty="0"/>
          </a:p>
        </p:txBody>
      </p:sp>
      <p:sp>
        <p:nvSpPr>
          <p:cNvPr id="13" name="Shape 10"/>
          <p:cNvSpPr/>
          <p:nvPr/>
        </p:nvSpPr>
        <p:spPr>
          <a:xfrm>
            <a:off x="7680960" y="3712464"/>
            <a:ext cx="54864" cy="54864"/>
          </a:xfrm>
          <a:prstGeom prst="rect">
            <a:avLst/>
          </a:prstGeom>
          <a:solidFill>
            <a:srgbClr val="005EB9"/>
          </a:solidFill>
          <a:ln w="12700">
            <a:solidFill>
              <a:srgbClr val="005EB9"/>
            </a:solidFill>
            <a:prstDash val="solid"/>
          </a:ln>
        </p:spPr>
      </p:sp>
      <p:sp>
        <p:nvSpPr>
          <p:cNvPr id="14" name="Text 11"/>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heading opens to show its schemes, with a link to the rest</a:t>
            </a:r>
            <a:endParaRPr lang="en-US" sz="1200" dirty="0"/>
          </a:p>
        </p:txBody>
      </p:sp>
      <p:sp>
        <p:nvSpPr>
          <p:cNvPr id="15" name="Shape 12"/>
          <p:cNvSpPr/>
          <p:nvPr/>
        </p:nvSpPr>
        <p:spPr>
          <a:xfrm>
            <a:off x="7680960" y="4206240"/>
            <a:ext cx="54864" cy="54864"/>
          </a:xfrm>
          <a:prstGeom prst="rect">
            <a:avLst/>
          </a:prstGeom>
          <a:solidFill>
            <a:srgbClr val="005EB9"/>
          </a:solidFill>
          <a:ln w="12700">
            <a:solidFill>
              <a:srgbClr val="005EB9"/>
            </a:solidFill>
            <a:prstDash val="solid"/>
          </a:ln>
        </p:spPr>
      </p:sp>
      <p:sp>
        <p:nvSpPr>
          <p:cNvPr id="16" name="Text 13"/>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card names the organisation or portal that runs the scheme</a:t>
            </a:r>
            <a:endParaRPr lang="en-US" sz="1200" dirty="0"/>
          </a:p>
        </p:txBody>
      </p:sp>
      <p:sp>
        <p:nvSpPr>
          <p:cNvPr id="17" name="Text 14"/>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8" name="Shape 15"/>
          <p:cNvSpPr/>
          <p:nvPr/>
        </p:nvSpPr>
        <p:spPr>
          <a:xfrm>
            <a:off x="7680960" y="5175504"/>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sees every kind of support before reading a single scheme</a:t>
            </a:r>
            <a:endParaRPr lang="en-US" sz="1200" dirty="0"/>
          </a:p>
        </p:txBody>
      </p:sp>
      <p:sp>
        <p:nvSpPr>
          <p:cNvPr id="20" name="Shape 17"/>
          <p:cNvSpPr/>
          <p:nvPr/>
        </p:nvSpPr>
        <p:spPr>
          <a:xfrm>
            <a:off x="7680960" y="5669280"/>
            <a:ext cx="54864" cy="54864"/>
          </a:xfrm>
          <a:prstGeom prst="rect">
            <a:avLst/>
          </a:prstGeom>
          <a:solidFill>
            <a:srgbClr val="005EB9"/>
          </a:solidFill>
          <a:ln w="12700">
            <a:solidFill>
              <a:srgbClr val="005EB9"/>
            </a:solidFill>
            <a:prstDash val="solid"/>
          </a:ln>
        </p:spPr>
      </p:sp>
      <p:sp>
        <p:nvSpPr>
          <p:cNvPr id="21" name="Text 18"/>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organisation filter uses the same name as the menu</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Ten Options, Four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Each part is decided on its own. Every way of finding a scheme starts from who you are.</a:t>
            </a:r>
            <a:endParaRPr lang="en-US" sz="1400" dirty="0"/>
          </a:p>
        </p:txBody>
      </p:sp>
      <p:sp>
        <p:nvSpPr>
          <p:cNvPr id="5" name="Shape 3"/>
          <p:cNvSpPr/>
          <p:nvPr/>
        </p:nvSpPr>
        <p:spPr>
          <a:xfrm>
            <a:off x="731520" y="2121408"/>
            <a:ext cx="10728655" cy="0"/>
          </a:xfrm>
          <a:prstGeom prst="line">
            <a:avLst/>
          </a:prstGeom>
          <a:noFill/>
          <a:ln w="12700">
            <a:solidFill>
              <a:srgbClr val="004B96"/>
            </a:solidFill>
            <a:prstDash val="solid"/>
          </a:ln>
        </p:spPr>
      </p:sp>
      <p:sp>
        <p:nvSpPr>
          <p:cNvPr id="6" name="Text 4"/>
          <p:cNvSpPr txBox="1"/>
          <p:nvPr/>
        </p:nvSpPr>
        <p:spPr>
          <a:xfrm>
            <a:off x="731520" y="2194560"/>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home page</a:t>
            </a:r>
            <a:endParaRPr lang="en-US" sz="1300" dirty="0"/>
          </a:p>
        </p:txBody>
      </p:sp>
      <p:sp>
        <p:nvSpPr>
          <p:cNvPr id="7" name="Text 5"/>
          <p:cNvSpPr txBox="1"/>
          <p:nvPr/>
        </p:nvSpPr>
        <p:spPr>
          <a:xfrm>
            <a:off x="3200400" y="2194560"/>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A · Explore User Personas</a:t>
            </a:r>
            <a:endParaRPr lang="en-US" sz="1300" dirty="0"/>
          </a:p>
        </p:txBody>
      </p:sp>
      <p:sp>
        <p:nvSpPr>
          <p:cNvPr id="8" name="Text 6"/>
          <p:cNvSpPr txBox="1"/>
          <p:nvPr/>
        </p:nvSpPr>
        <p:spPr>
          <a:xfrm>
            <a:off x="6858000" y="2194560"/>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578608"/>
            <a:ext cx="2377440" cy="310896"/>
          </a:xfrm>
          <a:prstGeom prst="rect">
            <a:avLst/>
          </a:prstGeom>
          <a:noFill/>
          <a:ln/>
        </p:spPr>
        <p:txBody>
          <a:bodyPr wrap="square" lIns="0" tIns="0" rIns="0" bIns="0" rtlCol="0" anchor="ctr"/>
          <a:lstStyle/>
          <a:p>
            <a:pPr indent="0" marL="0">
              <a:buNone/>
            </a:pPr>
            <a:endParaRPr lang="en-US" sz="1300" dirty="0"/>
          </a:p>
        </p:txBody>
      </p:sp>
      <p:sp>
        <p:nvSpPr>
          <p:cNvPr id="10" name="Text 8"/>
          <p:cNvSpPr txBox="1"/>
          <p:nvPr/>
        </p:nvSpPr>
        <p:spPr>
          <a:xfrm>
            <a:off x="3200400" y="2578608"/>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B · Two Questions</a:t>
            </a:r>
            <a:endParaRPr lang="en-US" sz="1300" dirty="0"/>
          </a:p>
        </p:txBody>
      </p:sp>
      <p:sp>
        <p:nvSpPr>
          <p:cNvPr id="11" name="Text 9"/>
          <p:cNvSpPr txBox="1"/>
          <p:nvPr/>
        </p:nvSpPr>
        <p:spPr>
          <a:xfrm>
            <a:off x="6858000" y="2578608"/>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Two questions, then three schemes and a link to all.</a:t>
            </a:r>
            <a:endParaRPr lang="en-US" sz="1200" dirty="0"/>
          </a:p>
        </p:txBody>
      </p:sp>
      <p:sp>
        <p:nvSpPr>
          <p:cNvPr id="12" name="Text 10"/>
          <p:cNvSpPr txBox="1"/>
          <p:nvPr/>
        </p:nvSpPr>
        <p:spPr>
          <a:xfrm>
            <a:off x="731520" y="2962656"/>
            <a:ext cx="2377440" cy="310896"/>
          </a:xfrm>
          <a:prstGeom prst="rect">
            <a:avLst/>
          </a:prstGeom>
          <a:noFill/>
          <a:ln/>
        </p:spPr>
        <p:txBody>
          <a:bodyPr wrap="square" lIns="0" tIns="0" rIns="0" bIns="0" rtlCol="0" anchor="ctr"/>
          <a:lstStyle/>
          <a:p>
            <a:pPr indent="0" marL="0">
              <a:buNone/>
            </a:pPr>
            <a:endParaRPr lang="en-US" sz="1300" dirty="0"/>
          </a:p>
        </p:txBody>
      </p:sp>
      <p:sp>
        <p:nvSpPr>
          <p:cNvPr id="13" name="Text 11"/>
          <p:cNvSpPr txBox="1"/>
          <p:nvPr/>
        </p:nvSpPr>
        <p:spPr>
          <a:xfrm>
            <a:off x="3200400" y="2962656"/>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C · One Tap</a:t>
            </a:r>
            <a:endParaRPr lang="en-US" sz="1300" dirty="0"/>
          </a:p>
        </p:txBody>
      </p:sp>
      <p:sp>
        <p:nvSpPr>
          <p:cNvPr id="14" name="Text 12"/>
          <p:cNvSpPr txBox="1"/>
          <p:nvPr/>
        </p:nvSpPr>
        <p:spPr>
          <a:xfrm>
            <a:off x="6858000" y="2962656"/>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273552"/>
            <a:ext cx="10728655" cy="0"/>
          </a:xfrm>
          <a:prstGeom prst="line">
            <a:avLst/>
          </a:prstGeom>
          <a:noFill/>
          <a:ln w="12700">
            <a:solidFill>
              <a:srgbClr val="004B96"/>
            </a:solidFill>
            <a:prstDash val="solid"/>
          </a:ln>
        </p:spPr>
      </p:sp>
      <p:sp>
        <p:nvSpPr>
          <p:cNvPr id="16" name="Text 14"/>
          <p:cNvSpPr txBox="1"/>
          <p:nvPr/>
        </p:nvSpPr>
        <p:spPr>
          <a:xfrm>
            <a:off x="731520" y="3346704"/>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menu</a:t>
            </a:r>
            <a:endParaRPr lang="en-US" sz="1300" dirty="0"/>
          </a:p>
        </p:txBody>
      </p:sp>
      <p:sp>
        <p:nvSpPr>
          <p:cNvPr id="17" name="Text 15"/>
          <p:cNvSpPr txBox="1"/>
          <p:nvPr/>
        </p:nvSpPr>
        <p:spPr>
          <a:xfrm>
            <a:off x="3200400" y="3346704"/>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A · Rename Only</a:t>
            </a:r>
            <a:endParaRPr lang="en-US" sz="1300" dirty="0"/>
          </a:p>
        </p:txBody>
      </p:sp>
      <p:sp>
        <p:nvSpPr>
          <p:cNvPr id="18" name="Text 16"/>
          <p:cNvSpPr txBox="1"/>
          <p:nvPr/>
        </p:nvSpPr>
        <p:spPr>
          <a:xfrm>
            <a:off x="6858000" y="3346704"/>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Organisations &amp; Scheme Portals. Nothing moves.</a:t>
            </a:r>
            <a:endParaRPr lang="en-US" sz="1200" dirty="0"/>
          </a:p>
        </p:txBody>
      </p:sp>
      <p:sp>
        <p:nvSpPr>
          <p:cNvPr id="19" name="Text 17"/>
          <p:cNvSpPr txBox="1"/>
          <p:nvPr/>
        </p:nvSpPr>
        <p:spPr>
          <a:xfrm>
            <a:off x="731520" y="3730752"/>
            <a:ext cx="2377440" cy="310896"/>
          </a:xfrm>
          <a:prstGeom prst="rect">
            <a:avLst/>
          </a:prstGeom>
          <a:noFill/>
          <a:ln/>
        </p:spPr>
        <p:txBody>
          <a:bodyPr wrap="square" lIns="0" tIns="0" rIns="0" bIns="0" rtlCol="0" anchor="ctr"/>
          <a:lstStyle/>
          <a:p>
            <a:pPr indent="0" marL="0">
              <a:buNone/>
            </a:pPr>
            <a:endParaRPr lang="en-US" sz="1300" dirty="0"/>
          </a:p>
        </p:txBody>
      </p:sp>
      <p:sp>
        <p:nvSpPr>
          <p:cNvPr id="20" name="Text 18"/>
          <p:cNvSpPr txBox="1"/>
          <p:nvPr/>
        </p:nvSpPr>
        <p:spPr>
          <a:xfrm>
            <a:off x="3200400" y="3730752"/>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B · Portals under Offerings</a:t>
            </a:r>
            <a:endParaRPr lang="en-US" sz="1300" dirty="0"/>
          </a:p>
        </p:txBody>
      </p:sp>
      <p:sp>
        <p:nvSpPr>
          <p:cNvPr id="21" name="Text 19"/>
          <p:cNvSpPr txBox="1"/>
          <p:nvPr/>
        </p:nvSpPr>
        <p:spPr>
          <a:xfrm>
            <a:off x="6858000" y="3730752"/>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Portals join Offerings; a button opens all schemes.</a:t>
            </a:r>
            <a:endParaRPr lang="en-US" sz="1200" dirty="0"/>
          </a:p>
        </p:txBody>
      </p:sp>
      <p:sp>
        <p:nvSpPr>
          <p:cNvPr id="22" name="Text 20"/>
          <p:cNvSpPr txBox="1"/>
          <p:nvPr/>
        </p:nvSpPr>
        <p:spPr>
          <a:xfrm>
            <a:off x="731520" y="4114800"/>
            <a:ext cx="2377440" cy="310896"/>
          </a:xfrm>
          <a:prstGeom prst="rect">
            <a:avLst/>
          </a:prstGeom>
          <a:noFill/>
          <a:ln/>
        </p:spPr>
        <p:txBody>
          <a:bodyPr wrap="square" lIns="0" tIns="0" rIns="0" bIns="0" rtlCol="0" anchor="ctr"/>
          <a:lstStyle/>
          <a:p>
            <a:pPr indent="0" marL="0">
              <a:buNone/>
            </a:pPr>
            <a:endParaRPr lang="en-US" sz="1300" dirty="0"/>
          </a:p>
        </p:txBody>
      </p:sp>
      <p:sp>
        <p:nvSpPr>
          <p:cNvPr id="23" name="Text 21"/>
          <p:cNvSpPr txBox="1"/>
          <p:nvPr/>
        </p:nvSpPr>
        <p:spPr>
          <a:xfrm>
            <a:off x="3200400" y="4114800"/>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C · Schemes as Its Own Menu</a:t>
            </a:r>
            <a:endParaRPr lang="en-US" sz="1300" dirty="0"/>
          </a:p>
        </p:txBody>
      </p:sp>
      <p:sp>
        <p:nvSpPr>
          <p:cNvPr id="24" name="Text 22"/>
          <p:cNvSpPr txBox="1"/>
          <p:nvPr/>
        </p:nvSpPr>
        <p:spPr>
          <a:xfrm>
            <a:off x="6858000" y="4114800"/>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A new top-row entry for the portals and helplines.</a:t>
            </a:r>
            <a:endParaRPr lang="en-US" sz="1200" dirty="0"/>
          </a:p>
        </p:txBody>
      </p:sp>
      <p:sp>
        <p:nvSpPr>
          <p:cNvPr id="25" name="Shape 23"/>
          <p:cNvSpPr/>
          <p:nvPr/>
        </p:nvSpPr>
        <p:spPr>
          <a:xfrm>
            <a:off x="731520" y="4425696"/>
            <a:ext cx="10728655" cy="0"/>
          </a:xfrm>
          <a:prstGeom prst="line">
            <a:avLst/>
          </a:prstGeom>
          <a:noFill/>
          <a:ln w="12700">
            <a:solidFill>
              <a:srgbClr val="004B96"/>
            </a:solidFill>
            <a:prstDash val="solid"/>
          </a:ln>
        </p:spPr>
      </p:sp>
      <p:sp>
        <p:nvSpPr>
          <p:cNvPr id="26" name="Text 24"/>
          <p:cNvSpPr txBox="1"/>
          <p:nvPr/>
        </p:nvSpPr>
        <p:spPr>
          <a:xfrm>
            <a:off x="731520" y="4498848"/>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Schemes page</a:t>
            </a:r>
            <a:endParaRPr lang="en-US" sz="1300" dirty="0"/>
          </a:p>
        </p:txBody>
      </p:sp>
      <p:sp>
        <p:nvSpPr>
          <p:cNvPr id="27" name="Text 25"/>
          <p:cNvSpPr txBox="1"/>
          <p:nvPr/>
        </p:nvSpPr>
        <p:spPr>
          <a:xfrm>
            <a:off x="3200400" y="4498848"/>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A · Pictures of the Groups, with Cards</a:t>
            </a:r>
            <a:endParaRPr lang="en-US" sz="1300" dirty="0"/>
          </a:p>
        </p:txBody>
      </p:sp>
      <p:sp>
        <p:nvSpPr>
          <p:cNvPr id="28" name="Text 26"/>
          <p:cNvSpPr txBox="1"/>
          <p:nvPr/>
        </p:nvSpPr>
        <p:spPr>
          <a:xfrm>
            <a:off x="6858000" y="4498848"/>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29" name="Text 27"/>
          <p:cNvSpPr txBox="1"/>
          <p:nvPr/>
        </p:nvSpPr>
        <p:spPr>
          <a:xfrm>
            <a:off x="731520" y="4882896"/>
            <a:ext cx="2377440" cy="310896"/>
          </a:xfrm>
          <a:prstGeom prst="rect">
            <a:avLst/>
          </a:prstGeom>
          <a:noFill/>
          <a:ln/>
        </p:spPr>
        <p:txBody>
          <a:bodyPr wrap="square" lIns="0" tIns="0" rIns="0" bIns="0" rtlCol="0" anchor="ctr"/>
          <a:lstStyle/>
          <a:p>
            <a:pPr indent="0" marL="0">
              <a:buNone/>
            </a:pPr>
            <a:endParaRPr lang="en-US" sz="1300" dirty="0"/>
          </a:p>
        </p:txBody>
      </p:sp>
      <p:sp>
        <p:nvSpPr>
          <p:cNvPr id="30" name="Text 28"/>
          <p:cNvSpPr txBox="1"/>
          <p:nvPr/>
        </p:nvSpPr>
        <p:spPr>
          <a:xfrm>
            <a:off x="3200400" y="4882896"/>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B · Filter Panel with a Table</a:t>
            </a:r>
            <a:endParaRPr lang="en-US" sz="1300" dirty="0"/>
          </a:p>
        </p:txBody>
      </p:sp>
      <p:sp>
        <p:nvSpPr>
          <p:cNvPr id="31" name="Text 29"/>
          <p:cNvSpPr txBox="1"/>
          <p:nvPr/>
        </p:nvSpPr>
        <p:spPr>
          <a:xfrm>
            <a:off x="6858000" y="4882896"/>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Tick groups on the left; a table on the right.</a:t>
            </a:r>
            <a:endParaRPr lang="en-US" sz="1200" dirty="0"/>
          </a:p>
        </p:txBody>
      </p:sp>
      <p:sp>
        <p:nvSpPr>
          <p:cNvPr id="32" name="Text 30"/>
          <p:cNvSpPr txBox="1"/>
          <p:nvPr/>
        </p:nvSpPr>
        <p:spPr>
          <a:xfrm>
            <a:off x="731520" y="5266944"/>
            <a:ext cx="2377440" cy="310896"/>
          </a:xfrm>
          <a:prstGeom prst="rect">
            <a:avLst/>
          </a:prstGeom>
          <a:noFill/>
          <a:ln/>
        </p:spPr>
        <p:txBody>
          <a:bodyPr wrap="square" lIns="0" tIns="0" rIns="0" bIns="0" rtlCol="0" anchor="ctr"/>
          <a:lstStyle/>
          <a:p>
            <a:pPr indent="0" marL="0">
              <a:buNone/>
            </a:pPr>
            <a:endParaRPr lang="en-US" sz="1300" dirty="0"/>
          </a:p>
        </p:txBody>
      </p:sp>
      <p:sp>
        <p:nvSpPr>
          <p:cNvPr id="33" name="Text 31"/>
          <p:cNvSpPr txBox="1"/>
          <p:nvPr/>
        </p:nvSpPr>
        <p:spPr>
          <a:xfrm>
            <a:off x="3200400" y="5266944"/>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C · Filter Panel with Headings</a:t>
            </a:r>
            <a:endParaRPr lang="en-US" sz="1300" dirty="0"/>
          </a:p>
        </p:txBody>
      </p:sp>
      <p:sp>
        <p:nvSpPr>
          <p:cNvPr id="34" name="Text 32"/>
          <p:cNvSpPr txBox="1"/>
          <p:nvPr/>
        </p:nvSpPr>
        <p:spPr>
          <a:xfrm>
            <a:off x="6858000" y="5266944"/>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Filters on the left, schemes under headings.</a:t>
            </a:r>
            <a:endParaRPr lang="en-US" sz="1200" dirty="0"/>
          </a:p>
        </p:txBody>
      </p:sp>
      <p:sp>
        <p:nvSpPr>
          <p:cNvPr id="35" name="Shape 33"/>
          <p:cNvSpPr/>
          <p:nvPr/>
        </p:nvSpPr>
        <p:spPr>
          <a:xfrm>
            <a:off x="731520" y="5577840"/>
            <a:ext cx="10728655" cy="0"/>
          </a:xfrm>
          <a:prstGeom prst="line">
            <a:avLst/>
          </a:prstGeom>
          <a:noFill/>
          <a:ln w="12700">
            <a:solidFill>
              <a:srgbClr val="004B96"/>
            </a:solidFill>
            <a:prstDash val="solid"/>
          </a:ln>
        </p:spPr>
      </p:sp>
      <p:sp>
        <p:nvSpPr>
          <p:cNvPr id="36" name="Text 34"/>
          <p:cNvSpPr txBox="1"/>
          <p:nvPr/>
        </p:nvSpPr>
        <p:spPr>
          <a:xfrm>
            <a:off x="731520" y="5650992"/>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assistant</a:t>
            </a:r>
            <a:endParaRPr lang="en-US" sz="1300" dirty="0"/>
          </a:p>
        </p:txBody>
      </p:sp>
      <p:sp>
        <p:nvSpPr>
          <p:cNvPr id="37" name="Text 35"/>
          <p:cNvSpPr txBox="1"/>
          <p:nvPr/>
        </p:nvSpPr>
        <p:spPr>
          <a:xfrm>
            <a:off x="3200400" y="5650992"/>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Samajik Sahayak</a:t>
            </a:r>
            <a:endParaRPr lang="en-US" sz="1300" dirty="0"/>
          </a:p>
        </p:txBody>
      </p:sp>
      <p:sp>
        <p:nvSpPr>
          <p:cNvPr id="38" name="Text 36"/>
          <p:cNvSpPr txBox="1"/>
          <p:nvPr/>
        </p:nvSpPr>
        <p:spPr>
          <a:xfrm>
            <a:off x="6858000" y="5650992"/>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The same two questions, in the chat on every page.</a:t>
            </a:r>
            <a:endParaRPr lang="en-US" sz="1200" dirty="0"/>
          </a:p>
        </p:txBody>
      </p:sp>
      <p:sp>
        <p:nvSpPr>
          <p:cNvPr id="39" name="Shape 37"/>
          <p:cNvSpPr/>
          <p:nvPr/>
        </p:nvSpPr>
        <p:spPr>
          <a:xfrm>
            <a:off x="731520" y="5961888"/>
            <a:ext cx="10728655" cy="0"/>
          </a:xfrm>
          <a:prstGeom prst="line">
            <a:avLst/>
          </a:prstGeom>
          <a:noFill/>
          <a:ln w="12700">
            <a:solidFill>
              <a:srgbClr val="004B96"/>
            </a:solidFill>
            <a:prstDash val="solid"/>
          </a:ln>
        </p:spPr>
      </p:sp>
      <p:sp>
        <p:nvSpPr>
          <p:cNvPr id="40" name="Text 38"/>
          <p:cNvSpPr txBox="1"/>
          <p:nvPr/>
        </p:nvSpPr>
        <p:spPr>
          <a:xfrm>
            <a:off x="731520" y="6163056"/>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2026-09-14T10:35:01Z</dcterms:created>
  <dcterms:modified xsi:type="dcterms:W3CDTF">2026-09-14T10:35:01Z</dcterms:modified>
</cp:coreProperties>
</file>